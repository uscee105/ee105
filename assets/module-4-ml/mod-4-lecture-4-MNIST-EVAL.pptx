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78" r:id="rId4"/>
    <p:sldId id="266" r:id="rId5"/>
    <p:sldId id="272" r:id="rId6"/>
    <p:sldId id="267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27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7C65A655-3FFE-460B-9705-8E515D426F5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Mataric 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3BE2EC6-3A7F-471E-9F8E-6492771035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3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6C6D-E384-488B-8EC7-0E77255F252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02057-EF28-4662-AA59-E44C37A7B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2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803900"/>
            <a:ext cx="12192000" cy="10527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 flipV="1">
            <a:off x="0" y="5778500"/>
            <a:ext cx="12192000" cy="50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Small Use Shield_GoldOnTrans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4703" y="238128"/>
            <a:ext cx="997652" cy="748239"/>
          </a:xfrm>
          <a:prstGeom prst="rect">
            <a:avLst/>
          </a:prstGeom>
        </p:spPr>
      </p:pic>
      <p:pic>
        <p:nvPicPr>
          <p:cNvPr id="9" name="Picture 8" descr="1-lineWordmark_GoldOnCard_NoBG.ep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267" y="6462030"/>
            <a:ext cx="2429501" cy="154821"/>
          </a:xfrm>
          <a:prstGeom prst="rect">
            <a:avLst/>
          </a:prstGeom>
        </p:spPr>
      </p:pic>
      <p:pic>
        <p:nvPicPr>
          <p:cNvPr id="12" name="Picture 11" descr="Formal_Viterbi_GoldOnCard_NoBG.ep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469" y="6138310"/>
            <a:ext cx="2322251" cy="4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03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rN-xKptCIfcoZG2GLx4XZI0PTeYfAdEx?usp=sharin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066B-4462-A705-DFCF-1BD4B5C5C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EE-105</a:t>
            </a:r>
            <a:br>
              <a:rPr lang="en-US" dirty="0"/>
            </a:br>
            <a:r>
              <a:rPr lang="en-US" dirty="0"/>
              <a:t>NN eval on MNIST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922B7-40FD-5871-9708-F13AD8202C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3/26/2025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69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1DAC4E-5B83-79CC-272F-63E1E2A2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04429A-6A98-E5C5-29B2-A2ABD4126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99555"/>
            <a:ext cx="10972800" cy="4525963"/>
          </a:xfrm>
        </p:spPr>
        <p:txBody>
          <a:bodyPr/>
          <a:lstStyle/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Cloud based training</a:t>
            </a:r>
          </a:p>
          <a:p>
            <a:pPr lvl="1"/>
            <a:r>
              <a:rPr lang="en-US" dirty="0"/>
              <a:t>GPU acceleration</a:t>
            </a:r>
          </a:p>
          <a:p>
            <a:pPr lvl="1"/>
            <a:r>
              <a:rPr lang="en-US" dirty="0"/>
              <a:t>Data augmentation</a:t>
            </a:r>
          </a:p>
          <a:p>
            <a:pPr lvl="1"/>
            <a:r>
              <a:rPr lang="en-US" dirty="0"/>
              <a:t>Real time hand written digit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065541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480E-30A7-080F-B365-8DED4E449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D699-5603-2A03-9508-F146ED92F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NN training:</a:t>
            </a:r>
          </a:p>
          <a:p>
            <a:pPr lvl="1"/>
            <a:r>
              <a:rPr lang="en-US" dirty="0" err="1"/>
              <a:t>Colab</a:t>
            </a:r>
            <a:r>
              <a:rPr lang="en-US" dirty="0"/>
              <a:t> notebook: </a:t>
            </a:r>
            <a:r>
              <a:rPr lang="en-US" dirty="0">
                <a:hlinkClick r:id="rId2"/>
              </a:rPr>
              <a:t>https://colab.research.google.com/drive/1rN-xKptCIfcoZG2GLx4XZI0PTeYfAdEx?usp=sharing</a:t>
            </a:r>
            <a:endParaRPr lang="en-US" dirty="0"/>
          </a:p>
          <a:p>
            <a:r>
              <a:rPr lang="en-US" dirty="0"/>
              <a:t>NN Eval:</a:t>
            </a:r>
          </a:p>
          <a:p>
            <a:pPr lvl="1"/>
            <a:r>
              <a:rPr lang="en-US" dirty="0"/>
              <a:t>Arduino (Camera  stream): </a:t>
            </a:r>
            <a:r>
              <a:rPr lang="en-US" dirty="0" err="1"/>
              <a:t>tinyML_camera.ino</a:t>
            </a:r>
            <a:endParaRPr lang="en-US" dirty="0"/>
          </a:p>
          <a:p>
            <a:pPr lvl="1"/>
            <a:r>
              <a:rPr lang="en-US" dirty="0"/>
              <a:t>Notebook (Image classification): </a:t>
            </a:r>
            <a:r>
              <a:rPr lang="en-US" dirty="0" err="1"/>
              <a:t>tinyML_camera_capture.ipynb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3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D992-C851-AB68-DA03-9DA43EE50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Checkpoint 1 – Cloud GPU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F0B36-CA39-B78A-064B-6D72F9B50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1"/>
            <a:ext cx="10972799" cy="4525963"/>
          </a:xfrm>
        </p:spPr>
        <p:txBody>
          <a:bodyPr>
            <a:normAutofit/>
          </a:bodyPr>
          <a:lstStyle/>
          <a:p>
            <a:r>
              <a:rPr lang="en-US" dirty="0"/>
              <a:t>Open </a:t>
            </a:r>
            <a:r>
              <a:rPr lang="en-US" dirty="0" err="1"/>
              <a:t>Colab</a:t>
            </a:r>
            <a:r>
              <a:rPr lang="en-US" dirty="0"/>
              <a:t> notebook</a:t>
            </a:r>
          </a:p>
          <a:p>
            <a:r>
              <a:rPr lang="en-US" dirty="0"/>
              <a:t>If prompted to create profile/account/sign in/</a:t>
            </a:r>
            <a:r>
              <a:rPr lang="en-US" dirty="0" err="1"/>
              <a:t>etc</a:t>
            </a:r>
            <a:r>
              <a:rPr lang="en-US" dirty="0"/>
              <a:t>, do it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4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8CB6-0F72-0A9C-D1FA-5321BA0E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6C90-80EF-8D3A-5F21-D3C58CEC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1 – Cloud GPU 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5BD9F-5A42-EF34-F769-1653A57A9803}"/>
              </a:ext>
            </a:extLst>
          </p:cNvPr>
          <p:cNvSpPr txBox="1"/>
          <p:nvPr/>
        </p:nvSpPr>
        <p:spPr>
          <a:xfrm>
            <a:off x="654898" y="1206500"/>
            <a:ext cx="42987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Selecting GPU instance: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Click on the drop down</a:t>
            </a:r>
          </a:p>
          <a:p>
            <a:pPr marL="285750" indent="-285750">
              <a:buFontTx/>
              <a:buChar char="-"/>
            </a:pPr>
            <a:r>
              <a:rPr lang="en-US" dirty="0"/>
              <a:t>Select “T4 GPU”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Click save</a:t>
            </a:r>
          </a:p>
          <a:p>
            <a:pPr marL="285750" indent="-285750">
              <a:buFontTx/>
              <a:buChar char="-"/>
            </a:pPr>
            <a:r>
              <a:rPr lang="en-US" dirty="0"/>
              <a:t>Click connect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EFC2E1-3B0D-71D3-EEAA-09B66299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5856"/>
          <a:stretch>
            <a:fillRect/>
          </a:stretch>
        </p:blipFill>
        <p:spPr>
          <a:xfrm>
            <a:off x="2903743" y="2349501"/>
            <a:ext cx="9234742" cy="1143000"/>
          </a:xfrm>
          <a:prstGeom prst="rect">
            <a:avLst/>
          </a:prstGeom>
          <a:noFill/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2D2C27C-408E-0AD3-75E8-9F29FA5DD322}"/>
              </a:ext>
            </a:extLst>
          </p:cNvPr>
          <p:cNvSpPr/>
          <p:nvPr/>
        </p:nvSpPr>
        <p:spPr>
          <a:xfrm>
            <a:off x="11619674" y="2882803"/>
            <a:ext cx="335048" cy="328067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0C69AF-9882-A1F5-8626-DD94E190194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266711" y="1682217"/>
            <a:ext cx="8402030" cy="124863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A4BED67-C11B-C7E9-C1AD-1B02B0ABDB7A}"/>
              </a:ext>
            </a:extLst>
          </p:cNvPr>
          <p:cNvSpPr/>
          <p:nvPr/>
        </p:nvSpPr>
        <p:spPr>
          <a:xfrm>
            <a:off x="11202054" y="2912782"/>
            <a:ext cx="417620" cy="328067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46DA5E-7D94-D70D-A717-45A6F6031A85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433999" y="2477954"/>
            <a:ext cx="8829214" cy="48287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83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EED0-BDF5-5272-951F-8A2C22F3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1 – Cloud GPU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C8434-94BC-6C0E-84B2-997E46A2D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a custom handwritten digit photo</a:t>
            </a:r>
          </a:p>
          <a:p>
            <a:r>
              <a:rPr lang="en-US" dirty="0"/>
              <a:t>Drag and drop jpeg here</a:t>
            </a:r>
          </a:p>
          <a:p>
            <a:pPr lvl="1"/>
            <a:r>
              <a:rPr lang="en-US" dirty="0"/>
              <a:t>NOT INSDE “SAMPLE DATA”</a:t>
            </a:r>
          </a:p>
          <a:p>
            <a:r>
              <a:rPr lang="en-US" dirty="0"/>
              <a:t>Change the file name in:</a:t>
            </a:r>
          </a:p>
          <a:p>
            <a:pPr lvl="1"/>
            <a:r>
              <a:rPr lang="en-US" dirty="0"/>
              <a:t>“Add File name here”</a:t>
            </a:r>
          </a:p>
          <a:p>
            <a:r>
              <a:rPr lang="en-US" dirty="0"/>
              <a:t>Run all!</a:t>
            </a:r>
          </a:p>
          <a:p>
            <a:r>
              <a:rPr lang="en-US" dirty="0"/>
              <a:t>Once done: download “</a:t>
            </a:r>
            <a:r>
              <a:rPr lang="en-US" dirty="0" err="1"/>
              <a:t>mnist_generalized_model.pth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ACFC0-9592-B905-5BF3-7D359A85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360"/>
          <a:stretch>
            <a:fillRect/>
          </a:stretch>
        </p:blipFill>
        <p:spPr>
          <a:xfrm>
            <a:off x="10074005" y="1672426"/>
            <a:ext cx="748518" cy="2331004"/>
          </a:xfrm>
          <a:prstGeom prst="rect">
            <a:avLst/>
          </a:prstGeom>
          <a:noFill/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FED1E0D-C23B-EBB3-DE77-6B99C17D423C}"/>
              </a:ext>
            </a:extLst>
          </p:cNvPr>
          <p:cNvSpPr/>
          <p:nvPr/>
        </p:nvSpPr>
        <p:spPr>
          <a:xfrm>
            <a:off x="10014877" y="2997975"/>
            <a:ext cx="335048" cy="328067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3EE7FA-BDAE-75E7-1D81-3CAC2C7E4BE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950394" y="1909544"/>
            <a:ext cx="2113550" cy="11364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9EF1C2-0C4A-0771-8AE2-BE3542CB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218" y="2477781"/>
            <a:ext cx="2339452" cy="2380627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C0AB09A-5365-9380-A00A-27DBDF03EAC5}"/>
              </a:ext>
            </a:extLst>
          </p:cNvPr>
          <p:cNvSpPr/>
          <p:nvPr/>
        </p:nvSpPr>
        <p:spPr>
          <a:xfrm>
            <a:off x="7424753" y="3923599"/>
            <a:ext cx="868332" cy="328067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35B840-3DD4-5091-175B-9880267EA7F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214174" y="2518004"/>
            <a:ext cx="2337743" cy="1453639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75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58B7-C688-ED4F-7D2D-396BAF19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2 – Arduino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D733E-3A48-680D-74AC-92FF5F5BA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37234"/>
            <a:ext cx="8609990" cy="4525963"/>
          </a:xfrm>
        </p:spPr>
        <p:txBody>
          <a:bodyPr/>
          <a:lstStyle/>
          <a:p>
            <a:r>
              <a:rPr lang="en-US" dirty="0"/>
              <a:t>Change the jumper connection on the board</a:t>
            </a:r>
          </a:p>
          <a:p>
            <a:r>
              <a:rPr lang="en-US" dirty="0"/>
              <a:t>Connect the board, change the selector to the camera module</a:t>
            </a:r>
          </a:p>
          <a:p>
            <a:r>
              <a:rPr lang="en-US" dirty="0"/>
              <a:t>Open </a:t>
            </a:r>
            <a:r>
              <a:rPr lang="en-US" dirty="0" err="1"/>
              <a:t>tinyML_camera.ino</a:t>
            </a:r>
            <a:endParaRPr lang="en-US" dirty="0"/>
          </a:p>
          <a:p>
            <a:pPr lvl="1"/>
            <a:r>
              <a:rPr lang="en-US" dirty="0"/>
              <a:t>Arduino/</a:t>
            </a:r>
            <a:r>
              <a:rPr lang="en-US" dirty="0" err="1"/>
              <a:t>tinyML_camera</a:t>
            </a:r>
            <a:endParaRPr lang="en-US" dirty="0"/>
          </a:p>
          <a:p>
            <a:r>
              <a:rPr lang="en-US" dirty="0"/>
              <a:t>Locate and add "Arduino_OV767X.zip“</a:t>
            </a:r>
          </a:p>
          <a:p>
            <a:pPr lvl="1"/>
            <a:r>
              <a:rPr lang="en-US" dirty="0"/>
              <a:t>Arduino</a:t>
            </a:r>
          </a:p>
          <a:p>
            <a:r>
              <a:rPr lang="en-US" dirty="0"/>
              <a:t>Upload the sketch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7A564B-4AD0-8923-328F-B44214519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0186" y="1417638"/>
            <a:ext cx="3144774" cy="41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3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5E53-597E-238C-7E06-08F9A5EC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9738"/>
            <a:ext cx="10972800" cy="1143000"/>
          </a:xfrm>
        </p:spPr>
        <p:txBody>
          <a:bodyPr/>
          <a:lstStyle/>
          <a:p>
            <a:r>
              <a:rPr lang="en-US" dirty="0"/>
              <a:t>Checkpoint 3 – NN 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D3EB-0EC0-DE80-9011-947DF63DC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7432"/>
            <a:ext cx="10972800" cy="4525963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tinyML_camera_capture.ipynb</a:t>
            </a:r>
            <a:endParaRPr lang="en-US" dirty="0"/>
          </a:p>
          <a:p>
            <a:pPr lvl="1"/>
            <a:r>
              <a:rPr lang="en-US" dirty="0"/>
              <a:t>Inside “Python”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Move the downloaded checkpoint next to the notebook</a:t>
            </a:r>
          </a:p>
          <a:p>
            <a:r>
              <a:rPr lang="en-US" dirty="0"/>
              <a:t>Select kernel same as last lab’s</a:t>
            </a:r>
          </a:p>
          <a:p>
            <a:r>
              <a:rPr lang="en-US" dirty="0"/>
              <a:t>Run all!</a:t>
            </a:r>
          </a:p>
          <a:p>
            <a:r>
              <a:rPr lang="en-US" dirty="0"/>
              <a:t>Select the correct Port</a:t>
            </a:r>
          </a:p>
          <a:p>
            <a:r>
              <a:rPr lang="en-US" dirty="0"/>
              <a:t>Capture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5AE81-CC4D-98E8-404D-8F8F618D5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508" y="1704192"/>
            <a:ext cx="6161147" cy="115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242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3">
      <a:dk1>
        <a:srgbClr val="99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258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1_Office Theme</vt:lpstr>
      <vt:lpstr>EE-105 NN eval on MNIST</vt:lpstr>
      <vt:lpstr>Objective</vt:lpstr>
      <vt:lpstr>Files</vt:lpstr>
      <vt:lpstr>Checkpoint 1 – Cloud GPU training</vt:lpstr>
      <vt:lpstr>Checkpoint 1 – Cloud GPU training</vt:lpstr>
      <vt:lpstr>Checkpoint 1 – Cloud GPU training</vt:lpstr>
      <vt:lpstr>Checkpoint 2 – Arduino code</vt:lpstr>
      <vt:lpstr>Checkpoint 3 – NN Eval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Karkala Hegde</dc:creator>
  <cp:lastModifiedBy>Karkala Hegde</cp:lastModifiedBy>
  <cp:revision>6</cp:revision>
  <dcterms:created xsi:type="dcterms:W3CDTF">2026-03-26T08:06:38Z</dcterms:created>
  <dcterms:modified xsi:type="dcterms:W3CDTF">2026-04-07T01:23:54Z</dcterms:modified>
</cp:coreProperties>
</file>