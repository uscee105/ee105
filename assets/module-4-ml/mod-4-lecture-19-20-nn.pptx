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23" d="100"/>
          <a:sy n="123" d="100"/>
        </p:scale>
        <p:origin x="115" y="27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831764" y="65552"/>
            <a:ext cx="1275956" cy="66111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6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4366" y="1368933"/>
            <a:ext cx="9378315" cy="40817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://yann.lecun.com/exdb/mnist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66998" y="747217"/>
            <a:ext cx="5857875" cy="1321516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11150" marR="5080" indent="-299085">
              <a:lnSpc>
                <a:spcPts val="4750"/>
              </a:lnSpc>
              <a:spcBef>
                <a:spcPts val="705"/>
              </a:spcBef>
            </a:pPr>
            <a:r>
              <a:rPr sz="4000" spc="175" dirty="0">
                <a:latin typeface="PT Sans" panose="020B0503020203020204" pitchFamily="34" charset="0"/>
              </a:rPr>
              <a:t>ECE</a:t>
            </a:r>
            <a:r>
              <a:rPr sz="4000" spc="190" dirty="0">
                <a:latin typeface="PT Sans" panose="020B0503020203020204" pitchFamily="34" charset="0"/>
              </a:rPr>
              <a:t> </a:t>
            </a:r>
            <a:r>
              <a:rPr sz="4000" spc="75" dirty="0">
                <a:latin typeface="PT Sans" panose="020B0503020203020204" pitchFamily="34" charset="0"/>
              </a:rPr>
              <a:t>105:</a:t>
            </a:r>
            <a:r>
              <a:rPr sz="4000" spc="175" dirty="0">
                <a:latin typeface="PT Sans" panose="020B0503020203020204" pitchFamily="34" charset="0"/>
              </a:rPr>
              <a:t> </a:t>
            </a:r>
            <a:r>
              <a:rPr sz="4000" spc="55" dirty="0">
                <a:latin typeface="PT Sans" panose="020B0503020203020204" pitchFamily="34" charset="0"/>
              </a:rPr>
              <a:t>Introduction</a:t>
            </a:r>
            <a:r>
              <a:rPr sz="4000" spc="160" dirty="0">
                <a:latin typeface="PT Sans" panose="020B0503020203020204" pitchFamily="34" charset="0"/>
              </a:rPr>
              <a:t> </a:t>
            </a:r>
            <a:r>
              <a:rPr sz="4000" spc="-25" dirty="0">
                <a:latin typeface="PT Sans" panose="020B0503020203020204" pitchFamily="34" charset="0"/>
              </a:rPr>
              <a:t>to </a:t>
            </a:r>
            <a:r>
              <a:rPr sz="4000" spc="105" dirty="0">
                <a:latin typeface="PT Sans" panose="020B0503020203020204" pitchFamily="34" charset="0"/>
              </a:rPr>
              <a:t>Electrical</a:t>
            </a:r>
            <a:r>
              <a:rPr sz="4000" spc="204" dirty="0">
                <a:latin typeface="PT Sans" panose="020B0503020203020204" pitchFamily="34" charset="0"/>
              </a:rPr>
              <a:t> </a:t>
            </a:r>
            <a:r>
              <a:rPr sz="4000" spc="105" dirty="0">
                <a:latin typeface="PT Sans" panose="020B0503020203020204" pitchFamily="34" charset="0"/>
              </a:rPr>
              <a:t>Engineering</a:t>
            </a:r>
            <a:endParaRPr sz="4000">
              <a:latin typeface="PT Sans" panose="020B0503020203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15966" y="3361905"/>
            <a:ext cx="2560320" cy="17549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 marR="5080" indent="1905" algn="ctr">
              <a:lnSpc>
                <a:spcPct val="119800"/>
              </a:lnSpc>
              <a:spcBef>
                <a:spcPts val="110"/>
              </a:spcBef>
            </a:pPr>
            <a:r>
              <a:rPr sz="2400" dirty="0">
                <a:latin typeface="PT Sans" panose="020B0503020203020204" pitchFamily="34" charset="0"/>
                <a:cs typeface="Calibri"/>
              </a:rPr>
              <a:t>Lecture</a:t>
            </a:r>
            <a:r>
              <a:rPr sz="2400" spc="34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1</a:t>
            </a:r>
            <a:r>
              <a:rPr lang="en-US" sz="2400" spc="70" dirty="0">
                <a:latin typeface="PT Sans" panose="020B0503020203020204" pitchFamily="34" charset="0"/>
                <a:cs typeface="Calibri"/>
              </a:rPr>
              <a:t>9-20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0" dirty="0">
                <a:latin typeface="PT Sans" panose="020B0503020203020204" pitchFamily="34" charset="0"/>
                <a:cs typeface="Calibri"/>
              </a:rPr>
              <a:t>Neural</a:t>
            </a:r>
            <a:r>
              <a:rPr sz="2400" spc="13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-10" dirty="0">
                <a:latin typeface="PT Sans" panose="020B0503020203020204" pitchFamily="34" charset="0"/>
                <a:cs typeface="Calibri"/>
              </a:rPr>
              <a:t>Networks </a:t>
            </a:r>
            <a:r>
              <a:rPr sz="2400" dirty="0">
                <a:latin typeface="PT Sans" panose="020B0503020203020204" pitchFamily="34" charset="0"/>
                <a:cs typeface="Calibri"/>
              </a:rPr>
              <a:t>Yasser</a:t>
            </a:r>
            <a:r>
              <a:rPr sz="24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80" dirty="0">
                <a:latin typeface="PT Sans" panose="020B0503020203020204" pitchFamily="34" charset="0"/>
                <a:cs typeface="Calibri"/>
              </a:rPr>
              <a:t>Khan </a:t>
            </a:r>
            <a:r>
              <a:rPr sz="2400" dirty="0">
                <a:latin typeface="PT Sans" panose="020B0503020203020204" pitchFamily="34" charset="0"/>
                <a:cs typeface="Calibri"/>
              </a:rPr>
              <a:t>Rehan</a:t>
            </a:r>
            <a:r>
              <a:rPr sz="24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5" dirty="0">
                <a:latin typeface="PT Sans" panose="020B0503020203020204" pitchFamily="34" charset="0"/>
                <a:cs typeface="Calibri"/>
              </a:rPr>
              <a:t>Kapadia</a:t>
            </a:r>
            <a:endParaRPr sz="24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PT Sans" panose="020B0503020203020204" pitchFamily="34" charset="0"/>
              </a:rPr>
              <a:t>Why</a:t>
            </a:r>
            <a:r>
              <a:rPr spc="15" dirty="0">
                <a:latin typeface="PT Sans" panose="020B0503020203020204" pitchFamily="34" charset="0"/>
              </a:rPr>
              <a:t> </a:t>
            </a:r>
            <a:r>
              <a:rPr dirty="0">
                <a:latin typeface="PT Sans" panose="020B0503020203020204" pitchFamily="34" charset="0"/>
              </a:rPr>
              <a:t>Deep</a:t>
            </a:r>
            <a:r>
              <a:rPr spc="110" dirty="0">
                <a:latin typeface="PT Sans" panose="020B0503020203020204" pitchFamily="34" charset="0"/>
              </a:rPr>
              <a:t> </a:t>
            </a:r>
            <a:r>
              <a:rPr spc="60" dirty="0">
                <a:latin typeface="PT Sans" panose="020B0503020203020204" pitchFamily="34" charset="0"/>
              </a:rPr>
              <a:t>Neural</a:t>
            </a:r>
            <a:r>
              <a:rPr spc="125" dirty="0">
                <a:latin typeface="PT Sans" panose="020B0503020203020204" pitchFamily="34" charset="0"/>
              </a:rPr>
              <a:t> </a:t>
            </a:r>
            <a:r>
              <a:rPr spc="-10" dirty="0">
                <a:latin typeface="PT Sans" panose="020B0503020203020204" pitchFamily="34" charset="0"/>
              </a:rPr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9009" y="5189587"/>
            <a:ext cx="9438005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neural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networks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are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excellent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certain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45" dirty="0">
                <a:latin typeface="PT Sans" panose="020B0503020203020204" pitchFamily="34" charset="0"/>
                <a:cs typeface="Calibri"/>
              </a:rPr>
              <a:t>classes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problems,</a:t>
            </a:r>
            <a:r>
              <a:rPr sz="1800" spc="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such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recognition,</a:t>
            </a:r>
            <a:r>
              <a:rPr lang="en-US" sz="1800" spc="-1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speech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recognition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spc="-20" dirty="0">
                <a:latin typeface="PT Sans" panose="020B0503020203020204" pitchFamily="34" charset="0"/>
                <a:cs typeface="Calibri"/>
              </a:rPr>
              <a:t>etc.</a:t>
            </a:r>
            <a:endParaRPr lang="en-US" sz="1800" dirty="0">
              <a:latin typeface="PT Sans" panose="020B0503020203020204" pitchFamily="34" charset="0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40665" algn="l"/>
              </a:tabLst>
            </a:pP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48274" y="5849933"/>
            <a:ext cx="11049000" cy="33406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45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Importantly, as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amount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data</a:t>
            </a:r>
            <a:r>
              <a:rPr sz="1800" spc="1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scales, the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performance</a:t>
            </a:r>
            <a:r>
              <a:rPr sz="18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continues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to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improve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6503" y="927201"/>
            <a:ext cx="10018166" cy="41299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114800" y="6301232"/>
            <a:ext cx="789368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-6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from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Medium:</a:t>
            </a:r>
            <a:r>
              <a:rPr sz="1800" spc="-3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“Review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-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-2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-3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Algorithms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Object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Detection”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What’s</a:t>
            </a:r>
            <a:r>
              <a:rPr spc="175" dirty="0"/>
              <a:t> </a:t>
            </a:r>
            <a:r>
              <a:rPr dirty="0"/>
              <a:t>so</a:t>
            </a:r>
            <a:r>
              <a:rPr spc="175" dirty="0"/>
              <a:t> </a:t>
            </a:r>
            <a:r>
              <a:rPr dirty="0"/>
              <a:t>deep</a:t>
            </a:r>
            <a:r>
              <a:rPr spc="145" dirty="0"/>
              <a:t> </a:t>
            </a:r>
            <a:r>
              <a:rPr dirty="0"/>
              <a:t>about</a:t>
            </a:r>
            <a:r>
              <a:rPr spc="160" dirty="0"/>
              <a:t> </a:t>
            </a:r>
            <a:r>
              <a:rPr dirty="0"/>
              <a:t>Deep</a:t>
            </a:r>
            <a:r>
              <a:rPr spc="135" dirty="0"/>
              <a:t> </a:t>
            </a:r>
            <a:r>
              <a:rPr spc="60" dirty="0"/>
              <a:t>Neural</a:t>
            </a:r>
            <a:r>
              <a:rPr spc="145" dirty="0"/>
              <a:t> </a:t>
            </a:r>
            <a:r>
              <a:rPr spc="-10" dirty="0"/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871084"/>
            <a:ext cx="98913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90" dirty="0">
                <a:latin typeface="Calibri"/>
                <a:cs typeface="Calibri"/>
              </a:rPr>
              <a:t>The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80" dirty="0">
                <a:latin typeface="Calibri"/>
                <a:cs typeface="Calibri"/>
              </a:rPr>
              <a:t>“deep”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refers</a:t>
            </a:r>
            <a:r>
              <a:rPr sz="2600" spc="2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number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layers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30" dirty="0">
                <a:latin typeface="Calibri"/>
                <a:cs typeface="Calibri"/>
              </a:rPr>
              <a:t>‘units’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between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2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input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5844" y="5148453"/>
            <a:ext cx="8502650" cy="826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layer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2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output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layer.</a:t>
            </a:r>
            <a:endParaRPr sz="26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65" dirty="0">
                <a:latin typeface="Calibri"/>
                <a:cs typeface="Calibri"/>
              </a:rPr>
              <a:t>Since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5" dirty="0">
                <a:latin typeface="Calibri"/>
                <a:cs typeface="Calibri"/>
              </a:rPr>
              <a:t>this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spc="85" dirty="0">
                <a:latin typeface="Calibri"/>
                <a:cs typeface="Calibri"/>
              </a:rPr>
              <a:t>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neural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network,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units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spc="75" dirty="0">
                <a:latin typeface="Calibri"/>
                <a:cs typeface="Calibri"/>
              </a:rPr>
              <a:t>called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neurons</a:t>
            </a:r>
            <a:endParaRPr sz="26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99046" y="6431991"/>
            <a:ext cx="55753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56005" y="4678171"/>
            <a:ext cx="987679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libri"/>
                <a:cs typeface="Calibri"/>
              </a:rPr>
              <a:t>Many</a:t>
            </a:r>
            <a:r>
              <a:rPr sz="2600" spc="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different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functions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for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neuron,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but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most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605" y="4955540"/>
            <a:ext cx="5621655" cy="1317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7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popular</a:t>
            </a:r>
            <a:r>
              <a:rPr sz="2600" spc="39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are</a:t>
            </a:r>
            <a:endParaRPr sz="2600">
              <a:latin typeface="Calibri"/>
              <a:cs typeface="Calibri"/>
            </a:endParaRPr>
          </a:p>
          <a:p>
            <a:pPr marL="469265" indent="-227965">
              <a:lnSpc>
                <a:spcPts val="2350"/>
              </a:lnSpc>
              <a:buFont typeface="Arial"/>
              <a:buChar char="•"/>
              <a:tabLst>
                <a:tab pos="469265" algn="l"/>
              </a:tabLst>
            </a:pPr>
            <a:r>
              <a:rPr sz="2200" spc="45" dirty="0">
                <a:latin typeface="Calibri"/>
                <a:cs typeface="Calibri"/>
              </a:rPr>
              <a:t>Sigmoid: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(x)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1/(1+exp(-</a:t>
            </a:r>
            <a:r>
              <a:rPr sz="2200" spc="-25" dirty="0">
                <a:latin typeface="Calibri"/>
                <a:cs typeface="Calibri"/>
              </a:rPr>
              <a:t>x))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35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Rectified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Linear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Unit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(ReLU):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f(x)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max(0,x)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49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tanh: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tanh(x)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(2x)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110" dirty="0">
                <a:latin typeface="Calibri"/>
                <a:cs typeface="Calibri"/>
              </a:rPr>
              <a:t>-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1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860039" y="4209745"/>
            <a:ext cx="56032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4" name="object 14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56005" y="4678171"/>
            <a:ext cx="987679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libri"/>
                <a:cs typeface="Calibri"/>
              </a:rPr>
              <a:t>Many</a:t>
            </a:r>
            <a:r>
              <a:rPr sz="2600" spc="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different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functions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for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neuron,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but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most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605" y="4955540"/>
            <a:ext cx="5621655" cy="1317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7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popular</a:t>
            </a:r>
            <a:r>
              <a:rPr sz="2600" spc="39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are</a:t>
            </a:r>
            <a:endParaRPr sz="2600">
              <a:latin typeface="Calibri"/>
              <a:cs typeface="Calibri"/>
            </a:endParaRPr>
          </a:p>
          <a:p>
            <a:pPr marL="469265" indent="-227965">
              <a:lnSpc>
                <a:spcPts val="2350"/>
              </a:lnSpc>
              <a:buFont typeface="Arial"/>
              <a:buChar char="•"/>
              <a:tabLst>
                <a:tab pos="469265" algn="l"/>
              </a:tabLst>
            </a:pPr>
            <a:r>
              <a:rPr sz="2200" spc="45" dirty="0">
                <a:latin typeface="Calibri"/>
                <a:cs typeface="Calibri"/>
              </a:rPr>
              <a:t>Sigmoid: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(x)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1/(1+exp(-</a:t>
            </a:r>
            <a:r>
              <a:rPr sz="2200" spc="-25" dirty="0">
                <a:latin typeface="Calibri"/>
                <a:cs typeface="Calibri"/>
              </a:rPr>
              <a:t>x))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35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Rectified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Linear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Unit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(ReLU):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f(x)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max(0,x)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49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tanh: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tanh(x)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(2x)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110" dirty="0">
                <a:latin typeface="Calibri"/>
                <a:cs typeface="Calibri"/>
              </a:rPr>
              <a:t>-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1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1916" y="1712120"/>
            <a:ext cx="9736147" cy="2011886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28166" y="1329309"/>
            <a:ext cx="26866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Sigmoid: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Symbol"/>
                <a:cs typeface="Symbol"/>
              </a:rPr>
              <a:t></a:t>
            </a:r>
            <a:r>
              <a:rPr sz="1800" dirty="0">
                <a:latin typeface="Calibri"/>
                <a:cs typeface="Calibri"/>
              </a:rPr>
              <a:t>(x)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1/(1+exp(-</a:t>
            </a:r>
            <a:r>
              <a:rPr sz="1800" spc="-25" dirty="0">
                <a:latin typeface="Calibri"/>
                <a:cs typeface="Calibri"/>
              </a:rPr>
              <a:t>x))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78348" y="1329309"/>
            <a:ext cx="180593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tanh(x)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</a:t>
            </a:r>
            <a:r>
              <a:rPr sz="1800" dirty="0">
                <a:latin typeface="Symbol"/>
                <a:cs typeface="Symbol"/>
              </a:rPr>
              <a:t></a:t>
            </a:r>
            <a:r>
              <a:rPr sz="1800" dirty="0">
                <a:latin typeface="Calibri"/>
                <a:cs typeface="Calibri"/>
              </a:rPr>
              <a:t>(2x)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-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50" dirty="0">
                <a:latin typeface="Calibri"/>
                <a:cs typeface="Calibri"/>
              </a:rPr>
              <a:t>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29421" y="1326260"/>
            <a:ext cx="19399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ReLU: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f(x)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max(0,x)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75" dirty="0"/>
              <a:t>Handwriting</a:t>
            </a:r>
            <a:r>
              <a:rPr spc="100" dirty="0"/>
              <a:t> </a:t>
            </a:r>
            <a:r>
              <a:rPr spc="45" dirty="0"/>
              <a:t>Recognition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0305" y="4166081"/>
            <a:ext cx="9878695" cy="12109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easily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recognize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numbers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huge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(~billion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more)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even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larger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connections/synapses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(100’s</a:t>
            </a:r>
            <a:r>
              <a:rPr sz="2400" spc="2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billions)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2460" y="2101342"/>
            <a:ext cx="5924550" cy="10668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91311" y="3956558"/>
            <a:ext cx="10364470" cy="0"/>
          </a:xfrm>
          <a:custGeom>
            <a:avLst/>
            <a:gdLst/>
            <a:ahLst/>
            <a:cxnLst/>
            <a:rect l="l" t="t" r="r" b="b"/>
            <a:pathLst>
              <a:path w="10364470">
                <a:moveTo>
                  <a:pt x="0" y="0"/>
                </a:moveTo>
                <a:lnTo>
                  <a:pt x="10364368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931488"/>
            <a:ext cx="7418705" cy="8813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Need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large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training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data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trained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3718" y="888641"/>
            <a:ext cx="4708338" cy="37101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209745"/>
            <a:ext cx="7286625" cy="1771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6085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98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For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perceptron: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</a:t>
            </a:r>
            <a:r>
              <a:rPr sz="2400" dirty="0">
                <a:latin typeface="Calibri"/>
                <a:cs typeface="Calibri"/>
              </a:rPr>
              <a:t>w*x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≤threshold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10" dirty="0">
                <a:latin typeface="Symbol"/>
                <a:cs typeface="Symbol"/>
              </a:rPr>
              <a:t></a:t>
            </a:r>
            <a:r>
              <a:rPr sz="2400" spc="-10" dirty="0">
                <a:latin typeface="Calibri"/>
                <a:cs typeface="Calibri"/>
              </a:rPr>
              <a:t>w*x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&gt;threshold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What</a:t>
            </a:r>
            <a:r>
              <a:rPr spc="145" dirty="0"/>
              <a:t> </a:t>
            </a:r>
            <a:r>
              <a:rPr spc="60" dirty="0"/>
              <a:t>can</a:t>
            </a:r>
            <a:r>
              <a:rPr spc="165" dirty="0"/>
              <a:t> </a:t>
            </a:r>
            <a:r>
              <a:rPr dirty="0"/>
              <a:t>we</a:t>
            </a:r>
            <a:r>
              <a:rPr spc="155" dirty="0"/>
              <a:t> </a:t>
            </a:r>
            <a:r>
              <a:rPr dirty="0"/>
              <a:t>answer</a:t>
            </a:r>
            <a:r>
              <a:rPr spc="165" dirty="0"/>
              <a:t> </a:t>
            </a:r>
            <a:r>
              <a:rPr spc="50" dirty="0"/>
              <a:t>with</a:t>
            </a:r>
            <a:r>
              <a:rPr spc="150" dirty="0"/>
              <a:t> </a:t>
            </a:r>
            <a:r>
              <a:rPr dirty="0"/>
              <a:t>a</a:t>
            </a:r>
            <a:r>
              <a:rPr spc="165" dirty="0"/>
              <a:t> </a:t>
            </a:r>
            <a:r>
              <a:rPr spc="-10" dirty="0"/>
              <a:t>perceptron?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6089" y="1775586"/>
            <a:ext cx="5064760" cy="2025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Do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go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40" dirty="0">
                <a:latin typeface="Calibri"/>
                <a:cs typeface="Calibri"/>
              </a:rPr>
              <a:t>Coachella?</a:t>
            </a:r>
            <a:endParaRPr sz="28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33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Good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weather?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2: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Friends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going?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tickets?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39411" y="1921018"/>
            <a:ext cx="7399020" cy="2302510"/>
            <a:chOff x="4439411" y="1921018"/>
            <a:chExt cx="7399020" cy="230251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11266" y="1921018"/>
              <a:ext cx="5226982" cy="230247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439412" y="2045334"/>
              <a:ext cx="2541905" cy="2157095"/>
            </a:xfrm>
            <a:custGeom>
              <a:avLst/>
              <a:gdLst/>
              <a:ahLst/>
              <a:cxnLst/>
              <a:rect l="l" t="t" r="r" b="b"/>
              <a:pathLst>
                <a:path w="2541904" h="2157095">
                  <a:moveTo>
                    <a:pt x="2084451" y="1023239"/>
                  </a:moveTo>
                  <a:lnTo>
                    <a:pt x="2001520" y="1003681"/>
                  </a:lnTo>
                  <a:lnTo>
                    <a:pt x="2009546" y="1037615"/>
                  </a:lnTo>
                  <a:lnTo>
                    <a:pt x="0" y="1512443"/>
                  </a:lnTo>
                  <a:lnTo>
                    <a:pt x="1397" y="1518666"/>
                  </a:lnTo>
                  <a:lnTo>
                    <a:pt x="2011006" y="1043813"/>
                  </a:lnTo>
                  <a:lnTo>
                    <a:pt x="2019046" y="1077722"/>
                  </a:lnTo>
                  <a:lnTo>
                    <a:pt x="2070722" y="1034669"/>
                  </a:lnTo>
                  <a:lnTo>
                    <a:pt x="2084451" y="1023239"/>
                  </a:lnTo>
                  <a:close/>
                </a:path>
                <a:path w="2541904" h="2157095">
                  <a:moveTo>
                    <a:pt x="2436114" y="3302"/>
                  </a:moveTo>
                  <a:lnTo>
                    <a:pt x="2351024" y="0"/>
                  </a:lnTo>
                  <a:lnTo>
                    <a:pt x="2365413" y="31813"/>
                  </a:lnTo>
                  <a:lnTo>
                    <a:pt x="140081" y="1037844"/>
                  </a:lnTo>
                  <a:lnTo>
                    <a:pt x="142748" y="1043686"/>
                  </a:lnTo>
                  <a:lnTo>
                    <a:pt x="2368029" y="37617"/>
                  </a:lnTo>
                  <a:lnTo>
                    <a:pt x="2382393" y="69342"/>
                  </a:lnTo>
                  <a:lnTo>
                    <a:pt x="2417203" y="26543"/>
                  </a:lnTo>
                  <a:lnTo>
                    <a:pt x="2436114" y="3302"/>
                  </a:lnTo>
                  <a:close/>
                </a:path>
                <a:path w="2541904" h="2157095">
                  <a:moveTo>
                    <a:pt x="2541651" y="2122170"/>
                  </a:moveTo>
                  <a:lnTo>
                    <a:pt x="2467229" y="2080641"/>
                  </a:lnTo>
                  <a:lnTo>
                    <a:pt x="2465654" y="2115629"/>
                  </a:lnTo>
                  <a:lnTo>
                    <a:pt x="800989" y="2039874"/>
                  </a:lnTo>
                  <a:lnTo>
                    <a:pt x="800608" y="2046224"/>
                  </a:lnTo>
                  <a:lnTo>
                    <a:pt x="2465362" y="2121979"/>
                  </a:lnTo>
                  <a:lnTo>
                    <a:pt x="2463800" y="2156841"/>
                  </a:lnTo>
                  <a:lnTo>
                    <a:pt x="2540787" y="2122551"/>
                  </a:lnTo>
                  <a:lnTo>
                    <a:pt x="2541651" y="212217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645" y="483234"/>
            <a:ext cx="11576304" cy="471678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15823" y="4342865"/>
            <a:ext cx="772477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65" dirty="0">
                <a:latin typeface="Calibri"/>
                <a:cs typeface="Calibri"/>
              </a:rPr>
              <a:t>Each</a:t>
            </a:r>
            <a:r>
              <a:rPr sz="2800" spc="11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variable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either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0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decision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making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happens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threshold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value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10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152390" cy="105029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algn="just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distribution.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Either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have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you’re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going,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don’t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aren’t.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12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456555" cy="221615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basically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says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other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conditions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true,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both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them.</a:t>
            </a:r>
            <a:endParaRPr sz="2400">
              <a:latin typeface="Calibri"/>
              <a:cs typeface="Calibri"/>
            </a:endParaRPr>
          </a:p>
          <a:p>
            <a:pPr marL="12700" marR="224790">
              <a:lnSpc>
                <a:spcPts val="2590"/>
              </a:lnSpc>
              <a:spcBef>
                <a:spcPts val="144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example,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reasonable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starting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point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think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build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complex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decision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making.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Addition</a:t>
            </a:r>
            <a:r>
              <a:rPr spc="260" dirty="0"/>
              <a:t> </a:t>
            </a:r>
            <a:r>
              <a:rPr dirty="0"/>
              <a:t>of</a:t>
            </a:r>
            <a:r>
              <a:rPr spc="265" dirty="0"/>
              <a:t> </a:t>
            </a:r>
            <a:r>
              <a:rPr dirty="0"/>
              <a:t>other</a:t>
            </a:r>
            <a:r>
              <a:rPr spc="250" dirty="0"/>
              <a:t> </a:t>
            </a:r>
            <a:r>
              <a:rPr dirty="0"/>
              <a:t>nodes</a:t>
            </a:r>
            <a:r>
              <a:rPr spc="265" dirty="0"/>
              <a:t> </a:t>
            </a:r>
            <a:r>
              <a:rPr spc="50" dirty="0"/>
              <a:t>increases</a:t>
            </a:r>
            <a:r>
              <a:rPr spc="260" dirty="0"/>
              <a:t> </a:t>
            </a:r>
            <a:r>
              <a:rPr spc="60" dirty="0"/>
              <a:t>complexity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061915"/>
            <a:ext cx="9655175" cy="836294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based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inputs,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a 	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nuanced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way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getting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outputs.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240" dirty="0"/>
              <a:t> </a:t>
            </a:r>
            <a:r>
              <a:rPr dirty="0"/>
              <a:t>does</a:t>
            </a:r>
            <a:r>
              <a:rPr spc="335" dirty="0"/>
              <a:t> </a:t>
            </a:r>
            <a:r>
              <a:rPr dirty="0"/>
              <a:t>information</a:t>
            </a:r>
            <a:r>
              <a:rPr spc="335" dirty="0"/>
              <a:t> </a:t>
            </a:r>
            <a:r>
              <a:rPr spc="75" dirty="0"/>
              <a:t>change</a:t>
            </a:r>
            <a:r>
              <a:rPr spc="335" dirty="0"/>
              <a:t> </a:t>
            </a:r>
            <a:r>
              <a:rPr dirty="0"/>
              <a:t>through</a:t>
            </a:r>
            <a:r>
              <a:rPr spc="300" dirty="0"/>
              <a:t> </a:t>
            </a:r>
            <a:r>
              <a:rPr spc="-10" dirty="0"/>
              <a:t>layers?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220715"/>
            <a:ext cx="9542145" cy="8356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As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move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through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DNN,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somewhat 	</a:t>
            </a:r>
            <a:r>
              <a:rPr sz="2800" spc="80" dirty="0">
                <a:latin typeface="Calibri"/>
                <a:cs typeface="Calibri"/>
              </a:rPr>
              <a:t>making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abstract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items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2721" y="837501"/>
            <a:ext cx="6365510" cy="30754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3576039"/>
            <a:ext cx="7279005" cy="234696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{x1,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x2,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x3}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{w1,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w2,w3}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  <a:tab pos="622935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product,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become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35" dirty="0">
                <a:latin typeface="Calibri"/>
                <a:cs typeface="Calibri"/>
              </a:rPr>
              <a:t>x</a:t>
            </a:r>
            <a:r>
              <a:rPr sz="975" spc="52" baseline="25641" dirty="0">
                <a:latin typeface="Arial"/>
                <a:cs typeface="Arial"/>
              </a:rPr>
              <a:t>●</a:t>
            </a:r>
            <a:r>
              <a:rPr sz="2000" spc="35" dirty="0">
                <a:latin typeface="Calibri"/>
                <a:cs typeface="Calibri"/>
              </a:rPr>
              <a:t>w+b≤0</a:t>
            </a:r>
            <a:endParaRPr sz="20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1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5" dirty="0">
                <a:latin typeface="Calibri"/>
                <a:cs typeface="Calibri"/>
              </a:rPr>
              <a:t>x</a:t>
            </a:r>
            <a:r>
              <a:rPr sz="750" spc="-7" baseline="27777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</a:t>
            </a:r>
            <a:r>
              <a:rPr sz="2000" spc="-15" dirty="0">
                <a:latin typeface="Calibri"/>
                <a:cs typeface="Calibri"/>
              </a:rPr>
              <a:t>b&gt;0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8111" y="932704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8074" y="3593718"/>
            <a:ext cx="6327775" cy="182626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800" spc="60" baseline="25462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w+b≤0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575" spc="60" baseline="26455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w+b&gt;0</a:t>
            </a:r>
            <a:endParaRPr sz="24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b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thought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bias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723265" algn="l"/>
              </a:tabLst>
            </a:pPr>
            <a:r>
              <a:rPr sz="2000" spc="55" dirty="0">
                <a:latin typeface="Calibri"/>
                <a:cs typeface="Calibri"/>
              </a:rPr>
              <a:t>Large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positive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95" dirty="0">
                <a:latin typeface="Calibri"/>
                <a:cs typeface="Calibri"/>
              </a:rPr>
              <a:t>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fires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most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Negative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b-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rarely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fires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Perceptrons</a:t>
            </a:r>
            <a:r>
              <a:rPr spc="160" dirty="0"/>
              <a:t> </a:t>
            </a:r>
            <a:r>
              <a:rPr dirty="0"/>
              <a:t>for</a:t>
            </a:r>
            <a:r>
              <a:rPr spc="210" dirty="0"/>
              <a:t> </a:t>
            </a:r>
            <a:r>
              <a:rPr spc="120" dirty="0"/>
              <a:t>logical</a:t>
            </a:r>
            <a:r>
              <a:rPr spc="210" dirty="0"/>
              <a:t> </a:t>
            </a:r>
            <a:r>
              <a:rPr spc="-10" dirty="0"/>
              <a:t>functions?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3577648"/>
            <a:ext cx="3574415" cy="14490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How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implement</a:t>
            </a:r>
            <a:endParaRPr sz="2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5" dirty="0">
                <a:latin typeface="Calibri"/>
                <a:cs typeface="Calibri"/>
              </a:rPr>
              <a:t>AND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40" dirty="0">
                <a:latin typeface="Calibri"/>
                <a:cs typeface="Calibri"/>
              </a:rPr>
              <a:t>OR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0" dirty="0">
                <a:latin typeface="Calibri"/>
                <a:cs typeface="Calibri"/>
              </a:rPr>
              <a:t>NAND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1052195"/>
          </a:xfrm>
          <a:custGeom>
            <a:avLst/>
            <a:gdLst/>
            <a:ahLst/>
            <a:cxnLst/>
            <a:rect l="l" t="t" r="r" b="b"/>
            <a:pathLst>
              <a:path w="4897755" h="1052195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052195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1052195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1" name="object 11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5" name="object 15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Perceptrons</a:t>
            </a:r>
            <a:r>
              <a:rPr spc="160" dirty="0"/>
              <a:t> </a:t>
            </a:r>
            <a:r>
              <a:rPr dirty="0"/>
              <a:t>for</a:t>
            </a:r>
            <a:r>
              <a:rPr spc="210" dirty="0"/>
              <a:t> </a:t>
            </a:r>
            <a:r>
              <a:rPr spc="120" dirty="0"/>
              <a:t>logical</a:t>
            </a:r>
            <a:r>
              <a:rPr spc="210" dirty="0"/>
              <a:t> </a:t>
            </a:r>
            <a:r>
              <a:rPr spc="-10" dirty="0"/>
              <a:t>functions?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4496874"/>
            <a:ext cx="9552940" cy="104838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55" dirty="0">
                <a:latin typeface="Calibri"/>
                <a:cs typeface="Calibri"/>
              </a:rPr>
              <a:t>NAND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function</a:t>
            </a:r>
            <a:endParaRPr sz="2400">
              <a:latin typeface="Calibri"/>
              <a:cs typeface="Calibri"/>
            </a:endParaRPr>
          </a:p>
          <a:p>
            <a:pPr marL="698500" marR="5080" lvl="1" indent="-228600">
              <a:lnSpc>
                <a:spcPts val="2160"/>
              </a:lnSpc>
              <a:spcBef>
                <a:spcPts val="550"/>
              </a:spcBef>
              <a:buFont typeface="Arial"/>
              <a:buChar char="•"/>
              <a:tabLst>
                <a:tab pos="698500" algn="l"/>
              </a:tabLst>
            </a:pPr>
            <a:r>
              <a:rPr sz="2000" spc="50" dirty="0">
                <a:latin typeface="Calibri"/>
                <a:cs typeface="Calibri"/>
              </a:rPr>
              <a:t>Since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NAND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75" dirty="0">
                <a:latin typeface="Calibri"/>
                <a:cs typeface="Calibri"/>
              </a:rPr>
              <a:t>logically</a:t>
            </a:r>
            <a:r>
              <a:rPr sz="2000" spc="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complete,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actually</a:t>
            </a:r>
            <a:r>
              <a:rPr sz="2000" spc="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implement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any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80" dirty="0">
                <a:latin typeface="Calibri"/>
                <a:cs typeface="Calibri"/>
              </a:rPr>
              <a:t>logical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function </a:t>
            </a:r>
            <a:r>
              <a:rPr sz="2000" spc="65" dirty="0">
                <a:latin typeface="Calibri"/>
                <a:cs typeface="Calibri"/>
              </a:rPr>
              <a:t>using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perceptron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76905" y="2076830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9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9" y="0"/>
                </a:lnTo>
                <a:lnTo>
                  <a:pt x="882685" y="1322"/>
                </a:lnTo>
                <a:lnTo>
                  <a:pt x="929396" y="5242"/>
                </a:lnTo>
                <a:lnTo>
                  <a:pt x="975343" y="11690"/>
                </a:lnTo>
                <a:lnTo>
                  <a:pt x="1020453" y="20594"/>
                </a:lnTo>
                <a:lnTo>
                  <a:pt x="1064658" y="31884"/>
                </a:lnTo>
                <a:lnTo>
                  <a:pt x="1107886" y="45490"/>
                </a:lnTo>
                <a:lnTo>
                  <a:pt x="1150067" y="61341"/>
                </a:lnTo>
                <a:lnTo>
                  <a:pt x="1191130" y="79367"/>
                </a:lnTo>
                <a:lnTo>
                  <a:pt x="1231006" y="99496"/>
                </a:lnTo>
                <a:lnTo>
                  <a:pt x="1269623" y="121659"/>
                </a:lnTo>
                <a:lnTo>
                  <a:pt x="1306912" y="145785"/>
                </a:lnTo>
                <a:lnTo>
                  <a:pt x="1342801" y="171804"/>
                </a:lnTo>
                <a:lnTo>
                  <a:pt x="1377220" y="199644"/>
                </a:lnTo>
                <a:lnTo>
                  <a:pt x="1410100" y="229235"/>
                </a:lnTo>
                <a:lnTo>
                  <a:pt x="1441368" y="260507"/>
                </a:lnTo>
                <a:lnTo>
                  <a:pt x="1470956" y="293389"/>
                </a:lnTo>
                <a:lnTo>
                  <a:pt x="1498792" y="327810"/>
                </a:lnTo>
                <a:lnTo>
                  <a:pt x="1524806" y="363701"/>
                </a:lnTo>
                <a:lnTo>
                  <a:pt x="1548927" y="400990"/>
                </a:lnTo>
                <a:lnTo>
                  <a:pt x="1571086" y="439607"/>
                </a:lnTo>
                <a:lnTo>
                  <a:pt x="1591211" y="479482"/>
                </a:lnTo>
                <a:lnTo>
                  <a:pt x="1609233" y="520543"/>
                </a:lnTo>
                <a:lnTo>
                  <a:pt x="1625080" y="562721"/>
                </a:lnTo>
                <a:lnTo>
                  <a:pt x="1638682" y="605944"/>
                </a:lnTo>
                <a:lnTo>
                  <a:pt x="1649969" y="650143"/>
                </a:lnTo>
                <a:lnTo>
                  <a:pt x="1658871" y="695246"/>
                </a:lnTo>
                <a:lnTo>
                  <a:pt x="1665317" y="741184"/>
                </a:lnTo>
                <a:lnTo>
                  <a:pt x="1669236" y="787885"/>
                </a:lnTo>
                <a:lnTo>
                  <a:pt x="1670558" y="835279"/>
                </a:lnTo>
                <a:lnTo>
                  <a:pt x="1669236" y="882672"/>
                </a:lnTo>
                <a:lnTo>
                  <a:pt x="1665317" y="929373"/>
                </a:lnTo>
                <a:lnTo>
                  <a:pt x="1658871" y="975311"/>
                </a:lnTo>
                <a:lnTo>
                  <a:pt x="1649969" y="1020414"/>
                </a:lnTo>
                <a:lnTo>
                  <a:pt x="1638682" y="1064613"/>
                </a:lnTo>
                <a:lnTo>
                  <a:pt x="1625080" y="1107836"/>
                </a:lnTo>
                <a:lnTo>
                  <a:pt x="1609233" y="1150014"/>
                </a:lnTo>
                <a:lnTo>
                  <a:pt x="1591211" y="1191075"/>
                </a:lnTo>
                <a:lnTo>
                  <a:pt x="1571086" y="1230950"/>
                </a:lnTo>
                <a:lnTo>
                  <a:pt x="1548927" y="1269567"/>
                </a:lnTo>
                <a:lnTo>
                  <a:pt x="1524806" y="1306856"/>
                </a:lnTo>
                <a:lnTo>
                  <a:pt x="1498792" y="1342747"/>
                </a:lnTo>
                <a:lnTo>
                  <a:pt x="1470956" y="1377168"/>
                </a:lnTo>
                <a:lnTo>
                  <a:pt x="1441368" y="1410050"/>
                </a:lnTo>
                <a:lnTo>
                  <a:pt x="1410100" y="1441322"/>
                </a:lnTo>
                <a:lnTo>
                  <a:pt x="1377220" y="1470913"/>
                </a:lnTo>
                <a:lnTo>
                  <a:pt x="1342801" y="1498753"/>
                </a:lnTo>
                <a:lnTo>
                  <a:pt x="1306912" y="1524772"/>
                </a:lnTo>
                <a:lnTo>
                  <a:pt x="1269623" y="1548898"/>
                </a:lnTo>
                <a:lnTo>
                  <a:pt x="1231006" y="1571061"/>
                </a:lnTo>
                <a:lnTo>
                  <a:pt x="1191130" y="1591190"/>
                </a:lnTo>
                <a:lnTo>
                  <a:pt x="1150067" y="1609216"/>
                </a:lnTo>
                <a:lnTo>
                  <a:pt x="1107886" y="1625067"/>
                </a:lnTo>
                <a:lnTo>
                  <a:pt x="1064658" y="1638673"/>
                </a:lnTo>
                <a:lnTo>
                  <a:pt x="1020453" y="1649963"/>
                </a:lnTo>
                <a:lnTo>
                  <a:pt x="975343" y="1658867"/>
                </a:lnTo>
                <a:lnTo>
                  <a:pt x="929396" y="1665315"/>
                </a:lnTo>
                <a:lnTo>
                  <a:pt x="882685" y="1669235"/>
                </a:lnTo>
                <a:lnTo>
                  <a:pt x="835279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9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41953" y="274751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067968" y="1898014"/>
            <a:ext cx="4897755" cy="1052195"/>
          </a:xfrm>
          <a:custGeom>
            <a:avLst/>
            <a:gdLst/>
            <a:ahLst/>
            <a:cxnLst/>
            <a:rect l="l" t="t" r="r" b="b"/>
            <a:pathLst>
              <a:path w="4897755" h="1052195">
                <a:moveTo>
                  <a:pt x="1608937" y="1014095"/>
                </a:moveTo>
                <a:lnTo>
                  <a:pt x="1602587" y="1010920"/>
                </a:lnTo>
                <a:lnTo>
                  <a:pt x="1532737" y="975995"/>
                </a:lnTo>
                <a:lnTo>
                  <a:pt x="1532737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37" y="1017270"/>
                </a:lnTo>
                <a:lnTo>
                  <a:pt x="1532737" y="1052195"/>
                </a:lnTo>
                <a:lnTo>
                  <a:pt x="1602587" y="1017270"/>
                </a:lnTo>
                <a:lnTo>
                  <a:pt x="1608937" y="1014095"/>
                </a:lnTo>
                <a:close/>
              </a:path>
              <a:path w="4897755" h="1052195">
                <a:moveTo>
                  <a:pt x="1737969" y="524637"/>
                </a:moveTo>
                <a:lnTo>
                  <a:pt x="1720176" y="505841"/>
                </a:lnTo>
                <a:lnTo>
                  <a:pt x="1679422" y="462788"/>
                </a:lnTo>
                <a:lnTo>
                  <a:pt x="1667446" y="495515"/>
                </a:lnTo>
                <a:lnTo>
                  <a:pt x="308838" y="0"/>
                </a:lnTo>
                <a:lnTo>
                  <a:pt x="306679" y="5969"/>
                </a:lnTo>
                <a:lnTo>
                  <a:pt x="1665262" y="501472"/>
                </a:lnTo>
                <a:lnTo>
                  <a:pt x="1653260" y="534289"/>
                </a:lnTo>
                <a:lnTo>
                  <a:pt x="1737969" y="524637"/>
                </a:lnTo>
                <a:close/>
              </a:path>
              <a:path w="4897755" h="1052195">
                <a:moveTo>
                  <a:pt x="4897602" y="1014095"/>
                </a:moveTo>
                <a:lnTo>
                  <a:pt x="4891252" y="1010920"/>
                </a:lnTo>
                <a:lnTo>
                  <a:pt x="4821402" y="975995"/>
                </a:lnTo>
                <a:lnTo>
                  <a:pt x="4821402" y="1010920"/>
                </a:lnTo>
                <a:lnTo>
                  <a:pt x="3288639" y="1010920"/>
                </a:lnTo>
                <a:lnTo>
                  <a:pt x="3288639" y="1017270"/>
                </a:lnTo>
                <a:lnTo>
                  <a:pt x="4821402" y="1017270"/>
                </a:lnTo>
                <a:lnTo>
                  <a:pt x="4821402" y="1052195"/>
                </a:lnTo>
                <a:lnTo>
                  <a:pt x="4891252" y="1017270"/>
                </a:lnTo>
                <a:lnTo>
                  <a:pt x="4897602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27354" y="2693034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48308" y="165176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33034" y="2585161"/>
            <a:ext cx="129539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747392" y="1836420"/>
            <a:ext cx="540385" cy="534670"/>
            <a:chOff x="1747392" y="1836420"/>
            <a:chExt cx="540385" cy="534670"/>
          </a:xfrm>
        </p:grpSpPr>
        <p:sp>
          <p:nvSpPr>
            <p:cNvPr id="11" name="object 11"/>
            <p:cNvSpPr/>
            <p:nvPr/>
          </p:nvSpPr>
          <p:spPr>
            <a:xfrm>
              <a:off x="1753742" y="184277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753742" y="184277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942592" y="1990725"/>
            <a:ext cx="1504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1200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1713610" y="2621660"/>
            <a:ext cx="540385" cy="534670"/>
            <a:chOff x="1713610" y="2621660"/>
            <a:chExt cx="540385" cy="534670"/>
          </a:xfrm>
        </p:grpSpPr>
        <p:sp>
          <p:nvSpPr>
            <p:cNvPr id="15" name="object 15"/>
            <p:cNvSpPr/>
            <p:nvPr/>
          </p:nvSpPr>
          <p:spPr>
            <a:xfrm>
              <a:off x="1719960" y="262801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67"/>
                  </a:lnTo>
                  <a:lnTo>
                    <a:pt x="16504" y="351910"/>
                  </a:lnTo>
                  <a:lnTo>
                    <a:pt x="36016" y="392552"/>
                  </a:lnTo>
                  <a:lnTo>
                    <a:pt x="62041" y="428957"/>
                  </a:lnTo>
                  <a:lnTo>
                    <a:pt x="93834" y="460390"/>
                  </a:lnTo>
                  <a:lnTo>
                    <a:pt x="130650" y="486118"/>
                  </a:lnTo>
                  <a:lnTo>
                    <a:pt x="171742" y="505404"/>
                  </a:lnTo>
                  <a:lnTo>
                    <a:pt x="216367" y="517515"/>
                  </a:lnTo>
                  <a:lnTo>
                    <a:pt x="263778" y="521715"/>
                  </a:lnTo>
                  <a:lnTo>
                    <a:pt x="311190" y="517515"/>
                  </a:lnTo>
                  <a:lnTo>
                    <a:pt x="355815" y="505404"/>
                  </a:lnTo>
                  <a:lnTo>
                    <a:pt x="396907" y="486118"/>
                  </a:lnTo>
                  <a:lnTo>
                    <a:pt x="433723" y="460390"/>
                  </a:lnTo>
                  <a:lnTo>
                    <a:pt x="465516" y="428957"/>
                  </a:lnTo>
                  <a:lnTo>
                    <a:pt x="491541" y="392552"/>
                  </a:lnTo>
                  <a:lnTo>
                    <a:pt x="511053" y="351910"/>
                  </a:lnTo>
                  <a:lnTo>
                    <a:pt x="523307" y="307767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719960" y="262801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67"/>
                  </a:lnTo>
                  <a:lnTo>
                    <a:pt x="511053" y="351910"/>
                  </a:lnTo>
                  <a:lnTo>
                    <a:pt x="491541" y="392552"/>
                  </a:lnTo>
                  <a:lnTo>
                    <a:pt x="465516" y="428957"/>
                  </a:lnTo>
                  <a:lnTo>
                    <a:pt x="433723" y="460390"/>
                  </a:lnTo>
                  <a:lnTo>
                    <a:pt x="396907" y="486118"/>
                  </a:lnTo>
                  <a:lnTo>
                    <a:pt x="355815" y="505404"/>
                  </a:lnTo>
                  <a:lnTo>
                    <a:pt x="311190" y="517515"/>
                  </a:lnTo>
                  <a:lnTo>
                    <a:pt x="263778" y="521715"/>
                  </a:lnTo>
                  <a:lnTo>
                    <a:pt x="216367" y="517515"/>
                  </a:lnTo>
                  <a:lnTo>
                    <a:pt x="171742" y="505404"/>
                  </a:lnTo>
                  <a:lnTo>
                    <a:pt x="130650" y="486118"/>
                  </a:lnTo>
                  <a:lnTo>
                    <a:pt x="93834" y="460390"/>
                  </a:lnTo>
                  <a:lnTo>
                    <a:pt x="62041" y="428957"/>
                  </a:lnTo>
                  <a:lnTo>
                    <a:pt x="36016" y="392552"/>
                  </a:lnTo>
                  <a:lnTo>
                    <a:pt x="16504" y="351910"/>
                  </a:lnTo>
                  <a:lnTo>
                    <a:pt x="4250" y="307767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908810" y="2776220"/>
            <a:ext cx="1504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-</a:t>
            </a:r>
            <a:r>
              <a:rPr sz="1200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1200">
              <a:latin typeface="Calibri"/>
              <a:cs typeface="Calibri"/>
            </a:endParaRPr>
          </a:p>
        </p:txBody>
      </p:sp>
      <p:graphicFrame>
        <p:nvGraphicFramePr>
          <p:cNvPr id="18" name="object 18"/>
          <p:cNvGraphicFramePr>
            <a:graphicFrameLocks noGrp="1"/>
          </p:cNvGraphicFramePr>
          <p:nvPr/>
        </p:nvGraphicFramePr>
        <p:xfrm>
          <a:off x="6793103" y="1886839"/>
          <a:ext cx="4743450" cy="1851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spc="-37" baseline="-20833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b="1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spc="-37" baseline="-20833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4"/>
                        </a:spcBef>
                      </a:pPr>
                      <a:r>
                        <a:rPr sz="1800" b="1" spc="-5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2DEEE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2DEEE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2D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AEE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AEEF7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A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2DEEE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2DEEE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2D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AEEF7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AEEF7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A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Adder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4538853"/>
            <a:ext cx="67367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actually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build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adder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using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perceptrons!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4659" y="1634235"/>
            <a:ext cx="4543425" cy="13716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74840" y="1622805"/>
            <a:ext cx="4219575" cy="187642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5803265" y="2293492"/>
            <a:ext cx="678180" cy="253365"/>
            <a:chOff x="5803265" y="2293492"/>
            <a:chExt cx="678180" cy="253365"/>
          </a:xfrm>
        </p:grpSpPr>
        <p:sp>
          <p:nvSpPr>
            <p:cNvPr id="7" name="object 7"/>
            <p:cNvSpPr/>
            <p:nvPr/>
          </p:nvSpPr>
          <p:spPr>
            <a:xfrm>
              <a:off x="5809615" y="2299842"/>
              <a:ext cx="665480" cy="240665"/>
            </a:xfrm>
            <a:custGeom>
              <a:avLst/>
              <a:gdLst/>
              <a:ahLst/>
              <a:cxnLst/>
              <a:rect l="l" t="t" r="r" b="b"/>
              <a:pathLst>
                <a:path w="665479" h="240664">
                  <a:moveTo>
                    <a:pt x="544957" y="0"/>
                  </a:moveTo>
                  <a:lnTo>
                    <a:pt x="544957" y="60071"/>
                  </a:lnTo>
                  <a:lnTo>
                    <a:pt x="0" y="60071"/>
                  </a:lnTo>
                  <a:lnTo>
                    <a:pt x="0" y="180086"/>
                  </a:lnTo>
                  <a:lnTo>
                    <a:pt x="544957" y="180086"/>
                  </a:lnTo>
                  <a:lnTo>
                    <a:pt x="544957" y="240157"/>
                  </a:lnTo>
                  <a:lnTo>
                    <a:pt x="665099" y="120142"/>
                  </a:lnTo>
                  <a:lnTo>
                    <a:pt x="544957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809615" y="2299842"/>
              <a:ext cx="665480" cy="240665"/>
            </a:xfrm>
            <a:custGeom>
              <a:avLst/>
              <a:gdLst/>
              <a:ahLst/>
              <a:cxnLst/>
              <a:rect l="l" t="t" r="r" b="b"/>
              <a:pathLst>
                <a:path w="665479" h="240664">
                  <a:moveTo>
                    <a:pt x="0" y="60071"/>
                  </a:moveTo>
                  <a:lnTo>
                    <a:pt x="544957" y="60071"/>
                  </a:lnTo>
                  <a:lnTo>
                    <a:pt x="544957" y="0"/>
                  </a:lnTo>
                  <a:lnTo>
                    <a:pt x="665099" y="120142"/>
                  </a:lnTo>
                  <a:lnTo>
                    <a:pt x="544957" y="240157"/>
                  </a:lnTo>
                  <a:lnTo>
                    <a:pt x="544957" y="180086"/>
                  </a:lnTo>
                  <a:lnTo>
                    <a:pt x="0" y="180086"/>
                  </a:lnTo>
                  <a:lnTo>
                    <a:pt x="0" y="60071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Notation</a:t>
            </a:r>
            <a:r>
              <a:rPr spc="254" dirty="0"/>
              <a:t> </a:t>
            </a:r>
            <a:r>
              <a:rPr dirty="0"/>
              <a:t>for</a:t>
            </a:r>
            <a:r>
              <a:rPr spc="280" dirty="0"/>
              <a:t> </a:t>
            </a: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74971"/>
            <a:ext cx="9010650" cy="8813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Note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inputs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ANNs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also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usually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drawn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circles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13938" y="1171955"/>
            <a:ext cx="4352925" cy="18764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are</a:t>
            </a:r>
            <a:r>
              <a:rPr spc="170" dirty="0"/>
              <a:t> </a:t>
            </a:r>
            <a:r>
              <a:rPr dirty="0"/>
              <a:t>perceptrons</a:t>
            </a:r>
            <a:r>
              <a:rPr spc="145" dirty="0"/>
              <a:t> </a:t>
            </a:r>
            <a:r>
              <a:rPr spc="55" dirty="0"/>
              <a:t>just</a:t>
            </a:r>
            <a:r>
              <a:rPr spc="190" dirty="0"/>
              <a:t> </a:t>
            </a:r>
            <a:r>
              <a:rPr dirty="0"/>
              <a:t>more</a:t>
            </a:r>
            <a:r>
              <a:rPr spc="170" dirty="0"/>
              <a:t> </a:t>
            </a:r>
            <a:r>
              <a:rPr spc="75" dirty="0"/>
              <a:t>complex</a:t>
            </a:r>
            <a:r>
              <a:rPr spc="55" dirty="0"/>
              <a:t> </a:t>
            </a:r>
            <a:r>
              <a:rPr spc="75" dirty="0"/>
              <a:t>NAND</a:t>
            </a:r>
            <a:r>
              <a:rPr spc="165" dirty="0"/>
              <a:t> </a:t>
            </a:r>
            <a:r>
              <a:rPr spc="-10" dirty="0"/>
              <a:t>gates?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47419" y="1122153"/>
            <a:ext cx="9768205" cy="42805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25" dirty="0">
                <a:latin typeface="Calibri"/>
                <a:cs typeface="Calibri"/>
              </a:rPr>
              <a:t>No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5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key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strength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lies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algorithms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spc="45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55" dirty="0">
                <a:latin typeface="Calibri"/>
                <a:cs typeface="Calibri"/>
              </a:rPr>
              <a:t>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not</a:t>
            </a:r>
            <a:endParaRPr sz="2400">
              <a:latin typeface="Calibri"/>
              <a:cs typeface="Calibri"/>
            </a:endParaRPr>
          </a:p>
          <a:p>
            <a:pPr marR="4667885" algn="r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relies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human</a:t>
            </a:r>
            <a:endParaRPr sz="2400">
              <a:latin typeface="Calibri"/>
              <a:cs typeface="Calibri"/>
            </a:endParaRPr>
          </a:p>
          <a:p>
            <a:pPr marL="227329" marR="4721860" indent="-227329" algn="r">
              <a:lnSpc>
                <a:spcPct val="100000"/>
              </a:lnSpc>
              <a:spcBef>
                <a:spcPts val="645"/>
              </a:spcBef>
              <a:buFont typeface="Arial"/>
              <a:buChar char="•"/>
              <a:tabLst>
                <a:tab pos="227329" algn="l"/>
              </a:tabLst>
            </a:pPr>
            <a:r>
              <a:rPr sz="2800" spc="-20" dirty="0">
                <a:latin typeface="Calibri"/>
                <a:cs typeface="Calibri"/>
              </a:rPr>
              <a:t>What’s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so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important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about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this?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basically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presolve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solve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those</a:t>
            </a:r>
            <a:endParaRPr sz="24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49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‘learning’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don’t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that.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 	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basic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architecture,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let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itself 	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get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right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answer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627831"/>
            <a:ext cx="9742805" cy="122047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  <a:tab pos="1181100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we</a:t>
            </a:r>
            <a:r>
              <a:rPr sz="2800" dirty="0">
                <a:latin typeface="Calibri"/>
                <a:cs typeface="Calibri"/>
              </a:rPr>
              <a:t>	want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learn,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should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change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in 	</a:t>
            </a:r>
            <a:r>
              <a:rPr sz="2800" spc="55" dirty="0">
                <a:latin typeface="Calibri"/>
                <a:cs typeface="Calibri"/>
              </a:rPr>
              <a:t>weight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synapse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corresponding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change 	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720580" cy="222885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It’s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spc="20" dirty="0">
                <a:latin typeface="Calibri"/>
                <a:cs typeface="Calibri"/>
              </a:rPr>
              <a:t>3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Our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classifies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4…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ts val="228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just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slightly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small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  <a:p>
            <a:pPr marL="1155065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our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698355" cy="221805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invert 	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  <a:p>
            <a:pPr marL="1155065" marR="310515" lvl="2" indent="-228600">
              <a:lnSpc>
                <a:spcPts val="2160"/>
              </a:lnSpc>
              <a:spcBef>
                <a:spcPts val="53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This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propagates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NN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radically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change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everything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a </a:t>
            </a:r>
            <a:r>
              <a:rPr sz="2000" dirty="0">
                <a:latin typeface="Calibri"/>
                <a:cs typeface="Calibri"/>
              </a:rPr>
              <a:t>fashion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complex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precalculate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You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fixed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incorrect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classification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messed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484360" cy="160464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challenging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will 	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complex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circumvent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was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introduced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779366"/>
            <a:ext cx="982662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0" dirty="0">
                <a:latin typeface="Calibri"/>
                <a:cs typeface="Calibri"/>
              </a:rPr>
              <a:t>Looks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before…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anything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65273" y="5124703"/>
            <a:ext cx="19050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</a:tabLst>
            </a:pP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(x</a:t>
            </a:r>
            <a:r>
              <a:rPr sz="975" spc="-15" baseline="25641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w+b)=</a:t>
            </a: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(z)=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971544" y="5309996"/>
            <a:ext cx="562610" cy="17145"/>
          </a:xfrm>
          <a:custGeom>
            <a:avLst/>
            <a:gdLst/>
            <a:ahLst/>
            <a:cxnLst/>
            <a:rect l="l" t="t" r="r" b="b"/>
            <a:pathLst>
              <a:path w="562610" h="17145">
                <a:moveTo>
                  <a:pt x="562355" y="0"/>
                </a:moveTo>
                <a:lnTo>
                  <a:pt x="0" y="0"/>
                </a:lnTo>
                <a:lnTo>
                  <a:pt x="0" y="16763"/>
                </a:lnTo>
                <a:lnTo>
                  <a:pt x="562355" y="16763"/>
                </a:lnTo>
                <a:lnTo>
                  <a:pt x="5623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186554" y="5043373"/>
            <a:ext cx="133350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450" spc="-5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934078" y="5321300"/>
            <a:ext cx="631190" cy="2489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1450" spc="-10" dirty="0">
                <a:latin typeface="Cambria Math"/>
                <a:cs typeface="Cambria Math"/>
              </a:rPr>
              <a:t>1+𝑒</a:t>
            </a:r>
            <a:r>
              <a:rPr sz="1800" spc="-15" baseline="20833" dirty="0">
                <a:latin typeface="Cambria Math"/>
                <a:cs typeface="Cambria Math"/>
              </a:rPr>
              <a:t>−𝑧</a:t>
            </a:r>
            <a:endParaRPr sz="1800" baseline="20833">
              <a:latin typeface="Cambria Math"/>
              <a:cs typeface="Cambria Math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Similarities</a:t>
            </a:r>
            <a:r>
              <a:rPr spc="240" dirty="0"/>
              <a:t> </a:t>
            </a:r>
            <a:r>
              <a:rPr dirty="0"/>
              <a:t>between</a:t>
            </a:r>
            <a:r>
              <a:rPr spc="270" dirty="0"/>
              <a:t> </a:t>
            </a:r>
            <a:r>
              <a:rPr dirty="0"/>
              <a:t>Perceptrons</a:t>
            </a:r>
            <a:r>
              <a:rPr spc="229" dirty="0"/>
              <a:t> </a:t>
            </a:r>
            <a:r>
              <a:rPr dirty="0"/>
              <a:t>and</a:t>
            </a:r>
            <a:r>
              <a:rPr spc="270" dirty="0"/>
              <a:t> </a:t>
            </a:r>
            <a:r>
              <a:rPr spc="90" dirty="0"/>
              <a:t>Sigmoids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33473" y="1739011"/>
            <a:ext cx="8950960" cy="120396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~1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~0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Key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smoothed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sudden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changes…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3125" y="3819145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35" dirty="0"/>
              <a:t> </a:t>
            </a:r>
            <a:r>
              <a:rPr spc="105" dirty="0"/>
              <a:t>is</a:t>
            </a:r>
            <a:r>
              <a:rPr spc="95" dirty="0"/>
              <a:t> </a:t>
            </a:r>
            <a:r>
              <a:rPr spc="50" dirty="0"/>
              <a:t>smoothness</a:t>
            </a:r>
            <a:r>
              <a:rPr spc="80" dirty="0"/>
              <a:t> </a:t>
            </a:r>
            <a:r>
              <a:rPr spc="40" dirty="0"/>
              <a:t>crucial?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08074" y="1743582"/>
            <a:ext cx="8041640" cy="8058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25" dirty="0">
                <a:latin typeface="Calibri"/>
                <a:cs typeface="Calibri"/>
              </a:rPr>
              <a:t>Now,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specific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w</a:t>
            </a:r>
            <a:r>
              <a:rPr sz="2400" spc="-37" baseline="-20833" dirty="0">
                <a:latin typeface="Calibri"/>
                <a:cs typeface="Calibri"/>
              </a:rPr>
              <a:t>i</a:t>
            </a:r>
            <a:endParaRPr sz="2400" baseline="-20833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74689" y="3991736"/>
            <a:ext cx="80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0" dirty="0">
                <a:latin typeface="Calibri"/>
                <a:cs typeface="Calibri"/>
              </a:rPr>
              <a:t>j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33473" y="3814953"/>
            <a:ext cx="5328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all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weights,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064120" y="4051172"/>
            <a:ext cx="3511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0" dirty="0">
                <a:latin typeface="Cambria Math"/>
                <a:cs typeface="Cambria Math"/>
              </a:rPr>
              <a:t>𝜕𝑤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388732" y="4138040"/>
            <a:ext cx="11493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spc="125" dirty="0">
                <a:latin typeface="Cambria Math"/>
                <a:cs typeface="Cambria Math"/>
              </a:rPr>
              <a:t>𝑗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16877" y="3718941"/>
            <a:ext cx="117983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55320" algn="l"/>
              </a:tabLst>
            </a:pPr>
            <a:r>
              <a:rPr sz="1750" u="heavy" spc="7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r>
              <a:rPr sz="1750" u="none" dirty="0">
                <a:latin typeface="Cambria Math"/>
                <a:cs typeface="Cambria Math"/>
              </a:rPr>
              <a:t>	</a:t>
            </a:r>
            <a:r>
              <a:rPr sz="1750" u="heavy" spc="7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80401" y="4051172"/>
            <a:ext cx="2959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5" dirty="0">
                <a:latin typeface="Cambria Math"/>
                <a:cs typeface="Cambria Math"/>
              </a:rPr>
              <a:t>𝜕𝑏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35036" y="3814953"/>
            <a:ext cx="3427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36600" algn="l"/>
              </a:tabLst>
            </a:pPr>
            <a:r>
              <a:rPr sz="2400" spc="-50" dirty="0">
                <a:latin typeface="Calibri"/>
                <a:cs typeface="Calibri"/>
              </a:rPr>
              <a:t>,</a:t>
            </a:r>
            <a:r>
              <a:rPr sz="2400" dirty="0">
                <a:latin typeface="Calibri"/>
                <a:cs typeface="Calibri"/>
              </a:rPr>
              <a:t>	represent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partial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33473" y="4260832"/>
            <a:ext cx="9204325" cy="114236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lnSpc>
                <a:spcPct val="100000"/>
              </a:lnSpc>
              <a:spcBef>
                <a:spcPts val="320"/>
              </a:spcBef>
            </a:pP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respect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bias.</a:t>
            </a:r>
            <a:endParaRPr sz="2400">
              <a:latin typeface="Calibri"/>
              <a:cs typeface="Calibri"/>
            </a:endParaRPr>
          </a:p>
          <a:p>
            <a:pPr marL="240029" marR="5080" indent="-227329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range,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linear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approximating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042409" y="3742385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415790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912867" y="3600653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214109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403852" y="2925825"/>
            <a:ext cx="25552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10385" algn="l"/>
              </a:tabLst>
            </a:pPr>
            <a:r>
              <a:rPr sz="2800" spc="-20" dirty="0">
                <a:latin typeface="Cambria Math"/>
                <a:cs typeface="Cambria Math"/>
              </a:rPr>
              <a:t>𝜕𝑜𝑢𝑡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0" dirty="0">
                <a:latin typeface="Cambria Math"/>
                <a:cs typeface="Cambria Math"/>
              </a:rPr>
              <a:t>𝜕𝑜𝑢𝑡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612898" y="3194049"/>
            <a:ext cx="4201160" cy="6896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2615"/>
              </a:lnSpc>
              <a:spcBef>
                <a:spcPts val="95"/>
              </a:spcBef>
              <a:tabLst>
                <a:tab pos="1272540" algn="l"/>
                <a:tab pos="2603500" algn="l"/>
              </a:tabLst>
            </a:pPr>
            <a:r>
              <a:rPr sz="2800" dirty="0">
                <a:latin typeface="Cambria Math"/>
                <a:cs typeface="Cambria Math"/>
              </a:rPr>
              <a:t>∆𝑜𝑢𝑡</a:t>
            </a:r>
            <a:r>
              <a:rPr sz="2800" spc="3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~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2775" dirty="0">
                <a:latin typeface="Cambria Math"/>
                <a:cs typeface="Cambria Math"/>
              </a:rPr>
              <a:t>෍</a:t>
            </a:r>
            <a:r>
              <a:rPr sz="2800" dirty="0">
                <a:latin typeface="Cambria Math"/>
                <a:cs typeface="Cambria Math"/>
              </a:rPr>
              <a:t>	∆𝑤</a:t>
            </a:r>
            <a:r>
              <a:rPr sz="3075" baseline="-16260" dirty="0">
                <a:latin typeface="Cambria Math"/>
                <a:cs typeface="Cambria Math"/>
              </a:rPr>
              <a:t>𝑗</a:t>
            </a:r>
            <a:r>
              <a:rPr sz="3075" spc="307" baseline="-16260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+</a:t>
            </a:r>
            <a:endParaRPr sz="2800">
              <a:latin typeface="Cambria Math"/>
              <a:cs typeface="Cambria Math"/>
            </a:endParaRPr>
          </a:p>
          <a:p>
            <a:pPr marL="1887220">
              <a:lnSpc>
                <a:spcPts val="2615"/>
              </a:lnSpc>
              <a:tabLst>
                <a:tab pos="3772535" algn="l"/>
              </a:tabLst>
            </a:pPr>
            <a:r>
              <a:rPr sz="2800" spc="-25" dirty="0">
                <a:latin typeface="Cambria Math"/>
                <a:cs typeface="Cambria Math"/>
              </a:rPr>
              <a:t>𝜕𝑤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5" dirty="0">
                <a:latin typeface="Cambria Math"/>
                <a:cs typeface="Cambria Math"/>
              </a:rPr>
              <a:t>𝜕𝑏</a:t>
            </a:r>
            <a:endParaRPr sz="280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002526" y="3194049"/>
            <a:ext cx="42925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latin typeface="Cambria Math"/>
                <a:cs typeface="Cambria Math"/>
              </a:rPr>
              <a:t>∆𝑏</a:t>
            </a:r>
            <a:endParaRPr sz="2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1220188"/>
            <a:ext cx="9418955" cy="19977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end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actual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doesn’t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matter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much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Smoothness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lets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approximation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last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slide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8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bonus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because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doing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training.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889423"/>
            <a:ext cx="9102725" cy="228409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our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25" dirty="0">
                <a:latin typeface="Calibri"/>
                <a:cs typeface="Calibri"/>
              </a:rPr>
              <a:t>NN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Perceptron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evaluate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1;</a:t>
            </a:r>
            <a:r>
              <a:rPr sz="2000" spc="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yes,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no;</a:t>
            </a:r>
            <a:endParaRPr sz="20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60" dirty="0">
                <a:latin typeface="Calibri"/>
                <a:cs typeface="Calibri"/>
              </a:rPr>
              <a:t>Since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continuous,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setup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criteria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dirty="0">
                <a:latin typeface="Calibri"/>
                <a:cs typeface="Calibri"/>
              </a:rPr>
              <a:t>decide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saying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Maybe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&gt;0.5,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9.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79295" y="788162"/>
            <a:ext cx="6988936" cy="335508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Neural</a:t>
            </a:r>
            <a:r>
              <a:rPr spc="235" dirty="0"/>
              <a:t> </a:t>
            </a:r>
            <a:r>
              <a:rPr dirty="0"/>
              <a:t>Network </a:t>
            </a:r>
            <a:r>
              <a:rPr spc="-1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18713" y="1573911"/>
            <a:ext cx="6229350" cy="4039235"/>
            <a:chOff x="3418713" y="1573911"/>
            <a:chExt cx="6229350" cy="403923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18713" y="1573911"/>
              <a:ext cx="6229144" cy="337883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702555" y="4958714"/>
              <a:ext cx="1742439" cy="650875"/>
            </a:xfrm>
            <a:custGeom>
              <a:avLst/>
              <a:gdLst/>
              <a:ahLst/>
              <a:cxnLst/>
              <a:rect l="l" t="t" r="r" b="b"/>
              <a:pathLst>
                <a:path w="1742439" h="650875">
                  <a:moveTo>
                    <a:pt x="1742186" y="0"/>
                  </a:moveTo>
                  <a:lnTo>
                    <a:pt x="1738962" y="44152"/>
                  </a:lnTo>
                  <a:lnTo>
                    <a:pt x="1729570" y="86499"/>
                  </a:lnTo>
                  <a:lnTo>
                    <a:pt x="1714432" y="126652"/>
                  </a:lnTo>
                  <a:lnTo>
                    <a:pt x="1693968" y="164225"/>
                  </a:lnTo>
                  <a:lnTo>
                    <a:pt x="1668598" y="198828"/>
                  </a:lnTo>
                  <a:lnTo>
                    <a:pt x="1638744" y="230076"/>
                  </a:lnTo>
                  <a:lnTo>
                    <a:pt x="1604826" y="257580"/>
                  </a:lnTo>
                  <a:lnTo>
                    <a:pt x="1567264" y="280952"/>
                  </a:lnTo>
                  <a:lnTo>
                    <a:pt x="1526480" y="299805"/>
                  </a:lnTo>
                  <a:lnTo>
                    <a:pt x="1482894" y="313751"/>
                  </a:lnTo>
                  <a:lnTo>
                    <a:pt x="1436926" y="322403"/>
                  </a:lnTo>
                  <a:lnTo>
                    <a:pt x="1388999" y="325374"/>
                  </a:lnTo>
                  <a:lnTo>
                    <a:pt x="1224280" y="325374"/>
                  </a:lnTo>
                  <a:lnTo>
                    <a:pt x="1176352" y="328341"/>
                  </a:lnTo>
                  <a:lnTo>
                    <a:pt x="1130384" y="336986"/>
                  </a:lnTo>
                  <a:lnTo>
                    <a:pt x="1086798" y="350923"/>
                  </a:lnTo>
                  <a:lnTo>
                    <a:pt x="1046014" y="369763"/>
                  </a:lnTo>
                  <a:lnTo>
                    <a:pt x="1008452" y="393121"/>
                  </a:lnTo>
                  <a:lnTo>
                    <a:pt x="974534" y="420609"/>
                  </a:lnTo>
                  <a:lnTo>
                    <a:pt x="944680" y="451842"/>
                  </a:lnTo>
                  <a:lnTo>
                    <a:pt x="919310" y="486432"/>
                  </a:lnTo>
                  <a:lnTo>
                    <a:pt x="898846" y="523993"/>
                  </a:lnTo>
                  <a:lnTo>
                    <a:pt x="883708" y="564138"/>
                  </a:lnTo>
                  <a:lnTo>
                    <a:pt x="874316" y="606480"/>
                  </a:lnTo>
                  <a:lnTo>
                    <a:pt x="871093" y="650633"/>
                  </a:lnTo>
                  <a:lnTo>
                    <a:pt x="867869" y="606480"/>
                  </a:lnTo>
                  <a:lnTo>
                    <a:pt x="858477" y="564138"/>
                  </a:lnTo>
                  <a:lnTo>
                    <a:pt x="843339" y="523993"/>
                  </a:lnTo>
                  <a:lnTo>
                    <a:pt x="822875" y="486432"/>
                  </a:lnTo>
                  <a:lnTo>
                    <a:pt x="797505" y="451842"/>
                  </a:lnTo>
                  <a:lnTo>
                    <a:pt x="767651" y="420609"/>
                  </a:lnTo>
                  <a:lnTo>
                    <a:pt x="733733" y="393121"/>
                  </a:lnTo>
                  <a:lnTo>
                    <a:pt x="696171" y="369763"/>
                  </a:lnTo>
                  <a:lnTo>
                    <a:pt x="655387" y="350923"/>
                  </a:lnTo>
                  <a:lnTo>
                    <a:pt x="611801" y="336986"/>
                  </a:lnTo>
                  <a:lnTo>
                    <a:pt x="565833" y="328341"/>
                  </a:lnTo>
                  <a:lnTo>
                    <a:pt x="517906" y="325374"/>
                  </a:lnTo>
                  <a:lnTo>
                    <a:pt x="353060" y="325374"/>
                  </a:lnTo>
                  <a:lnTo>
                    <a:pt x="305134" y="322403"/>
                  </a:lnTo>
                  <a:lnTo>
                    <a:pt x="259174" y="313751"/>
                  </a:lnTo>
                  <a:lnTo>
                    <a:pt x="215598" y="299805"/>
                  </a:lnTo>
                  <a:lnTo>
                    <a:pt x="174827" y="280952"/>
                  </a:lnTo>
                  <a:lnTo>
                    <a:pt x="137280" y="257580"/>
                  </a:lnTo>
                  <a:lnTo>
                    <a:pt x="103378" y="230076"/>
                  </a:lnTo>
                  <a:lnTo>
                    <a:pt x="73539" y="198828"/>
                  </a:lnTo>
                  <a:lnTo>
                    <a:pt x="48184" y="164225"/>
                  </a:lnTo>
                  <a:lnTo>
                    <a:pt x="27733" y="126652"/>
                  </a:lnTo>
                  <a:lnTo>
                    <a:pt x="12605" y="86499"/>
                  </a:lnTo>
                  <a:lnTo>
                    <a:pt x="3221" y="44152"/>
                  </a:lnTo>
                  <a:lnTo>
                    <a:pt x="0" y="0"/>
                  </a:lnTo>
                </a:path>
              </a:pathLst>
            </a:custGeom>
            <a:ln w="6350">
              <a:solidFill>
                <a:srgbClr val="5B9B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41680" y="3073095"/>
            <a:ext cx="1415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-2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76195" y="1573911"/>
            <a:ext cx="650875" cy="3490595"/>
          </a:xfrm>
          <a:custGeom>
            <a:avLst/>
            <a:gdLst/>
            <a:ahLst/>
            <a:cxnLst/>
            <a:rect l="l" t="t" r="r" b="b"/>
            <a:pathLst>
              <a:path w="650875" h="3490595">
                <a:moveTo>
                  <a:pt x="650621" y="3490468"/>
                </a:moveTo>
                <a:lnTo>
                  <a:pt x="606468" y="3487244"/>
                </a:lnTo>
                <a:lnTo>
                  <a:pt x="564121" y="3477852"/>
                </a:lnTo>
                <a:lnTo>
                  <a:pt x="523968" y="3462714"/>
                </a:lnTo>
                <a:lnTo>
                  <a:pt x="486395" y="3442250"/>
                </a:lnTo>
                <a:lnTo>
                  <a:pt x="451792" y="3416880"/>
                </a:lnTo>
                <a:lnTo>
                  <a:pt x="420544" y="3387026"/>
                </a:lnTo>
                <a:lnTo>
                  <a:pt x="393040" y="3353108"/>
                </a:lnTo>
                <a:lnTo>
                  <a:pt x="369668" y="3315546"/>
                </a:lnTo>
                <a:lnTo>
                  <a:pt x="350815" y="3274762"/>
                </a:lnTo>
                <a:lnTo>
                  <a:pt x="336869" y="3231176"/>
                </a:lnTo>
                <a:lnTo>
                  <a:pt x="328217" y="3185208"/>
                </a:lnTo>
                <a:lnTo>
                  <a:pt x="325247" y="3137281"/>
                </a:lnTo>
                <a:lnTo>
                  <a:pt x="325247" y="2098421"/>
                </a:lnTo>
                <a:lnTo>
                  <a:pt x="322276" y="2050493"/>
                </a:lnTo>
                <a:lnTo>
                  <a:pt x="313625" y="2004525"/>
                </a:lnTo>
                <a:lnTo>
                  <a:pt x="299680" y="1960939"/>
                </a:lnTo>
                <a:lnTo>
                  <a:pt x="280829" y="1920155"/>
                </a:lnTo>
                <a:lnTo>
                  <a:pt x="257462" y="1882593"/>
                </a:lnTo>
                <a:lnTo>
                  <a:pt x="229965" y="1848675"/>
                </a:lnTo>
                <a:lnTo>
                  <a:pt x="198727" y="1818821"/>
                </a:lnTo>
                <a:lnTo>
                  <a:pt x="164135" y="1793451"/>
                </a:lnTo>
                <a:lnTo>
                  <a:pt x="126579" y="1772987"/>
                </a:lnTo>
                <a:lnTo>
                  <a:pt x="86445" y="1757849"/>
                </a:lnTo>
                <a:lnTo>
                  <a:pt x="44123" y="1748457"/>
                </a:lnTo>
                <a:lnTo>
                  <a:pt x="0" y="1745234"/>
                </a:lnTo>
                <a:lnTo>
                  <a:pt x="44123" y="1742010"/>
                </a:lnTo>
                <a:lnTo>
                  <a:pt x="86445" y="1732618"/>
                </a:lnTo>
                <a:lnTo>
                  <a:pt x="126579" y="1717480"/>
                </a:lnTo>
                <a:lnTo>
                  <a:pt x="164135" y="1697016"/>
                </a:lnTo>
                <a:lnTo>
                  <a:pt x="198727" y="1671646"/>
                </a:lnTo>
                <a:lnTo>
                  <a:pt x="229965" y="1641792"/>
                </a:lnTo>
                <a:lnTo>
                  <a:pt x="257462" y="1607874"/>
                </a:lnTo>
                <a:lnTo>
                  <a:pt x="280829" y="1570312"/>
                </a:lnTo>
                <a:lnTo>
                  <a:pt x="299680" y="1529528"/>
                </a:lnTo>
                <a:lnTo>
                  <a:pt x="313625" y="1485942"/>
                </a:lnTo>
                <a:lnTo>
                  <a:pt x="322276" y="1439974"/>
                </a:lnTo>
                <a:lnTo>
                  <a:pt x="325247" y="1392047"/>
                </a:lnTo>
                <a:lnTo>
                  <a:pt x="325247" y="353187"/>
                </a:lnTo>
                <a:lnTo>
                  <a:pt x="328217" y="305259"/>
                </a:lnTo>
                <a:lnTo>
                  <a:pt x="336869" y="259291"/>
                </a:lnTo>
                <a:lnTo>
                  <a:pt x="350815" y="215705"/>
                </a:lnTo>
                <a:lnTo>
                  <a:pt x="369668" y="174921"/>
                </a:lnTo>
                <a:lnTo>
                  <a:pt x="393040" y="137359"/>
                </a:lnTo>
                <a:lnTo>
                  <a:pt x="420544" y="103441"/>
                </a:lnTo>
                <a:lnTo>
                  <a:pt x="451792" y="73587"/>
                </a:lnTo>
                <a:lnTo>
                  <a:pt x="486395" y="48217"/>
                </a:lnTo>
                <a:lnTo>
                  <a:pt x="523968" y="27753"/>
                </a:lnTo>
                <a:lnTo>
                  <a:pt x="564121" y="12615"/>
                </a:lnTo>
                <a:lnTo>
                  <a:pt x="606468" y="3223"/>
                </a:lnTo>
                <a:lnTo>
                  <a:pt x="650621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861305" y="4616957"/>
            <a:ext cx="3776345" cy="1405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463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-1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170"/>
              </a:spcBef>
            </a:pP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833107" y="3944746"/>
            <a:ext cx="1742439" cy="650875"/>
          </a:xfrm>
          <a:custGeom>
            <a:avLst/>
            <a:gdLst/>
            <a:ahLst/>
            <a:cxnLst/>
            <a:rect l="l" t="t" r="r" b="b"/>
            <a:pathLst>
              <a:path w="1742440" h="650875">
                <a:moveTo>
                  <a:pt x="1742313" y="0"/>
                </a:moveTo>
                <a:lnTo>
                  <a:pt x="1739089" y="44123"/>
                </a:lnTo>
                <a:lnTo>
                  <a:pt x="1729697" y="86445"/>
                </a:lnTo>
                <a:lnTo>
                  <a:pt x="1714559" y="126579"/>
                </a:lnTo>
                <a:lnTo>
                  <a:pt x="1694095" y="164135"/>
                </a:lnTo>
                <a:lnTo>
                  <a:pt x="1668725" y="198727"/>
                </a:lnTo>
                <a:lnTo>
                  <a:pt x="1638871" y="229965"/>
                </a:lnTo>
                <a:lnTo>
                  <a:pt x="1604953" y="257462"/>
                </a:lnTo>
                <a:lnTo>
                  <a:pt x="1567391" y="280829"/>
                </a:lnTo>
                <a:lnTo>
                  <a:pt x="1526607" y="299680"/>
                </a:lnTo>
                <a:lnTo>
                  <a:pt x="1483021" y="313625"/>
                </a:lnTo>
                <a:lnTo>
                  <a:pt x="1437053" y="322276"/>
                </a:lnTo>
                <a:lnTo>
                  <a:pt x="1389126" y="325246"/>
                </a:lnTo>
                <a:lnTo>
                  <a:pt x="1224407" y="325246"/>
                </a:lnTo>
                <a:lnTo>
                  <a:pt x="1176479" y="328217"/>
                </a:lnTo>
                <a:lnTo>
                  <a:pt x="1130511" y="336869"/>
                </a:lnTo>
                <a:lnTo>
                  <a:pt x="1086925" y="350815"/>
                </a:lnTo>
                <a:lnTo>
                  <a:pt x="1046141" y="369668"/>
                </a:lnTo>
                <a:lnTo>
                  <a:pt x="1008579" y="393040"/>
                </a:lnTo>
                <a:lnTo>
                  <a:pt x="974661" y="420544"/>
                </a:lnTo>
                <a:lnTo>
                  <a:pt x="944807" y="451792"/>
                </a:lnTo>
                <a:lnTo>
                  <a:pt x="919437" y="486395"/>
                </a:lnTo>
                <a:lnTo>
                  <a:pt x="898973" y="523968"/>
                </a:lnTo>
                <a:lnTo>
                  <a:pt x="883835" y="564121"/>
                </a:lnTo>
                <a:lnTo>
                  <a:pt x="874443" y="606468"/>
                </a:lnTo>
                <a:lnTo>
                  <a:pt x="871220" y="650620"/>
                </a:lnTo>
                <a:lnTo>
                  <a:pt x="867996" y="606468"/>
                </a:lnTo>
                <a:lnTo>
                  <a:pt x="858604" y="564121"/>
                </a:lnTo>
                <a:lnTo>
                  <a:pt x="843466" y="523968"/>
                </a:lnTo>
                <a:lnTo>
                  <a:pt x="823002" y="486395"/>
                </a:lnTo>
                <a:lnTo>
                  <a:pt x="797632" y="451792"/>
                </a:lnTo>
                <a:lnTo>
                  <a:pt x="767778" y="420544"/>
                </a:lnTo>
                <a:lnTo>
                  <a:pt x="733860" y="393040"/>
                </a:lnTo>
                <a:lnTo>
                  <a:pt x="696298" y="369668"/>
                </a:lnTo>
                <a:lnTo>
                  <a:pt x="655514" y="350815"/>
                </a:lnTo>
                <a:lnTo>
                  <a:pt x="611928" y="336869"/>
                </a:lnTo>
                <a:lnTo>
                  <a:pt x="565960" y="328217"/>
                </a:lnTo>
                <a:lnTo>
                  <a:pt x="518033" y="325246"/>
                </a:lnTo>
                <a:lnTo>
                  <a:pt x="353187" y="325246"/>
                </a:lnTo>
                <a:lnTo>
                  <a:pt x="305259" y="322276"/>
                </a:lnTo>
                <a:lnTo>
                  <a:pt x="259291" y="313625"/>
                </a:lnTo>
                <a:lnTo>
                  <a:pt x="215705" y="299680"/>
                </a:lnTo>
                <a:lnTo>
                  <a:pt x="174921" y="280829"/>
                </a:lnTo>
                <a:lnTo>
                  <a:pt x="137359" y="257462"/>
                </a:lnTo>
                <a:lnTo>
                  <a:pt x="103441" y="229965"/>
                </a:lnTo>
                <a:lnTo>
                  <a:pt x="73587" y="198727"/>
                </a:lnTo>
                <a:lnTo>
                  <a:pt x="48217" y="164135"/>
                </a:lnTo>
                <a:lnTo>
                  <a:pt x="27753" y="126579"/>
                </a:lnTo>
                <a:lnTo>
                  <a:pt x="12615" y="86445"/>
                </a:lnTo>
                <a:lnTo>
                  <a:pt x="3223" y="44123"/>
                </a:lnTo>
                <a:lnTo>
                  <a:pt x="0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354704" y="696595"/>
            <a:ext cx="466534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latin typeface="Calibri"/>
                <a:cs typeface="Calibri"/>
              </a:rPr>
              <a:t>Three</a:t>
            </a:r>
            <a:r>
              <a:rPr sz="3200" spc="-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Layer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Neural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Network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Four</a:t>
            </a:r>
            <a:r>
              <a:rPr spc="170" dirty="0"/>
              <a:t> </a:t>
            </a:r>
            <a:r>
              <a:rPr spc="55" dirty="0"/>
              <a:t>Layer</a:t>
            </a:r>
            <a:r>
              <a:rPr spc="195" dirty="0"/>
              <a:t> </a:t>
            </a:r>
            <a:r>
              <a:rPr spc="55" dirty="0"/>
              <a:t>Neural</a:t>
            </a:r>
            <a:r>
              <a:rPr spc="1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441952"/>
            <a:ext cx="59651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multi-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perceptron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(MLP)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1602"/>
            <a:ext cx="9824085" cy="1927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ts val="3329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Inputs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85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Depends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3329"/>
              </a:lnSpc>
              <a:spcBef>
                <a:spcPts val="309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Outputs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565"/>
              </a:lnSpc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recognition,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595"/>
              </a:lnSpc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(0,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145" dirty="0">
                <a:latin typeface="Calibri"/>
                <a:cs typeface="Calibri"/>
              </a:rPr>
              <a:t>…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9)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861550" cy="16040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Input: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215" dirty="0">
                <a:latin typeface="Calibri"/>
                <a:cs typeface="Calibri"/>
              </a:rPr>
              <a:t>x</a:t>
            </a:r>
            <a:r>
              <a:rPr sz="2800" spc="5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pixel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greyscale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4096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values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1, 	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greyscale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intensity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716135" cy="188213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Output: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110" dirty="0">
                <a:latin typeface="Calibri"/>
                <a:cs typeface="Calibri"/>
              </a:rPr>
              <a:t>0-</a:t>
            </a:r>
            <a:r>
              <a:rPr sz="2800" spc="35" dirty="0">
                <a:latin typeface="Calibri"/>
                <a:cs typeface="Calibri"/>
              </a:rPr>
              <a:t>9</a:t>
            </a:r>
            <a:endParaRPr sz="2800">
              <a:latin typeface="Calibri"/>
              <a:cs typeface="Calibri"/>
            </a:endParaRPr>
          </a:p>
          <a:p>
            <a:pPr marL="696595" marR="281305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then 	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only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those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	</a:t>
            </a:r>
            <a:r>
              <a:rPr sz="2400" spc="-10" dirty="0">
                <a:latin typeface="Calibri"/>
                <a:cs typeface="Calibri"/>
              </a:rPr>
              <a:t>‘yes’</a:t>
            </a:r>
            <a:endParaRPr sz="2400">
              <a:latin typeface="Calibri"/>
              <a:cs typeface="Calibri"/>
            </a:endParaRPr>
          </a:p>
          <a:p>
            <a:pPr marL="1153160" lvl="2" indent="-226695" algn="just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1153160" algn="l"/>
              </a:tabLst>
            </a:pPr>
            <a:r>
              <a:rPr sz="2000" spc="50" dirty="0">
                <a:latin typeface="Calibri"/>
                <a:cs typeface="Calibri"/>
              </a:rPr>
              <a:t>Recall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‘yes’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is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defined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being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greater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(e.g.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output&gt;0.5)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630428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Hidden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layers?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science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Driven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829310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Note: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These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feed-forward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5" dirty="0">
                <a:latin typeface="Calibri"/>
                <a:cs typeface="Calibri"/>
              </a:rPr>
              <a:t>All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forward,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never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backward,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during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operation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Aside:</a:t>
            </a:r>
            <a:r>
              <a:rPr spc="245" dirty="0"/>
              <a:t> </a:t>
            </a:r>
            <a:r>
              <a:rPr dirty="0"/>
              <a:t>Recurrent</a:t>
            </a:r>
            <a:r>
              <a:rPr spc="215" dirty="0"/>
              <a:t> </a:t>
            </a:r>
            <a:r>
              <a:rPr spc="60" dirty="0"/>
              <a:t>Neural</a:t>
            </a:r>
            <a:r>
              <a:rPr spc="215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7697"/>
            <a:ext cx="9746615" cy="1956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311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-10" dirty="0">
                <a:latin typeface="Calibri"/>
                <a:cs typeface="Calibri"/>
              </a:rPr>
              <a:t>Note:</a:t>
            </a:r>
            <a:endParaRPr sz="260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65" dirty="0">
                <a:latin typeface="Calibri"/>
                <a:cs typeface="Calibri"/>
              </a:rPr>
              <a:t>The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actually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input</a:t>
            </a:r>
            <a:endParaRPr sz="2200">
              <a:latin typeface="Calibri"/>
              <a:cs typeface="Calibri"/>
            </a:endParaRPr>
          </a:p>
          <a:p>
            <a:pPr marL="697865" marR="5080" lvl="1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200" dirty="0">
                <a:latin typeface="Calibri"/>
                <a:cs typeface="Calibri"/>
              </a:rPr>
              <a:t>There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some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kind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time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dependence,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where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behavior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evolve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over time</a:t>
            </a:r>
            <a:endParaRPr sz="2200">
              <a:latin typeface="Calibri"/>
              <a:cs typeface="Calibri"/>
            </a:endParaRPr>
          </a:p>
          <a:p>
            <a:pPr marL="697865" lvl="1" indent="-228600">
              <a:lnSpc>
                <a:spcPts val="2355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80" dirty="0">
                <a:latin typeface="Calibri"/>
                <a:cs typeface="Calibri"/>
              </a:rPr>
              <a:t>This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necessary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cant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fed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back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65" dirty="0">
                <a:latin typeface="Calibri"/>
                <a:cs typeface="Calibri"/>
              </a:rPr>
              <a:t>in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were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to</a:t>
            </a:r>
            <a:endParaRPr sz="2200">
              <a:latin typeface="Calibri"/>
              <a:cs typeface="Calibri"/>
            </a:endParaRPr>
          </a:p>
          <a:p>
            <a:pPr marL="697865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be</a:t>
            </a:r>
            <a:r>
              <a:rPr sz="2200" spc="2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evaluated</a:t>
            </a:r>
            <a:r>
              <a:rPr sz="2200" spc="26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intantaneously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871" y="1199807"/>
            <a:ext cx="8528939" cy="226162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Getting</a:t>
            </a:r>
            <a:r>
              <a:rPr spc="105" dirty="0"/>
              <a:t> </a:t>
            </a:r>
            <a:r>
              <a:rPr spc="60" dirty="0"/>
              <a:t>back</a:t>
            </a:r>
            <a:r>
              <a:rPr spc="40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053560"/>
            <a:ext cx="9770110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different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images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85" dirty="0">
                <a:latin typeface="Calibri"/>
                <a:cs typeface="Calibri"/>
              </a:rPr>
              <a:t>Building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algorithm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bit 	</a:t>
            </a:r>
            <a:r>
              <a:rPr sz="2400" dirty="0">
                <a:latin typeface="Calibri"/>
                <a:cs typeface="Calibri"/>
              </a:rPr>
              <a:t>outside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scope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cover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relatively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do-</a:t>
            </a:r>
            <a:r>
              <a:rPr sz="2400" spc="-10" dirty="0">
                <a:latin typeface="Calibri"/>
                <a:cs typeface="Calibri"/>
              </a:rPr>
              <a:t>able.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focus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6595" marR="6985" lvl="1" indent="-227329">
              <a:lnSpc>
                <a:spcPct val="90000"/>
              </a:lnSpc>
              <a:spcBef>
                <a:spcPts val="50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Once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taking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image,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portions,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using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classifier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segmentation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version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339" y="1487627"/>
            <a:ext cx="3600123" cy="64825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5294" y="1486772"/>
            <a:ext cx="4350385" cy="64220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5084445" y="1549908"/>
            <a:ext cx="1516380" cy="355600"/>
            <a:chOff x="5084445" y="1549908"/>
            <a:chExt cx="1516380" cy="355600"/>
          </a:xfrm>
        </p:grpSpPr>
        <p:sp>
          <p:nvSpPr>
            <p:cNvPr id="7" name="object 7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1331976" y="0"/>
                  </a:moveTo>
                  <a:lnTo>
                    <a:pt x="1331976" y="85725"/>
                  </a:lnTo>
                  <a:lnTo>
                    <a:pt x="0" y="85725"/>
                  </a:lnTo>
                  <a:lnTo>
                    <a:pt x="0" y="257175"/>
                  </a:lnTo>
                  <a:lnTo>
                    <a:pt x="1331976" y="257175"/>
                  </a:lnTo>
                  <a:lnTo>
                    <a:pt x="1331976" y="342900"/>
                  </a:lnTo>
                  <a:lnTo>
                    <a:pt x="1503426" y="171450"/>
                  </a:lnTo>
                  <a:lnTo>
                    <a:pt x="1331976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0" y="85725"/>
                  </a:moveTo>
                  <a:lnTo>
                    <a:pt x="1331976" y="85725"/>
                  </a:lnTo>
                  <a:lnTo>
                    <a:pt x="1331976" y="0"/>
                  </a:lnTo>
                  <a:lnTo>
                    <a:pt x="1503426" y="171450"/>
                  </a:lnTo>
                  <a:lnTo>
                    <a:pt x="1331976" y="342900"/>
                  </a:lnTo>
                  <a:lnTo>
                    <a:pt x="1331976" y="257175"/>
                  </a:lnTo>
                  <a:lnTo>
                    <a:pt x="0" y="257175"/>
                  </a:lnTo>
                  <a:lnTo>
                    <a:pt x="0" y="85725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20565" cy="45472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What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inputs?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scanned</a:t>
            </a:r>
            <a:r>
              <a:rPr sz="2400" spc="3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digits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784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</a:t>
            </a:r>
            <a:endParaRPr sz="2400">
              <a:latin typeface="Calibri"/>
              <a:cs typeface="Calibri"/>
            </a:endParaRPr>
          </a:p>
          <a:p>
            <a:pPr marL="697230" marR="454659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greyscale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white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black</a:t>
            </a:r>
            <a:endParaRPr sz="2400">
              <a:latin typeface="Calibri"/>
              <a:cs typeface="Calibri"/>
            </a:endParaRPr>
          </a:p>
          <a:p>
            <a:pPr marL="240029" indent="-227329" algn="just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One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35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15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neurons, 	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numbers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figure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how 	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484370" cy="364362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each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given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while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0.</a:t>
            </a:r>
            <a:endParaRPr sz="2400">
              <a:latin typeface="Calibri"/>
              <a:cs typeface="Calibri"/>
            </a:endParaRPr>
          </a:p>
          <a:p>
            <a:pPr marL="697230" marR="41910" lvl="1" indent="-227329">
              <a:lnSpc>
                <a:spcPct val="90000"/>
              </a:lnSpc>
              <a:spcBef>
                <a:spcPts val="47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reality,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highest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value,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spc="-10" dirty="0">
                <a:latin typeface="Calibri"/>
                <a:cs typeface="Calibri"/>
              </a:rPr>
              <a:t>activated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67555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Why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digits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with 	</a:t>
            </a:r>
            <a:r>
              <a:rPr sz="2400" dirty="0">
                <a:latin typeface="Calibri"/>
                <a:cs typeface="Calibri"/>
              </a:rPr>
              <a:t>binary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encoded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instead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neurons?</a:t>
            </a:r>
            <a:endParaRPr sz="2400">
              <a:latin typeface="Calibri"/>
              <a:cs typeface="Calibri"/>
            </a:endParaRPr>
          </a:p>
          <a:p>
            <a:pPr marL="697230" marR="352425" lvl="1" indent="-227329" algn="just">
              <a:lnSpc>
                <a:spcPts val="2590"/>
              </a:lnSpc>
              <a:spcBef>
                <a:spcPts val="509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that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be 	</a:t>
            </a:r>
            <a:r>
              <a:rPr sz="2400" dirty="0">
                <a:latin typeface="Calibri"/>
                <a:cs typeface="Calibri"/>
              </a:rPr>
              <a:t>better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10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-20" dirty="0">
                <a:latin typeface="Calibri"/>
                <a:cs typeface="Calibri"/>
              </a:rPr>
              <a:t>Why?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888092"/>
            <a:ext cx="10240010" cy="25533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10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better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than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4?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Need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consider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working</a:t>
            </a:r>
            <a:endParaRPr sz="2400">
              <a:latin typeface="Calibri"/>
              <a:cs typeface="Calibri"/>
            </a:endParaRPr>
          </a:p>
          <a:p>
            <a:pPr marL="1155065" lvl="2" indent="-227965">
              <a:lnSpc>
                <a:spcPts val="2280"/>
              </a:lnSpc>
              <a:spcBef>
                <a:spcPts val="295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60" dirty="0">
                <a:latin typeface="Calibri"/>
                <a:cs typeface="Calibri"/>
              </a:rPr>
              <a:t>‘0’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basically</a:t>
            </a:r>
            <a:r>
              <a:rPr sz="2000" spc="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summing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85" dirty="0">
                <a:latin typeface="Calibri"/>
                <a:cs typeface="Calibri"/>
              </a:rPr>
              <a:t>all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</a:t>
            </a:r>
            <a:endParaRPr sz="200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and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trying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decide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whether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digit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0.</a:t>
            </a:r>
            <a:endParaRPr sz="2000">
              <a:latin typeface="Calibri"/>
              <a:cs typeface="Calibri"/>
            </a:endParaRPr>
          </a:p>
          <a:p>
            <a:pPr marL="1155065" lvl="2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5" dirty="0">
                <a:latin typeface="Calibri"/>
                <a:cs typeface="Calibri"/>
              </a:rPr>
              <a:t>So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what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doing?</a:t>
            </a:r>
            <a:endParaRPr sz="20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19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detects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whether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certain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present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image: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4901" y="4082329"/>
            <a:ext cx="1606123" cy="160179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30" dirty="0"/>
              <a:t> </a:t>
            </a:r>
            <a:r>
              <a:rPr dirty="0"/>
              <a:t>does</a:t>
            </a:r>
            <a:r>
              <a:rPr spc="220" dirty="0"/>
              <a:t> </a:t>
            </a:r>
            <a:r>
              <a:rPr dirty="0"/>
              <a:t>the</a:t>
            </a:r>
            <a:r>
              <a:rPr spc="220" dirty="0"/>
              <a:t> </a:t>
            </a:r>
            <a:r>
              <a:rPr spc="55" dirty="0"/>
              <a:t>hidden</a:t>
            </a:r>
            <a:r>
              <a:rPr spc="210" dirty="0"/>
              <a:t> </a:t>
            </a:r>
            <a:r>
              <a:rPr dirty="0"/>
              <a:t>layer</a:t>
            </a:r>
            <a:r>
              <a:rPr spc="235" dirty="0"/>
              <a:t> </a:t>
            </a:r>
            <a:r>
              <a:rPr dirty="0"/>
              <a:t>neuron</a:t>
            </a:r>
            <a:r>
              <a:rPr spc="200" dirty="0"/>
              <a:t> </a:t>
            </a:r>
            <a:r>
              <a:rPr spc="60" dirty="0"/>
              <a:t>find</a:t>
            </a:r>
            <a:r>
              <a:rPr spc="235" dirty="0"/>
              <a:t> </a:t>
            </a:r>
            <a:r>
              <a:rPr dirty="0"/>
              <a:t>a</a:t>
            </a:r>
            <a:r>
              <a:rPr spc="215" dirty="0"/>
              <a:t> </a:t>
            </a:r>
            <a:r>
              <a:rPr spc="75" dirty="0"/>
              <a:t>specific</a:t>
            </a:r>
            <a:r>
              <a:rPr spc="135" dirty="0"/>
              <a:t> </a:t>
            </a:r>
            <a:r>
              <a:rPr spc="-10" dirty="0"/>
              <a:t>image?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4323763"/>
            <a:ext cx="10267315" cy="12115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Recall,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every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single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connected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I 	</a:t>
            </a:r>
            <a:r>
              <a:rPr sz="2400" spc="55" dirty="0">
                <a:latin typeface="Calibri"/>
                <a:cs typeface="Calibri"/>
              </a:rPr>
              <a:t>bias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it?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8245" y="1076124"/>
            <a:ext cx="3098677" cy="30986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12915" y="731393"/>
            <a:ext cx="4478274" cy="3727577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619496" y="2891535"/>
            <a:ext cx="1137920" cy="738505"/>
          </a:xfrm>
          <a:custGeom>
            <a:avLst/>
            <a:gdLst/>
            <a:ahLst/>
            <a:cxnLst/>
            <a:rect l="l" t="t" r="r" b="b"/>
            <a:pathLst>
              <a:path w="1137920" h="738504">
                <a:moveTo>
                  <a:pt x="1071722" y="38803"/>
                </a:moveTo>
                <a:lnTo>
                  <a:pt x="0" y="732663"/>
                </a:lnTo>
                <a:lnTo>
                  <a:pt x="3428" y="737996"/>
                </a:lnTo>
                <a:lnTo>
                  <a:pt x="1075166" y="44127"/>
                </a:lnTo>
                <a:lnTo>
                  <a:pt x="1071722" y="38803"/>
                </a:lnTo>
                <a:close/>
              </a:path>
              <a:path w="1137920" h="738504">
                <a:moveTo>
                  <a:pt x="1118605" y="31876"/>
                </a:moveTo>
                <a:lnTo>
                  <a:pt x="1082421" y="31876"/>
                </a:lnTo>
                <a:lnTo>
                  <a:pt x="1085850" y="37211"/>
                </a:lnTo>
                <a:lnTo>
                  <a:pt x="1075166" y="44127"/>
                </a:lnTo>
                <a:lnTo>
                  <a:pt x="1094104" y="73405"/>
                </a:lnTo>
                <a:lnTo>
                  <a:pt x="1118605" y="31876"/>
                </a:lnTo>
                <a:close/>
              </a:path>
              <a:path w="1137920" h="738504">
                <a:moveTo>
                  <a:pt x="1082421" y="31876"/>
                </a:moveTo>
                <a:lnTo>
                  <a:pt x="1071722" y="38803"/>
                </a:lnTo>
                <a:lnTo>
                  <a:pt x="1075166" y="44127"/>
                </a:lnTo>
                <a:lnTo>
                  <a:pt x="1085850" y="37211"/>
                </a:lnTo>
                <a:lnTo>
                  <a:pt x="1082421" y="31876"/>
                </a:lnTo>
                <a:close/>
              </a:path>
              <a:path w="1137920" h="738504">
                <a:moveTo>
                  <a:pt x="1137411" y="0"/>
                </a:moveTo>
                <a:lnTo>
                  <a:pt x="1052702" y="9398"/>
                </a:lnTo>
                <a:lnTo>
                  <a:pt x="1071722" y="38803"/>
                </a:lnTo>
                <a:lnTo>
                  <a:pt x="1082421" y="31876"/>
                </a:lnTo>
                <a:lnTo>
                  <a:pt x="1118605" y="31876"/>
                </a:lnTo>
                <a:lnTo>
                  <a:pt x="1137411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08482" y="3420115"/>
            <a:ext cx="9935845" cy="2002789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R="229870" algn="ctr">
              <a:lnSpc>
                <a:spcPct val="100000"/>
              </a:lnSpc>
              <a:spcBef>
                <a:spcPts val="42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  <a:p>
            <a:pPr marL="240029" marR="5080" indent="-227329">
              <a:lnSpc>
                <a:spcPts val="3020"/>
              </a:lnSpc>
              <a:spcBef>
                <a:spcPts val="875"/>
              </a:spcBef>
              <a:buFont typeface="Arial"/>
              <a:buChar char="•"/>
              <a:tabLst>
                <a:tab pos="241300" algn="l"/>
              </a:tabLst>
            </a:pPr>
            <a:r>
              <a:rPr sz="2800" spc="110" dirty="0">
                <a:latin typeface="Calibri"/>
                <a:cs typeface="Calibri"/>
              </a:rPr>
              <a:t>I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design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which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tells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top 	</a:t>
            </a:r>
            <a:r>
              <a:rPr sz="2800" dirty="0">
                <a:latin typeface="Calibri"/>
                <a:cs typeface="Calibri"/>
              </a:rPr>
              <a:t>left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box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filled</a:t>
            </a:r>
            <a:endParaRPr sz="28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four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7230" algn="l"/>
                <a:tab pos="530098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874130" y="3058541"/>
            <a:ext cx="540385" cy="534670"/>
            <a:chOff x="5874130" y="30585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9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9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8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1091" y="3915536"/>
            <a:ext cx="3646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Recall: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1950" spc="-15" baseline="25641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69283" y="4169664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60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74209" y="380276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57217" y="4189857"/>
            <a:ext cx="5060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25" dirty="0">
                <a:latin typeface="Cambria Math"/>
                <a:cs typeface="Cambria Math"/>
              </a:rPr>
              <a:t>1+𝑒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54041" y="4157853"/>
            <a:ext cx="305435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spc="45" dirty="0">
                <a:latin typeface="Cambria Math"/>
                <a:cs typeface="Cambria Math"/>
              </a:rPr>
              <a:t>−𝑧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83691" y="4447413"/>
            <a:ext cx="5015865" cy="177101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329" algn="just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w1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spc="10" dirty="0">
                <a:latin typeface="Calibri"/>
                <a:cs typeface="Calibri"/>
              </a:rPr>
              <a:t>dramatically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lowering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	</a:t>
            </a:r>
            <a:r>
              <a:rPr sz="2400" spc="130" dirty="0">
                <a:latin typeface="Calibri"/>
                <a:cs typeface="Calibri"/>
              </a:rPr>
              <a:t>x2-</a:t>
            </a:r>
            <a:r>
              <a:rPr sz="2400" spc="120" dirty="0">
                <a:latin typeface="Calibri"/>
                <a:cs typeface="Calibri"/>
              </a:rPr>
              <a:t>x4</a:t>
            </a:r>
            <a:endParaRPr sz="2400">
              <a:latin typeface="Calibri"/>
              <a:cs typeface="Calibri"/>
            </a:endParaRPr>
          </a:p>
          <a:p>
            <a:pPr marL="240029" marR="325120" indent="-227329" algn="just">
              <a:lnSpc>
                <a:spcPts val="2590"/>
              </a:lnSpc>
              <a:spcBef>
                <a:spcPts val="5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 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30" name="object 30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Back</a:t>
            </a:r>
            <a:r>
              <a:rPr spc="50" dirty="0"/>
              <a:t> </a:t>
            </a:r>
            <a:r>
              <a:rPr dirty="0"/>
              <a:t>to</a:t>
            </a:r>
            <a:r>
              <a:rPr spc="160" dirty="0"/>
              <a:t> </a:t>
            </a:r>
            <a:r>
              <a:rPr dirty="0"/>
              <a:t>the</a:t>
            </a:r>
            <a:r>
              <a:rPr spc="135" dirty="0"/>
              <a:t> </a:t>
            </a:r>
            <a:r>
              <a:rPr spc="50" dirty="0"/>
              <a:t>task</a:t>
            </a:r>
            <a:r>
              <a:rPr spc="60" dirty="0"/>
              <a:t> </a:t>
            </a:r>
            <a:r>
              <a:rPr dirty="0"/>
              <a:t>at</a:t>
            </a:r>
            <a:r>
              <a:rPr spc="160" dirty="0"/>
              <a:t> </a:t>
            </a:r>
            <a:r>
              <a:rPr spc="-20" dirty="0"/>
              <a:t>hand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83691" y="4566666"/>
            <a:ext cx="487489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0029" marR="5080" indent="-227329">
              <a:lnSpc>
                <a:spcPct val="900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dirty="0">
                <a:latin typeface="Calibri"/>
                <a:cs typeface="Calibri"/>
              </a:rPr>
              <a:t>reduce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 	</a:t>
            </a:r>
            <a:r>
              <a:rPr sz="2400" spc="70" dirty="0">
                <a:latin typeface="Calibri"/>
                <a:cs typeface="Calibri"/>
              </a:rPr>
              <a:t>pixels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24" name="object 24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5705" y="1063932"/>
            <a:ext cx="3098677" cy="3098693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2883"/>
            <a:ext cx="9013825" cy="80962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3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detecting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patterns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9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Together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images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zero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70196" y="823223"/>
            <a:ext cx="3124901" cy="1637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73194" y="4653813"/>
            <a:ext cx="1915896" cy="191587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4626"/>
            <a:ext cx="10091420" cy="2903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237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200" spc="55" dirty="0">
                <a:latin typeface="Calibri"/>
                <a:cs typeface="Calibri"/>
              </a:rPr>
              <a:t>If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that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100" dirty="0">
                <a:latin typeface="Calibri"/>
                <a:cs typeface="Calibri"/>
              </a:rPr>
              <a:t>all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these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firing, then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make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assumption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that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seeing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zero.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ts val="1770"/>
              </a:lnSpc>
              <a:spcBef>
                <a:spcPts val="17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Obviously</a:t>
            </a:r>
            <a:r>
              <a:rPr sz="1500" spc="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this</a:t>
            </a:r>
            <a:r>
              <a:rPr sz="1500" spc="19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toy</a:t>
            </a:r>
            <a:r>
              <a:rPr sz="1500" spc="10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example,</a:t>
            </a:r>
            <a:r>
              <a:rPr sz="1500" spc="-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don’t</a:t>
            </a:r>
            <a:r>
              <a:rPr sz="1500" spc="18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get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carried</a:t>
            </a:r>
            <a:r>
              <a:rPr sz="1500" spc="15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away</a:t>
            </a:r>
            <a:r>
              <a:rPr sz="1500" spc="1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trying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7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poke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holes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spc="-35" dirty="0">
                <a:latin typeface="Calibri"/>
                <a:cs typeface="Calibri"/>
              </a:rPr>
              <a:t>it</a:t>
            </a:r>
            <a:endParaRPr sz="1500">
              <a:latin typeface="Calibri"/>
              <a:cs typeface="Calibri"/>
            </a:endParaRPr>
          </a:p>
          <a:p>
            <a:pPr marL="240665" indent="-227965">
              <a:lnSpc>
                <a:spcPts val="2595"/>
              </a:lnSpc>
              <a:buFont typeface="Arial"/>
              <a:buChar char="•"/>
              <a:tabLst>
                <a:tab pos="240665" algn="l"/>
              </a:tabLst>
            </a:pPr>
            <a:r>
              <a:rPr sz="2200" spc="-40" dirty="0">
                <a:latin typeface="Calibri"/>
                <a:cs typeface="Calibri"/>
              </a:rPr>
              <a:t>Now,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possibly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why</a:t>
            </a:r>
            <a:r>
              <a:rPr sz="2200" spc="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it’s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better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10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1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over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4</a:t>
            </a:r>
            <a:endParaRPr sz="2200">
              <a:latin typeface="Calibri"/>
              <a:cs typeface="Calibri"/>
            </a:endParaRPr>
          </a:p>
          <a:p>
            <a:pPr marL="240665" indent="-227965">
              <a:lnSpc>
                <a:spcPts val="2365"/>
              </a:lnSpc>
              <a:buFont typeface="Arial"/>
              <a:buChar char="•"/>
              <a:tabLst>
                <a:tab pos="240665" algn="l"/>
              </a:tabLst>
            </a:pPr>
            <a:r>
              <a:rPr sz="2200" dirty="0">
                <a:latin typeface="Calibri"/>
                <a:cs typeface="Calibri"/>
              </a:rPr>
              <a:t>With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above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example,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0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could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just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put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most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weight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65"/>
              </a:lnSpc>
            </a:pP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from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hidden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N1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through</a:t>
            </a:r>
            <a:r>
              <a:rPr sz="2200" spc="2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N4,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weaken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others</a:t>
            </a:r>
            <a:endParaRPr sz="2200">
              <a:latin typeface="Calibri"/>
              <a:cs typeface="Calibri"/>
            </a:endParaRPr>
          </a:p>
          <a:p>
            <a:pPr marL="241300" marR="5080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Calibri"/>
                <a:cs typeface="Calibri"/>
              </a:rPr>
              <a:t>But,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had</a:t>
            </a:r>
            <a:r>
              <a:rPr sz="2200" spc="195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only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our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neural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network</a:t>
            </a:r>
            <a:r>
              <a:rPr sz="2200" spc="10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would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spc="40" dirty="0">
                <a:latin typeface="Calibri"/>
                <a:cs typeface="Calibri"/>
              </a:rPr>
              <a:t>essentially </a:t>
            </a:r>
            <a:r>
              <a:rPr sz="2200" dirty="0">
                <a:latin typeface="Calibri"/>
                <a:cs typeface="Calibri"/>
              </a:rPr>
              <a:t>do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2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45" dirty="0">
                <a:latin typeface="Calibri"/>
                <a:cs typeface="Calibri"/>
              </a:rPr>
              <a:t>calculations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First,</a:t>
            </a:r>
            <a:r>
              <a:rPr sz="1500" spc="-1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figure</a:t>
            </a:r>
            <a:r>
              <a:rPr sz="1500" spc="12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out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what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the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number</a:t>
            </a:r>
            <a:r>
              <a:rPr sz="1500" spc="145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was</a:t>
            </a:r>
            <a:endParaRPr sz="15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Then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14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transform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that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spc="-10" dirty="0">
                <a:latin typeface="Calibri"/>
                <a:cs typeface="Calibri"/>
              </a:rPr>
              <a:t>binary</a:t>
            </a:r>
            <a:endParaRPr sz="15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89083" y="1216710"/>
            <a:ext cx="1915896" cy="191587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829929" y="1954276"/>
            <a:ext cx="812800" cy="197485"/>
            <a:chOff x="8829929" y="1954276"/>
            <a:chExt cx="812800" cy="197485"/>
          </a:xfrm>
        </p:grpSpPr>
        <p:sp>
          <p:nvSpPr>
            <p:cNvPr id="9" name="object 9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707771" y="0"/>
                  </a:moveTo>
                  <a:lnTo>
                    <a:pt x="707771" y="46227"/>
                  </a:lnTo>
                  <a:lnTo>
                    <a:pt x="0" y="46227"/>
                  </a:lnTo>
                  <a:lnTo>
                    <a:pt x="0" y="138557"/>
                  </a:lnTo>
                  <a:lnTo>
                    <a:pt x="707771" y="138557"/>
                  </a:lnTo>
                  <a:lnTo>
                    <a:pt x="707771" y="184658"/>
                  </a:lnTo>
                  <a:lnTo>
                    <a:pt x="800100" y="92328"/>
                  </a:lnTo>
                  <a:lnTo>
                    <a:pt x="707771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0" y="46227"/>
                  </a:moveTo>
                  <a:lnTo>
                    <a:pt x="707771" y="46227"/>
                  </a:lnTo>
                  <a:lnTo>
                    <a:pt x="707771" y="0"/>
                  </a:lnTo>
                  <a:lnTo>
                    <a:pt x="800100" y="92328"/>
                  </a:lnTo>
                  <a:lnTo>
                    <a:pt x="707771" y="184658"/>
                  </a:lnTo>
                  <a:lnTo>
                    <a:pt x="707771" y="138557"/>
                  </a:lnTo>
                  <a:lnTo>
                    <a:pt x="0" y="138557"/>
                  </a:lnTo>
                  <a:lnTo>
                    <a:pt x="0" y="4622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5" dirty="0"/>
              <a:t>if</a:t>
            </a:r>
            <a:r>
              <a:rPr spc="190" dirty="0"/>
              <a:t> </a:t>
            </a:r>
            <a:r>
              <a:rPr dirty="0"/>
              <a:t>we</a:t>
            </a:r>
            <a:r>
              <a:rPr spc="180" dirty="0"/>
              <a:t> </a:t>
            </a:r>
            <a:r>
              <a:rPr dirty="0"/>
              <a:t>want</a:t>
            </a:r>
            <a:r>
              <a:rPr spc="170" dirty="0"/>
              <a:t> </a:t>
            </a:r>
            <a:r>
              <a:rPr dirty="0"/>
              <a:t>the</a:t>
            </a:r>
            <a:r>
              <a:rPr spc="180" dirty="0"/>
              <a:t> </a:t>
            </a:r>
            <a:r>
              <a:rPr spc="60" dirty="0"/>
              <a:t>bitwise</a:t>
            </a:r>
            <a:r>
              <a:rPr spc="170" dirty="0"/>
              <a:t> </a:t>
            </a:r>
            <a:r>
              <a:rPr spc="-10"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779645"/>
            <a:ext cx="9542145" cy="1515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topology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work?</a:t>
            </a:r>
            <a:endParaRPr sz="2400">
              <a:latin typeface="Calibri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40"/>
              </a:spcBef>
              <a:buFont typeface="Arial"/>
              <a:buChar char="•"/>
              <a:tabLst>
                <a:tab pos="697865" algn="l"/>
              </a:tabLst>
            </a:pPr>
            <a:r>
              <a:rPr sz="2000" dirty="0">
                <a:latin typeface="Calibri"/>
                <a:cs typeface="Calibri"/>
              </a:rPr>
              <a:t>Well,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add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in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new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layer,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now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new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abstraction.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1155065" algn="l"/>
              </a:tabLst>
            </a:pPr>
            <a:r>
              <a:rPr sz="1700" dirty="0">
                <a:latin typeface="Calibri"/>
                <a:cs typeface="Calibri"/>
              </a:rPr>
              <a:t>First,</a:t>
            </a:r>
            <a:r>
              <a:rPr sz="1700" spc="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layer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identifies</a:t>
            </a:r>
            <a:r>
              <a:rPr sz="1700" spc="1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certain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patterns/features</a:t>
            </a:r>
            <a:endParaRPr sz="17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155065" algn="l"/>
              </a:tabLst>
            </a:pPr>
            <a:r>
              <a:rPr sz="1700" dirty="0">
                <a:latin typeface="Calibri"/>
                <a:cs typeface="Calibri"/>
              </a:rPr>
              <a:t>Second,</a:t>
            </a:r>
            <a:r>
              <a:rPr sz="1700" spc="-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old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layer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transforms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patterns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basis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set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1155065" algn="l"/>
              </a:tabLst>
            </a:pPr>
            <a:r>
              <a:rPr sz="1700" dirty="0">
                <a:latin typeface="Calibri"/>
                <a:cs typeface="Calibri"/>
              </a:rPr>
              <a:t>Finally,</a:t>
            </a:r>
            <a:r>
              <a:rPr sz="1700" spc="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new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layer</a:t>
            </a:r>
            <a:r>
              <a:rPr sz="1700" spc="2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would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transform</a:t>
            </a:r>
            <a:r>
              <a:rPr sz="1700" spc="1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basis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set</a:t>
            </a:r>
            <a:r>
              <a:rPr sz="1700" spc="1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digits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binary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65107" y="682640"/>
            <a:ext cx="6999501" cy="3992102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9042" y="321386"/>
            <a:ext cx="11663680" cy="86677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 marR="5080">
              <a:lnSpc>
                <a:spcPts val="3130"/>
              </a:lnSpc>
              <a:spcBef>
                <a:spcPts val="500"/>
              </a:spcBef>
            </a:pPr>
            <a:r>
              <a:rPr sz="2900" spc="65" dirty="0"/>
              <a:t>Learning</a:t>
            </a:r>
            <a:r>
              <a:rPr sz="2900" spc="204" dirty="0"/>
              <a:t> </a:t>
            </a:r>
            <a:r>
              <a:rPr sz="2900" dirty="0"/>
              <a:t>how</a:t>
            </a:r>
            <a:r>
              <a:rPr sz="2900" spc="20" dirty="0"/>
              <a:t> </a:t>
            </a:r>
            <a:r>
              <a:rPr sz="2900" spc="75" dirty="0"/>
              <a:t>Artificial</a:t>
            </a:r>
            <a:r>
              <a:rPr sz="2900" spc="190" dirty="0"/>
              <a:t> </a:t>
            </a:r>
            <a:r>
              <a:rPr sz="2900" spc="50" dirty="0"/>
              <a:t>Neural</a:t>
            </a:r>
            <a:r>
              <a:rPr sz="2900" spc="210" dirty="0"/>
              <a:t> </a:t>
            </a:r>
            <a:r>
              <a:rPr sz="2900" dirty="0"/>
              <a:t>Networks</a:t>
            </a:r>
            <a:r>
              <a:rPr sz="2900" spc="195" dirty="0"/>
              <a:t> </a:t>
            </a:r>
            <a:r>
              <a:rPr sz="2900" dirty="0"/>
              <a:t>Learn</a:t>
            </a:r>
            <a:r>
              <a:rPr sz="2900" spc="190" dirty="0"/>
              <a:t> </a:t>
            </a:r>
            <a:r>
              <a:rPr sz="2900" spc="50" dirty="0"/>
              <a:t>with</a:t>
            </a:r>
            <a:r>
              <a:rPr sz="2900" spc="155" dirty="0"/>
              <a:t> </a:t>
            </a:r>
            <a:r>
              <a:rPr sz="2900" dirty="0"/>
              <a:t>your</a:t>
            </a:r>
            <a:r>
              <a:rPr sz="2900" spc="185" dirty="0"/>
              <a:t> </a:t>
            </a:r>
            <a:r>
              <a:rPr sz="2900" spc="110" dirty="0"/>
              <a:t>Biological</a:t>
            </a:r>
            <a:r>
              <a:rPr sz="2900" spc="175" dirty="0"/>
              <a:t> </a:t>
            </a:r>
            <a:r>
              <a:rPr sz="2900" spc="40" dirty="0"/>
              <a:t>Neural </a:t>
            </a:r>
            <a:r>
              <a:rPr sz="2900" spc="-10" dirty="0"/>
              <a:t>network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1204366" y="1334488"/>
            <a:ext cx="9429750" cy="290322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125" dirty="0">
                <a:latin typeface="Calibri"/>
                <a:cs typeface="Calibri"/>
              </a:rPr>
              <a:t>will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MNIST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Data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set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Clr>
                <a:srgbClr val="000000"/>
              </a:buClr>
              <a:buFont typeface="Arial"/>
              <a:buChar char="•"/>
              <a:tabLst>
                <a:tab pos="696595" algn="l"/>
              </a:tabLst>
            </a:pPr>
            <a:r>
              <a:rPr sz="24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http://yann.lecun.com/exdb/mnist/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Two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parts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60,000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Training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images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(28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160" dirty="0">
                <a:latin typeface="Calibri"/>
                <a:cs typeface="Calibri"/>
              </a:rPr>
              <a:t>x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28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pixels,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greyscale)</a:t>
            </a:r>
            <a:endParaRPr sz="2000">
              <a:latin typeface="Calibri"/>
              <a:cs typeface="Calibri"/>
            </a:endParaRPr>
          </a:p>
          <a:p>
            <a:pPr marL="1155065" marR="5080" lvl="2" indent="-228600">
              <a:lnSpc>
                <a:spcPts val="2160"/>
              </a:lnSpc>
              <a:spcBef>
                <a:spcPts val="54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They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scanned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samples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&gt;200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people, </a:t>
            </a:r>
            <a:r>
              <a:rPr sz="2000" spc="360" dirty="0">
                <a:latin typeface="Calibri"/>
                <a:cs typeface="Calibri"/>
              </a:rPr>
              <a:t>½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government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employees,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310" dirty="0">
                <a:latin typeface="Calibri"/>
                <a:cs typeface="Calibri"/>
              </a:rPr>
              <a:t>½ </a:t>
            </a:r>
            <a:r>
              <a:rPr sz="2000" spc="70" dirty="0">
                <a:latin typeface="Calibri"/>
                <a:cs typeface="Calibri"/>
              </a:rPr>
              <a:t>high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school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10,000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40" dirty="0">
                <a:latin typeface="Calibri"/>
                <a:cs typeface="Calibri"/>
              </a:rPr>
              <a:t> images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These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collected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different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people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dirty="0"/>
              <a:t>Use</a:t>
            </a:r>
            <a:r>
              <a:rPr spc="190" dirty="0"/>
              <a:t> </a:t>
            </a:r>
            <a:r>
              <a:rPr spc="215" dirty="0"/>
              <a:t>x</a:t>
            </a:r>
            <a:r>
              <a:rPr spc="114" dirty="0"/>
              <a:t> </a:t>
            </a:r>
            <a:r>
              <a:rPr spc="60" dirty="0"/>
              <a:t>as</a:t>
            </a:r>
            <a:r>
              <a:rPr spc="195" dirty="0"/>
              <a:t> </a:t>
            </a:r>
            <a:r>
              <a:rPr dirty="0"/>
              <a:t>the</a:t>
            </a:r>
            <a:r>
              <a:rPr spc="204" dirty="0"/>
              <a:t> </a:t>
            </a:r>
            <a:r>
              <a:rPr dirty="0"/>
              <a:t>annotation</a:t>
            </a:r>
            <a:r>
              <a:rPr spc="229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dirty="0"/>
              <a:t>the</a:t>
            </a:r>
            <a:r>
              <a:rPr spc="225" dirty="0"/>
              <a:t> </a:t>
            </a:r>
            <a:r>
              <a:rPr dirty="0"/>
              <a:t>input</a:t>
            </a:r>
            <a:r>
              <a:rPr spc="220" dirty="0"/>
              <a:t> </a:t>
            </a:r>
            <a:r>
              <a:rPr dirty="0"/>
              <a:t>data</a:t>
            </a:r>
            <a:r>
              <a:rPr spc="170" dirty="0"/>
              <a:t> </a:t>
            </a:r>
            <a:r>
              <a:rPr spc="-30" dirty="0"/>
              <a:t>vector,</a:t>
            </a:r>
            <a:r>
              <a:rPr spc="-20" dirty="0"/>
              <a:t> </a:t>
            </a:r>
            <a:r>
              <a:rPr dirty="0"/>
              <a:t>a</a:t>
            </a:r>
            <a:r>
              <a:rPr spc="195" dirty="0"/>
              <a:t> </a:t>
            </a:r>
            <a:r>
              <a:rPr spc="85" dirty="0"/>
              <a:t>784</a:t>
            </a:r>
            <a:r>
              <a:rPr spc="204" dirty="0"/>
              <a:t> </a:t>
            </a:r>
            <a:r>
              <a:rPr spc="90" dirty="0"/>
              <a:t>long 	</a:t>
            </a:r>
            <a:r>
              <a:rPr spc="55" dirty="0"/>
              <a:t>string</a:t>
            </a:r>
            <a:r>
              <a:rPr spc="210" dirty="0"/>
              <a:t> </a:t>
            </a:r>
            <a:r>
              <a:rPr dirty="0"/>
              <a:t>of</a:t>
            </a:r>
            <a:r>
              <a:rPr spc="204" dirty="0"/>
              <a:t> </a:t>
            </a:r>
            <a:r>
              <a:rPr spc="75" dirty="0"/>
              <a:t>digits</a:t>
            </a:r>
            <a:r>
              <a:rPr spc="235" dirty="0"/>
              <a:t> </a:t>
            </a:r>
            <a:r>
              <a:rPr dirty="0"/>
              <a:t>between</a:t>
            </a:r>
            <a:r>
              <a:rPr spc="260" dirty="0"/>
              <a:t> </a:t>
            </a:r>
            <a:r>
              <a:rPr spc="85" dirty="0"/>
              <a:t>0</a:t>
            </a:r>
            <a:r>
              <a:rPr spc="210" dirty="0"/>
              <a:t> </a:t>
            </a:r>
            <a:r>
              <a:rPr dirty="0"/>
              <a:t>and</a:t>
            </a:r>
            <a:r>
              <a:rPr spc="220" dirty="0"/>
              <a:t> </a:t>
            </a:r>
            <a:r>
              <a:rPr spc="85" dirty="0"/>
              <a:t>1</a:t>
            </a:r>
            <a:r>
              <a:rPr spc="210" dirty="0"/>
              <a:t> </a:t>
            </a:r>
            <a:r>
              <a:rPr dirty="0"/>
              <a:t>representing</a:t>
            </a:r>
            <a:r>
              <a:rPr spc="270" dirty="0"/>
              <a:t> </a:t>
            </a:r>
            <a:r>
              <a:rPr dirty="0"/>
              <a:t>the</a:t>
            </a:r>
            <a:r>
              <a:rPr spc="215" dirty="0"/>
              <a:t> </a:t>
            </a:r>
            <a:r>
              <a:rPr spc="45" dirty="0"/>
              <a:t>greyscale 	</a:t>
            </a:r>
            <a:r>
              <a:rPr spc="-10" dirty="0"/>
              <a:t>values.</a:t>
            </a:r>
          </a:p>
          <a:p>
            <a:pPr marL="240029" indent="-227329">
              <a:lnSpc>
                <a:spcPct val="100000"/>
              </a:lnSpc>
              <a:spcBef>
                <a:spcPts val="635"/>
              </a:spcBef>
              <a:buFont typeface="Arial"/>
              <a:buChar char="•"/>
              <a:tabLst>
                <a:tab pos="240029" algn="l"/>
              </a:tabLst>
            </a:pPr>
            <a:r>
              <a:rPr spc="80" dirty="0"/>
              <a:t>The</a:t>
            </a:r>
            <a:r>
              <a:rPr spc="200" dirty="0"/>
              <a:t> </a:t>
            </a:r>
            <a:r>
              <a:rPr dirty="0"/>
              <a:t>output</a:t>
            </a:r>
            <a:r>
              <a:rPr spc="185" dirty="0"/>
              <a:t> </a:t>
            </a:r>
            <a:r>
              <a:rPr spc="85" dirty="0"/>
              <a:t>is</a:t>
            </a:r>
            <a:r>
              <a:rPr spc="175" dirty="0"/>
              <a:t> </a:t>
            </a:r>
            <a:r>
              <a:rPr dirty="0"/>
              <a:t>then</a:t>
            </a:r>
            <a:r>
              <a:rPr spc="215" dirty="0"/>
              <a:t> </a:t>
            </a:r>
            <a:r>
              <a:rPr dirty="0"/>
              <a:t>a</a:t>
            </a:r>
            <a:r>
              <a:rPr spc="145" dirty="0"/>
              <a:t> </a:t>
            </a:r>
            <a:r>
              <a:rPr dirty="0"/>
              <a:t>vector</a:t>
            </a:r>
            <a:r>
              <a:rPr spc="175" dirty="0"/>
              <a:t> </a:t>
            </a:r>
            <a:r>
              <a:rPr dirty="0"/>
              <a:t>y=y(x)</a:t>
            </a:r>
            <a:r>
              <a:rPr spc="180" dirty="0"/>
              <a:t> </a:t>
            </a:r>
            <a:r>
              <a:rPr dirty="0"/>
              <a:t>with</a:t>
            </a:r>
            <a:r>
              <a:rPr spc="200" dirty="0"/>
              <a:t> </a:t>
            </a:r>
            <a:r>
              <a:rPr spc="85" dirty="0"/>
              <a:t>10</a:t>
            </a:r>
            <a:r>
              <a:rPr spc="185" dirty="0"/>
              <a:t> </a:t>
            </a:r>
            <a:r>
              <a:rPr spc="40" dirty="0"/>
              <a:t>digits.</a:t>
            </a:r>
          </a:p>
          <a:p>
            <a:pPr marL="240029" indent="-227329">
              <a:lnSpc>
                <a:spcPct val="100000"/>
              </a:lnSpc>
              <a:spcBef>
                <a:spcPts val="66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As</a:t>
            </a:r>
            <a:r>
              <a:rPr spc="195" dirty="0"/>
              <a:t> </a:t>
            </a:r>
            <a:r>
              <a:rPr dirty="0"/>
              <a:t>an</a:t>
            </a:r>
            <a:r>
              <a:rPr spc="195" dirty="0"/>
              <a:t> </a:t>
            </a:r>
            <a:r>
              <a:rPr spc="-10" dirty="0"/>
              <a:t>example: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1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(0,1,0,0,0,0,0,0,0,0)</a:t>
            </a:r>
            <a:endParaRPr sz="2400">
              <a:latin typeface="Calibri"/>
              <a:cs typeface="Calibri"/>
            </a:endParaRPr>
          </a:p>
          <a:p>
            <a:pPr marL="696595" marR="252729" lvl="1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develop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25" dirty="0">
                <a:latin typeface="Calibri"/>
                <a:cs typeface="Calibri"/>
              </a:rPr>
              <a:t>as 	</a:t>
            </a:r>
            <a:r>
              <a:rPr sz="2400" spc="-10" dirty="0">
                <a:latin typeface="Calibri"/>
                <a:cs typeface="Calibri"/>
              </a:rPr>
              <a:t>possible.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-10" dirty="0"/>
              <a:t>We</a:t>
            </a:r>
            <a:r>
              <a:rPr spc="120" dirty="0"/>
              <a:t> </a:t>
            </a:r>
            <a:r>
              <a:rPr dirty="0"/>
              <a:t>need</a:t>
            </a:r>
            <a:r>
              <a:rPr spc="17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figure</a:t>
            </a:r>
            <a:r>
              <a:rPr spc="140" dirty="0"/>
              <a:t> </a:t>
            </a:r>
            <a:r>
              <a:rPr dirty="0"/>
              <a:t>out</a:t>
            </a:r>
            <a:r>
              <a:rPr spc="125" dirty="0"/>
              <a:t> </a:t>
            </a:r>
            <a:r>
              <a:rPr dirty="0"/>
              <a:t>what</a:t>
            </a:r>
            <a:r>
              <a:rPr spc="150" dirty="0"/>
              <a:t> </a:t>
            </a:r>
            <a:r>
              <a:rPr dirty="0"/>
              <a:t>we</a:t>
            </a:r>
            <a:r>
              <a:rPr spc="140" dirty="0"/>
              <a:t> </a:t>
            </a:r>
            <a:r>
              <a:rPr dirty="0"/>
              <a:t>want</a:t>
            </a:r>
            <a:r>
              <a:rPr spc="15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35" dirty="0"/>
              <a:t>optimize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Obviously,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recognized,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duh….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64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But</a:t>
            </a:r>
            <a:r>
              <a:rPr spc="215" dirty="0"/>
              <a:t> </a:t>
            </a:r>
            <a:r>
              <a:rPr dirty="0"/>
              <a:t>what</a:t>
            </a:r>
            <a:r>
              <a:rPr spc="245" dirty="0"/>
              <a:t> </a:t>
            </a:r>
            <a:r>
              <a:rPr spc="70" dirty="0"/>
              <a:t>if</a:t>
            </a:r>
            <a:r>
              <a:rPr spc="210" dirty="0"/>
              <a:t> </a:t>
            </a:r>
            <a:r>
              <a:rPr dirty="0"/>
              <a:t>we</a:t>
            </a:r>
            <a:r>
              <a:rPr spc="240" dirty="0"/>
              <a:t> </a:t>
            </a:r>
            <a:r>
              <a:rPr dirty="0"/>
              <a:t>used</a:t>
            </a:r>
            <a:r>
              <a:rPr spc="225" dirty="0"/>
              <a:t> </a:t>
            </a:r>
            <a:r>
              <a:rPr dirty="0"/>
              <a:t>that</a:t>
            </a:r>
            <a:r>
              <a:rPr spc="235" dirty="0"/>
              <a:t> </a:t>
            </a:r>
            <a:r>
              <a:rPr spc="60" dirty="0"/>
              <a:t>as</a:t>
            </a:r>
            <a:r>
              <a:rPr spc="210" dirty="0"/>
              <a:t> </a:t>
            </a:r>
            <a:r>
              <a:rPr dirty="0"/>
              <a:t>the</a:t>
            </a:r>
            <a:r>
              <a:rPr spc="235" dirty="0"/>
              <a:t> </a:t>
            </a:r>
            <a:r>
              <a:rPr dirty="0"/>
              <a:t>objective</a:t>
            </a:r>
            <a:r>
              <a:rPr spc="270" dirty="0"/>
              <a:t> </a:t>
            </a:r>
            <a:r>
              <a:rPr spc="-10" dirty="0"/>
              <a:t>function?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4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NN)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(all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NN)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95" dirty="0"/>
              <a:t>So</a:t>
            </a:r>
            <a:r>
              <a:rPr spc="155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0" dirty="0"/>
              <a:t>if</a:t>
            </a:r>
            <a:r>
              <a:rPr spc="160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dirty="0"/>
              <a:t>defined</a:t>
            </a:r>
            <a:r>
              <a:rPr spc="225" dirty="0"/>
              <a:t> </a:t>
            </a:r>
            <a:r>
              <a:rPr dirty="0"/>
              <a:t>another</a:t>
            </a:r>
            <a:r>
              <a:rPr spc="5" dirty="0"/>
              <a:t> </a:t>
            </a:r>
            <a:r>
              <a:rPr spc="-25" dirty="0"/>
              <a:t>‘cost</a:t>
            </a:r>
            <a:r>
              <a:rPr spc="155" dirty="0"/>
              <a:t> </a:t>
            </a:r>
            <a:r>
              <a:rPr spc="-10" dirty="0"/>
              <a:t>function’?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dirty="0"/>
              <a:t>NN)</a:t>
            </a:r>
            <a:r>
              <a:rPr sz="2400" spc="110" dirty="0"/>
              <a:t> </a:t>
            </a:r>
            <a:r>
              <a:rPr sz="2400" dirty="0"/>
              <a:t>or</a:t>
            </a:r>
            <a:r>
              <a:rPr sz="2400" spc="120" dirty="0"/>
              <a:t> </a:t>
            </a:r>
            <a:r>
              <a:rPr sz="2400" dirty="0"/>
              <a:t>b</a:t>
            </a:r>
            <a:r>
              <a:rPr sz="2400" spc="135" dirty="0"/>
              <a:t> </a:t>
            </a:r>
            <a:r>
              <a:rPr sz="2400" spc="60" dirty="0"/>
              <a:t>(all</a:t>
            </a:r>
            <a:r>
              <a:rPr sz="2400" spc="125" dirty="0"/>
              <a:t> </a:t>
            </a:r>
            <a:r>
              <a:rPr sz="2400" dirty="0"/>
              <a:t>the</a:t>
            </a:r>
            <a:r>
              <a:rPr sz="2400" spc="125" dirty="0"/>
              <a:t> </a:t>
            </a:r>
            <a:r>
              <a:rPr sz="2400" spc="50" dirty="0"/>
              <a:t>biases</a:t>
            </a:r>
            <a:r>
              <a:rPr sz="2400" spc="130" dirty="0"/>
              <a:t> </a:t>
            </a:r>
            <a:r>
              <a:rPr sz="2400" spc="60" dirty="0"/>
              <a:t>in</a:t>
            </a:r>
            <a:r>
              <a:rPr sz="2400" spc="120" dirty="0"/>
              <a:t> </a:t>
            </a:r>
            <a:r>
              <a:rPr sz="2400" dirty="0"/>
              <a:t>the</a:t>
            </a:r>
            <a:r>
              <a:rPr sz="2400" spc="130" dirty="0"/>
              <a:t> </a:t>
            </a:r>
            <a:r>
              <a:rPr sz="2400" spc="-25" dirty="0"/>
              <a:t>NN)</a:t>
            </a:r>
            <a:endParaRPr sz="24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3" name="object 3"/>
          <p:cNvSpPr/>
          <p:nvPr/>
        </p:nvSpPr>
        <p:spPr>
          <a:xfrm>
            <a:off x="3742816" y="1316355"/>
            <a:ext cx="717550" cy="282575"/>
          </a:xfrm>
          <a:custGeom>
            <a:avLst/>
            <a:gdLst/>
            <a:ahLst/>
            <a:cxnLst/>
            <a:rect l="l" t="t" r="r" b="b"/>
            <a:pathLst>
              <a:path w="717550" h="282575">
                <a:moveTo>
                  <a:pt x="627507" y="0"/>
                </a:moveTo>
                <a:lnTo>
                  <a:pt x="623443" y="11430"/>
                </a:lnTo>
                <a:lnTo>
                  <a:pt x="639824" y="18577"/>
                </a:lnTo>
                <a:lnTo>
                  <a:pt x="653907" y="28416"/>
                </a:lnTo>
                <a:lnTo>
                  <a:pt x="682446" y="73925"/>
                </a:lnTo>
                <a:lnTo>
                  <a:pt x="690688" y="115359"/>
                </a:lnTo>
                <a:lnTo>
                  <a:pt x="690741" y="115732"/>
                </a:lnTo>
                <a:lnTo>
                  <a:pt x="690721" y="164689"/>
                </a:lnTo>
                <a:lnTo>
                  <a:pt x="682339" y="207603"/>
                </a:lnTo>
                <a:lnTo>
                  <a:pt x="653907" y="253857"/>
                </a:lnTo>
                <a:lnTo>
                  <a:pt x="623951" y="270891"/>
                </a:lnTo>
                <a:lnTo>
                  <a:pt x="627507" y="282321"/>
                </a:lnTo>
                <a:lnTo>
                  <a:pt x="666003" y="264302"/>
                </a:lnTo>
                <a:lnTo>
                  <a:pt x="694309" y="233045"/>
                </a:lnTo>
                <a:lnTo>
                  <a:pt x="711739" y="191135"/>
                </a:lnTo>
                <a:lnTo>
                  <a:pt x="717550" y="141224"/>
                </a:lnTo>
                <a:lnTo>
                  <a:pt x="716118" y="115732"/>
                </a:lnTo>
                <a:lnTo>
                  <a:pt x="716097" y="115359"/>
                </a:lnTo>
                <a:lnTo>
                  <a:pt x="704476" y="69536"/>
                </a:lnTo>
                <a:lnTo>
                  <a:pt x="681353" y="32146"/>
                </a:lnTo>
                <a:lnTo>
                  <a:pt x="647963" y="7381"/>
                </a:lnTo>
                <a:lnTo>
                  <a:pt x="627507" y="0"/>
                </a:lnTo>
                <a:close/>
              </a:path>
              <a:path w="717550" h="282575">
                <a:moveTo>
                  <a:pt x="90043" y="0"/>
                </a:moveTo>
                <a:lnTo>
                  <a:pt x="51593" y="18097"/>
                </a:lnTo>
                <a:lnTo>
                  <a:pt x="23241" y="49530"/>
                </a:lnTo>
                <a:lnTo>
                  <a:pt x="5810" y="91471"/>
                </a:lnTo>
                <a:lnTo>
                  <a:pt x="78" y="139827"/>
                </a:lnTo>
                <a:lnTo>
                  <a:pt x="0" y="141224"/>
                </a:lnTo>
                <a:lnTo>
                  <a:pt x="5810" y="191135"/>
                </a:lnTo>
                <a:lnTo>
                  <a:pt x="23241" y="233045"/>
                </a:lnTo>
                <a:lnTo>
                  <a:pt x="51498" y="264302"/>
                </a:lnTo>
                <a:lnTo>
                  <a:pt x="90043" y="282321"/>
                </a:lnTo>
                <a:lnTo>
                  <a:pt x="93599" y="270891"/>
                </a:lnTo>
                <a:lnTo>
                  <a:pt x="77475" y="263773"/>
                </a:lnTo>
                <a:lnTo>
                  <a:pt x="63579" y="253857"/>
                </a:lnTo>
                <a:lnTo>
                  <a:pt x="35103" y="207603"/>
                </a:lnTo>
                <a:lnTo>
                  <a:pt x="26808" y="164689"/>
                </a:lnTo>
                <a:lnTo>
                  <a:pt x="25838" y="141224"/>
                </a:lnTo>
                <a:lnTo>
                  <a:pt x="25781" y="139827"/>
                </a:lnTo>
                <a:lnTo>
                  <a:pt x="29908" y="93757"/>
                </a:lnTo>
                <a:lnTo>
                  <a:pt x="42418" y="56261"/>
                </a:lnTo>
                <a:lnTo>
                  <a:pt x="77743" y="18577"/>
                </a:lnTo>
                <a:lnTo>
                  <a:pt x="93980" y="11430"/>
                </a:lnTo>
                <a:lnTo>
                  <a:pt x="900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07104" y="1226007"/>
            <a:ext cx="8604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5280" algn="l"/>
              </a:tabLst>
            </a:pPr>
            <a:r>
              <a:rPr sz="2400" spc="-50" dirty="0">
                <a:latin typeface="Cambria Math"/>
                <a:cs typeface="Cambria Math"/>
              </a:rPr>
              <a:t>𝐶</a:t>
            </a:r>
            <a:r>
              <a:rPr sz="2400" dirty="0">
                <a:latin typeface="Cambria Math"/>
                <a:cs typeface="Cambria Math"/>
              </a:rPr>
              <a:t>	𝑤,</a:t>
            </a:r>
            <a:r>
              <a:rPr sz="2400" spc="-80" dirty="0">
                <a:latin typeface="Cambria Math"/>
                <a:cs typeface="Cambria Math"/>
              </a:rPr>
              <a:t> </a:t>
            </a:r>
            <a:r>
              <a:rPr sz="2400" spc="-60" dirty="0">
                <a:latin typeface="Cambria Math"/>
                <a:cs typeface="Cambria Math"/>
              </a:rPr>
              <a:t>𝑏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950459" y="1447672"/>
            <a:ext cx="347980" cy="20320"/>
          </a:xfrm>
          <a:custGeom>
            <a:avLst/>
            <a:gdLst/>
            <a:ahLst/>
            <a:cxnLst/>
            <a:rect l="l" t="t" r="r" b="b"/>
            <a:pathLst>
              <a:path w="347979" h="20319">
                <a:moveTo>
                  <a:pt x="347472" y="0"/>
                </a:moveTo>
                <a:lnTo>
                  <a:pt x="0" y="0"/>
                </a:lnTo>
                <a:lnTo>
                  <a:pt x="0" y="19812"/>
                </a:lnTo>
                <a:lnTo>
                  <a:pt x="347472" y="19812"/>
                </a:lnTo>
                <a:lnTo>
                  <a:pt x="347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38521" y="1430782"/>
            <a:ext cx="3702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2𝑛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48994" y="1779777"/>
            <a:ext cx="9802495" cy="310324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</a:t>
            </a:r>
            <a:r>
              <a:rPr sz="2400" spc="-1025" dirty="0">
                <a:latin typeface="Calibri"/>
                <a:cs typeface="Calibri"/>
              </a:rPr>
              <a:t>n</a:t>
            </a:r>
            <a:r>
              <a:rPr sz="2625" spc="89" baseline="47619" dirty="0">
                <a:latin typeface="Cambria Math"/>
                <a:cs typeface="Cambria Math"/>
              </a:rPr>
              <a:t>𝑥</a:t>
            </a:r>
            <a:r>
              <a:rPr sz="2625" spc="562" baseline="47619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b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y(x)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desired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95" dirty="0">
                <a:latin typeface="Calibri"/>
                <a:cs typeface="Calibri"/>
              </a:rPr>
              <a:t> x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>
              <a:latin typeface="Calibri"/>
              <a:cs typeface="Calibri"/>
            </a:endParaRPr>
          </a:p>
          <a:p>
            <a:pPr marL="265430" marR="30480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40" dirty="0">
                <a:latin typeface="Calibri"/>
                <a:cs typeface="Calibri"/>
              </a:rPr>
              <a:t>||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y-</a:t>
            </a:r>
            <a:r>
              <a:rPr sz="2400" spc="-350" dirty="0">
                <a:latin typeface="Calibri"/>
                <a:cs typeface="Calibri"/>
              </a:rPr>
              <a:t>a||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magnitude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have.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10" dirty="0">
                <a:latin typeface="Calibri"/>
                <a:cs typeface="Calibri"/>
              </a:rPr>
              <a:t>Essentially,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take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square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of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quadratic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mean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squared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error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(MSE)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35170" y="996188"/>
            <a:ext cx="2713990" cy="621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5459">
              <a:lnSpc>
                <a:spcPts val="2345"/>
              </a:lnSpc>
              <a:spcBef>
                <a:spcPts val="100"/>
              </a:spcBef>
              <a:tabLst>
                <a:tab pos="2546350" algn="l"/>
              </a:tabLst>
            </a:pPr>
            <a:r>
              <a:rPr sz="2400" spc="-50" dirty="0">
                <a:latin typeface="Cambria Math"/>
                <a:cs typeface="Cambria Math"/>
              </a:rPr>
              <a:t>1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625" spc="-75" baseline="-19047" dirty="0">
                <a:latin typeface="Cambria Math"/>
                <a:cs typeface="Cambria Math"/>
              </a:rPr>
              <a:t>2</a:t>
            </a:r>
            <a:endParaRPr sz="2625" baseline="-19047">
              <a:latin typeface="Cambria Math"/>
              <a:cs typeface="Cambria Math"/>
            </a:endParaRPr>
          </a:p>
          <a:p>
            <a:pPr marL="38100">
              <a:lnSpc>
                <a:spcPts val="2345"/>
              </a:lnSpc>
              <a:tabLst>
                <a:tab pos="814705" algn="l"/>
              </a:tabLst>
            </a:pPr>
            <a:r>
              <a:rPr sz="2400" dirty="0">
                <a:latin typeface="Cambria Math"/>
                <a:cs typeface="Cambria Math"/>
              </a:rPr>
              <a:t>=	</a:t>
            </a:r>
            <a:r>
              <a:rPr sz="2400" spc="110" dirty="0">
                <a:latin typeface="Cambria Math"/>
                <a:cs typeface="Cambria Math"/>
              </a:rPr>
              <a:t>෍</a:t>
            </a:r>
            <a:r>
              <a:rPr sz="3600" spc="165" baseline="2314" dirty="0">
                <a:latin typeface="Cambria Math"/>
                <a:cs typeface="Cambria Math"/>
              </a:rPr>
              <a:t>ԡ</a:t>
            </a:r>
            <a:r>
              <a:rPr sz="2400" spc="110" dirty="0">
                <a:latin typeface="Cambria Math"/>
                <a:cs typeface="Cambria Math"/>
              </a:rPr>
              <a:t>𝑦(𝑥)−𝑎</a:t>
            </a:r>
            <a:r>
              <a:rPr sz="3600" spc="165" baseline="2314" dirty="0">
                <a:latin typeface="Cambria Math"/>
                <a:cs typeface="Cambria Math"/>
              </a:rPr>
              <a:t>ԡ</a:t>
            </a:r>
            <a:endParaRPr sz="3600" baseline="2314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3" name="object 3"/>
          <p:cNvSpPr/>
          <p:nvPr/>
        </p:nvSpPr>
        <p:spPr>
          <a:xfrm>
            <a:off x="3742816" y="1316355"/>
            <a:ext cx="717550" cy="282575"/>
          </a:xfrm>
          <a:custGeom>
            <a:avLst/>
            <a:gdLst/>
            <a:ahLst/>
            <a:cxnLst/>
            <a:rect l="l" t="t" r="r" b="b"/>
            <a:pathLst>
              <a:path w="717550" h="282575">
                <a:moveTo>
                  <a:pt x="627507" y="0"/>
                </a:moveTo>
                <a:lnTo>
                  <a:pt x="623443" y="11430"/>
                </a:lnTo>
                <a:lnTo>
                  <a:pt x="639824" y="18577"/>
                </a:lnTo>
                <a:lnTo>
                  <a:pt x="653907" y="28416"/>
                </a:lnTo>
                <a:lnTo>
                  <a:pt x="682446" y="73925"/>
                </a:lnTo>
                <a:lnTo>
                  <a:pt x="690688" y="115359"/>
                </a:lnTo>
                <a:lnTo>
                  <a:pt x="690741" y="115732"/>
                </a:lnTo>
                <a:lnTo>
                  <a:pt x="690721" y="164689"/>
                </a:lnTo>
                <a:lnTo>
                  <a:pt x="682339" y="207603"/>
                </a:lnTo>
                <a:lnTo>
                  <a:pt x="653907" y="253857"/>
                </a:lnTo>
                <a:lnTo>
                  <a:pt x="623951" y="270891"/>
                </a:lnTo>
                <a:lnTo>
                  <a:pt x="627507" y="282321"/>
                </a:lnTo>
                <a:lnTo>
                  <a:pt x="666003" y="264302"/>
                </a:lnTo>
                <a:lnTo>
                  <a:pt x="694309" y="233045"/>
                </a:lnTo>
                <a:lnTo>
                  <a:pt x="711739" y="191135"/>
                </a:lnTo>
                <a:lnTo>
                  <a:pt x="717550" y="141224"/>
                </a:lnTo>
                <a:lnTo>
                  <a:pt x="716118" y="115732"/>
                </a:lnTo>
                <a:lnTo>
                  <a:pt x="716097" y="115359"/>
                </a:lnTo>
                <a:lnTo>
                  <a:pt x="704476" y="69536"/>
                </a:lnTo>
                <a:lnTo>
                  <a:pt x="681353" y="32146"/>
                </a:lnTo>
                <a:lnTo>
                  <a:pt x="647963" y="7381"/>
                </a:lnTo>
                <a:lnTo>
                  <a:pt x="627507" y="0"/>
                </a:lnTo>
                <a:close/>
              </a:path>
              <a:path w="717550" h="282575">
                <a:moveTo>
                  <a:pt x="90043" y="0"/>
                </a:moveTo>
                <a:lnTo>
                  <a:pt x="51593" y="18097"/>
                </a:lnTo>
                <a:lnTo>
                  <a:pt x="23241" y="49530"/>
                </a:lnTo>
                <a:lnTo>
                  <a:pt x="5810" y="91471"/>
                </a:lnTo>
                <a:lnTo>
                  <a:pt x="78" y="139827"/>
                </a:lnTo>
                <a:lnTo>
                  <a:pt x="0" y="141224"/>
                </a:lnTo>
                <a:lnTo>
                  <a:pt x="5810" y="191135"/>
                </a:lnTo>
                <a:lnTo>
                  <a:pt x="23241" y="233045"/>
                </a:lnTo>
                <a:lnTo>
                  <a:pt x="51498" y="264302"/>
                </a:lnTo>
                <a:lnTo>
                  <a:pt x="90043" y="282321"/>
                </a:lnTo>
                <a:lnTo>
                  <a:pt x="93599" y="270891"/>
                </a:lnTo>
                <a:lnTo>
                  <a:pt x="77475" y="263773"/>
                </a:lnTo>
                <a:lnTo>
                  <a:pt x="63579" y="253857"/>
                </a:lnTo>
                <a:lnTo>
                  <a:pt x="35103" y="207603"/>
                </a:lnTo>
                <a:lnTo>
                  <a:pt x="26808" y="164689"/>
                </a:lnTo>
                <a:lnTo>
                  <a:pt x="25838" y="141224"/>
                </a:lnTo>
                <a:lnTo>
                  <a:pt x="25781" y="139827"/>
                </a:lnTo>
                <a:lnTo>
                  <a:pt x="29908" y="93757"/>
                </a:lnTo>
                <a:lnTo>
                  <a:pt x="42418" y="56261"/>
                </a:lnTo>
                <a:lnTo>
                  <a:pt x="77743" y="18577"/>
                </a:lnTo>
                <a:lnTo>
                  <a:pt x="93980" y="11430"/>
                </a:lnTo>
                <a:lnTo>
                  <a:pt x="900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07104" y="1226007"/>
            <a:ext cx="8604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5280" algn="l"/>
              </a:tabLst>
            </a:pPr>
            <a:r>
              <a:rPr sz="2400" spc="-50" dirty="0">
                <a:latin typeface="Cambria Math"/>
                <a:cs typeface="Cambria Math"/>
              </a:rPr>
              <a:t>𝐶</a:t>
            </a:r>
            <a:r>
              <a:rPr sz="2400" dirty="0">
                <a:latin typeface="Cambria Math"/>
                <a:cs typeface="Cambria Math"/>
              </a:rPr>
              <a:t>	𝑤,</a:t>
            </a:r>
            <a:r>
              <a:rPr sz="2400" spc="-80" dirty="0">
                <a:latin typeface="Cambria Math"/>
                <a:cs typeface="Cambria Math"/>
              </a:rPr>
              <a:t> </a:t>
            </a:r>
            <a:r>
              <a:rPr sz="2400" spc="-60" dirty="0">
                <a:latin typeface="Cambria Math"/>
                <a:cs typeface="Cambria Math"/>
              </a:rPr>
              <a:t>𝑏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950459" y="1447672"/>
            <a:ext cx="347980" cy="20320"/>
          </a:xfrm>
          <a:custGeom>
            <a:avLst/>
            <a:gdLst/>
            <a:ahLst/>
            <a:cxnLst/>
            <a:rect l="l" t="t" r="r" b="b"/>
            <a:pathLst>
              <a:path w="347979" h="20319">
                <a:moveTo>
                  <a:pt x="347472" y="0"/>
                </a:moveTo>
                <a:lnTo>
                  <a:pt x="0" y="0"/>
                </a:lnTo>
                <a:lnTo>
                  <a:pt x="0" y="19812"/>
                </a:lnTo>
                <a:lnTo>
                  <a:pt x="347472" y="19812"/>
                </a:lnTo>
                <a:lnTo>
                  <a:pt x="347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38521" y="1430782"/>
            <a:ext cx="3702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2𝑛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48994" y="1779777"/>
            <a:ext cx="9098915" cy="198755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going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z</a:t>
            </a:r>
            <a:r>
              <a:rPr sz="2400" spc="200" dirty="0">
                <a:latin typeface="Calibri"/>
                <a:cs typeface="Calibri"/>
              </a:rPr>
              <a:t>e</a:t>
            </a:r>
            <a:r>
              <a:rPr sz="2400" spc="-310" dirty="0">
                <a:latin typeface="Calibri"/>
                <a:cs typeface="Calibri"/>
              </a:rPr>
              <a:t>r</a:t>
            </a:r>
            <a:r>
              <a:rPr sz="2625" spc="-450" baseline="47619" dirty="0">
                <a:latin typeface="Cambria Math"/>
                <a:cs typeface="Cambria Math"/>
              </a:rPr>
              <a:t>𝑥</a:t>
            </a:r>
            <a:r>
              <a:rPr sz="2400" spc="200" dirty="0">
                <a:latin typeface="Calibri"/>
                <a:cs typeface="Calibri"/>
              </a:rPr>
              <a:t>o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actual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garbage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minimize</a:t>
            </a:r>
            <a:r>
              <a:rPr sz="2400" spc="85" dirty="0">
                <a:latin typeface="Calibri"/>
                <a:cs typeface="Calibri"/>
              </a:rPr>
              <a:t> C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tuning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w,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b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35170" y="996188"/>
            <a:ext cx="2713990" cy="621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5459">
              <a:lnSpc>
                <a:spcPts val="2345"/>
              </a:lnSpc>
              <a:spcBef>
                <a:spcPts val="100"/>
              </a:spcBef>
              <a:tabLst>
                <a:tab pos="2546350" algn="l"/>
              </a:tabLst>
            </a:pPr>
            <a:r>
              <a:rPr sz="2400" spc="-50" dirty="0">
                <a:latin typeface="Cambria Math"/>
                <a:cs typeface="Cambria Math"/>
              </a:rPr>
              <a:t>1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625" spc="-75" baseline="-19047" dirty="0">
                <a:latin typeface="Cambria Math"/>
                <a:cs typeface="Cambria Math"/>
              </a:rPr>
              <a:t>2</a:t>
            </a:r>
            <a:endParaRPr sz="2625" baseline="-19047">
              <a:latin typeface="Cambria Math"/>
              <a:cs typeface="Cambria Math"/>
            </a:endParaRPr>
          </a:p>
          <a:p>
            <a:pPr marL="38100">
              <a:lnSpc>
                <a:spcPts val="2345"/>
              </a:lnSpc>
              <a:tabLst>
                <a:tab pos="814705" algn="l"/>
              </a:tabLst>
            </a:pPr>
            <a:r>
              <a:rPr sz="2400" dirty="0">
                <a:latin typeface="Cambria Math"/>
                <a:cs typeface="Cambria Math"/>
              </a:rPr>
              <a:t>=	</a:t>
            </a:r>
            <a:r>
              <a:rPr sz="2400" spc="110" dirty="0">
                <a:latin typeface="Cambria Math"/>
                <a:cs typeface="Cambria Math"/>
              </a:rPr>
              <a:t>෍</a:t>
            </a:r>
            <a:r>
              <a:rPr sz="3600" spc="165" baseline="2314" dirty="0">
                <a:latin typeface="Cambria Math"/>
                <a:cs typeface="Cambria Math"/>
              </a:rPr>
              <a:t>ԡ</a:t>
            </a:r>
            <a:r>
              <a:rPr sz="2400" spc="110" dirty="0">
                <a:latin typeface="Cambria Math"/>
                <a:cs typeface="Cambria Math"/>
              </a:rPr>
              <a:t>𝑦(𝑥)−𝑎</a:t>
            </a:r>
            <a:r>
              <a:rPr sz="3600" spc="165" baseline="2314" dirty="0">
                <a:latin typeface="Cambria Math"/>
                <a:cs typeface="Cambria Math"/>
              </a:rPr>
              <a:t>ԡ</a:t>
            </a:r>
            <a:endParaRPr sz="3600" baseline="2314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Gradient</a:t>
            </a:r>
            <a:r>
              <a:rPr spc="350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31798" y="1149807"/>
            <a:ext cx="971169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319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assume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minimize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function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C(v),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where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v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</a:t>
            </a:r>
            <a:endParaRPr sz="2800">
              <a:latin typeface="Calibri"/>
              <a:cs typeface="Calibri"/>
            </a:endParaRPr>
          </a:p>
          <a:p>
            <a:pPr marL="241300">
              <a:lnSpc>
                <a:spcPts val="3195"/>
              </a:lnSpc>
            </a:pPr>
            <a:r>
              <a:rPr sz="2800" dirty="0">
                <a:latin typeface="Calibri"/>
                <a:cs typeface="Calibri"/>
              </a:rPr>
              <a:t>vector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inputs.</a:t>
            </a:r>
            <a:endParaRPr sz="2800">
              <a:latin typeface="Calibri"/>
              <a:cs typeface="Calibri"/>
            </a:endParaRPr>
          </a:p>
          <a:p>
            <a:pPr marL="697230" marR="403225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single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variable,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million 	</a:t>
            </a:r>
            <a:r>
              <a:rPr sz="2400" dirty="0">
                <a:latin typeface="Calibri"/>
                <a:cs typeface="Calibri"/>
              </a:rPr>
              <a:t>variables,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with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length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1,000,000.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visualization,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636" y="3386277"/>
            <a:ext cx="3651590" cy="302533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04976" y="1354055"/>
            <a:ext cx="7588884" cy="300545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seems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easy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enough…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big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deal?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10</a:t>
            </a:r>
            <a:r>
              <a:rPr sz="2400" spc="104" baseline="24305" dirty="0">
                <a:latin typeface="Calibri"/>
                <a:cs typeface="Calibri"/>
              </a:rPr>
              <a:t>6</a:t>
            </a:r>
            <a:r>
              <a:rPr sz="2400" spc="517" baseline="2430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  <a:p>
            <a:pPr marL="722630" marR="2011680" lvl="1" indent="-227965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723900" algn="l"/>
              </a:tabLst>
            </a:pPr>
            <a:r>
              <a:rPr sz="2400" spc="70" dirty="0">
                <a:latin typeface="Calibri"/>
                <a:cs typeface="Calibri"/>
              </a:rPr>
              <a:t>Calculus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tractable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huge 	</a:t>
            </a:r>
            <a:r>
              <a:rPr sz="2400" spc="45" dirty="0">
                <a:latin typeface="Calibri"/>
                <a:cs typeface="Calibri"/>
              </a:rPr>
              <a:t>dimensionalities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165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However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still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principles</a:t>
            </a:r>
            <a:endParaRPr sz="2400">
              <a:latin typeface="Calibri"/>
              <a:cs typeface="Calibri"/>
            </a:endParaRPr>
          </a:p>
          <a:p>
            <a:pPr marL="1181100" marR="30480" lvl="2" indent="-228600">
              <a:lnSpc>
                <a:spcPts val="2160"/>
              </a:lnSpc>
              <a:spcBef>
                <a:spcPts val="565"/>
              </a:spcBef>
              <a:buFont typeface="Arial"/>
              <a:buChar char="•"/>
              <a:tabLst>
                <a:tab pos="1181100" algn="l"/>
              </a:tabLst>
            </a:pPr>
            <a:r>
              <a:rPr sz="2000" spc="55" dirty="0">
                <a:latin typeface="Calibri"/>
                <a:cs typeface="Calibri"/>
              </a:rPr>
              <a:t>Imagine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want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start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here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then </a:t>
            </a:r>
            <a:r>
              <a:rPr sz="2000" spc="60" dirty="0">
                <a:latin typeface="Calibri"/>
                <a:cs typeface="Calibri"/>
              </a:rPr>
              <a:t>roll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bottom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valley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93203" y="2031364"/>
            <a:ext cx="3847210" cy="3129661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59612" y="1231237"/>
            <a:ext cx="6283325" cy="16681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math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ball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starts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at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location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(v</a:t>
            </a:r>
            <a:r>
              <a:rPr sz="2400" baseline="-20833" dirty="0">
                <a:latin typeface="Calibri"/>
                <a:cs typeface="Calibri"/>
              </a:rPr>
              <a:t>1</a:t>
            </a:r>
            <a:r>
              <a:rPr sz="2400" dirty="0">
                <a:latin typeface="Calibri"/>
                <a:cs typeface="Calibri"/>
              </a:rPr>
              <a:t>, </a:t>
            </a:r>
            <a:r>
              <a:rPr sz="2400" spc="-25" dirty="0">
                <a:latin typeface="Calibri"/>
                <a:cs typeface="Calibri"/>
              </a:rPr>
              <a:t>v</a:t>
            </a:r>
            <a:r>
              <a:rPr sz="2400" spc="-37" baseline="-20833" dirty="0">
                <a:latin typeface="Calibri"/>
                <a:cs typeface="Calibri"/>
              </a:rPr>
              <a:t>2</a:t>
            </a:r>
            <a:r>
              <a:rPr sz="2400" spc="-25" dirty="0">
                <a:latin typeface="Calibri"/>
                <a:cs typeface="Calibri"/>
              </a:rPr>
              <a:t>)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40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rolls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</a:t>
            </a:r>
            <a:r>
              <a:rPr sz="2400" baseline="-20833" dirty="0">
                <a:latin typeface="Calibri"/>
                <a:cs typeface="Calibri"/>
              </a:rPr>
              <a:t>1</a:t>
            </a:r>
            <a:r>
              <a:rPr sz="2400" spc="509" baseline="-20833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v</a:t>
            </a:r>
            <a:r>
              <a:rPr sz="2400" spc="-37" baseline="-20833" dirty="0">
                <a:latin typeface="Calibri"/>
                <a:cs typeface="Calibri"/>
              </a:rPr>
              <a:t>2</a:t>
            </a:r>
            <a:endParaRPr sz="2400" baseline="-20833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721995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know: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04112" y="3657425"/>
            <a:ext cx="8616315" cy="159829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78765" indent="-227965">
              <a:lnSpc>
                <a:spcPct val="100000"/>
              </a:lnSpc>
              <a:spcBef>
                <a:spcPts val="325"/>
              </a:spcBef>
              <a:buFont typeface="Arial"/>
              <a:buChar char="•"/>
              <a:tabLst>
                <a:tab pos="278765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long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small</a:t>
            </a:r>
            <a:endParaRPr sz="2400">
              <a:latin typeface="Calibri"/>
              <a:cs typeface="Calibri"/>
            </a:endParaRPr>
          </a:p>
          <a:p>
            <a:pPr marL="278130" indent="-227329">
              <a:lnSpc>
                <a:spcPct val="100000"/>
              </a:lnSpc>
              <a:spcBef>
                <a:spcPts val="225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C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negative</a:t>
            </a:r>
            <a:endParaRPr sz="2400">
              <a:latin typeface="Calibri"/>
              <a:cs typeface="Calibri"/>
            </a:endParaRPr>
          </a:p>
          <a:p>
            <a:pPr marL="278765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27876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</a:t>
            </a:r>
            <a:r>
              <a:rPr sz="2400" spc="50" dirty="0">
                <a:latin typeface="Calibri"/>
                <a:cs typeface="Calibri"/>
              </a:rPr>
              <a:t> 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v=(</a:t>
            </a:r>
            <a:r>
              <a:rPr sz="2400" dirty="0">
                <a:latin typeface="Symbol"/>
                <a:cs typeface="Symbol"/>
              </a:rPr>
              <a:t></a:t>
            </a:r>
            <a:r>
              <a:rPr sz="2400" dirty="0">
                <a:latin typeface="Calibri"/>
                <a:cs typeface="Calibri"/>
              </a:rPr>
              <a:t>v</a:t>
            </a:r>
            <a:r>
              <a:rPr sz="2400" baseline="-20833" dirty="0">
                <a:latin typeface="Calibri"/>
                <a:cs typeface="Calibri"/>
              </a:rPr>
              <a:t>1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45" dirty="0">
                <a:latin typeface="Symbol"/>
                <a:cs typeface="Symbol"/>
              </a:rPr>
              <a:t></a:t>
            </a:r>
            <a:r>
              <a:rPr sz="2400" spc="45" dirty="0">
                <a:latin typeface="Calibri"/>
                <a:cs typeface="Calibri"/>
              </a:rPr>
              <a:t>v</a:t>
            </a:r>
            <a:r>
              <a:rPr sz="2400" spc="67" baseline="-20833" dirty="0">
                <a:latin typeface="Calibri"/>
                <a:cs typeface="Calibri"/>
              </a:rPr>
              <a:t>2</a:t>
            </a:r>
            <a:r>
              <a:rPr sz="2400" spc="45" dirty="0">
                <a:latin typeface="Calibri"/>
                <a:cs typeface="Calibri"/>
              </a:rPr>
              <a:t>,…)</a:t>
            </a:r>
            <a:r>
              <a:rPr sz="2400" spc="67" baseline="24305" dirty="0">
                <a:latin typeface="Calibri"/>
                <a:cs typeface="Calibri"/>
              </a:rPr>
              <a:t>T</a:t>
            </a:r>
            <a:endParaRPr sz="2400" baseline="24305">
              <a:latin typeface="Calibri"/>
              <a:cs typeface="Calibri"/>
            </a:endParaRPr>
          </a:p>
          <a:p>
            <a:pPr marL="278765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278765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150" dirty="0">
                <a:latin typeface="Calibri"/>
                <a:cs typeface="Calibri"/>
              </a:rPr>
              <a:t>T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transpose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operator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column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63109" y="994410"/>
            <a:ext cx="3651590" cy="3025338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3396360" y="3318128"/>
            <a:ext cx="466725" cy="20320"/>
          </a:xfrm>
          <a:custGeom>
            <a:avLst/>
            <a:gdLst/>
            <a:ahLst/>
            <a:cxnLst/>
            <a:rect l="l" t="t" r="r" b="b"/>
            <a:pathLst>
              <a:path w="466725" h="20320">
                <a:moveTo>
                  <a:pt x="466343" y="0"/>
                </a:moveTo>
                <a:lnTo>
                  <a:pt x="0" y="0"/>
                </a:lnTo>
                <a:lnTo>
                  <a:pt x="0" y="19812"/>
                </a:lnTo>
                <a:lnTo>
                  <a:pt x="466343" y="19812"/>
                </a:lnTo>
                <a:lnTo>
                  <a:pt x="4663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237735" y="3242310"/>
            <a:ext cx="1543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737866" y="3097529"/>
            <a:ext cx="1960245" cy="595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245"/>
              </a:lnSpc>
              <a:spcBef>
                <a:spcPts val="100"/>
              </a:spcBef>
              <a:tabLst>
                <a:tab pos="1162685" algn="l"/>
                <a:tab pos="1706880" algn="l"/>
              </a:tabLst>
            </a:pPr>
            <a:r>
              <a:rPr sz="2400" spc="-25" dirty="0">
                <a:latin typeface="Cambria Math"/>
                <a:cs typeface="Cambria Math"/>
              </a:rPr>
              <a:t>∆𝐶~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∆𝑣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+</a:t>
            </a:r>
            <a:endParaRPr sz="2400">
              <a:latin typeface="Cambria Math"/>
              <a:cs typeface="Cambria Math"/>
            </a:endParaRPr>
          </a:p>
          <a:p>
            <a:pPr marR="299085" algn="ctr">
              <a:lnSpc>
                <a:spcPts val="2245"/>
              </a:lnSpc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752721" y="3318128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5" h="20320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34588" y="2866720"/>
            <a:ext cx="1736089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71600" algn="l"/>
              </a:tabLst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740655" y="3301745"/>
            <a:ext cx="3606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08908" y="3446526"/>
            <a:ext cx="151828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76045" algn="l"/>
              </a:tabLst>
            </a:pPr>
            <a:r>
              <a:rPr sz="1750" spc="-50" dirty="0">
                <a:latin typeface="Cambria Math"/>
                <a:cs typeface="Cambria Math"/>
              </a:rPr>
              <a:t>1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1750" spc="-5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239511" y="3097529"/>
            <a:ext cx="549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∆𝑣</a:t>
            </a:r>
            <a:r>
              <a:rPr sz="2625" spc="-37" baseline="-15873" dirty="0">
                <a:latin typeface="Cambria Math"/>
                <a:cs typeface="Cambria Math"/>
              </a:rPr>
              <a:t>2</a:t>
            </a:r>
            <a:endParaRPr sz="2625" baseline="-15873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42212" y="2388870"/>
            <a:ext cx="405637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42212" y="3958844"/>
            <a:ext cx="3180080" cy="1308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400" dirty="0">
                <a:latin typeface="Calibri"/>
                <a:cs typeface="Calibri"/>
              </a:rPr>
              <a:t>Now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write: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5"/>
              </a:spcBef>
            </a:pPr>
            <a:endParaRPr sz="2400">
              <a:latin typeface="Calibri"/>
              <a:cs typeface="Calibri"/>
            </a:endParaRPr>
          </a:p>
          <a:p>
            <a:pPr marL="1503045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mbria Math"/>
                <a:cs typeface="Cambria Math"/>
              </a:rPr>
              <a:t>∆𝐶~∇𝐶</a:t>
            </a:r>
            <a:r>
              <a:rPr sz="2400" spc="140" dirty="0">
                <a:latin typeface="Cambria Math"/>
                <a:cs typeface="Cambria Math"/>
              </a:rPr>
              <a:t> </a:t>
            </a:r>
            <a:r>
              <a:rPr sz="2400" spc="85" dirty="0">
                <a:latin typeface="Cambria Math"/>
                <a:cs typeface="Cambria Math"/>
              </a:rPr>
              <a:t>∙</a:t>
            </a:r>
            <a:r>
              <a:rPr sz="2400" spc="30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∆𝑣</a:t>
            </a:r>
            <a:endParaRPr sz="2400">
              <a:latin typeface="Cambria Math"/>
              <a:cs typeface="Cambria Math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63109" y="994410"/>
            <a:ext cx="3651590" cy="3025338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459735" y="1768094"/>
            <a:ext cx="466725" cy="20320"/>
          </a:xfrm>
          <a:custGeom>
            <a:avLst/>
            <a:gdLst/>
            <a:ahLst/>
            <a:cxnLst/>
            <a:rect l="l" t="t" r="r" b="b"/>
            <a:pathLst>
              <a:path w="466725" h="20319">
                <a:moveTo>
                  <a:pt x="466344" y="0"/>
                </a:moveTo>
                <a:lnTo>
                  <a:pt x="0" y="0"/>
                </a:lnTo>
                <a:lnTo>
                  <a:pt x="0" y="19812"/>
                </a:lnTo>
                <a:lnTo>
                  <a:pt x="466344" y="19812"/>
                </a:lnTo>
                <a:lnTo>
                  <a:pt x="46634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497582" y="1316863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6096" y="1768094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5" h="20319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857371" y="1316863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71901" y="1895678"/>
            <a:ext cx="151892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376680" algn="l"/>
              </a:tabLst>
            </a:pPr>
            <a:r>
              <a:rPr sz="1750" spc="-50" dirty="0">
                <a:latin typeface="Cambria Math"/>
                <a:cs typeface="Cambria Math"/>
              </a:rPr>
              <a:t>1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1750" spc="-5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775714" y="1546986"/>
            <a:ext cx="3076575" cy="595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245"/>
              </a:lnSpc>
              <a:spcBef>
                <a:spcPts val="100"/>
              </a:spcBef>
              <a:tabLst>
                <a:tab pos="1162685" algn="l"/>
                <a:tab pos="2526665" algn="l"/>
              </a:tabLst>
            </a:pPr>
            <a:r>
              <a:rPr sz="2400" spc="-25" dirty="0">
                <a:latin typeface="Cambria Math"/>
                <a:cs typeface="Cambria Math"/>
              </a:rPr>
              <a:t>∆𝐶~</a:t>
            </a:r>
            <a:r>
              <a:rPr sz="2400" dirty="0">
                <a:latin typeface="Cambria Math"/>
                <a:cs typeface="Cambria Math"/>
              </a:rPr>
              <a:t>	∆𝑣</a:t>
            </a:r>
            <a:r>
              <a:rPr sz="2625" baseline="-15873" dirty="0">
                <a:latin typeface="Cambria Math"/>
                <a:cs typeface="Cambria Math"/>
              </a:rPr>
              <a:t>1</a:t>
            </a:r>
            <a:r>
              <a:rPr sz="2625" spc="247" baseline="-15873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+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∆𝑣</a:t>
            </a:r>
            <a:r>
              <a:rPr sz="2625" spc="-37" baseline="-15873" dirty="0">
                <a:latin typeface="Cambria Math"/>
                <a:cs typeface="Cambria Math"/>
              </a:rPr>
              <a:t>2</a:t>
            </a:r>
            <a:endParaRPr sz="2625" baseline="-15873">
              <a:latin typeface="Cambria Math"/>
              <a:cs typeface="Cambria Math"/>
            </a:endParaRPr>
          </a:p>
          <a:p>
            <a:pPr marR="8890" algn="ctr">
              <a:lnSpc>
                <a:spcPts val="2245"/>
              </a:lnSpc>
              <a:tabLst>
                <a:tab pos="1356360" algn="l"/>
              </a:tabLst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00985" y="3213353"/>
            <a:ext cx="7150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22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12516" y="3054349"/>
            <a:ext cx="1403985" cy="777240"/>
          </a:xfrm>
          <a:custGeom>
            <a:avLst/>
            <a:gdLst/>
            <a:ahLst/>
            <a:cxnLst/>
            <a:rect l="l" t="t" r="r" b="b"/>
            <a:pathLst>
              <a:path w="1403985" h="777239">
                <a:moveTo>
                  <a:pt x="140081" y="11176"/>
                </a:moveTo>
                <a:lnTo>
                  <a:pt x="104089" y="29413"/>
                </a:lnTo>
                <a:lnTo>
                  <a:pt x="78232" y="65252"/>
                </a:lnTo>
                <a:lnTo>
                  <a:pt x="55511" y="107518"/>
                </a:lnTo>
                <a:lnTo>
                  <a:pt x="35941" y="156210"/>
                </a:lnTo>
                <a:lnTo>
                  <a:pt x="22974" y="198716"/>
                </a:lnTo>
                <a:lnTo>
                  <a:pt x="12915" y="243166"/>
                </a:lnTo>
                <a:lnTo>
                  <a:pt x="5727" y="289560"/>
                </a:lnTo>
                <a:lnTo>
                  <a:pt x="1422" y="337870"/>
                </a:lnTo>
                <a:lnTo>
                  <a:pt x="0" y="388239"/>
                </a:lnTo>
                <a:lnTo>
                  <a:pt x="1422" y="437730"/>
                </a:lnTo>
                <a:lnTo>
                  <a:pt x="5727" y="485673"/>
                </a:lnTo>
                <a:lnTo>
                  <a:pt x="12915" y="531964"/>
                </a:lnTo>
                <a:lnTo>
                  <a:pt x="22974" y="576618"/>
                </a:lnTo>
                <a:lnTo>
                  <a:pt x="35941" y="619633"/>
                </a:lnTo>
                <a:lnTo>
                  <a:pt x="55511" y="668997"/>
                </a:lnTo>
                <a:lnTo>
                  <a:pt x="78232" y="711708"/>
                </a:lnTo>
                <a:lnTo>
                  <a:pt x="104089" y="747763"/>
                </a:lnTo>
                <a:lnTo>
                  <a:pt x="133096" y="777113"/>
                </a:lnTo>
                <a:lnTo>
                  <a:pt x="140081" y="766191"/>
                </a:lnTo>
                <a:lnTo>
                  <a:pt x="115138" y="736257"/>
                </a:lnTo>
                <a:lnTo>
                  <a:pt x="93281" y="700366"/>
                </a:lnTo>
                <a:lnTo>
                  <a:pt x="74460" y="658482"/>
                </a:lnTo>
                <a:lnTo>
                  <a:pt x="58674" y="610616"/>
                </a:lnTo>
                <a:lnTo>
                  <a:pt x="46164" y="558571"/>
                </a:lnTo>
                <a:lnTo>
                  <a:pt x="37236" y="504151"/>
                </a:lnTo>
                <a:lnTo>
                  <a:pt x="31877" y="447370"/>
                </a:lnTo>
                <a:lnTo>
                  <a:pt x="30099" y="388239"/>
                </a:lnTo>
                <a:lnTo>
                  <a:pt x="31877" y="328002"/>
                </a:lnTo>
                <a:lnTo>
                  <a:pt x="37236" y="270687"/>
                </a:lnTo>
                <a:lnTo>
                  <a:pt x="46164" y="216319"/>
                </a:lnTo>
                <a:lnTo>
                  <a:pt x="58674" y="164846"/>
                </a:lnTo>
                <a:lnTo>
                  <a:pt x="74536" y="117754"/>
                </a:lnTo>
                <a:lnTo>
                  <a:pt x="93370" y="76441"/>
                </a:lnTo>
                <a:lnTo>
                  <a:pt x="115214" y="40932"/>
                </a:lnTo>
                <a:lnTo>
                  <a:pt x="140081" y="11176"/>
                </a:lnTo>
                <a:close/>
              </a:path>
              <a:path w="1403985" h="777239">
                <a:moveTo>
                  <a:pt x="616585" y="379730"/>
                </a:moveTo>
                <a:lnTo>
                  <a:pt x="150241" y="379730"/>
                </a:lnTo>
                <a:lnTo>
                  <a:pt x="150241" y="399542"/>
                </a:lnTo>
                <a:lnTo>
                  <a:pt x="616585" y="399542"/>
                </a:lnTo>
                <a:lnTo>
                  <a:pt x="616585" y="379730"/>
                </a:lnTo>
                <a:close/>
              </a:path>
              <a:path w="1403985" h="777239">
                <a:moveTo>
                  <a:pt x="1403464" y="388239"/>
                </a:moveTo>
                <a:lnTo>
                  <a:pt x="1402041" y="337870"/>
                </a:lnTo>
                <a:lnTo>
                  <a:pt x="1397736" y="289560"/>
                </a:lnTo>
                <a:lnTo>
                  <a:pt x="1390548" y="243166"/>
                </a:lnTo>
                <a:lnTo>
                  <a:pt x="1380490" y="198716"/>
                </a:lnTo>
                <a:lnTo>
                  <a:pt x="1367536" y="156210"/>
                </a:lnTo>
                <a:lnTo>
                  <a:pt x="1348028" y="107518"/>
                </a:lnTo>
                <a:lnTo>
                  <a:pt x="1325346" y="65252"/>
                </a:lnTo>
                <a:lnTo>
                  <a:pt x="1299502" y="29413"/>
                </a:lnTo>
                <a:lnTo>
                  <a:pt x="1270508" y="0"/>
                </a:lnTo>
                <a:lnTo>
                  <a:pt x="1263396" y="11176"/>
                </a:lnTo>
                <a:lnTo>
                  <a:pt x="1288199" y="40932"/>
                </a:lnTo>
                <a:lnTo>
                  <a:pt x="1310030" y="76441"/>
                </a:lnTo>
                <a:lnTo>
                  <a:pt x="1328864" y="117754"/>
                </a:lnTo>
                <a:lnTo>
                  <a:pt x="1344676" y="164846"/>
                </a:lnTo>
                <a:lnTo>
                  <a:pt x="1357261" y="216319"/>
                </a:lnTo>
                <a:lnTo>
                  <a:pt x="1366278" y="270687"/>
                </a:lnTo>
                <a:lnTo>
                  <a:pt x="1371688" y="328002"/>
                </a:lnTo>
                <a:lnTo>
                  <a:pt x="1373505" y="388239"/>
                </a:lnTo>
                <a:lnTo>
                  <a:pt x="1371714" y="447370"/>
                </a:lnTo>
                <a:lnTo>
                  <a:pt x="1366354" y="504151"/>
                </a:lnTo>
                <a:lnTo>
                  <a:pt x="1357426" y="558571"/>
                </a:lnTo>
                <a:lnTo>
                  <a:pt x="1344930" y="610616"/>
                </a:lnTo>
                <a:lnTo>
                  <a:pt x="1329118" y="658482"/>
                </a:lnTo>
                <a:lnTo>
                  <a:pt x="1310259" y="700366"/>
                </a:lnTo>
                <a:lnTo>
                  <a:pt x="1288351" y="736257"/>
                </a:lnTo>
                <a:lnTo>
                  <a:pt x="1263396" y="766191"/>
                </a:lnTo>
                <a:lnTo>
                  <a:pt x="1270508" y="777113"/>
                </a:lnTo>
                <a:lnTo>
                  <a:pt x="1299502" y="747763"/>
                </a:lnTo>
                <a:lnTo>
                  <a:pt x="1325346" y="711708"/>
                </a:lnTo>
                <a:lnTo>
                  <a:pt x="1348028" y="668997"/>
                </a:lnTo>
                <a:lnTo>
                  <a:pt x="1367536" y="619633"/>
                </a:lnTo>
                <a:lnTo>
                  <a:pt x="1380490" y="576618"/>
                </a:lnTo>
                <a:lnTo>
                  <a:pt x="1390548" y="531964"/>
                </a:lnTo>
                <a:lnTo>
                  <a:pt x="1397736" y="485673"/>
                </a:lnTo>
                <a:lnTo>
                  <a:pt x="1402041" y="437730"/>
                </a:lnTo>
                <a:lnTo>
                  <a:pt x="1403464" y="388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767073" y="3213353"/>
            <a:ext cx="882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,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92169" y="3434079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5" h="20320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300729" y="2983229"/>
            <a:ext cx="1009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44525" algn="l"/>
              </a:tabLst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225038" y="3417570"/>
            <a:ext cx="11671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667385" algn="l"/>
              </a:tabLst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r>
              <a:rPr sz="2625" spc="-37" baseline="-15873" dirty="0">
                <a:latin typeface="Cambria Math"/>
                <a:cs typeface="Cambria Math"/>
              </a:rPr>
              <a:t>1</a:t>
            </a:r>
            <a:r>
              <a:rPr sz="2625" baseline="-15873" dirty="0">
                <a:latin typeface="Cambria Math"/>
                <a:cs typeface="Cambria Math"/>
              </a:rPr>
              <a:t>	</a:t>
            </a:r>
            <a:r>
              <a:rPr sz="2400" spc="-25" dirty="0">
                <a:latin typeface="Cambria Math"/>
                <a:cs typeface="Cambria Math"/>
              </a:rPr>
              <a:t>𝜕𝑣</a:t>
            </a:r>
            <a:r>
              <a:rPr sz="2625" spc="-37" baseline="-15873" dirty="0">
                <a:latin typeface="Cambria Math"/>
                <a:cs typeface="Cambria Math"/>
              </a:rPr>
              <a:t>2</a:t>
            </a:r>
            <a:endParaRPr sz="2625" baseline="-15873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29454" y="2888742"/>
            <a:ext cx="16256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𝑇</a:t>
            </a:r>
            <a:endParaRPr sz="17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3490" y="1507388"/>
            <a:ext cx="7707630" cy="1656080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 </a:t>
            </a:r>
            <a:r>
              <a:rPr sz="2800" dirty="0">
                <a:latin typeface="Calibri"/>
                <a:cs typeface="Calibri"/>
              </a:rPr>
              <a:t>how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choose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Symbol"/>
                <a:cs typeface="Symbol"/>
              </a:rPr>
              <a:t></a:t>
            </a:r>
            <a:r>
              <a:rPr sz="2800" dirty="0">
                <a:latin typeface="Calibri"/>
                <a:cs typeface="Calibri"/>
              </a:rPr>
              <a:t>v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Symbol"/>
                <a:cs typeface="Symbol"/>
              </a:rPr>
              <a:t></a:t>
            </a:r>
            <a:r>
              <a:rPr sz="2800" dirty="0">
                <a:latin typeface="Calibri"/>
                <a:cs typeface="Calibri"/>
              </a:rPr>
              <a:t>C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negative?</a:t>
            </a:r>
            <a:endParaRPr sz="2800">
              <a:latin typeface="Calibri"/>
              <a:cs typeface="Calibri"/>
            </a:endParaRPr>
          </a:p>
          <a:p>
            <a:pPr marL="220979" algn="ctr">
              <a:lnSpc>
                <a:spcPts val="3235"/>
              </a:lnSpc>
              <a:spcBef>
                <a:spcPts val="190"/>
              </a:spcBef>
            </a:pPr>
            <a:r>
              <a:rPr sz="2800" dirty="0">
                <a:latin typeface="Cambria Math"/>
                <a:cs typeface="Cambria Math"/>
              </a:rPr>
              <a:t>∆𝑣</a:t>
            </a:r>
            <a:r>
              <a:rPr sz="2800" spc="225" dirty="0">
                <a:latin typeface="Cambria Math"/>
                <a:cs typeface="Cambria Math"/>
              </a:rPr>
              <a:t> </a:t>
            </a:r>
            <a:r>
              <a:rPr sz="2800" dirty="0">
                <a:latin typeface="Cambria Math"/>
                <a:cs typeface="Cambria Math"/>
              </a:rPr>
              <a:t>=</a:t>
            </a:r>
            <a:r>
              <a:rPr sz="2800" spc="150" dirty="0">
                <a:latin typeface="Cambria Math"/>
                <a:cs typeface="Cambria Math"/>
              </a:rPr>
              <a:t> </a:t>
            </a:r>
            <a:r>
              <a:rPr sz="2800" spc="-20" dirty="0">
                <a:latin typeface="Cambria Math"/>
                <a:cs typeface="Cambria Math"/>
              </a:rPr>
              <a:t>−𝛾∇𝐶</a:t>
            </a:r>
            <a:endParaRPr sz="2800">
              <a:latin typeface="Cambria Math"/>
              <a:cs typeface="Cambria Math"/>
            </a:endParaRPr>
          </a:p>
          <a:p>
            <a:pPr marL="696595" lvl="1" indent="-227329">
              <a:lnSpc>
                <a:spcPts val="2755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Where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g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then: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05121" y="3529329"/>
            <a:ext cx="1416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80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10664" y="3558285"/>
            <a:ext cx="91852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  <a:tab pos="304863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remember, </a:t>
            </a:r>
            <a:r>
              <a:rPr sz="3600" spc="-465" baseline="2314" dirty="0">
                <a:latin typeface="Cambria Math"/>
                <a:cs typeface="Cambria Math"/>
              </a:rPr>
              <a:t>ԡ</a:t>
            </a:r>
            <a:r>
              <a:rPr sz="2400" spc="-310" dirty="0">
                <a:latin typeface="Cambria Math"/>
                <a:cs typeface="Cambria Math"/>
              </a:rPr>
              <a:t>∇𝐶</a:t>
            </a:r>
            <a:r>
              <a:rPr sz="3600" spc="-465" baseline="2314" dirty="0">
                <a:latin typeface="Cambria Math"/>
                <a:cs typeface="Cambria Math"/>
              </a:rPr>
              <a:t>ԡ</a:t>
            </a:r>
            <a:r>
              <a:rPr sz="3600" baseline="2314" dirty="0">
                <a:latin typeface="Cambria Math"/>
                <a:cs typeface="Cambria Math"/>
              </a:rPr>
              <a:t>	</a:t>
            </a:r>
            <a:r>
              <a:rPr sz="2400" dirty="0">
                <a:latin typeface="Calibri"/>
                <a:cs typeface="Calibri"/>
              </a:rPr>
              <a:t>&gt;0,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multiplying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means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10664" y="3857323"/>
            <a:ext cx="9139555" cy="120713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325"/>
              </a:spcBef>
            </a:pP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always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negative…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2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Symbol"/>
                <a:cs typeface="Symbol"/>
              </a:rPr>
              <a:t></a:t>
            </a:r>
            <a:r>
              <a:rPr sz="2400" spc="120" dirty="0">
                <a:latin typeface="Times New Roman"/>
                <a:cs typeface="Times New Roman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“learning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rate”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mbria Math"/>
                <a:cs typeface="Cambria Math"/>
              </a:rPr>
              <a:t>∆𝑣</a:t>
            </a:r>
            <a:r>
              <a:rPr sz="2400" spc="25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6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−𝛾∇𝐶</a:t>
            </a:r>
            <a:r>
              <a:rPr sz="2400" spc="250" dirty="0">
                <a:latin typeface="Cambria Math"/>
                <a:cs typeface="Cambria Math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rule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711957" y="3399866"/>
            <a:ext cx="350964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∆𝐶~</a:t>
            </a:r>
            <a:r>
              <a:rPr sz="2400" spc="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− 𝛾∇𝐶</a:t>
            </a:r>
            <a:r>
              <a:rPr sz="2400" spc="110" dirty="0">
                <a:latin typeface="Cambria Math"/>
                <a:cs typeface="Cambria Math"/>
              </a:rPr>
              <a:t> </a:t>
            </a:r>
            <a:r>
              <a:rPr sz="2400" spc="85" dirty="0">
                <a:latin typeface="Cambria Math"/>
                <a:cs typeface="Cambria Math"/>
              </a:rPr>
              <a:t>∙</a:t>
            </a:r>
            <a:r>
              <a:rPr sz="2400" spc="1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130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50" dirty="0">
                <a:latin typeface="Cambria Math"/>
                <a:cs typeface="Cambria Math"/>
              </a:rPr>
              <a:t>−𝛾</a:t>
            </a:r>
            <a:r>
              <a:rPr sz="3600" spc="-225" baseline="2314" dirty="0">
                <a:latin typeface="Cambria Math"/>
                <a:cs typeface="Cambria Math"/>
              </a:rPr>
              <a:t>ԡ</a:t>
            </a:r>
            <a:r>
              <a:rPr sz="2400" spc="-150" dirty="0">
                <a:latin typeface="Cambria Math"/>
                <a:cs typeface="Cambria Math"/>
              </a:rPr>
              <a:t>∇𝐶</a:t>
            </a:r>
            <a:r>
              <a:rPr sz="3600" spc="-225" baseline="2314" dirty="0">
                <a:latin typeface="Cambria Math"/>
                <a:cs typeface="Cambria Math"/>
              </a:rPr>
              <a:t>ԡ</a:t>
            </a:r>
            <a:endParaRPr sz="3600" baseline="2314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6076" y="3371215"/>
            <a:ext cx="1543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17676" y="1174496"/>
            <a:ext cx="9906000" cy="3209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15900" algn="ctr">
              <a:lnSpc>
                <a:spcPct val="100000"/>
              </a:lnSpc>
              <a:spcBef>
                <a:spcPts val="100"/>
              </a:spcBef>
              <a:tabLst>
                <a:tab pos="324485" algn="l"/>
              </a:tabLst>
            </a:pPr>
            <a:r>
              <a:rPr sz="2400" spc="-50" dirty="0">
                <a:latin typeface="Cambria Math"/>
                <a:cs typeface="Cambria Math"/>
              </a:rPr>
              <a:t>𝑣</a:t>
            </a:r>
            <a:r>
              <a:rPr sz="2400" dirty="0">
                <a:latin typeface="Cambria Math"/>
                <a:cs typeface="Cambria Math"/>
              </a:rPr>
              <a:t>	→</a:t>
            </a:r>
            <a:r>
              <a:rPr sz="2400" spc="140" dirty="0">
                <a:latin typeface="Cambria Math"/>
                <a:cs typeface="Cambria Math"/>
              </a:rPr>
              <a:t> </a:t>
            </a:r>
            <a:r>
              <a:rPr sz="2400" spc="155" dirty="0">
                <a:latin typeface="Cambria Math"/>
                <a:cs typeface="Cambria Math"/>
              </a:rPr>
              <a:t>𝑣</a:t>
            </a:r>
            <a:r>
              <a:rPr sz="2625" spc="232" baseline="28571" dirty="0">
                <a:latin typeface="Cambria Math"/>
                <a:cs typeface="Cambria Math"/>
              </a:rPr>
              <a:t>′</a:t>
            </a:r>
            <a:r>
              <a:rPr sz="2625" spc="540" baseline="28571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𝑣</a:t>
            </a:r>
            <a:r>
              <a:rPr sz="2400" spc="6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−</a:t>
            </a:r>
            <a:r>
              <a:rPr sz="2400" spc="-5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𝛾∇𝐶</a:t>
            </a:r>
            <a:endParaRPr sz="2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640"/>
              </a:spcBef>
            </a:pPr>
            <a:endParaRPr sz="2400">
              <a:latin typeface="Cambria Math"/>
              <a:cs typeface="Cambria Math"/>
            </a:endParaRPr>
          </a:p>
          <a:p>
            <a:pPr marL="252729" marR="17780" indent="-227329">
              <a:lnSpc>
                <a:spcPts val="3020"/>
              </a:lnSpc>
              <a:buFont typeface="Arial"/>
              <a:buChar char="•"/>
              <a:tabLst>
                <a:tab pos="254000" algn="l"/>
              </a:tabLst>
            </a:pPr>
            <a:r>
              <a:rPr sz="2800" spc="80" dirty="0">
                <a:latin typeface="Calibri"/>
                <a:cs typeface="Calibri"/>
              </a:rPr>
              <a:t>Using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above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update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rule,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keep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moving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along 	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path,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decreasing</a:t>
            </a:r>
            <a:r>
              <a:rPr sz="2800" spc="2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value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C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until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reach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minimum</a:t>
            </a:r>
            <a:endParaRPr sz="2800">
              <a:latin typeface="Calibri"/>
              <a:cs typeface="Calibri"/>
            </a:endParaRPr>
          </a:p>
          <a:p>
            <a:pPr marL="709930" lvl="1" indent="-227965">
              <a:lnSpc>
                <a:spcPts val="2735"/>
              </a:lnSpc>
              <a:spcBef>
                <a:spcPts val="195"/>
              </a:spcBef>
              <a:buFont typeface="Arial"/>
              <a:buChar char="•"/>
              <a:tabLst>
                <a:tab pos="7099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requires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repeatedly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7112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that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motion</a:t>
            </a:r>
            <a:endParaRPr sz="2400">
              <a:latin typeface="Calibri"/>
              <a:cs typeface="Calibri"/>
            </a:endParaRPr>
          </a:p>
          <a:p>
            <a:pPr marL="252729" marR="257810" indent="-227329">
              <a:lnSpc>
                <a:spcPts val="3020"/>
              </a:lnSpc>
              <a:spcBef>
                <a:spcPts val="1025"/>
              </a:spcBef>
              <a:buFont typeface="Arial"/>
              <a:buChar char="•"/>
              <a:tabLst>
                <a:tab pos="254000" algn="l"/>
              </a:tabLst>
            </a:pPr>
            <a:r>
              <a:rPr sz="2800" dirty="0">
                <a:latin typeface="Calibri"/>
                <a:cs typeface="Calibri"/>
              </a:rPr>
              <a:t>But,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order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for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it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learning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rate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needs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small 	</a:t>
            </a:r>
            <a:r>
              <a:rPr sz="2800" spc="60" dirty="0">
                <a:latin typeface="Calibri"/>
                <a:cs typeface="Calibri"/>
              </a:rPr>
              <a:t>enough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for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linear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approximation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work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Minimization</a:t>
            </a:r>
            <a:r>
              <a:rPr spc="135" dirty="0"/>
              <a:t> </a:t>
            </a:r>
            <a:r>
              <a:rPr dirty="0"/>
              <a:t>for</a:t>
            </a:r>
            <a:r>
              <a:rPr spc="185" dirty="0"/>
              <a:t> </a:t>
            </a:r>
            <a:r>
              <a:rPr dirty="0"/>
              <a:t>more</a:t>
            </a:r>
            <a:r>
              <a:rPr spc="155" dirty="0"/>
              <a:t> </a:t>
            </a:r>
            <a:r>
              <a:rPr dirty="0"/>
              <a:t>than</a:t>
            </a:r>
            <a:r>
              <a:rPr spc="185" dirty="0"/>
              <a:t> </a:t>
            </a:r>
            <a:r>
              <a:rPr spc="110" dirty="0"/>
              <a:t>2</a:t>
            </a:r>
            <a:r>
              <a:rPr spc="135" dirty="0"/>
              <a:t> </a:t>
            </a:r>
            <a:r>
              <a:rPr spc="50" dirty="0"/>
              <a:t>variables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01926" y="2003805"/>
            <a:ext cx="1924050" cy="3111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699770" algn="l"/>
                <a:tab pos="1780539" algn="l"/>
              </a:tabLst>
            </a:pPr>
            <a:r>
              <a:rPr sz="1850" spc="25" dirty="0">
                <a:latin typeface="Calibri"/>
                <a:cs typeface="Calibri"/>
              </a:rPr>
              <a:t>1</a:t>
            </a:r>
            <a:r>
              <a:rPr sz="1850" dirty="0">
                <a:latin typeface="Calibri"/>
                <a:cs typeface="Calibri"/>
              </a:rPr>
              <a:t>	</a:t>
            </a:r>
            <a:r>
              <a:rPr sz="1850" spc="15" dirty="0">
                <a:latin typeface="Calibri"/>
                <a:cs typeface="Calibri"/>
              </a:rPr>
              <a:t>2</a:t>
            </a:r>
            <a:r>
              <a:rPr sz="1850" dirty="0">
                <a:latin typeface="Calibri"/>
                <a:cs typeface="Calibri"/>
              </a:rPr>
              <a:t>	</a:t>
            </a:r>
            <a:r>
              <a:rPr sz="1850" spc="-50" dirty="0">
                <a:latin typeface="Calibri"/>
                <a:cs typeface="Calibri"/>
              </a:rPr>
              <a:t>n</a:t>
            </a:r>
            <a:endParaRPr sz="18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98746" y="1810258"/>
            <a:ext cx="157480" cy="3111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850" spc="85" dirty="0">
                <a:latin typeface="Calibri"/>
                <a:cs typeface="Calibri"/>
              </a:rPr>
              <a:t>T</a:t>
            </a:r>
            <a:endParaRPr sz="18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6939" y="1799589"/>
            <a:ext cx="363092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  <a:tab pos="1426845" algn="l"/>
                <a:tab pos="2113915" algn="l"/>
                <a:tab pos="3195320" algn="l"/>
                <a:tab pos="3426460" algn="l"/>
              </a:tabLst>
            </a:pPr>
            <a:r>
              <a:rPr sz="2800" spc="-10" dirty="0">
                <a:latin typeface="Symbol"/>
                <a:cs typeface="Symbol"/>
              </a:rPr>
              <a:t></a:t>
            </a:r>
            <a:r>
              <a:rPr sz="2800" spc="-10" dirty="0">
                <a:latin typeface="Calibri"/>
                <a:cs typeface="Calibri"/>
              </a:rPr>
              <a:t>v=(</a:t>
            </a:r>
            <a:r>
              <a:rPr sz="2800" spc="-10" dirty="0">
                <a:latin typeface="Symbol"/>
                <a:cs typeface="Symbol"/>
              </a:rPr>
              <a:t></a:t>
            </a:r>
            <a:r>
              <a:rPr sz="2800" spc="-10" dirty="0">
                <a:latin typeface="Calibri"/>
                <a:cs typeface="Calibri"/>
              </a:rPr>
              <a:t>v</a:t>
            </a:r>
            <a:r>
              <a:rPr sz="2800" dirty="0">
                <a:latin typeface="Calibri"/>
                <a:cs typeface="Calibri"/>
              </a:rPr>
              <a:t>	,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25" dirty="0">
                <a:latin typeface="Symbol"/>
                <a:cs typeface="Symbol"/>
              </a:rPr>
              <a:t></a:t>
            </a:r>
            <a:r>
              <a:rPr sz="2800" spc="-25" dirty="0">
                <a:latin typeface="Calibri"/>
                <a:cs typeface="Calibri"/>
              </a:rPr>
              <a:t>v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120" dirty="0">
                <a:latin typeface="Calibri"/>
                <a:cs typeface="Calibri"/>
              </a:rPr>
              <a:t>,…,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25" dirty="0">
                <a:latin typeface="Symbol"/>
                <a:cs typeface="Symbol"/>
              </a:rPr>
              <a:t></a:t>
            </a:r>
            <a:r>
              <a:rPr sz="2800" spc="-25" dirty="0">
                <a:latin typeface="Calibri"/>
                <a:cs typeface="Calibri"/>
              </a:rPr>
              <a:t>v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50" dirty="0">
                <a:latin typeface="Calibri"/>
                <a:cs typeface="Calibri"/>
              </a:rPr>
              <a:t>)</a:t>
            </a:r>
            <a:r>
              <a:rPr sz="2800" dirty="0">
                <a:latin typeface="Calibri"/>
                <a:cs typeface="Calibri"/>
              </a:rPr>
              <a:t>	</a:t>
            </a:r>
            <a:r>
              <a:rPr sz="2800" spc="-50" dirty="0">
                <a:latin typeface="Calibri"/>
                <a:cs typeface="Calibri"/>
              </a:rPr>
              <a:t>d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91539" y="2308301"/>
            <a:ext cx="10374630" cy="273939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64795" marR="417195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66700" algn="l"/>
                <a:tab pos="301688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same</a:t>
            </a:r>
            <a:r>
              <a:rPr sz="2800" dirty="0">
                <a:latin typeface="Calibri"/>
                <a:cs typeface="Calibri"/>
              </a:rPr>
              <a:t>	approach,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guaranteed</a:t>
            </a:r>
            <a:r>
              <a:rPr sz="2800" spc="2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60" dirty="0">
                <a:latin typeface="Calibri"/>
                <a:cs typeface="Calibri"/>
              </a:rPr>
              <a:t> </a:t>
            </a:r>
            <a:r>
              <a:rPr sz="2800" spc="105" dirty="0">
                <a:latin typeface="Calibri"/>
                <a:cs typeface="Calibri"/>
              </a:rPr>
              <a:t>will 	</a:t>
            </a:r>
            <a:r>
              <a:rPr sz="2800" dirty="0">
                <a:latin typeface="Calibri"/>
                <a:cs typeface="Calibri"/>
              </a:rPr>
              <a:t>be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moving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down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hill,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speak</a:t>
            </a:r>
            <a:endParaRPr sz="2800">
              <a:latin typeface="Calibri"/>
              <a:cs typeface="Calibri"/>
            </a:endParaRPr>
          </a:p>
          <a:p>
            <a:pPr marL="7226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update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rule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defines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>
              <a:latin typeface="Calibri"/>
              <a:cs typeface="Calibri"/>
            </a:endParaRPr>
          </a:p>
          <a:p>
            <a:pPr marL="722630" lvl="1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derivative</a:t>
            </a:r>
            <a:endParaRPr sz="2400">
              <a:latin typeface="Calibri"/>
              <a:cs typeface="Calibri"/>
            </a:endParaRPr>
          </a:p>
          <a:p>
            <a:pPr marL="7226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50" dirty="0">
                <a:latin typeface="Calibri"/>
                <a:cs typeface="Calibri"/>
              </a:rPr>
              <a:t>Some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variations</a:t>
            </a:r>
            <a:r>
              <a:rPr sz="2400" spc="2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descent</a:t>
            </a:r>
            <a:r>
              <a:rPr sz="2400" spc="3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second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derivatives,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however,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that</a:t>
            </a:r>
            <a:endParaRPr sz="2400">
              <a:latin typeface="Calibri"/>
              <a:cs typeface="Calibri"/>
            </a:endParaRPr>
          </a:p>
          <a:p>
            <a:pPr marL="723900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blows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complexity</a:t>
            </a:r>
            <a:endParaRPr sz="2400">
              <a:latin typeface="Calibri"/>
              <a:cs typeface="Calibri"/>
            </a:endParaRPr>
          </a:p>
          <a:p>
            <a:pPr marL="7226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10</a:t>
            </a:r>
            <a:r>
              <a:rPr sz="2400" spc="112" baseline="24305" dirty="0">
                <a:latin typeface="Calibri"/>
                <a:cs typeface="Calibri"/>
              </a:rPr>
              <a:t>6</a:t>
            </a:r>
            <a:r>
              <a:rPr sz="2400" spc="525" baseline="24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might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10</a:t>
            </a:r>
            <a:r>
              <a:rPr sz="2400" spc="97" baseline="24305" dirty="0">
                <a:latin typeface="Calibri"/>
                <a:cs typeface="Calibri"/>
              </a:rPr>
              <a:t>12</a:t>
            </a:r>
            <a:r>
              <a:rPr sz="2400" spc="555" baseline="24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second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derivatives…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49197" y="1410970"/>
            <a:ext cx="7150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22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960880" y="1252473"/>
            <a:ext cx="2324100" cy="777240"/>
          </a:xfrm>
          <a:custGeom>
            <a:avLst/>
            <a:gdLst/>
            <a:ahLst/>
            <a:cxnLst/>
            <a:rect l="l" t="t" r="r" b="b"/>
            <a:pathLst>
              <a:path w="2324100" h="777239">
                <a:moveTo>
                  <a:pt x="140081" y="11176"/>
                </a:moveTo>
                <a:lnTo>
                  <a:pt x="104089" y="29413"/>
                </a:lnTo>
                <a:lnTo>
                  <a:pt x="78232" y="65252"/>
                </a:lnTo>
                <a:lnTo>
                  <a:pt x="55511" y="107518"/>
                </a:lnTo>
                <a:lnTo>
                  <a:pt x="35941" y="156210"/>
                </a:lnTo>
                <a:lnTo>
                  <a:pt x="22974" y="198716"/>
                </a:lnTo>
                <a:lnTo>
                  <a:pt x="12915" y="243166"/>
                </a:lnTo>
                <a:lnTo>
                  <a:pt x="5727" y="289560"/>
                </a:lnTo>
                <a:lnTo>
                  <a:pt x="1422" y="337870"/>
                </a:lnTo>
                <a:lnTo>
                  <a:pt x="0" y="388239"/>
                </a:lnTo>
                <a:lnTo>
                  <a:pt x="1422" y="437730"/>
                </a:lnTo>
                <a:lnTo>
                  <a:pt x="5727" y="485673"/>
                </a:lnTo>
                <a:lnTo>
                  <a:pt x="12915" y="531964"/>
                </a:lnTo>
                <a:lnTo>
                  <a:pt x="22974" y="576618"/>
                </a:lnTo>
                <a:lnTo>
                  <a:pt x="35941" y="619633"/>
                </a:lnTo>
                <a:lnTo>
                  <a:pt x="55511" y="668997"/>
                </a:lnTo>
                <a:lnTo>
                  <a:pt x="78232" y="711708"/>
                </a:lnTo>
                <a:lnTo>
                  <a:pt x="104089" y="747763"/>
                </a:lnTo>
                <a:lnTo>
                  <a:pt x="133096" y="777113"/>
                </a:lnTo>
                <a:lnTo>
                  <a:pt x="140081" y="766191"/>
                </a:lnTo>
                <a:lnTo>
                  <a:pt x="115189" y="736257"/>
                </a:lnTo>
                <a:lnTo>
                  <a:pt x="93319" y="700366"/>
                </a:lnTo>
                <a:lnTo>
                  <a:pt x="74472" y="658482"/>
                </a:lnTo>
                <a:lnTo>
                  <a:pt x="58674" y="610616"/>
                </a:lnTo>
                <a:lnTo>
                  <a:pt x="46164" y="558571"/>
                </a:lnTo>
                <a:lnTo>
                  <a:pt x="37236" y="504151"/>
                </a:lnTo>
                <a:lnTo>
                  <a:pt x="31877" y="447370"/>
                </a:lnTo>
                <a:lnTo>
                  <a:pt x="30099" y="388239"/>
                </a:lnTo>
                <a:lnTo>
                  <a:pt x="31877" y="328002"/>
                </a:lnTo>
                <a:lnTo>
                  <a:pt x="37236" y="270687"/>
                </a:lnTo>
                <a:lnTo>
                  <a:pt x="46164" y="216319"/>
                </a:lnTo>
                <a:lnTo>
                  <a:pt x="58674" y="164846"/>
                </a:lnTo>
                <a:lnTo>
                  <a:pt x="74536" y="117754"/>
                </a:lnTo>
                <a:lnTo>
                  <a:pt x="93370" y="76441"/>
                </a:lnTo>
                <a:lnTo>
                  <a:pt x="115214" y="40932"/>
                </a:lnTo>
                <a:lnTo>
                  <a:pt x="140081" y="11176"/>
                </a:lnTo>
                <a:close/>
              </a:path>
              <a:path w="2324100" h="777239">
                <a:moveTo>
                  <a:pt x="616585" y="379730"/>
                </a:moveTo>
                <a:lnTo>
                  <a:pt x="150241" y="379730"/>
                </a:lnTo>
                <a:lnTo>
                  <a:pt x="150241" y="399542"/>
                </a:lnTo>
                <a:lnTo>
                  <a:pt x="616585" y="399542"/>
                </a:lnTo>
                <a:lnTo>
                  <a:pt x="616585" y="379730"/>
                </a:lnTo>
                <a:close/>
              </a:path>
              <a:path w="2324100" h="777239">
                <a:moveTo>
                  <a:pt x="2323960" y="388239"/>
                </a:moveTo>
                <a:lnTo>
                  <a:pt x="2322538" y="337870"/>
                </a:lnTo>
                <a:lnTo>
                  <a:pt x="2318232" y="289560"/>
                </a:lnTo>
                <a:lnTo>
                  <a:pt x="2311044" y="243166"/>
                </a:lnTo>
                <a:lnTo>
                  <a:pt x="2300986" y="198716"/>
                </a:lnTo>
                <a:lnTo>
                  <a:pt x="2288032" y="156210"/>
                </a:lnTo>
                <a:lnTo>
                  <a:pt x="2268524" y="107518"/>
                </a:lnTo>
                <a:lnTo>
                  <a:pt x="2245842" y="65252"/>
                </a:lnTo>
                <a:lnTo>
                  <a:pt x="2219998" y="29413"/>
                </a:lnTo>
                <a:lnTo>
                  <a:pt x="2191004" y="0"/>
                </a:lnTo>
                <a:lnTo>
                  <a:pt x="2184019" y="11176"/>
                </a:lnTo>
                <a:lnTo>
                  <a:pt x="2208746" y="40932"/>
                </a:lnTo>
                <a:lnTo>
                  <a:pt x="2230539" y="76441"/>
                </a:lnTo>
                <a:lnTo>
                  <a:pt x="2249360" y="117754"/>
                </a:lnTo>
                <a:lnTo>
                  <a:pt x="2265172" y="164846"/>
                </a:lnTo>
                <a:lnTo>
                  <a:pt x="2277757" y="216319"/>
                </a:lnTo>
                <a:lnTo>
                  <a:pt x="2286774" y="270687"/>
                </a:lnTo>
                <a:lnTo>
                  <a:pt x="2292185" y="328002"/>
                </a:lnTo>
                <a:lnTo>
                  <a:pt x="2294001" y="388239"/>
                </a:lnTo>
                <a:lnTo>
                  <a:pt x="2292210" y="447370"/>
                </a:lnTo>
                <a:lnTo>
                  <a:pt x="2286851" y="504151"/>
                </a:lnTo>
                <a:lnTo>
                  <a:pt x="2277922" y="558571"/>
                </a:lnTo>
                <a:lnTo>
                  <a:pt x="2265426" y="610616"/>
                </a:lnTo>
                <a:lnTo>
                  <a:pt x="2249614" y="658482"/>
                </a:lnTo>
                <a:lnTo>
                  <a:pt x="2230767" y="700366"/>
                </a:lnTo>
                <a:lnTo>
                  <a:pt x="2208898" y="736257"/>
                </a:lnTo>
                <a:lnTo>
                  <a:pt x="2184019" y="766191"/>
                </a:lnTo>
                <a:lnTo>
                  <a:pt x="2191004" y="777113"/>
                </a:lnTo>
                <a:lnTo>
                  <a:pt x="2219998" y="747763"/>
                </a:lnTo>
                <a:lnTo>
                  <a:pt x="2245842" y="711708"/>
                </a:lnTo>
                <a:lnTo>
                  <a:pt x="2268524" y="668997"/>
                </a:lnTo>
                <a:lnTo>
                  <a:pt x="2288032" y="619633"/>
                </a:lnTo>
                <a:lnTo>
                  <a:pt x="2300986" y="576618"/>
                </a:lnTo>
                <a:lnTo>
                  <a:pt x="2311044" y="531964"/>
                </a:lnTo>
                <a:lnTo>
                  <a:pt x="2318232" y="485673"/>
                </a:lnTo>
                <a:lnTo>
                  <a:pt x="2322538" y="437730"/>
                </a:lnTo>
                <a:lnTo>
                  <a:pt x="2323960" y="388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148967" y="1180846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98675" y="1614881"/>
            <a:ext cx="3479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40" dirty="0">
                <a:latin typeface="Cambria Math"/>
                <a:cs typeface="Cambria Math"/>
              </a:rPr>
              <a:t>𝜕</a:t>
            </a:r>
            <a:r>
              <a:rPr sz="2400" spc="-835" dirty="0">
                <a:latin typeface="Cambria Math"/>
                <a:cs typeface="Cambria Math"/>
              </a:rPr>
              <a:t>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423286" y="1759661"/>
            <a:ext cx="14224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425" dirty="0">
                <a:latin typeface="Cambria Math"/>
                <a:cs typeface="Cambria Math"/>
              </a:rPr>
              <a:t>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15310" y="1410970"/>
            <a:ext cx="882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,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740532" y="1632204"/>
            <a:ext cx="474345" cy="20320"/>
          </a:xfrm>
          <a:custGeom>
            <a:avLst/>
            <a:gdLst/>
            <a:ahLst/>
            <a:cxnLst/>
            <a:rect l="l" t="t" r="r" b="b"/>
            <a:pathLst>
              <a:path w="474344" h="20319">
                <a:moveTo>
                  <a:pt x="473963" y="0"/>
                </a:moveTo>
                <a:lnTo>
                  <a:pt x="0" y="0"/>
                </a:lnTo>
                <a:lnTo>
                  <a:pt x="0" y="19812"/>
                </a:lnTo>
                <a:lnTo>
                  <a:pt x="473963" y="19812"/>
                </a:lnTo>
                <a:lnTo>
                  <a:pt x="4739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81680" y="1180846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728341" y="1614881"/>
            <a:ext cx="3479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060573" y="1759661"/>
            <a:ext cx="14224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560" dirty="0">
                <a:latin typeface="Cambria Math"/>
                <a:cs typeface="Cambria Math"/>
              </a:rPr>
              <a:t>2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251073" y="1410970"/>
            <a:ext cx="367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,</a:t>
            </a:r>
            <a:r>
              <a:rPr sz="2400" spc="-13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…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3656457" y="1632204"/>
            <a:ext cx="478790" cy="20320"/>
          </a:xfrm>
          <a:custGeom>
            <a:avLst/>
            <a:gdLst/>
            <a:ahLst/>
            <a:cxnLst/>
            <a:rect l="l" t="t" r="r" b="b"/>
            <a:pathLst>
              <a:path w="478789" h="20319">
                <a:moveTo>
                  <a:pt x="478536" y="0"/>
                </a:moveTo>
                <a:lnTo>
                  <a:pt x="0" y="0"/>
                </a:lnTo>
                <a:lnTo>
                  <a:pt x="0" y="19812"/>
                </a:lnTo>
                <a:lnTo>
                  <a:pt x="478536" y="19812"/>
                </a:lnTo>
                <a:lnTo>
                  <a:pt x="47853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700653" y="1180846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644265" y="1614881"/>
            <a:ext cx="34798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𝜕𝑣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61257" y="1759661"/>
            <a:ext cx="17018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80" dirty="0">
                <a:latin typeface="Cambria Math"/>
                <a:cs typeface="Cambria Math"/>
              </a:rPr>
              <a:t>𝑛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98060" y="1086358"/>
            <a:ext cx="16256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𝑇</a:t>
            </a:r>
            <a:endParaRPr sz="17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0" dirty="0"/>
              <a:t>Using</a:t>
            </a:r>
            <a:r>
              <a:rPr spc="165" dirty="0"/>
              <a:t> </a:t>
            </a:r>
            <a:r>
              <a:rPr dirty="0"/>
              <a:t>Gradient</a:t>
            </a:r>
            <a:r>
              <a:rPr spc="160" dirty="0"/>
              <a:t> </a:t>
            </a:r>
            <a:r>
              <a:rPr spc="45" dirty="0"/>
              <a:t>Descent</a:t>
            </a:r>
            <a:r>
              <a:rPr spc="140" dirty="0"/>
              <a:t> </a:t>
            </a:r>
            <a:r>
              <a:rPr spc="80" dirty="0"/>
              <a:t>in</a:t>
            </a:r>
            <a:r>
              <a:rPr spc="160" dirty="0"/>
              <a:t> </a:t>
            </a:r>
            <a:r>
              <a:rPr dirty="0"/>
              <a:t>a</a:t>
            </a:r>
            <a:r>
              <a:rPr spc="170" dirty="0"/>
              <a:t> </a:t>
            </a:r>
            <a:r>
              <a:rPr spc="55" dirty="0"/>
              <a:t>neural</a:t>
            </a:r>
            <a:r>
              <a:rPr spc="14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7666" y="1061085"/>
            <a:ext cx="10006965" cy="8356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40029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1300" algn="l"/>
              </a:tabLst>
            </a:pPr>
            <a:r>
              <a:rPr sz="2800" spc="75" dirty="0">
                <a:latin typeface="Calibri"/>
                <a:cs typeface="Calibri"/>
              </a:rPr>
              <a:t>In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neural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network,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weights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(w)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and 	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biases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(b)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189853" y="2936620"/>
            <a:ext cx="539750" cy="20320"/>
          </a:xfrm>
          <a:custGeom>
            <a:avLst/>
            <a:gdLst/>
            <a:ahLst/>
            <a:cxnLst/>
            <a:rect l="l" t="t" r="r" b="b"/>
            <a:pathLst>
              <a:path w="539750" h="20319">
                <a:moveTo>
                  <a:pt x="539496" y="0"/>
                </a:moveTo>
                <a:lnTo>
                  <a:pt x="0" y="0"/>
                </a:lnTo>
                <a:lnTo>
                  <a:pt x="0" y="19812"/>
                </a:lnTo>
                <a:lnTo>
                  <a:pt x="539496" y="19812"/>
                </a:lnTo>
                <a:lnTo>
                  <a:pt x="53949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48379" y="2485390"/>
            <a:ext cx="3118485" cy="6769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0480" algn="r">
              <a:lnSpc>
                <a:spcPts val="2345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  <a:p>
            <a:pPr marL="63500">
              <a:lnSpc>
                <a:spcPts val="1515"/>
              </a:lnSpc>
              <a:tabLst>
                <a:tab pos="584200" algn="l"/>
                <a:tab pos="1378585" algn="l"/>
                <a:tab pos="2127885" algn="l"/>
              </a:tabLst>
            </a:pPr>
            <a:r>
              <a:rPr sz="2400" spc="-25" dirty="0">
                <a:latin typeface="Cambria Math"/>
                <a:cs typeface="Cambria Math"/>
              </a:rPr>
              <a:t>𝑤</a:t>
            </a:r>
            <a:r>
              <a:rPr sz="2625" spc="-37" baseline="-15873" dirty="0">
                <a:latin typeface="Cambria Math"/>
                <a:cs typeface="Cambria Math"/>
              </a:rPr>
              <a:t>𝑘</a:t>
            </a:r>
            <a:r>
              <a:rPr sz="2625" baseline="-15873" dirty="0">
                <a:latin typeface="Cambria Math"/>
                <a:cs typeface="Cambria Math"/>
              </a:rPr>
              <a:t>	</a:t>
            </a:r>
            <a:r>
              <a:rPr sz="2400" dirty="0">
                <a:latin typeface="Cambria Math"/>
                <a:cs typeface="Cambria Math"/>
              </a:rPr>
              <a:t>→</a:t>
            </a:r>
            <a:r>
              <a:rPr sz="2400" spc="130" dirty="0">
                <a:latin typeface="Cambria Math"/>
                <a:cs typeface="Cambria Math"/>
              </a:rPr>
              <a:t> </a:t>
            </a:r>
            <a:r>
              <a:rPr sz="2400" spc="120" dirty="0">
                <a:latin typeface="Cambria Math"/>
                <a:cs typeface="Cambria Math"/>
              </a:rPr>
              <a:t>𝑤</a:t>
            </a:r>
            <a:r>
              <a:rPr sz="2625" spc="179" baseline="30158" dirty="0">
                <a:latin typeface="Cambria Math"/>
                <a:cs typeface="Cambria Math"/>
              </a:rPr>
              <a:t>′</a:t>
            </a:r>
            <a:r>
              <a:rPr sz="2625" baseline="30158" dirty="0">
                <a:latin typeface="Cambria Math"/>
                <a:cs typeface="Cambria Math"/>
              </a:rPr>
              <a:t>	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3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𝑤</a:t>
            </a:r>
            <a:r>
              <a:rPr sz="2400" dirty="0">
                <a:latin typeface="Cambria Math"/>
                <a:cs typeface="Cambria Math"/>
              </a:rPr>
              <a:t>	−</a:t>
            </a:r>
            <a:r>
              <a:rPr sz="2400" spc="-1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𝛾</a:t>
            </a:r>
            <a:endParaRPr sz="2400">
              <a:latin typeface="Cambria Math"/>
              <a:cs typeface="Cambria Math"/>
            </a:endParaRPr>
          </a:p>
          <a:p>
            <a:pPr marL="61594" algn="ctr">
              <a:lnSpc>
                <a:spcPts val="1265"/>
              </a:lnSpc>
              <a:tabLst>
                <a:tab pos="828040" algn="l"/>
              </a:tabLst>
            </a:pPr>
            <a:r>
              <a:rPr sz="1750" spc="45" dirty="0">
                <a:latin typeface="Cambria Math"/>
                <a:cs typeface="Cambria Math"/>
              </a:rPr>
              <a:t>𝑘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2625" spc="67" baseline="1587" dirty="0">
                <a:latin typeface="Cambria Math"/>
                <a:cs typeface="Cambria Math"/>
              </a:rPr>
              <a:t>𝑘</a:t>
            </a:r>
            <a:endParaRPr sz="2625" baseline="1587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2641" y="2920110"/>
            <a:ext cx="594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𝜕𝑤</a:t>
            </a:r>
            <a:r>
              <a:rPr sz="2625" spc="-37" baseline="-15873" dirty="0">
                <a:latin typeface="Cambria Math"/>
                <a:cs typeface="Cambria Math"/>
              </a:rPr>
              <a:t>𝑘</a:t>
            </a:r>
            <a:endParaRPr sz="2625" baseline="-15873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21684" y="3868292"/>
            <a:ext cx="104139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5" dirty="0">
                <a:latin typeface="Cambria Math"/>
                <a:cs typeface="Cambria Math"/>
              </a:rPr>
              <a:t>𝑙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85208" y="3685413"/>
            <a:ext cx="10477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0" dirty="0">
                <a:latin typeface="Cambria Math"/>
                <a:cs typeface="Cambria Math"/>
              </a:rPr>
              <a:t>′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6920" y="3877436"/>
            <a:ext cx="76708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75005" algn="l"/>
              </a:tabLst>
            </a:pPr>
            <a:r>
              <a:rPr sz="1750" spc="15" dirty="0">
                <a:latin typeface="Cambria Math"/>
                <a:cs typeface="Cambria Math"/>
              </a:rPr>
              <a:t>𝑙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2625" spc="22" baseline="1587" dirty="0">
                <a:latin typeface="Cambria Math"/>
                <a:cs typeface="Cambria Math"/>
              </a:rPr>
              <a:t>𝑙</a:t>
            </a:r>
            <a:endParaRPr sz="2625" baseline="1587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666235" y="3723513"/>
            <a:ext cx="2209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15925" algn="l"/>
                <a:tab pos="1108075" algn="l"/>
                <a:tab pos="1741805" algn="l"/>
              </a:tabLst>
            </a:pPr>
            <a:r>
              <a:rPr sz="2400" spc="-5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→</a:t>
            </a:r>
            <a:r>
              <a:rPr sz="2400" spc="12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=</a:t>
            </a:r>
            <a:r>
              <a:rPr sz="2400" spc="135" dirty="0">
                <a:latin typeface="Cambria Math"/>
                <a:cs typeface="Cambria Math"/>
              </a:rPr>
              <a:t> </a:t>
            </a:r>
            <a:r>
              <a:rPr sz="2400" spc="-6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−</a:t>
            </a:r>
            <a:r>
              <a:rPr sz="2400" spc="-1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𝛾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921628" y="3944239"/>
            <a:ext cx="424180" cy="20320"/>
          </a:xfrm>
          <a:custGeom>
            <a:avLst/>
            <a:gdLst/>
            <a:ahLst/>
            <a:cxnLst/>
            <a:rect l="l" t="t" r="r" b="b"/>
            <a:pathLst>
              <a:path w="424179" h="20320">
                <a:moveTo>
                  <a:pt x="423672" y="0"/>
                </a:moveTo>
                <a:lnTo>
                  <a:pt x="0" y="0"/>
                </a:lnTo>
                <a:lnTo>
                  <a:pt x="0" y="19812"/>
                </a:lnTo>
                <a:lnTo>
                  <a:pt x="423672" y="19812"/>
                </a:lnTo>
                <a:lnTo>
                  <a:pt x="4236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938773" y="3493389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884417" y="3927729"/>
            <a:ext cx="479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𝜕𝑏</a:t>
            </a:r>
            <a:r>
              <a:rPr sz="2625" spc="-37" baseline="-15873" dirty="0">
                <a:latin typeface="Cambria Math"/>
                <a:cs typeface="Cambria Math"/>
              </a:rPr>
              <a:t>𝑙</a:t>
            </a:r>
            <a:endParaRPr sz="2625" baseline="-15873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0" dirty="0"/>
              <a:t>Using</a:t>
            </a:r>
            <a:r>
              <a:rPr spc="165" dirty="0"/>
              <a:t> </a:t>
            </a:r>
            <a:r>
              <a:rPr dirty="0"/>
              <a:t>Gradient</a:t>
            </a:r>
            <a:r>
              <a:rPr spc="160" dirty="0"/>
              <a:t> </a:t>
            </a:r>
            <a:r>
              <a:rPr spc="45" dirty="0"/>
              <a:t>Descent</a:t>
            </a:r>
            <a:r>
              <a:rPr spc="140" dirty="0"/>
              <a:t> </a:t>
            </a:r>
            <a:r>
              <a:rPr spc="80" dirty="0"/>
              <a:t>in</a:t>
            </a:r>
            <a:r>
              <a:rPr spc="160" dirty="0"/>
              <a:t> </a:t>
            </a:r>
            <a:r>
              <a:rPr dirty="0"/>
              <a:t>a</a:t>
            </a:r>
            <a:r>
              <a:rPr spc="170" dirty="0"/>
              <a:t> </a:t>
            </a:r>
            <a:r>
              <a:rPr spc="55" dirty="0"/>
              <a:t>neural</a:t>
            </a:r>
            <a:r>
              <a:rPr spc="14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/>
          <p:nvPr/>
        </p:nvSpPr>
        <p:spPr>
          <a:xfrm>
            <a:off x="1739773" y="2407792"/>
            <a:ext cx="717550" cy="282575"/>
          </a:xfrm>
          <a:custGeom>
            <a:avLst/>
            <a:gdLst/>
            <a:ahLst/>
            <a:cxnLst/>
            <a:rect l="l" t="t" r="r" b="b"/>
            <a:pathLst>
              <a:path w="717550" h="282575">
                <a:moveTo>
                  <a:pt x="627507" y="0"/>
                </a:moveTo>
                <a:lnTo>
                  <a:pt x="623569" y="11557"/>
                </a:lnTo>
                <a:lnTo>
                  <a:pt x="639877" y="18631"/>
                </a:lnTo>
                <a:lnTo>
                  <a:pt x="653922" y="28432"/>
                </a:lnTo>
                <a:lnTo>
                  <a:pt x="682446" y="73925"/>
                </a:lnTo>
                <a:lnTo>
                  <a:pt x="690703" y="115466"/>
                </a:lnTo>
                <a:lnTo>
                  <a:pt x="691769" y="139827"/>
                </a:lnTo>
                <a:lnTo>
                  <a:pt x="690723" y="164707"/>
                </a:lnTo>
                <a:lnTo>
                  <a:pt x="682392" y="207656"/>
                </a:lnTo>
                <a:lnTo>
                  <a:pt x="653970" y="253857"/>
                </a:lnTo>
                <a:lnTo>
                  <a:pt x="623951" y="270891"/>
                </a:lnTo>
                <a:lnTo>
                  <a:pt x="627507" y="282321"/>
                </a:lnTo>
                <a:lnTo>
                  <a:pt x="666003" y="264302"/>
                </a:lnTo>
                <a:lnTo>
                  <a:pt x="694308" y="233045"/>
                </a:lnTo>
                <a:lnTo>
                  <a:pt x="711739" y="191150"/>
                </a:lnTo>
                <a:lnTo>
                  <a:pt x="717550" y="141351"/>
                </a:lnTo>
                <a:lnTo>
                  <a:pt x="716112" y="115732"/>
                </a:lnTo>
                <a:lnTo>
                  <a:pt x="716097" y="115466"/>
                </a:lnTo>
                <a:lnTo>
                  <a:pt x="704476" y="69556"/>
                </a:lnTo>
                <a:lnTo>
                  <a:pt x="681353" y="32164"/>
                </a:lnTo>
                <a:lnTo>
                  <a:pt x="647963" y="7435"/>
                </a:lnTo>
                <a:lnTo>
                  <a:pt x="627507" y="0"/>
                </a:lnTo>
                <a:close/>
              </a:path>
              <a:path w="717550" h="282575">
                <a:moveTo>
                  <a:pt x="90043" y="0"/>
                </a:moveTo>
                <a:lnTo>
                  <a:pt x="51641" y="18145"/>
                </a:lnTo>
                <a:lnTo>
                  <a:pt x="23240" y="49530"/>
                </a:lnTo>
                <a:lnTo>
                  <a:pt x="5810" y="91535"/>
                </a:lnTo>
                <a:lnTo>
                  <a:pt x="85" y="139827"/>
                </a:lnTo>
                <a:lnTo>
                  <a:pt x="0" y="141351"/>
                </a:lnTo>
                <a:lnTo>
                  <a:pt x="5810" y="191150"/>
                </a:lnTo>
                <a:lnTo>
                  <a:pt x="23240" y="233045"/>
                </a:lnTo>
                <a:lnTo>
                  <a:pt x="51546" y="264302"/>
                </a:lnTo>
                <a:lnTo>
                  <a:pt x="90043" y="282321"/>
                </a:lnTo>
                <a:lnTo>
                  <a:pt x="93599" y="270891"/>
                </a:lnTo>
                <a:lnTo>
                  <a:pt x="77531" y="263773"/>
                </a:lnTo>
                <a:lnTo>
                  <a:pt x="63642" y="253857"/>
                </a:lnTo>
                <a:lnTo>
                  <a:pt x="35210" y="207656"/>
                </a:lnTo>
                <a:lnTo>
                  <a:pt x="26828" y="164707"/>
                </a:lnTo>
                <a:lnTo>
                  <a:pt x="25845" y="141351"/>
                </a:lnTo>
                <a:lnTo>
                  <a:pt x="25781" y="139827"/>
                </a:lnTo>
                <a:lnTo>
                  <a:pt x="29972" y="93757"/>
                </a:lnTo>
                <a:lnTo>
                  <a:pt x="42544" y="56261"/>
                </a:lnTo>
                <a:lnTo>
                  <a:pt x="77799" y="18631"/>
                </a:lnTo>
                <a:lnTo>
                  <a:pt x="94106" y="11557"/>
                </a:lnTo>
                <a:lnTo>
                  <a:pt x="900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47416" y="2539110"/>
            <a:ext cx="347980" cy="20320"/>
          </a:xfrm>
          <a:custGeom>
            <a:avLst/>
            <a:gdLst/>
            <a:ahLst/>
            <a:cxnLst/>
            <a:rect l="l" t="t" r="r" b="b"/>
            <a:pathLst>
              <a:path w="347979" h="20319">
                <a:moveTo>
                  <a:pt x="347471" y="0"/>
                </a:moveTo>
                <a:lnTo>
                  <a:pt x="0" y="0"/>
                </a:lnTo>
                <a:lnTo>
                  <a:pt x="0" y="19812"/>
                </a:lnTo>
                <a:lnTo>
                  <a:pt x="347471" y="19812"/>
                </a:lnTo>
                <a:lnTo>
                  <a:pt x="3474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99566" y="1026641"/>
            <a:ext cx="10158730" cy="385445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781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78130" algn="l"/>
              </a:tabLst>
            </a:pPr>
            <a:r>
              <a:rPr sz="2800" dirty="0">
                <a:latin typeface="Calibri"/>
                <a:cs typeface="Calibri"/>
              </a:rPr>
              <a:t>How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would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actually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this?</a:t>
            </a:r>
            <a:endParaRPr sz="2800">
              <a:latin typeface="Calibri"/>
              <a:cs typeface="Calibri"/>
            </a:endParaRPr>
          </a:p>
          <a:p>
            <a:pPr marL="7346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34695" algn="l"/>
              </a:tabLst>
            </a:pPr>
            <a:r>
              <a:rPr sz="2400" dirty="0">
                <a:latin typeface="Calibri"/>
                <a:cs typeface="Calibri"/>
              </a:rPr>
              <a:t>Remember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cost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function</a:t>
            </a:r>
            <a:endParaRPr sz="2400">
              <a:latin typeface="Calibri"/>
              <a:cs typeface="Calibri"/>
            </a:endParaRPr>
          </a:p>
          <a:p>
            <a:pPr marL="2137410">
              <a:lnSpc>
                <a:spcPts val="2345"/>
              </a:lnSpc>
              <a:spcBef>
                <a:spcPts val="1614"/>
              </a:spcBef>
              <a:tabLst>
                <a:tab pos="4178935" algn="l"/>
              </a:tabLst>
            </a:pPr>
            <a:r>
              <a:rPr sz="2400" spc="-50" dirty="0">
                <a:latin typeface="Cambria Math"/>
                <a:cs typeface="Cambria Math"/>
              </a:rPr>
              <a:t>1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625" spc="-75" baseline="-19047" dirty="0">
                <a:latin typeface="Cambria Math"/>
                <a:cs typeface="Cambria Math"/>
              </a:rPr>
              <a:t>2</a:t>
            </a:r>
            <a:endParaRPr sz="2625" baseline="-19047">
              <a:latin typeface="Cambria Math"/>
              <a:cs typeface="Cambria Math"/>
            </a:endParaRPr>
          </a:p>
          <a:p>
            <a:pPr marL="616585">
              <a:lnSpc>
                <a:spcPts val="2345"/>
              </a:lnSpc>
              <a:tabLst>
                <a:tab pos="939800" algn="l"/>
                <a:tab pos="1670050" algn="l"/>
                <a:tab pos="2447290" algn="l"/>
              </a:tabLst>
            </a:pPr>
            <a:r>
              <a:rPr sz="2400" spc="-50" dirty="0">
                <a:latin typeface="Cambria Math"/>
                <a:cs typeface="Cambria Math"/>
              </a:rPr>
              <a:t>𝐶</a:t>
            </a:r>
            <a:r>
              <a:rPr sz="2400" dirty="0">
                <a:latin typeface="Cambria Math"/>
                <a:cs typeface="Cambria Math"/>
              </a:rPr>
              <a:t>	𝑤,</a:t>
            </a:r>
            <a:r>
              <a:rPr sz="2400" spc="-8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135" dirty="0">
                <a:latin typeface="Cambria Math"/>
                <a:cs typeface="Cambria Math"/>
              </a:rPr>
              <a:t>෍</a:t>
            </a:r>
            <a:r>
              <a:rPr sz="3600" spc="202" baseline="2314" dirty="0">
                <a:latin typeface="Cambria Math"/>
                <a:cs typeface="Cambria Math"/>
              </a:rPr>
              <a:t>ԡ</a:t>
            </a:r>
            <a:r>
              <a:rPr sz="2400" spc="135" dirty="0">
                <a:latin typeface="Cambria Math"/>
                <a:cs typeface="Cambria Math"/>
              </a:rPr>
              <a:t>𝑦(𝑥)−𝑎</a:t>
            </a:r>
            <a:r>
              <a:rPr sz="3600" spc="202" baseline="2314" dirty="0">
                <a:latin typeface="Cambria Math"/>
                <a:cs typeface="Cambria Math"/>
              </a:rPr>
              <a:t>ԡ</a:t>
            </a:r>
            <a:endParaRPr sz="3600" baseline="2314">
              <a:latin typeface="Cambria Math"/>
              <a:cs typeface="Cambria Math"/>
            </a:endParaRPr>
          </a:p>
          <a:p>
            <a:pPr marL="7346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734695" algn="l"/>
              </a:tabLst>
            </a:pPr>
            <a:r>
              <a:rPr sz="3600" baseline="2314" dirty="0">
                <a:latin typeface="Calibri"/>
                <a:cs typeface="Calibri"/>
              </a:rPr>
              <a:t>It’s</a:t>
            </a:r>
            <a:r>
              <a:rPr sz="3600" spc="187" baseline="2314" dirty="0">
                <a:latin typeface="Calibri"/>
                <a:cs typeface="Calibri"/>
              </a:rPr>
              <a:t> </a:t>
            </a:r>
            <a:r>
              <a:rPr sz="3600" baseline="2314" dirty="0">
                <a:latin typeface="Calibri"/>
                <a:cs typeface="Calibri"/>
              </a:rPr>
              <a:t>a</a:t>
            </a:r>
            <a:r>
              <a:rPr sz="3600" spc="195" baseline="2314" dirty="0">
                <a:latin typeface="Calibri"/>
                <a:cs typeface="Calibri"/>
              </a:rPr>
              <a:t> </a:t>
            </a:r>
            <a:r>
              <a:rPr sz="3600" spc="37" baseline="2314" dirty="0">
                <a:latin typeface="Calibri"/>
                <a:cs typeface="Calibri"/>
              </a:rPr>
              <a:t>func</a:t>
            </a:r>
            <a:r>
              <a:rPr sz="3600" spc="-330" baseline="2314" dirty="0">
                <a:latin typeface="Calibri"/>
                <a:cs typeface="Calibri"/>
              </a:rPr>
              <a:t>t</a:t>
            </a:r>
            <a:r>
              <a:rPr sz="3600" spc="-1589" baseline="33564" dirty="0">
                <a:latin typeface="Cambria Math"/>
                <a:cs typeface="Cambria Math"/>
              </a:rPr>
              <a:t>2</a:t>
            </a:r>
            <a:r>
              <a:rPr sz="3600" spc="37" baseline="2314" dirty="0">
                <a:latin typeface="Calibri"/>
                <a:cs typeface="Calibri"/>
              </a:rPr>
              <a:t>i</a:t>
            </a:r>
            <a:r>
              <a:rPr sz="3600" spc="-1222" baseline="2314" dirty="0">
                <a:latin typeface="Calibri"/>
                <a:cs typeface="Calibri"/>
              </a:rPr>
              <a:t>o</a:t>
            </a:r>
            <a:r>
              <a:rPr sz="3600" spc="-765" baseline="33564" dirty="0">
                <a:latin typeface="Cambria Math"/>
                <a:cs typeface="Cambria Math"/>
              </a:rPr>
              <a:t>𝑛</a:t>
            </a:r>
            <a:r>
              <a:rPr sz="3600" spc="37" baseline="2314" dirty="0">
                <a:latin typeface="Calibri"/>
                <a:cs typeface="Calibri"/>
              </a:rPr>
              <a:t>n</a:t>
            </a:r>
            <a:r>
              <a:rPr sz="3600" spc="172" baseline="2314" dirty="0">
                <a:latin typeface="Calibri"/>
                <a:cs typeface="Calibri"/>
              </a:rPr>
              <a:t> </a:t>
            </a:r>
            <a:r>
              <a:rPr sz="3600" spc="-1754" baseline="2314" dirty="0">
                <a:latin typeface="Calibri"/>
                <a:cs typeface="Calibri"/>
              </a:rPr>
              <a:t>o</a:t>
            </a:r>
            <a:r>
              <a:rPr sz="1750" spc="175" dirty="0">
                <a:latin typeface="Cambria Math"/>
                <a:cs typeface="Cambria Math"/>
              </a:rPr>
              <a:t>𝑥</a:t>
            </a:r>
            <a:r>
              <a:rPr sz="3600" spc="44" baseline="2314" dirty="0">
                <a:latin typeface="Calibri"/>
                <a:cs typeface="Calibri"/>
              </a:rPr>
              <a:t>f</a:t>
            </a:r>
            <a:r>
              <a:rPr sz="3600" spc="202" baseline="2314" dirty="0">
                <a:latin typeface="Calibri"/>
                <a:cs typeface="Calibri"/>
              </a:rPr>
              <a:t> </a:t>
            </a:r>
            <a:r>
              <a:rPr sz="3600" spc="157" baseline="2314" dirty="0">
                <a:latin typeface="Calibri"/>
                <a:cs typeface="Calibri"/>
              </a:rPr>
              <a:t>all</a:t>
            </a:r>
            <a:r>
              <a:rPr sz="3600" spc="202" baseline="2314" dirty="0">
                <a:latin typeface="Calibri"/>
                <a:cs typeface="Calibri"/>
              </a:rPr>
              <a:t> </a:t>
            </a:r>
            <a:r>
              <a:rPr sz="3600" baseline="2314" dirty="0">
                <a:latin typeface="Calibri"/>
                <a:cs typeface="Calibri"/>
              </a:rPr>
              <a:t>the</a:t>
            </a:r>
            <a:r>
              <a:rPr sz="3600" spc="202" baseline="2314" dirty="0">
                <a:latin typeface="Calibri"/>
                <a:cs typeface="Calibri"/>
              </a:rPr>
              <a:t> </a:t>
            </a:r>
            <a:r>
              <a:rPr sz="3600" baseline="2314" dirty="0">
                <a:latin typeface="Calibri"/>
                <a:cs typeface="Calibri"/>
              </a:rPr>
              <a:t>inputs</a:t>
            </a:r>
            <a:r>
              <a:rPr sz="3600" spc="179" baseline="2314" dirty="0">
                <a:latin typeface="Calibri"/>
                <a:cs typeface="Calibri"/>
              </a:rPr>
              <a:t> </a:t>
            </a:r>
            <a:r>
              <a:rPr sz="3600" baseline="2314" dirty="0">
                <a:latin typeface="Calibri"/>
                <a:cs typeface="Calibri"/>
              </a:rPr>
              <a:t>over</a:t>
            </a:r>
            <a:r>
              <a:rPr sz="3600" spc="217" baseline="2314" dirty="0">
                <a:latin typeface="Calibri"/>
                <a:cs typeface="Calibri"/>
              </a:rPr>
              <a:t> </a:t>
            </a:r>
            <a:r>
              <a:rPr sz="3600" baseline="2314" dirty="0">
                <a:latin typeface="Calibri"/>
                <a:cs typeface="Calibri"/>
              </a:rPr>
              <a:t>the</a:t>
            </a:r>
            <a:r>
              <a:rPr sz="3600" spc="202" baseline="2314" dirty="0">
                <a:latin typeface="Calibri"/>
                <a:cs typeface="Calibri"/>
              </a:rPr>
              <a:t> </a:t>
            </a:r>
            <a:r>
              <a:rPr sz="3600" spc="82" baseline="2314" dirty="0">
                <a:latin typeface="Calibri"/>
                <a:cs typeface="Calibri"/>
              </a:rPr>
              <a:t>training</a:t>
            </a:r>
            <a:r>
              <a:rPr sz="3600" spc="165" baseline="2314" dirty="0">
                <a:latin typeface="Calibri"/>
                <a:cs typeface="Calibri"/>
              </a:rPr>
              <a:t> </a:t>
            </a:r>
            <a:r>
              <a:rPr sz="3600" spc="82" baseline="2314" dirty="0">
                <a:latin typeface="Calibri"/>
                <a:cs typeface="Calibri"/>
              </a:rPr>
              <a:t>examples</a:t>
            </a:r>
            <a:r>
              <a:rPr sz="3600" spc="225" baseline="2314" dirty="0">
                <a:latin typeface="Calibri"/>
                <a:cs typeface="Calibri"/>
              </a:rPr>
              <a:t> </a:t>
            </a:r>
            <a:r>
              <a:rPr sz="3600" spc="-37" baseline="2314" dirty="0">
                <a:latin typeface="Calibri"/>
                <a:cs typeface="Calibri"/>
              </a:rPr>
              <a:t>set</a:t>
            </a:r>
            <a:endParaRPr sz="3600" baseline="2314">
              <a:latin typeface="Calibri"/>
              <a:cs typeface="Calibri"/>
            </a:endParaRPr>
          </a:p>
          <a:p>
            <a:pPr marL="734695" marR="43180" lvl="1" indent="-227329">
              <a:lnSpc>
                <a:spcPts val="2590"/>
              </a:lnSpc>
              <a:spcBef>
                <a:spcPts val="455"/>
              </a:spcBef>
              <a:buFont typeface="Arial"/>
              <a:buChar char="•"/>
              <a:tabLst>
                <a:tab pos="735965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means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gradients 	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all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average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them</a:t>
            </a:r>
            <a:endParaRPr sz="2400">
              <a:latin typeface="Calibri"/>
              <a:cs typeface="Calibri"/>
            </a:endParaRPr>
          </a:p>
          <a:p>
            <a:pPr marL="1193165" lvl="2" indent="-228600">
              <a:lnSpc>
                <a:spcPct val="100000"/>
              </a:lnSpc>
              <a:spcBef>
                <a:spcPts val="244"/>
              </a:spcBef>
              <a:buFont typeface="Arial"/>
              <a:buChar char="•"/>
              <a:tabLst>
                <a:tab pos="1193165" algn="l"/>
              </a:tabLst>
            </a:pPr>
            <a:r>
              <a:rPr sz="2000" spc="-25" dirty="0">
                <a:latin typeface="Calibri"/>
                <a:cs typeface="Calibri"/>
              </a:rPr>
              <a:t>We’ve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got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ton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inputs…this</a:t>
            </a:r>
            <a:r>
              <a:rPr sz="2000" spc="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could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take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75" dirty="0">
                <a:latin typeface="Calibri"/>
                <a:cs typeface="Calibri"/>
              </a:rPr>
              <a:t>long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time,</a:t>
            </a:r>
            <a:r>
              <a:rPr sz="2000" spc="-80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slowing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learning.</a:t>
            </a:r>
            <a:endParaRPr sz="2000">
              <a:latin typeface="Calibri"/>
              <a:cs typeface="Calibri"/>
            </a:endParaRPr>
          </a:p>
          <a:p>
            <a:pPr marL="7346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73469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do?</a:t>
            </a:r>
            <a:endParaRPr sz="2400">
              <a:latin typeface="Calibri"/>
              <a:cs typeface="Calibri"/>
            </a:endParaRPr>
          </a:p>
          <a:p>
            <a:pPr marL="11931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93165" algn="l"/>
              </a:tabLst>
            </a:pPr>
            <a:r>
              <a:rPr sz="2000" dirty="0">
                <a:latin typeface="Calibri"/>
                <a:cs typeface="Calibri"/>
              </a:rPr>
              <a:t>Train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fewer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5" dirty="0"/>
              <a:t>Stochastic</a:t>
            </a:r>
            <a:r>
              <a:rPr spc="150" dirty="0"/>
              <a:t> </a:t>
            </a:r>
            <a:r>
              <a:rPr dirty="0"/>
              <a:t>Gradient</a:t>
            </a:r>
            <a:r>
              <a:rPr spc="265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2266" y="1026641"/>
            <a:ext cx="9798685" cy="299275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60" dirty="0">
                <a:latin typeface="Calibri"/>
                <a:cs typeface="Calibri"/>
              </a:rPr>
              <a:t>Stochastic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gradient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descent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says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ts val="2735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estimate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only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averaging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</a:t>
            </a:r>
            <a:endParaRPr sz="2400">
              <a:latin typeface="Calibri"/>
              <a:cs typeface="Calibri"/>
            </a:endParaRPr>
          </a:p>
          <a:p>
            <a:pPr marL="723265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randomly</a:t>
            </a:r>
            <a:r>
              <a:rPr sz="2400" spc="2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4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choose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subset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random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training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</a:tabLst>
            </a:pPr>
            <a:r>
              <a:rPr sz="2000" spc="60" dirty="0">
                <a:latin typeface="Calibri"/>
                <a:cs typeface="Calibri"/>
              </a:rPr>
              <a:t>Label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them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spc="100" dirty="0">
                <a:latin typeface="Calibri"/>
                <a:cs typeface="Calibri"/>
              </a:rPr>
              <a:t>X</a:t>
            </a:r>
            <a:r>
              <a:rPr sz="1950" spc="150" baseline="-21367" dirty="0">
                <a:latin typeface="Calibri"/>
                <a:cs typeface="Calibri"/>
              </a:rPr>
              <a:t>1</a:t>
            </a:r>
            <a:r>
              <a:rPr sz="2000" spc="100" dirty="0">
                <a:latin typeface="Calibri"/>
                <a:cs typeface="Calibri"/>
              </a:rPr>
              <a:t>,…,X</a:t>
            </a:r>
            <a:r>
              <a:rPr sz="1950" spc="150" baseline="-21367" dirty="0">
                <a:latin typeface="Calibri"/>
                <a:cs typeface="Calibri"/>
              </a:rPr>
              <a:t>m</a:t>
            </a:r>
            <a:r>
              <a:rPr sz="1950" spc="44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80" dirty="0">
                <a:latin typeface="Calibri"/>
                <a:cs typeface="Calibri"/>
              </a:rPr>
              <a:t>call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them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mini-</a:t>
            </a:r>
            <a:r>
              <a:rPr sz="2000" spc="-10" dirty="0">
                <a:latin typeface="Calibri"/>
                <a:cs typeface="Calibri"/>
              </a:rPr>
              <a:t>batch</a:t>
            </a:r>
            <a:endParaRPr sz="2000">
              <a:latin typeface="Calibri"/>
              <a:cs typeface="Calibri"/>
            </a:endParaRPr>
          </a:p>
          <a:p>
            <a:pPr marL="721995" marR="30480" lvl="1" indent="-227329">
              <a:lnSpc>
                <a:spcPts val="2590"/>
              </a:lnSpc>
              <a:spcBef>
                <a:spcPts val="520"/>
              </a:spcBef>
              <a:buFont typeface="Arial"/>
              <a:buChar char="•"/>
              <a:tabLst>
                <a:tab pos="723265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expect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long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too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average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value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mini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batch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roughly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same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average 	</a:t>
            </a:r>
            <a:r>
              <a:rPr sz="2400" spc="55" dirty="0">
                <a:latin typeface="Calibri"/>
                <a:cs typeface="Calibri"/>
              </a:rPr>
              <a:t>value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whole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set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311271" y="5000625"/>
            <a:ext cx="1303020" cy="20320"/>
          </a:xfrm>
          <a:custGeom>
            <a:avLst/>
            <a:gdLst/>
            <a:ahLst/>
            <a:cxnLst/>
            <a:rect l="l" t="t" r="r" b="b"/>
            <a:pathLst>
              <a:path w="1303020" h="20320">
                <a:moveTo>
                  <a:pt x="1303019" y="0"/>
                </a:moveTo>
                <a:lnTo>
                  <a:pt x="0" y="0"/>
                </a:lnTo>
                <a:lnTo>
                  <a:pt x="0" y="19812"/>
                </a:lnTo>
                <a:lnTo>
                  <a:pt x="1303019" y="19812"/>
                </a:lnTo>
                <a:lnTo>
                  <a:pt x="13030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15359" y="4685791"/>
            <a:ext cx="4273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50" dirty="0">
                <a:latin typeface="Cambria Math"/>
                <a:cs typeface="Cambria Math"/>
              </a:rPr>
              <a:t>𝑗=1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73552" y="4401769"/>
            <a:ext cx="5010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330" baseline="-20833" dirty="0">
                <a:latin typeface="Cambria Math"/>
                <a:cs typeface="Cambria Math"/>
              </a:rPr>
              <a:t>σ</a:t>
            </a:r>
            <a:r>
              <a:rPr sz="1750" spc="220" dirty="0">
                <a:latin typeface="Cambria Math"/>
                <a:cs typeface="Cambria Math"/>
              </a:rPr>
              <a:t>𝑚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32807" y="5000625"/>
            <a:ext cx="901065" cy="20320"/>
          </a:xfrm>
          <a:custGeom>
            <a:avLst/>
            <a:gdLst/>
            <a:ahLst/>
            <a:cxnLst/>
            <a:rect l="l" t="t" r="r" b="b"/>
            <a:pathLst>
              <a:path w="901064" h="20320">
                <a:moveTo>
                  <a:pt x="900683" y="0"/>
                </a:moveTo>
                <a:lnTo>
                  <a:pt x="0" y="0"/>
                </a:lnTo>
                <a:lnTo>
                  <a:pt x="0" y="19812"/>
                </a:lnTo>
                <a:lnTo>
                  <a:pt x="900683" y="19812"/>
                </a:lnTo>
                <a:lnTo>
                  <a:pt x="9006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137150" y="4694935"/>
            <a:ext cx="15748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40" dirty="0">
                <a:latin typeface="Cambria Math"/>
                <a:cs typeface="Cambria Math"/>
              </a:rPr>
              <a:t>𝑥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17188" y="4526737"/>
            <a:ext cx="182308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0"/>
              </a:spcBef>
              <a:tabLst>
                <a:tab pos="1016000" algn="l"/>
                <a:tab pos="1421130" algn="l"/>
              </a:tabLst>
            </a:pPr>
            <a:r>
              <a:rPr sz="2400" spc="-20" dirty="0">
                <a:latin typeface="Cambria Math"/>
                <a:cs typeface="Cambria Math"/>
              </a:rPr>
              <a:t>∇𝐶𝑥</a:t>
            </a:r>
            <a:r>
              <a:rPr sz="2625" spc="-30" baseline="-15873" dirty="0">
                <a:latin typeface="Cambria Math"/>
                <a:cs typeface="Cambria Math"/>
              </a:rPr>
              <a:t>𝑗</a:t>
            </a:r>
            <a:r>
              <a:rPr sz="2625" baseline="-15873" dirty="0">
                <a:latin typeface="Cambria Math"/>
                <a:cs typeface="Cambria Math"/>
              </a:rPr>
              <a:t>	</a:t>
            </a:r>
            <a:r>
              <a:rPr sz="3600" spc="397" baseline="-2314" dirty="0">
                <a:latin typeface="Cambria Math"/>
                <a:cs typeface="Cambria Math"/>
              </a:rPr>
              <a:t>σ</a:t>
            </a:r>
            <a:r>
              <a:rPr sz="3600" baseline="-2314" dirty="0">
                <a:latin typeface="Cambria Math"/>
                <a:cs typeface="Cambria Math"/>
              </a:rPr>
              <a:t>	</a:t>
            </a:r>
            <a:r>
              <a:rPr sz="3600" spc="-37" baseline="-4629" dirty="0">
                <a:latin typeface="Cambria Math"/>
                <a:cs typeface="Cambria Math"/>
              </a:rPr>
              <a:t>∇𝐶</a:t>
            </a:r>
            <a:endParaRPr sz="3600" baseline="-4629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20159" y="4984496"/>
            <a:ext cx="1660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472565" algn="l"/>
              </a:tabLst>
            </a:pPr>
            <a:r>
              <a:rPr sz="2400" spc="-50" dirty="0">
                <a:latin typeface="Cambria Math"/>
                <a:cs typeface="Cambria Math"/>
              </a:rPr>
              <a:t>𝑚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𝑛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627117" y="4780279"/>
            <a:ext cx="2017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1056005" algn="l"/>
              </a:tabLst>
            </a:pPr>
            <a:r>
              <a:rPr sz="2400" spc="-50" dirty="0">
                <a:latin typeface="Cambria Math"/>
                <a:cs typeface="Cambria Math"/>
              </a:rPr>
              <a:t>~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625" spc="135" baseline="41269" dirty="0">
                <a:latin typeface="Cambria Math"/>
                <a:cs typeface="Cambria Math"/>
              </a:rPr>
              <a:t>𝑥</a:t>
            </a:r>
            <a:r>
              <a:rPr sz="2625" spc="652" baseline="41269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∇𝐶</a:t>
            </a:r>
            <a:endParaRPr sz="24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5" dirty="0"/>
              <a:t>Stochastic</a:t>
            </a:r>
            <a:r>
              <a:rPr spc="150" dirty="0"/>
              <a:t> </a:t>
            </a:r>
            <a:r>
              <a:rPr dirty="0"/>
              <a:t>Gradient</a:t>
            </a:r>
            <a:r>
              <a:rPr spc="265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/>
          <p:nvPr/>
        </p:nvSpPr>
        <p:spPr>
          <a:xfrm>
            <a:off x="3534283" y="1796160"/>
            <a:ext cx="1303020" cy="20320"/>
          </a:xfrm>
          <a:custGeom>
            <a:avLst/>
            <a:gdLst/>
            <a:ahLst/>
            <a:cxnLst/>
            <a:rect l="l" t="t" r="r" b="b"/>
            <a:pathLst>
              <a:path w="1303020" h="20319">
                <a:moveTo>
                  <a:pt x="1303019" y="0"/>
                </a:moveTo>
                <a:lnTo>
                  <a:pt x="0" y="0"/>
                </a:lnTo>
                <a:lnTo>
                  <a:pt x="0" y="19812"/>
                </a:lnTo>
                <a:lnTo>
                  <a:pt x="1303019" y="19812"/>
                </a:lnTo>
                <a:lnTo>
                  <a:pt x="13030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37666" y="1779270"/>
            <a:ext cx="3733165" cy="795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51155" algn="r">
              <a:lnSpc>
                <a:spcPts val="279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𝑚</a:t>
            </a:r>
            <a:endParaRPr sz="2400">
              <a:latin typeface="Cambria Math"/>
              <a:cs typeface="Cambria Math"/>
            </a:endParaRPr>
          </a:p>
          <a:p>
            <a:pPr marL="240029" indent="-227329">
              <a:lnSpc>
                <a:spcPts val="3270"/>
              </a:lnSpc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rearrange,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get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738498" y="1480566"/>
            <a:ext cx="4273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50" dirty="0">
                <a:latin typeface="Cambria Math"/>
                <a:cs typeface="Cambria Math"/>
              </a:rPr>
              <a:t>𝑗=1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96690" y="1197102"/>
            <a:ext cx="501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330" baseline="-20833" dirty="0">
                <a:latin typeface="Cambria Math"/>
                <a:cs typeface="Cambria Math"/>
              </a:rPr>
              <a:t>σ</a:t>
            </a:r>
            <a:r>
              <a:rPr sz="1750" spc="220" dirty="0">
                <a:latin typeface="Cambria Math"/>
                <a:cs typeface="Cambria Math"/>
              </a:rPr>
              <a:t>𝑚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5403" y="1575053"/>
            <a:ext cx="2425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~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155819" y="1796160"/>
            <a:ext cx="901065" cy="20320"/>
          </a:xfrm>
          <a:custGeom>
            <a:avLst/>
            <a:gdLst/>
            <a:ahLst/>
            <a:cxnLst/>
            <a:rect l="l" t="t" r="r" b="b"/>
            <a:pathLst>
              <a:path w="901064" h="20319">
                <a:moveTo>
                  <a:pt x="900683" y="0"/>
                </a:moveTo>
                <a:lnTo>
                  <a:pt x="0" y="0"/>
                </a:lnTo>
                <a:lnTo>
                  <a:pt x="0" y="19812"/>
                </a:lnTo>
                <a:lnTo>
                  <a:pt x="900683" y="19812"/>
                </a:lnTo>
                <a:lnTo>
                  <a:pt x="9006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153027" y="1332738"/>
            <a:ext cx="12579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003300" algn="l"/>
              </a:tabLst>
            </a:pPr>
            <a:r>
              <a:rPr sz="3600" spc="-30" baseline="2314" dirty="0">
                <a:latin typeface="Cambria Math"/>
                <a:cs typeface="Cambria Math"/>
              </a:rPr>
              <a:t>∇𝐶𝑥</a:t>
            </a:r>
            <a:r>
              <a:rPr sz="2625" spc="-30" baseline="-12698" dirty="0">
                <a:latin typeface="Cambria Math"/>
                <a:cs typeface="Cambria Math"/>
              </a:rPr>
              <a:t>𝑗</a:t>
            </a:r>
            <a:r>
              <a:rPr sz="2625" baseline="-12698" dirty="0">
                <a:latin typeface="Cambria Math"/>
                <a:cs typeface="Cambria Math"/>
              </a:rPr>
              <a:t>	</a:t>
            </a:r>
            <a:r>
              <a:rPr sz="2400" spc="265" dirty="0">
                <a:latin typeface="Cambria Math"/>
                <a:cs typeface="Cambria Math"/>
              </a:rPr>
              <a:t>σ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360289" y="1489710"/>
            <a:ext cx="15748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40" dirty="0">
                <a:latin typeface="Cambria Math"/>
                <a:cs typeface="Cambria Math"/>
              </a:rPr>
              <a:t>𝑥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49265" y="1344929"/>
            <a:ext cx="3886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∇𝐶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03545" y="1779270"/>
            <a:ext cx="2006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𝑛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868289" y="1575053"/>
            <a:ext cx="9867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625" spc="135" baseline="41269" dirty="0">
                <a:latin typeface="Cambria Math"/>
                <a:cs typeface="Cambria Math"/>
              </a:rPr>
              <a:t>𝑥</a:t>
            </a:r>
            <a:r>
              <a:rPr sz="2625" spc="652" baseline="41269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sz="2400" spc="-35" dirty="0">
                <a:latin typeface="Cambria Math"/>
                <a:cs typeface="Cambria Math"/>
              </a:rPr>
              <a:t>∇𝐶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585080" y="3860291"/>
            <a:ext cx="260985" cy="20320"/>
          </a:xfrm>
          <a:custGeom>
            <a:avLst/>
            <a:gdLst/>
            <a:ahLst/>
            <a:cxnLst/>
            <a:rect l="l" t="t" r="r" b="b"/>
            <a:pathLst>
              <a:path w="260985" h="20320">
                <a:moveTo>
                  <a:pt x="260603" y="0"/>
                </a:moveTo>
                <a:lnTo>
                  <a:pt x="0" y="0"/>
                </a:lnTo>
                <a:lnTo>
                  <a:pt x="0" y="19811"/>
                </a:lnTo>
                <a:lnTo>
                  <a:pt x="260603" y="19811"/>
                </a:lnTo>
                <a:lnTo>
                  <a:pt x="260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618735" y="3409010"/>
            <a:ext cx="19494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1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861308" y="3639692"/>
            <a:ext cx="1454150" cy="595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245"/>
              </a:lnSpc>
              <a:spcBef>
                <a:spcPts val="100"/>
              </a:spcBef>
              <a:tabLst>
                <a:tab pos="1036319" algn="l"/>
              </a:tabLst>
            </a:pP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9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~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780" dirty="0">
                <a:latin typeface="Cambria Math"/>
                <a:cs typeface="Cambria Math"/>
              </a:rPr>
              <a:t>෍</a:t>
            </a:r>
            <a:endParaRPr sz="2400">
              <a:latin typeface="Cambria Math"/>
              <a:cs typeface="Cambria Math"/>
            </a:endParaRPr>
          </a:p>
          <a:p>
            <a:pPr marL="723900">
              <a:lnSpc>
                <a:spcPts val="2245"/>
              </a:lnSpc>
            </a:pPr>
            <a:r>
              <a:rPr sz="2400" spc="-50" dirty="0">
                <a:latin typeface="Cambria Math"/>
                <a:cs typeface="Cambria Math"/>
              </a:rPr>
              <a:t>𝑚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289296" y="3973448"/>
            <a:ext cx="42862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55" dirty="0">
                <a:latin typeface="Cambria Math"/>
                <a:cs typeface="Cambria Math"/>
              </a:rPr>
              <a:t>𝑗=1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289296" y="3412058"/>
            <a:ext cx="23431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125" dirty="0">
                <a:latin typeface="Cambria Math"/>
                <a:cs typeface="Cambria Math"/>
              </a:rPr>
              <a:t>𝑚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718047" y="3639692"/>
            <a:ext cx="6889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Cambria Math"/>
                <a:cs typeface="Cambria Math"/>
              </a:rPr>
              <a:t>∇𝐶𝑥</a:t>
            </a:r>
            <a:r>
              <a:rPr sz="2625" spc="-30" baseline="-15873" dirty="0">
                <a:latin typeface="Cambria Math"/>
                <a:cs typeface="Cambria Math"/>
              </a:rPr>
              <a:t>𝑗</a:t>
            </a:r>
            <a:endParaRPr sz="2625" baseline="-15873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0" dirty="0"/>
              <a:t>Using</a:t>
            </a:r>
            <a:r>
              <a:rPr spc="180" dirty="0"/>
              <a:t> </a:t>
            </a:r>
            <a:r>
              <a:rPr spc="65" dirty="0"/>
              <a:t>Stochastic</a:t>
            </a:r>
            <a:r>
              <a:rPr spc="80" dirty="0"/>
              <a:t> </a:t>
            </a:r>
            <a:r>
              <a:rPr dirty="0"/>
              <a:t>Gradient</a:t>
            </a:r>
            <a:r>
              <a:rPr spc="180" dirty="0"/>
              <a:t> </a:t>
            </a:r>
            <a:r>
              <a:rPr spc="45" dirty="0"/>
              <a:t>Descent</a:t>
            </a:r>
            <a:r>
              <a:rPr spc="150" dirty="0"/>
              <a:t> </a:t>
            </a:r>
            <a:r>
              <a:rPr spc="80" dirty="0"/>
              <a:t>in</a:t>
            </a:r>
            <a:r>
              <a:rPr spc="185" dirty="0"/>
              <a:t> </a:t>
            </a:r>
            <a:r>
              <a:rPr dirty="0"/>
              <a:t>our</a:t>
            </a:r>
            <a:r>
              <a:rPr spc="160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7666" y="3656838"/>
            <a:ext cx="85153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So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when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train,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pick</a:t>
            </a:r>
            <a:r>
              <a:rPr sz="2800" spc="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out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from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mini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batch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34283" y="1796160"/>
            <a:ext cx="1303020" cy="20320"/>
          </a:xfrm>
          <a:custGeom>
            <a:avLst/>
            <a:gdLst/>
            <a:ahLst/>
            <a:cxnLst/>
            <a:rect l="l" t="t" r="r" b="b"/>
            <a:pathLst>
              <a:path w="1303020" h="20319">
                <a:moveTo>
                  <a:pt x="1303019" y="0"/>
                </a:moveTo>
                <a:lnTo>
                  <a:pt x="0" y="0"/>
                </a:lnTo>
                <a:lnTo>
                  <a:pt x="0" y="19812"/>
                </a:lnTo>
                <a:lnTo>
                  <a:pt x="1303019" y="19812"/>
                </a:lnTo>
                <a:lnTo>
                  <a:pt x="13030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37666" y="1779270"/>
            <a:ext cx="3733165" cy="795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51155" algn="r">
              <a:lnSpc>
                <a:spcPts val="279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𝑚</a:t>
            </a:r>
            <a:endParaRPr sz="2400">
              <a:latin typeface="Cambria Math"/>
              <a:cs typeface="Cambria Math"/>
            </a:endParaRPr>
          </a:p>
          <a:p>
            <a:pPr marL="240029" indent="-227329">
              <a:lnSpc>
                <a:spcPts val="3270"/>
              </a:lnSpc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rearrange,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get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8498" y="1480566"/>
            <a:ext cx="4273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50" dirty="0">
                <a:latin typeface="Cambria Math"/>
                <a:cs typeface="Cambria Math"/>
              </a:rPr>
              <a:t>𝑗=1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96690" y="1197102"/>
            <a:ext cx="501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330" baseline="-20833" dirty="0">
                <a:latin typeface="Cambria Math"/>
                <a:cs typeface="Cambria Math"/>
              </a:rPr>
              <a:t>σ</a:t>
            </a:r>
            <a:r>
              <a:rPr sz="1750" spc="220" dirty="0">
                <a:latin typeface="Cambria Math"/>
                <a:cs typeface="Cambria Math"/>
              </a:rPr>
              <a:t>𝑚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875403" y="1575053"/>
            <a:ext cx="2425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~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155819" y="1796160"/>
            <a:ext cx="901065" cy="20320"/>
          </a:xfrm>
          <a:custGeom>
            <a:avLst/>
            <a:gdLst/>
            <a:ahLst/>
            <a:cxnLst/>
            <a:rect l="l" t="t" r="r" b="b"/>
            <a:pathLst>
              <a:path w="901064" h="20319">
                <a:moveTo>
                  <a:pt x="900683" y="0"/>
                </a:moveTo>
                <a:lnTo>
                  <a:pt x="0" y="0"/>
                </a:lnTo>
                <a:lnTo>
                  <a:pt x="0" y="19812"/>
                </a:lnTo>
                <a:lnTo>
                  <a:pt x="900683" y="19812"/>
                </a:lnTo>
                <a:lnTo>
                  <a:pt x="9006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153027" y="1332738"/>
            <a:ext cx="12579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003300" algn="l"/>
              </a:tabLst>
            </a:pPr>
            <a:r>
              <a:rPr sz="3600" spc="-30" baseline="2314" dirty="0">
                <a:latin typeface="Cambria Math"/>
                <a:cs typeface="Cambria Math"/>
              </a:rPr>
              <a:t>∇𝐶𝑥</a:t>
            </a:r>
            <a:r>
              <a:rPr sz="2625" spc="-30" baseline="-12698" dirty="0">
                <a:latin typeface="Cambria Math"/>
                <a:cs typeface="Cambria Math"/>
              </a:rPr>
              <a:t>𝑗</a:t>
            </a:r>
            <a:r>
              <a:rPr sz="2625" baseline="-12698" dirty="0">
                <a:latin typeface="Cambria Math"/>
                <a:cs typeface="Cambria Math"/>
              </a:rPr>
              <a:t>	</a:t>
            </a:r>
            <a:r>
              <a:rPr sz="2400" spc="265" dirty="0">
                <a:latin typeface="Cambria Math"/>
                <a:cs typeface="Cambria Math"/>
              </a:rPr>
              <a:t>σ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60289" y="1489710"/>
            <a:ext cx="15748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40" dirty="0">
                <a:latin typeface="Cambria Math"/>
                <a:cs typeface="Cambria Math"/>
              </a:rPr>
              <a:t>𝑥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49265" y="1344929"/>
            <a:ext cx="3886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∇𝐶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503545" y="1779270"/>
            <a:ext cx="2006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𝑛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868289" y="1575053"/>
            <a:ext cx="9867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625" spc="135" baseline="41269" dirty="0">
                <a:latin typeface="Cambria Math"/>
                <a:cs typeface="Cambria Math"/>
              </a:rPr>
              <a:t>𝑥</a:t>
            </a:r>
            <a:r>
              <a:rPr sz="2625" spc="652" baseline="41269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25" dirty="0">
                <a:latin typeface="Cambria Math"/>
                <a:cs typeface="Cambria Math"/>
              </a:rPr>
              <a:t> </a:t>
            </a:r>
            <a:r>
              <a:rPr sz="2400" spc="-35" dirty="0">
                <a:latin typeface="Cambria Math"/>
                <a:cs typeface="Cambria Math"/>
              </a:rPr>
              <a:t>∇𝐶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635627" y="3135502"/>
            <a:ext cx="260985" cy="20320"/>
          </a:xfrm>
          <a:custGeom>
            <a:avLst/>
            <a:gdLst/>
            <a:ahLst/>
            <a:cxnLst/>
            <a:rect l="l" t="t" r="r" b="b"/>
            <a:pathLst>
              <a:path w="260985" h="20319">
                <a:moveTo>
                  <a:pt x="260603" y="0"/>
                </a:moveTo>
                <a:lnTo>
                  <a:pt x="0" y="0"/>
                </a:lnTo>
                <a:lnTo>
                  <a:pt x="0" y="19812"/>
                </a:lnTo>
                <a:lnTo>
                  <a:pt x="260603" y="19812"/>
                </a:lnTo>
                <a:lnTo>
                  <a:pt x="2606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4669282" y="2684526"/>
            <a:ext cx="1943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mbria Math"/>
                <a:cs typeface="Cambria Math"/>
              </a:rPr>
              <a:t>1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911600" y="2914650"/>
            <a:ext cx="1454150" cy="595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245"/>
              </a:lnSpc>
              <a:spcBef>
                <a:spcPts val="100"/>
              </a:spcBef>
              <a:tabLst>
                <a:tab pos="1036955" algn="l"/>
              </a:tabLst>
            </a:pPr>
            <a:r>
              <a:rPr sz="2400" dirty="0">
                <a:latin typeface="Cambria Math"/>
                <a:cs typeface="Cambria Math"/>
              </a:rPr>
              <a:t>∇𝐶</a:t>
            </a:r>
            <a:r>
              <a:rPr sz="2400" spc="9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~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775" dirty="0">
                <a:latin typeface="Cambria Math"/>
                <a:cs typeface="Cambria Math"/>
              </a:rPr>
              <a:t>෍</a:t>
            </a:r>
            <a:endParaRPr sz="2400">
              <a:latin typeface="Cambria Math"/>
              <a:cs typeface="Cambria Math"/>
            </a:endParaRPr>
          </a:p>
          <a:p>
            <a:pPr marL="724535">
              <a:lnSpc>
                <a:spcPts val="2245"/>
              </a:lnSpc>
            </a:pPr>
            <a:r>
              <a:rPr sz="2400" spc="-50" dirty="0">
                <a:latin typeface="Cambria Math"/>
                <a:cs typeface="Cambria Math"/>
              </a:rPr>
              <a:t>𝑚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339841" y="3248405"/>
            <a:ext cx="42862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55" dirty="0">
                <a:latin typeface="Cambria Math"/>
                <a:cs typeface="Cambria Math"/>
              </a:rPr>
              <a:t>𝑗=1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39841" y="2687574"/>
            <a:ext cx="233679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5" dirty="0">
                <a:latin typeface="Cambria Math"/>
                <a:cs typeface="Cambria Math"/>
              </a:rPr>
              <a:t>𝑚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768594" y="2914650"/>
            <a:ext cx="6883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Cambria Math"/>
                <a:cs typeface="Cambria Math"/>
              </a:rPr>
              <a:t>∇𝐶𝑥</a:t>
            </a:r>
            <a:r>
              <a:rPr sz="2625" spc="-30" baseline="-15873" dirty="0">
                <a:latin typeface="Cambria Math"/>
                <a:cs typeface="Cambria Math"/>
              </a:rPr>
              <a:t>𝑗</a:t>
            </a:r>
            <a:endParaRPr sz="2625" baseline="-15873">
              <a:latin typeface="Cambria Math"/>
              <a:cs typeface="Cambria Math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301613" y="4891278"/>
            <a:ext cx="539750" cy="20320"/>
          </a:xfrm>
          <a:custGeom>
            <a:avLst/>
            <a:gdLst/>
            <a:ahLst/>
            <a:cxnLst/>
            <a:rect l="l" t="t" r="r" b="b"/>
            <a:pathLst>
              <a:path w="539750" h="20320">
                <a:moveTo>
                  <a:pt x="539495" y="0"/>
                </a:moveTo>
                <a:lnTo>
                  <a:pt x="0" y="0"/>
                </a:lnTo>
                <a:lnTo>
                  <a:pt x="0" y="19812"/>
                </a:lnTo>
                <a:lnTo>
                  <a:pt x="539495" y="19812"/>
                </a:lnTo>
                <a:lnTo>
                  <a:pt x="5394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659885" y="4440682"/>
            <a:ext cx="3118485" cy="6769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0480" algn="r">
              <a:lnSpc>
                <a:spcPts val="2345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  <a:p>
            <a:pPr marL="63500">
              <a:lnSpc>
                <a:spcPts val="1515"/>
              </a:lnSpc>
              <a:tabLst>
                <a:tab pos="584200" algn="l"/>
                <a:tab pos="1378585" algn="l"/>
                <a:tab pos="2128520" algn="l"/>
              </a:tabLst>
            </a:pPr>
            <a:r>
              <a:rPr sz="2400" spc="-25" dirty="0">
                <a:latin typeface="Cambria Math"/>
                <a:cs typeface="Cambria Math"/>
              </a:rPr>
              <a:t>𝑤</a:t>
            </a:r>
            <a:r>
              <a:rPr sz="2625" spc="-37" baseline="-15873" dirty="0">
                <a:latin typeface="Cambria Math"/>
                <a:cs typeface="Cambria Math"/>
              </a:rPr>
              <a:t>𝑘</a:t>
            </a:r>
            <a:r>
              <a:rPr sz="2625" baseline="-15873" dirty="0">
                <a:latin typeface="Cambria Math"/>
                <a:cs typeface="Cambria Math"/>
              </a:rPr>
              <a:t>	</a:t>
            </a:r>
            <a:r>
              <a:rPr sz="2400" dirty="0">
                <a:latin typeface="Cambria Math"/>
                <a:cs typeface="Cambria Math"/>
              </a:rPr>
              <a:t>→</a:t>
            </a:r>
            <a:r>
              <a:rPr sz="2400" spc="110" dirty="0">
                <a:latin typeface="Cambria Math"/>
                <a:cs typeface="Cambria Math"/>
              </a:rPr>
              <a:t> </a:t>
            </a:r>
            <a:r>
              <a:rPr sz="2400" spc="120" dirty="0">
                <a:latin typeface="Cambria Math"/>
                <a:cs typeface="Cambria Math"/>
              </a:rPr>
              <a:t>𝑤</a:t>
            </a:r>
            <a:r>
              <a:rPr sz="2625" spc="179" baseline="30158" dirty="0">
                <a:latin typeface="Cambria Math"/>
                <a:cs typeface="Cambria Math"/>
              </a:rPr>
              <a:t>′</a:t>
            </a:r>
            <a:r>
              <a:rPr sz="2625" baseline="30158" dirty="0">
                <a:latin typeface="Cambria Math"/>
                <a:cs typeface="Cambria Math"/>
              </a:rPr>
              <a:t>	</a:t>
            </a:r>
            <a:r>
              <a:rPr sz="2400" dirty="0">
                <a:latin typeface="Cambria Math"/>
                <a:cs typeface="Cambria Math"/>
              </a:rPr>
              <a:t>=</a:t>
            </a:r>
            <a:r>
              <a:rPr sz="2400" spc="13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𝑤</a:t>
            </a:r>
            <a:r>
              <a:rPr sz="2400" dirty="0">
                <a:latin typeface="Cambria Math"/>
                <a:cs typeface="Cambria Math"/>
              </a:rPr>
              <a:t>	−</a:t>
            </a:r>
            <a:r>
              <a:rPr sz="2400" spc="-1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𝛾</a:t>
            </a:r>
            <a:endParaRPr sz="2400">
              <a:latin typeface="Cambria Math"/>
              <a:cs typeface="Cambria Math"/>
            </a:endParaRPr>
          </a:p>
          <a:p>
            <a:pPr marL="61594" algn="ctr">
              <a:lnSpc>
                <a:spcPts val="1265"/>
              </a:lnSpc>
              <a:tabLst>
                <a:tab pos="828675" algn="l"/>
              </a:tabLst>
            </a:pPr>
            <a:r>
              <a:rPr sz="1750" spc="45" dirty="0">
                <a:latin typeface="Cambria Math"/>
                <a:cs typeface="Cambria Math"/>
              </a:rPr>
              <a:t>𝑘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2625" spc="67" baseline="1587" dirty="0">
                <a:latin typeface="Cambria Math"/>
                <a:cs typeface="Cambria Math"/>
              </a:rPr>
              <a:t>𝑘</a:t>
            </a:r>
            <a:endParaRPr sz="2625" baseline="1587">
              <a:latin typeface="Cambria Math"/>
              <a:cs typeface="Cambria Math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264275" y="4875021"/>
            <a:ext cx="594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𝜕𝑤</a:t>
            </a:r>
            <a:r>
              <a:rPr sz="2625" spc="-37" baseline="-15873" dirty="0">
                <a:latin typeface="Cambria Math"/>
                <a:cs typeface="Cambria Math"/>
              </a:rPr>
              <a:t>𝑘</a:t>
            </a:r>
            <a:endParaRPr sz="2625" baseline="-15873">
              <a:latin typeface="Cambria Math"/>
              <a:cs typeface="Cambria Math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933190" y="5823000"/>
            <a:ext cx="104139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15" dirty="0">
                <a:latin typeface="Cambria Math"/>
                <a:cs typeface="Cambria Math"/>
              </a:rPr>
              <a:t>𝑙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696714" y="5640120"/>
            <a:ext cx="10541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120" dirty="0">
                <a:latin typeface="Cambria Math"/>
                <a:cs typeface="Cambria Math"/>
              </a:rPr>
              <a:t>′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678426" y="5832449"/>
            <a:ext cx="76771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75640" algn="l"/>
              </a:tabLst>
            </a:pPr>
            <a:r>
              <a:rPr sz="1750" spc="15" dirty="0">
                <a:latin typeface="Cambria Math"/>
                <a:cs typeface="Cambria Math"/>
              </a:rPr>
              <a:t>𝑙</a:t>
            </a:r>
            <a:r>
              <a:rPr sz="1750" dirty="0">
                <a:latin typeface="Cambria Math"/>
                <a:cs typeface="Cambria Math"/>
              </a:rPr>
              <a:t>	</a:t>
            </a:r>
            <a:r>
              <a:rPr sz="2625" spc="22" baseline="1587" dirty="0">
                <a:latin typeface="Cambria Math"/>
                <a:cs typeface="Cambria Math"/>
              </a:rPr>
              <a:t>𝑙</a:t>
            </a:r>
            <a:endParaRPr sz="2625" baseline="1587">
              <a:latin typeface="Cambria Math"/>
              <a:cs typeface="Cambria Math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777741" y="5678220"/>
            <a:ext cx="221043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15925" algn="l"/>
                <a:tab pos="1108075" algn="l"/>
                <a:tab pos="1742439" algn="l"/>
              </a:tabLst>
            </a:pPr>
            <a:r>
              <a:rPr sz="2400" spc="-5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→</a:t>
            </a:r>
            <a:r>
              <a:rPr sz="2400" spc="14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=</a:t>
            </a:r>
            <a:r>
              <a:rPr sz="2400" spc="135" dirty="0">
                <a:latin typeface="Cambria Math"/>
                <a:cs typeface="Cambria Math"/>
              </a:rPr>
              <a:t> </a:t>
            </a:r>
            <a:r>
              <a:rPr sz="2400" spc="-60" dirty="0">
                <a:latin typeface="Cambria Math"/>
                <a:cs typeface="Cambria Math"/>
              </a:rPr>
              <a:t>𝑏</a:t>
            </a:r>
            <a:r>
              <a:rPr sz="2400" dirty="0">
                <a:latin typeface="Cambria Math"/>
                <a:cs typeface="Cambria Math"/>
              </a:rPr>
              <a:t>	−</a:t>
            </a:r>
            <a:r>
              <a:rPr sz="2400" spc="-1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𝛾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6033389" y="5898972"/>
            <a:ext cx="424180" cy="20320"/>
          </a:xfrm>
          <a:custGeom>
            <a:avLst/>
            <a:gdLst/>
            <a:ahLst/>
            <a:cxnLst/>
            <a:rect l="l" t="t" r="r" b="b"/>
            <a:pathLst>
              <a:path w="424179" h="20320">
                <a:moveTo>
                  <a:pt x="423672" y="0"/>
                </a:moveTo>
                <a:lnTo>
                  <a:pt x="0" y="0"/>
                </a:lnTo>
                <a:lnTo>
                  <a:pt x="0" y="19812"/>
                </a:lnTo>
                <a:lnTo>
                  <a:pt x="423672" y="19812"/>
                </a:lnTo>
                <a:lnTo>
                  <a:pt x="4236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6050407" y="5448401"/>
            <a:ext cx="376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𝜕𝐶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996051" y="5883046"/>
            <a:ext cx="479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Cambria Math"/>
                <a:cs typeface="Cambria Math"/>
              </a:rPr>
              <a:t>𝜕𝑏</a:t>
            </a:r>
            <a:r>
              <a:rPr sz="2625" spc="-37" baseline="-15873" dirty="0">
                <a:latin typeface="Cambria Math"/>
                <a:cs typeface="Cambria Math"/>
              </a:rPr>
              <a:t>𝑙</a:t>
            </a:r>
            <a:endParaRPr sz="2625" baseline="-15873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4380</Words>
  <Application>Microsoft Office PowerPoint</Application>
  <PresentationFormat>Widescreen</PresentationFormat>
  <Paragraphs>618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9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Timeframe</vt:lpstr>
      <vt:lpstr>Why Deep Neural Networks?</vt:lpstr>
      <vt:lpstr>What’s so deep about Deep Neural Networks?</vt:lpstr>
      <vt:lpstr>Fundamental Unit of a Neural Network</vt:lpstr>
      <vt:lpstr>Fundamental Unit of a Neural Network</vt:lpstr>
      <vt:lpstr>Fundamental Unit of a Neural Network</vt:lpstr>
      <vt:lpstr>Operation of a neural network</vt:lpstr>
      <vt:lpstr>Training of an Artificial Neural Network</vt:lpstr>
      <vt:lpstr>Handwriting Recognition</vt:lpstr>
      <vt:lpstr>Approach</vt:lpstr>
      <vt:lpstr>Perceptron</vt:lpstr>
      <vt:lpstr>What can we answer with a perceptron?</vt:lpstr>
      <vt:lpstr>How would we decide this?</vt:lpstr>
      <vt:lpstr>How would we decide this?</vt:lpstr>
      <vt:lpstr>How would we decide this?</vt:lpstr>
      <vt:lpstr>Addition of other nodes increases complexity</vt:lpstr>
      <vt:lpstr>How does information change through layers?</vt:lpstr>
      <vt:lpstr>Perceptrons</vt:lpstr>
      <vt:lpstr>Perceptrons</vt:lpstr>
      <vt:lpstr>Perceptrons for logical functions?</vt:lpstr>
      <vt:lpstr>Perceptrons for logical functions?</vt:lpstr>
      <vt:lpstr>Adder</vt:lpstr>
      <vt:lpstr>Notation for perceptrons</vt:lpstr>
      <vt:lpstr>So are perceptrons just more complex NAND gates?</vt:lpstr>
      <vt:lpstr>Sigmoid Neurons</vt:lpstr>
      <vt:lpstr>Sigmoid Neurons</vt:lpstr>
      <vt:lpstr>Sigmoid Neurons</vt:lpstr>
      <vt:lpstr>Sigmoid Neurons</vt:lpstr>
      <vt:lpstr>Sigmoid Neurons</vt:lpstr>
      <vt:lpstr>Similarities between Perceptrons and Sigmoids</vt:lpstr>
      <vt:lpstr>Why is smoothness crucial?</vt:lpstr>
      <vt:lpstr>Sigmoid Neurons</vt:lpstr>
      <vt:lpstr>Sigmoid Neurons</vt:lpstr>
      <vt:lpstr>Neural Network Architecture</vt:lpstr>
      <vt:lpstr>Four Layer Neural Network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Aside: Recurrent Neural Networks</vt:lpstr>
      <vt:lpstr>Getting back to handwriting</vt:lpstr>
      <vt:lpstr>An ANN for Handwriting</vt:lpstr>
      <vt:lpstr>An ANN for Handwriting</vt:lpstr>
      <vt:lpstr>An ANN for Handwriting</vt:lpstr>
      <vt:lpstr>An ANN for Handwriting</vt:lpstr>
      <vt:lpstr>How does the hidden layer neuron find a specific image?</vt:lpstr>
      <vt:lpstr>Let’s do a simple example</vt:lpstr>
      <vt:lpstr>Let’s do a simple example</vt:lpstr>
      <vt:lpstr>Back to the task at hand</vt:lpstr>
      <vt:lpstr>Other hidden layer neurons could then be detecting other images</vt:lpstr>
      <vt:lpstr>Other hidden layer neurons could then be detecting other images</vt:lpstr>
      <vt:lpstr>So what if we want the bitwise representation</vt:lpstr>
      <vt:lpstr>Learning how Artificial Neural Networks Learn with your Biological Neural network</vt:lpstr>
      <vt:lpstr>How to train your artificial neural network</vt:lpstr>
      <vt:lpstr>How to train your artificial neural network</vt:lpstr>
      <vt:lpstr>How to train your artificial neural network</vt:lpstr>
      <vt:lpstr>Cost Function</vt:lpstr>
      <vt:lpstr>Cost Function</vt:lpstr>
      <vt:lpstr>Gradient Descent</vt:lpstr>
      <vt:lpstr>Minimization</vt:lpstr>
      <vt:lpstr>Minimization</vt:lpstr>
      <vt:lpstr>Minimization</vt:lpstr>
      <vt:lpstr>Minimization</vt:lpstr>
      <vt:lpstr>Minimization</vt:lpstr>
      <vt:lpstr>Minimization for more than 2 variables</vt:lpstr>
      <vt:lpstr>Using Gradient Descent in a neural network</vt:lpstr>
      <vt:lpstr>Using Gradient Descent in a neural network</vt:lpstr>
      <vt:lpstr>Stochastic Gradient Descent</vt:lpstr>
      <vt:lpstr>Stochastic Gradient Descent</vt:lpstr>
      <vt:lpstr>Using Stochastic Gradient Descent in our Networks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1</cp:revision>
  <dcterms:created xsi:type="dcterms:W3CDTF">2025-10-29T20:32:48Z</dcterms:created>
  <dcterms:modified xsi:type="dcterms:W3CDTF">2025-10-30T07:26:29Z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2024-11-05T00:00:00Z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2025-10-29T00:00:00Z</vt:filetime>
  </property>
  <property fmtid="{D5CDD505-2E9C-101B-9397-08002B2CF9AE}" pid="5" name="Producer">
    <vt:lpwstr>Microsoft® PowerPoint® for Microsoft 365</vt:lpwstr>
  </property>
</Properties>
</file>