
<file path=[Content_Types].xml><?xml version="1.0" encoding="utf-8"?>
<Types xmlns="http://schemas.openxmlformats.org/package/2006/content-types"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329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330" r:id="rId23"/>
    <p:sldId id="331" r:id="rId24"/>
    <p:sldId id="332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2" r:id="rId47"/>
    <p:sldId id="303" r:id="rId48"/>
    <p:sldId id="304" r:id="rId49"/>
    <p:sldId id="305" r:id="rId50"/>
    <p:sldId id="306" r:id="rId51"/>
    <p:sldId id="307" r:id="rId52"/>
    <p:sldId id="308" r:id="rId53"/>
    <p:sldId id="310" r:id="rId54"/>
    <p:sldId id="311" r:id="rId55"/>
    <p:sldId id="312" r:id="rId56"/>
    <p:sldId id="313" r:id="rId57"/>
    <p:sldId id="314" r:id="rId58"/>
    <p:sldId id="315" r:id="rId59"/>
    <p:sldId id="316" r:id="rId60"/>
    <p:sldId id="317" r:id="rId61"/>
    <p:sldId id="333" r:id="rId62"/>
    <p:sldId id="334" r:id="rId63"/>
  </p:sldIdLst>
  <p:sldSz cx="12192000" cy="6858000"/>
  <p:notesSz cx="12192000" cy="68580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>
      <p:cViewPr varScale="1">
        <p:scale>
          <a:sx n="123" d="100"/>
          <a:sy n="123" d="100"/>
        </p:scale>
        <p:origin x="115" y="274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slide" Target="slides/slide6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theme" Target="theme/theme1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914400" y="2125980"/>
            <a:ext cx="10363200" cy="14401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200" b="0" i="0">
                <a:solidFill>
                  <a:srgbClr val="991B1E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828800" y="3840480"/>
            <a:ext cx="8534400" cy="17145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8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11/2/2025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200" b="0" i="0">
                <a:solidFill>
                  <a:srgbClr val="991B1E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28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11/2/2025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200" b="0" i="0">
                <a:solidFill>
                  <a:srgbClr val="991B1E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60960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27888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11/2/2025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200" b="0" i="0">
                <a:solidFill>
                  <a:srgbClr val="991B1E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11/2/2025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11/2/2025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10831764" y="65552"/>
            <a:ext cx="1275956" cy="661111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78739" y="14986"/>
            <a:ext cx="10328275" cy="46799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200" b="0" i="0">
                <a:solidFill>
                  <a:srgbClr val="991B1E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1204366" y="1368933"/>
            <a:ext cx="9378315" cy="408177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8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4145280" y="6377940"/>
            <a:ext cx="390144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60960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11/2/2025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877824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jp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jp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25.jp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8.png"/><Relationship Id="rId4" Type="http://schemas.openxmlformats.org/officeDocument/2006/relationships/image" Target="../media/image37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8.png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hyperlink" Target="http://yann.lecun.com/exdb/mnist/" TargetMode="External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jp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jpg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3166998" y="747217"/>
            <a:ext cx="5857875" cy="1321516"/>
          </a:xfrm>
          <a:prstGeom prst="rect">
            <a:avLst/>
          </a:prstGeom>
        </p:spPr>
        <p:txBody>
          <a:bodyPr vert="horz" wrap="square" lIns="0" tIns="89535" rIns="0" bIns="0" rtlCol="0">
            <a:spAutoFit/>
          </a:bodyPr>
          <a:lstStyle/>
          <a:p>
            <a:pPr marL="311150" marR="5080" indent="-299085">
              <a:lnSpc>
                <a:spcPts val="4750"/>
              </a:lnSpc>
              <a:spcBef>
                <a:spcPts val="705"/>
              </a:spcBef>
            </a:pPr>
            <a:r>
              <a:rPr sz="4000" spc="175" dirty="0">
                <a:latin typeface="PT Sans" panose="020B0503020203020204" pitchFamily="34" charset="0"/>
              </a:rPr>
              <a:t>ECE</a:t>
            </a:r>
            <a:r>
              <a:rPr sz="4000" spc="190" dirty="0">
                <a:latin typeface="PT Sans" panose="020B0503020203020204" pitchFamily="34" charset="0"/>
              </a:rPr>
              <a:t> </a:t>
            </a:r>
            <a:r>
              <a:rPr sz="4000" spc="75" dirty="0">
                <a:latin typeface="PT Sans" panose="020B0503020203020204" pitchFamily="34" charset="0"/>
              </a:rPr>
              <a:t>105:</a:t>
            </a:r>
            <a:r>
              <a:rPr sz="4000" spc="175" dirty="0">
                <a:latin typeface="PT Sans" panose="020B0503020203020204" pitchFamily="34" charset="0"/>
              </a:rPr>
              <a:t> </a:t>
            </a:r>
            <a:r>
              <a:rPr sz="4000" spc="55" dirty="0">
                <a:latin typeface="PT Sans" panose="020B0503020203020204" pitchFamily="34" charset="0"/>
              </a:rPr>
              <a:t>Introduction</a:t>
            </a:r>
            <a:r>
              <a:rPr sz="4000" spc="160" dirty="0">
                <a:latin typeface="PT Sans" panose="020B0503020203020204" pitchFamily="34" charset="0"/>
              </a:rPr>
              <a:t> </a:t>
            </a:r>
            <a:r>
              <a:rPr sz="4000" spc="-25" dirty="0">
                <a:latin typeface="PT Sans" panose="020B0503020203020204" pitchFamily="34" charset="0"/>
              </a:rPr>
              <a:t>to </a:t>
            </a:r>
            <a:r>
              <a:rPr sz="4000" spc="105" dirty="0">
                <a:latin typeface="PT Sans" panose="020B0503020203020204" pitchFamily="34" charset="0"/>
              </a:rPr>
              <a:t>Electrical</a:t>
            </a:r>
            <a:r>
              <a:rPr sz="4000" spc="204" dirty="0">
                <a:latin typeface="PT Sans" panose="020B0503020203020204" pitchFamily="34" charset="0"/>
              </a:rPr>
              <a:t> </a:t>
            </a:r>
            <a:r>
              <a:rPr sz="4000" spc="105" dirty="0">
                <a:latin typeface="PT Sans" panose="020B0503020203020204" pitchFamily="34" charset="0"/>
              </a:rPr>
              <a:t>Engineering</a:t>
            </a:r>
            <a:endParaRPr sz="4000">
              <a:latin typeface="PT Sans" panose="020B0503020203020204" pitchFamily="34" charset="0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4815966" y="3361905"/>
            <a:ext cx="2560320" cy="1754904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065" marR="5080" indent="1905" algn="ctr">
              <a:lnSpc>
                <a:spcPct val="119800"/>
              </a:lnSpc>
              <a:spcBef>
                <a:spcPts val="110"/>
              </a:spcBef>
            </a:pPr>
            <a:r>
              <a:rPr sz="2400" dirty="0">
                <a:latin typeface="PT Sans" panose="020B0503020203020204" pitchFamily="34" charset="0"/>
                <a:cs typeface="Calibri"/>
              </a:rPr>
              <a:t>Lecture</a:t>
            </a:r>
            <a:r>
              <a:rPr sz="2400" spc="345" dirty="0">
                <a:latin typeface="PT Sans" panose="020B0503020203020204" pitchFamily="34" charset="0"/>
                <a:cs typeface="Calibri"/>
              </a:rPr>
              <a:t> </a:t>
            </a:r>
            <a:r>
              <a:rPr sz="2400" spc="70" dirty="0">
                <a:latin typeface="PT Sans" panose="020B0503020203020204" pitchFamily="34" charset="0"/>
                <a:cs typeface="Calibri"/>
              </a:rPr>
              <a:t>1</a:t>
            </a:r>
            <a:r>
              <a:rPr lang="en-US" sz="2400" spc="70" dirty="0">
                <a:latin typeface="PT Sans" panose="020B0503020203020204" pitchFamily="34" charset="0"/>
                <a:cs typeface="Calibri"/>
              </a:rPr>
              <a:t>9-20</a:t>
            </a:r>
            <a:r>
              <a:rPr sz="2400" spc="70" dirty="0">
                <a:latin typeface="PT Sans" panose="020B0503020203020204" pitchFamily="34" charset="0"/>
                <a:cs typeface="Calibri"/>
              </a:rPr>
              <a:t> </a:t>
            </a:r>
            <a:r>
              <a:rPr sz="2400" spc="50" dirty="0">
                <a:latin typeface="PT Sans" panose="020B0503020203020204" pitchFamily="34" charset="0"/>
                <a:cs typeface="Calibri"/>
              </a:rPr>
              <a:t>Neural</a:t>
            </a:r>
            <a:r>
              <a:rPr sz="2400" spc="130" dirty="0">
                <a:latin typeface="PT Sans" panose="020B0503020203020204" pitchFamily="34" charset="0"/>
                <a:cs typeface="Calibri"/>
              </a:rPr>
              <a:t> </a:t>
            </a:r>
            <a:r>
              <a:rPr sz="2400" spc="-10" dirty="0">
                <a:latin typeface="PT Sans" panose="020B0503020203020204" pitchFamily="34" charset="0"/>
                <a:cs typeface="Calibri"/>
              </a:rPr>
              <a:t>Networks </a:t>
            </a:r>
            <a:r>
              <a:rPr sz="2400" dirty="0">
                <a:latin typeface="PT Sans" panose="020B0503020203020204" pitchFamily="34" charset="0"/>
                <a:cs typeface="Calibri"/>
              </a:rPr>
              <a:t>Yasser</a:t>
            </a:r>
            <a:r>
              <a:rPr sz="2400" spc="270" dirty="0">
                <a:latin typeface="PT Sans" panose="020B0503020203020204" pitchFamily="34" charset="0"/>
                <a:cs typeface="Calibri"/>
              </a:rPr>
              <a:t> </a:t>
            </a:r>
            <a:r>
              <a:rPr sz="2400" spc="80" dirty="0">
                <a:latin typeface="PT Sans" panose="020B0503020203020204" pitchFamily="34" charset="0"/>
                <a:cs typeface="Calibri"/>
              </a:rPr>
              <a:t>Khan </a:t>
            </a:r>
            <a:r>
              <a:rPr sz="2400" dirty="0">
                <a:latin typeface="PT Sans" panose="020B0503020203020204" pitchFamily="34" charset="0"/>
                <a:cs typeface="Calibri"/>
              </a:rPr>
              <a:t>Rehan</a:t>
            </a:r>
            <a:r>
              <a:rPr sz="2400" spc="275" dirty="0">
                <a:latin typeface="PT Sans" panose="020B0503020203020204" pitchFamily="34" charset="0"/>
                <a:cs typeface="Calibri"/>
              </a:rPr>
              <a:t> </a:t>
            </a:r>
            <a:r>
              <a:rPr sz="2400" spc="55" dirty="0">
                <a:latin typeface="PT Sans" panose="020B0503020203020204" pitchFamily="34" charset="0"/>
                <a:cs typeface="Calibri"/>
              </a:rPr>
              <a:t>Kapadia</a:t>
            </a:r>
            <a:endParaRPr sz="2400" dirty="0">
              <a:latin typeface="PT Sans" panose="020B0503020203020204" pitchFamily="34" charset="0"/>
              <a:cs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78739" y="14986"/>
            <a:ext cx="10328275" cy="50526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40" dirty="0">
                <a:latin typeface="PT Sans" panose="020B0503020203020204" pitchFamily="34" charset="0"/>
              </a:rPr>
              <a:t>Timeframe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1176324" y="913046"/>
            <a:ext cx="7631430" cy="4287071"/>
          </a:xfrm>
          <a:prstGeom prst="rect">
            <a:avLst/>
          </a:prstGeom>
        </p:spPr>
        <p:txBody>
          <a:bodyPr vert="horz" wrap="square" lIns="0" tIns="54610" rIns="0" bIns="0" rtlCol="0">
            <a:spAutoFit/>
          </a:bodyPr>
          <a:lstStyle/>
          <a:p>
            <a:pPr marL="240665" indent="-227965">
              <a:lnSpc>
                <a:spcPct val="100000"/>
              </a:lnSpc>
              <a:spcBef>
                <a:spcPts val="430"/>
              </a:spcBef>
              <a:buFont typeface="Arial"/>
              <a:buChar char="•"/>
              <a:tabLst>
                <a:tab pos="240665" algn="l"/>
              </a:tabLst>
            </a:pPr>
            <a:r>
              <a:rPr sz="2000" dirty="0">
                <a:latin typeface="PT Sans" panose="020B0503020203020204" pitchFamily="34" charset="0"/>
                <a:cs typeface="Calibri"/>
              </a:rPr>
              <a:t>1943:</a:t>
            </a:r>
            <a:r>
              <a:rPr sz="2000" spc="185" dirty="0">
                <a:latin typeface="PT Sans" panose="020B0503020203020204" pitchFamily="34" charset="0"/>
                <a:cs typeface="Calibri"/>
              </a:rPr>
              <a:t> </a:t>
            </a:r>
            <a:r>
              <a:rPr sz="2000" spc="55" dirty="0">
                <a:latin typeface="PT Sans" panose="020B0503020203020204" pitchFamily="34" charset="0"/>
                <a:cs typeface="Calibri"/>
              </a:rPr>
              <a:t>McCulloch–Pitts</a:t>
            </a:r>
            <a:r>
              <a:rPr sz="2000" dirty="0">
                <a:latin typeface="PT Sans" panose="020B0503020203020204" pitchFamily="34" charset="0"/>
                <a:cs typeface="Calibri"/>
              </a:rPr>
              <a:t> </a:t>
            </a:r>
            <a:r>
              <a:rPr sz="2000" spc="-10" dirty="0">
                <a:latin typeface="PT Sans" panose="020B0503020203020204" pitchFamily="34" charset="0"/>
                <a:cs typeface="Calibri"/>
              </a:rPr>
              <a:t>“neuron”</a:t>
            </a:r>
            <a:endParaRPr sz="2000">
              <a:latin typeface="PT Sans" panose="020B0503020203020204" pitchFamily="34" charset="0"/>
              <a:cs typeface="Calibri"/>
            </a:endParaRPr>
          </a:p>
          <a:p>
            <a:pPr marL="697865" lvl="1" indent="-228600">
              <a:lnSpc>
                <a:spcPct val="100000"/>
              </a:lnSpc>
              <a:spcBef>
                <a:spcPts val="295"/>
              </a:spcBef>
              <a:buFont typeface="Arial"/>
              <a:buChar char="•"/>
              <a:tabLst>
                <a:tab pos="697865" algn="l"/>
              </a:tabLst>
            </a:pPr>
            <a:r>
              <a:rPr sz="1800" dirty="0">
                <a:latin typeface="PT Sans" panose="020B0503020203020204" pitchFamily="34" charset="0"/>
                <a:cs typeface="Calibri"/>
              </a:rPr>
              <a:t>Started</a:t>
            </a:r>
            <a:r>
              <a:rPr sz="1800" spc="170" dirty="0">
                <a:latin typeface="PT Sans" panose="020B0503020203020204" pitchFamily="34" charset="0"/>
                <a:cs typeface="Calibri"/>
              </a:rPr>
              <a:t> </a:t>
            </a:r>
            <a:r>
              <a:rPr sz="1800" dirty="0">
                <a:latin typeface="PT Sans" panose="020B0503020203020204" pitchFamily="34" charset="0"/>
                <a:cs typeface="Calibri"/>
              </a:rPr>
              <a:t>the</a:t>
            </a:r>
            <a:r>
              <a:rPr sz="1800" spc="190" dirty="0">
                <a:latin typeface="PT Sans" panose="020B0503020203020204" pitchFamily="34" charset="0"/>
                <a:cs typeface="Calibri"/>
              </a:rPr>
              <a:t> </a:t>
            </a:r>
            <a:r>
              <a:rPr sz="1800" spc="-10" dirty="0">
                <a:latin typeface="PT Sans" panose="020B0503020203020204" pitchFamily="34" charset="0"/>
                <a:cs typeface="Calibri"/>
              </a:rPr>
              <a:t>field</a:t>
            </a:r>
            <a:endParaRPr sz="1800">
              <a:latin typeface="PT Sans" panose="020B0503020203020204" pitchFamily="34" charset="0"/>
              <a:cs typeface="Calibri"/>
            </a:endParaRPr>
          </a:p>
          <a:p>
            <a:pPr marL="240665" indent="-227965">
              <a:lnSpc>
                <a:spcPct val="100000"/>
              </a:lnSpc>
              <a:spcBef>
                <a:spcPts val="750"/>
              </a:spcBef>
              <a:buFont typeface="Arial"/>
              <a:buChar char="•"/>
              <a:tabLst>
                <a:tab pos="240665" algn="l"/>
              </a:tabLst>
            </a:pPr>
            <a:r>
              <a:rPr sz="2000" dirty="0">
                <a:latin typeface="PT Sans" panose="020B0503020203020204" pitchFamily="34" charset="0"/>
                <a:cs typeface="Calibri"/>
              </a:rPr>
              <a:t>1962:</a:t>
            </a:r>
            <a:r>
              <a:rPr sz="2000" spc="195" dirty="0">
                <a:latin typeface="PT Sans" panose="020B0503020203020204" pitchFamily="34" charset="0"/>
                <a:cs typeface="Calibri"/>
              </a:rPr>
              <a:t> </a:t>
            </a:r>
            <a:r>
              <a:rPr sz="2000" dirty="0">
                <a:latin typeface="PT Sans" panose="020B0503020203020204" pitchFamily="34" charset="0"/>
                <a:cs typeface="Calibri"/>
              </a:rPr>
              <a:t>Rosenblatt’s</a:t>
            </a:r>
            <a:r>
              <a:rPr sz="2000" spc="195" dirty="0">
                <a:latin typeface="PT Sans" panose="020B0503020203020204" pitchFamily="34" charset="0"/>
                <a:cs typeface="Calibri"/>
              </a:rPr>
              <a:t> </a:t>
            </a:r>
            <a:r>
              <a:rPr sz="2000" spc="-10" dirty="0">
                <a:latin typeface="PT Sans" panose="020B0503020203020204" pitchFamily="34" charset="0"/>
                <a:cs typeface="Calibri"/>
              </a:rPr>
              <a:t>perceptron</a:t>
            </a:r>
            <a:endParaRPr sz="2000">
              <a:latin typeface="PT Sans" panose="020B0503020203020204" pitchFamily="34" charset="0"/>
              <a:cs typeface="Calibri"/>
            </a:endParaRPr>
          </a:p>
          <a:p>
            <a:pPr marL="697865" lvl="1" indent="-228600">
              <a:lnSpc>
                <a:spcPct val="100000"/>
              </a:lnSpc>
              <a:spcBef>
                <a:spcPts val="300"/>
              </a:spcBef>
              <a:buFont typeface="Arial"/>
              <a:buChar char="•"/>
              <a:tabLst>
                <a:tab pos="697865" algn="l"/>
              </a:tabLst>
            </a:pPr>
            <a:r>
              <a:rPr sz="1800" dirty="0">
                <a:latin typeface="PT Sans" panose="020B0503020203020204" pitchFamily="34" charset="0"/>
                <a:cs typeface="Calibri"/>
              </a:rPr>
              <a:t>Learned</a:t>
            </a:r>
            <a:r>
              <a:rPr sz="1800" spc="210" dirty="0">
                <a:latin typeface="PT Sans" panose="020B0503020203020204" pitchFamily="34" charset="0"/>
                <a:cs typeface="Calibri"/>
              </a:rPr>
              <a:t> </a:t>
            </a:r>
            <a:r>
              <a:rPr sz="1800" dirty="0">
                <a:latin typeface="PT Sans" panose="020B0503020203020204" pitchFamily="34" charset="0"/>
                <a:cs typeface="Calibri"/>
              </a:rPr>
              <a:t>its</a:t>
            </a:r>
            <a:r>
              <a:rPr sz="1800" spc="250" dirty="0">
                <a:latin typeface="PT Sans" panose="020B0503020203020204" pitchFamily="34" charset="0"/>
                <a:cs typeface="Calibri"/>
              </a:rPr>
              <a:t> </a:t>
            </a:r>
            <a:r>
              <a:rPr sz="1800" dirty="0">
                <a:latin typeface="PT Sans" panose="020B0503020203020204" pitchFamily="34" charset="0"/>
                <a:cs typeface="Calibri"/>
              </a:rPr>
              <a:t>own</a:t>
            </a:r>
            <a:r>
              <a:rPr sz="1800" spc="245" dirty="0">
                <a:latin typeface="PT Sans" panose="020B0503020203020204" pitchFamily="34" charset="0"/>
                <a:cs typeface="Calibri"/>
              </a:rPr>
              <a:t> </a:t>
            </a:r>
            <a:r>
              <a:rPr sz="1800" dirty="0">
                <a:latin typeface="PT Sans" panose="020B0503020203020204" pitchFamily="34" charset="0"/>
                <a:cs typeface="Calibri"/>
              </a:rPr>
              <a:t>weight</a:t>
            </a:r>
            <a:r>
              <a:rPr sz="1800" spc="229" dirty="0">
                <a:latin typeface="PT Sans" panose="020B0503020203020204" pitchFamily="34" charset="0"/>
                <a:cs typeface="Calibri"/>
              </a:rPr>
              <a:t> </a:t>
            </a:r>
            <a:r>
              <a:rPr sz="1800" dirty="0">
                <a:latin typeface="PT Sans" panose="020B0503020203020204" pitchFamily="34" charset="0"/>
                <a:cs typeface="Calibri"/>
              </a:rPr>
              <a:t>values;</a:t>
            </a:r>
            <a:r>
              <a:rPr sz="1800" spc="229" dirty="0">
                <a:latin typeface="PT Sans" panose="020B0503020203020204" pitchFamily="34" charset="0"/>
                <a:cs typeface="Calibri"/>
              </a:rPr>
              <a:t> </a:t>
            </a:r>
            <a:r>
              <a:rPr sz="1800" dirty="0">
                <a:latin typeface="PT Sans" panose="020B0503020203020204" pitchFamily="34" charset="0"/>
                <a:cs typeface="Calibri"/>
              </a:rPr>
              <a:t>convergence</a:t>
            </a:r>
            <a:r>
              <a:rPr sz="1800" spc="220" dirty="0">
                <a:latin typeface="PT Sans" panose="020B0503020203020204" pitchFamily="34" charset="0"/>
                <a:cs typeface="Calibri"/>
              </a:rPr>
              <a:t> </a:t>
            </a:r>
            <a:r>
              <a:rPr sz="1800" spc="-10" dirty="0">
                <a:latin typeface="PT Sans" panose="020B0503020203020204" pitchFamily="34" charset="0"/>
                <a:cs typeface="Calibri"/>
              </a:rPr>
              <a:t>proof</a:t>
            </a:r>
            <a:endParaRPr sz="1800">
              <a:latin typeface="PT Sans" panose="020B0503020203020204" pitchFamily="34" charset="0"/>
              <a:cs typeface="Calibri"/>
            </a:endParaRPr>
          </a:p>
          <a:p>
            <a:pPr marL="240665" indent="-227965">
              <a:lnSpc>
                <a:spcPct val="100000"/>
              </a:lnSpc>
              <a:spcBef>
                <a:spcPts val="745"/>
              </a:spcBef>
              <a:buFont typeface="Arial"/>
              <a:buChar char="•"/>
              <a:tabLst>
                <a:tab pos="240665" algn="l"/>
              </a:tabLst>
            </a:pPr>
            <a:r>
              <a:rPr sz="2000" dirty="0">
                <a:latin typeface="PT Sans" panose="020B0503020203020204" pitchFamily="34" charset="0"/>
                <a:cs typeface="Calibri"/>
              </a:rPr>
              <a:t>1969:</a:t>
            </a:r>
            <a:r>
              <a:rPr sz="2000" spc="155" dirty="0">
                <a:latin typeface="PT Sans" panose="020B0503020203020204" pitchFamily="34" charset="0"/>
                <a:cs typeface="Calibri"/>
              </a:rPr>
              <a:t> </a:t>
            </a:r>
            <a:r>
              <a:rPr sz="2000" dirty="0">
                <a:latin typeface="PT Sans" panose="020B0503020203020204" pitchFamily="34" charset="0"/>
                <a:cs typeface="Calibri"/>
              </a:rPr>
              <a:t>Minsky</a:t>
            </a:r>
            <a:r>
              <a:rPr sz="2000" spc="90" dirty="0">
                <a:latin typeface="PT Sans" panose="020B0503020203020204" pitchFamily="34" charset="0"/>
                <a:cs typeface="Calibri"/>
              </a:rPr>
              <a:t> </a:t>
            </a:r>
            <a:r>
              <a:rPr sz="2000" spc="254" dirty="0">
                <a:latin typeface="PT Sans" panose="020B0503020203020204" pitchFamily="34" charset="0"/>
                <a:cs typeface="Calibri"/>
              </a:rPr>
              <a:t>&amp;</a:t>
            </a:r>
            <a:r>
              <a:rPr sz="2000" spc="175" dirty="0">
                <a:latin typeface="PT Sans" panose="020B0503020203020204" pitchFamily="34" charset="0"/>
                <a:cs typeface="Calibri"/>
              </a:rPr>
              <a:t> </a:t>
            </a:r>
            <a:r>
              <a:rPr sz="2000" dirty="0">
                <a:latin typeface="PT Sans" panose="020B0503020203020204" pitchFamily="34" charset="0"/>
                <a:cs typeface="Calibri"/>
              </a:rPr>
              <a:t>Papert</a:t>
            </a:r>
            <a:r>
              <a:rPr sz="2000" spc="165" dirty="0">
                <a:latin typeface="PT Sans" panose="020B0503020203020204" pitchFamily="34" charset="0"/>
                <a:cs typeface="Calibri"/>
              </a:rPr>
              <a:t> </a:t>
            </a:r>
            <a:r>
              <a:rPr sz="2000" dirty="0">
                <a:latin typeface="PT Sans" panose="020B0503020203020204" pitchFamily="34" charset="0"/>
                <a:cs typeface="Calibri"/>
              </a:rPr>
              <a:t>book</a:t>
            </a:r>
            <a:r>
              <a:rPr sz="2000" spc="90" dirty="0">
                <a:latin typeface="PT Sans" panose="020B0503020203020204" pitchFamily="34" charset="0"/>
                <a:cs typeface="Calibri"/>
              </a:rPr>
              <a:t> </a:t>
            </a:r>
            <a:r>
              <a:rPr sz="2000" dirty="0">
                <a:latin typeface="PT Sans" panose="020B0503020203020204" pitchFamily="34" charset="0"/>
                <a:cs typeface="Calibri"/>
              </a:rPr>
              <a:t>on</a:t>
            </a:r>
            <a:r>
              <a:rPr sz="2000" spc="190" dirty="0">
                <a:latin typeface="PT Sans" panose="020B0503020203020204" pitchFamily="34" charset="0"/>
                <a:cs typeface="Calibri"/>
              </a:rPr>
              <a:t> </a:t>
            </a:r>
            <a:r>
              <a:rPr sz="2000" spc="-10" dirty="0">
                <a:latin typeface="PT Sans" panose="020B0503020203020204" pitchFamily="34" charset="0"/>
                <a:cs typeface="Calibri"/>
              </a:rPr>
              <a:t>perceptrons</a:t>
            </a:r>
            <a:endParaRPr sz="2000">
              <a:latin typeface="PT Sans" panose="020B0503020203020204" pitchFamily="34" charset="0"/>
              <a:cs typeface="Calibri"/>
            </a:endParaRPr>
          </a:p>
          <a:p>
            <a:pPr marL="697865" lvl="1" indent="-228600">
              <a:lnSpc>
                <a:spcPct val="100000"/>
              </a:lnSpc>
              <a:spcBef>
                <a:spcPts val="295"/>
              </a:spcBef>
              <a:buFont typeface="Arial"/>
              <a:buChar char="•"/>
              <a:tabLst>
                <a:tab pos="697865" algn="l"/>
              </a:tabLst>
            </a:pPr>
            <a:r>
              <a:rPr sz="1800" dirty="0">
                <a:latin typeface="PT Sans" panose="020B0503020203020204" pitchFamily="34" charset="0"/>
                <a:cs typeface="Calibri"/>
              </a:rPr>
              <a:t>Proved</a:t>
            </a:r>
            <a:r>
              <a:rPr sz="1800" spc="195" dirty="0">
                <a:latin typeface="PT Sans" panose="020B0503020203020204" pitchFamily="34" charset="0"/>
                <a:cs typeface="Calibri"/>
              </a:rPr>
              <a:t> </a:t>
            </a:r>
            <a:r>
              <a:rPr sz="1800" dirty="0">
                <a:latin typeface="PT Sans" panose="020B0503020203020204" pitchFamily="34" charset="0"/>
                <a:cs typeface="Calibri"/>
              </a:rPr>
              <a:t>limitations</a:t>
            </a:r>
            <a:r>
              <a:rPr sz="1800" spc="229" dirty="0">
                <a:latin typeface="PT Sans" panose="020B0503020203020204" pitchFamily="34" charset="0"/>
                <a:cs typeface="Calibri"/>
              </a:rPr>
              <a:t> </a:t>
            </a:r>
            <a:r>
              <a:rPr sz="1800" dirty="0">
                <a:latin typeface="PT Sans" panose="020B0503020203020204" pitchFamily="34" charset="0"/>
                <a:cs typeface="Calibri"/>
              </a:rPr>
              <a:t>of</a:t>
            </a:r>
            <a:r>
              <a:rPr sz="1800" spc="210" dirty="0">
                <a:latin typeface="PT Sans" panose="020B0503020203020204" pitchFamily="34" charset="0"/>
                <a:cs typeface="Calibri"/>
              </a:rPr>
              <a:t> </a:t>
            </a:r>
            <a:r>
              <a:rPr sz="1800" spc="65" dirty="0">
                <a:latin typeface="PT Sans" panose="020B0503020203020204" pitchFamily="34" charset="0"/>
                <a:cs typeface="Calibri"/>
              </a:rPr>
              <a:t>single-</a:t>
            </a:r>
            <a:r>
              <a:rPr sz="1800" dirty="0">
                <a:latin typeface="PT Sans" panose="020B0503020203020204" pitchFamily="34" charset="0"/>
                <a:cs typeface="Calibri"/>
              </a:rPr>
              <a:t>layer</a:t>
            </a:r>
            <a:r>
              <a:rPr sz="1800" spc="210" dirty="0">
                <a:latin typeface="PT Sans" panose="020B0503020203020204" pitchFamily="34" charset="0"/>
                <a:cs typeface="Calibri"/>
              </a:rPr>
              <a:t> </a:t>
            </a:r>
            <a:r>
              <a:rPr sz="1800" dirty="0">
                <a:latin typeface="PT Sans" panose="020B0503020203020204" pitchFamily="34" charset="0"/>
                <a:cs typeface="Calibri"/>
              </a:rPr>
              <a:t>perceptron</a:t>
            </a:r>
            <a:r>
              <a:rPr sz="1800" spc="210" dirty="0">
                <a:latin typeface="PT Sans" panose="020B0503020203020204" pitchFamily="34" charset="0"/>
                <a:cs typeface="Calibri"/>
              </a:rPr>
              <a:t> </a:t>
            </a:r>
            <a:r>
              <a:rPr sz="1800" spc="-10" dirty="0">
                <a:latin typeface="PT Sans" panose="020B0503020203020204" pitchFamily="34" charset="0"/>
                <a:cs typeface="Calibri"/>
              </a:rPr>
              <a:t>networks</a:t>
            </a:r>
            <a:endParaRPr sz="1800">
              <a:latin typeface="PT Sans" panose="020B0503020203020204" pitchFamily="34" charset="0"/>
              <a:cs typeface="Calibri"/>
            </a:endParaRPr>
          </a:p>
          <a:p>
            <a:pPr marL="240665" indent="-227965">
              <a:lnSpc>
                <a:spcPct val="100000"/>
              </a:lnSpc>
              <a:spcBef>
                <a:spcPts val="750"/>
              </a:spcBef>
              <a:buFont typeface="Arial"/>
              <a:buChar char="•"/>
              <a:tabLst>
                <a:tab pos="240665" algn="l"/>
              </a:tabLst>
            </a:pPr>
            <a:r>
              <a:rPr sz="2000" dirty="0">
                <a:latin typeface="PT Sans" panose="020B0503020203020204" pitchFamily="34" charset="0"/>
                <a:cs typeface="Calibri"/>
              </a:rPr>
              <a:t>1982:</a:t>
            </a:r>
            <a:r>
              <a:rPr sz="2000" spc="254" dirty="0">
                <a:latin typeface="PT Sans" panose="020B0503020203020204" pitchFamily="34" charset="0"/>
                <a:cs typeface="Calibri"/>
              </a:rPr>
              <a:t> </a:t>
            </a:r>
            <a:r>
              <a:rPr sz="2000" dirty="0">
                <a:latin typeface="PT Sans" panose="020B0503020203020204" pitchFamily="34" charset="0"/>
                <a:cs typeface="Calibri"/>
              </a:rPr>
              <a:t>Hopfield</a:t>
            </a:r>
            <a:r>
              <a:rPr sz="2000" spc="275" dirty="0">
                <a:latin typeface="PT Sans" panose="020B0503020203020204" pitchFamily="34" charset="0"/>
                <a:cs typeface="Calibri"/>
              </a:rPr>
              <a:t> </a:t>
            </a:r>
            <a:r>
              <a:rPr sz="2000" dirty="0">
                <a:latin typeface="PT Sans" panose="020B0503020203020204" pitchFamily="34" charset="0"/>
                <a:cs typeface="Calibri"/>
              </a:rPr>
              <a:t>and</a:t>
            </a:r>
            <a:r>
              <a:rPr sz="2000" spc="270" dirty="0">
                <a:latin typeface="PT Sans" panose="020B0503020203020204" pitchFamily="34" charset="0"/>
                <a:cs typeface="Calibri"/>
              </a:rPr>
              <a:t> </a:t>
            </a:r>
            <a:r>
              <a:rPr sz="2000" dirty="0">
                <a:latin typeface="PT Sans" panose="020B0503020203020204" pitchFamily="34" charset="0"/>
                <a:cs typeface="Calibri"/>
              </a:rPr>
              <a:t>convergence</a:t>
            </a:r>
            <a:r>
              <a:rPr sz="2000" spc="280" dirty="0">
                <a:latin typeface="PT Sans" panose="020B0503020203020204" pitchFamily="34" charset="0"/>
                <a:cs typeface="Calibri"/>
              </a:rPr>
              <a:t> </a:t>
            </a:r>
            <a:r>
              <a:rPr sz="2000" spc="50" dirty="0">
                <a:latin typeface="PT Sans" panose="020B0503020203020204" pitchFamily="34" charset="0"/>
                <a:cs typeface="Calibri"/>
              </a:rPr>
              <a:t>in</a:t>
            </a:r>
            <a:r>
              <a:rPr sz="2000" spc="270" dirty="0">
                <a:latin typeface="PT Sans" panose="020B0503020203020204" pitchFamily="34" charset="0"/>
                <a:cs typeface="Calibri"/>
              </a:rPr>
              <a:t> </a:t>
            </a:r>
            <a:r>
              <a:rPr sz="2000" dirty="0">
                <a:latin typeface="PT Sans" panose="020B0503020203020204" pitchFamily="34" charset="0"/>
                <a:cs typeface="Calibri"/>
              </a:rPr>
              <a:t>symmetric</a:t>
            </a:r>
            <a:r>
              <a:rPr sz="2000" spc="165" dirty="0">
                <a:latin typeface="PT Sans" panose="020B0503020203020204" pitchFamily="34" charset="0"/>
                <a:cs typeface="Calibri"/>
              </a:rPr>
              <a:t> </a:t>
            </a:r>
            <a:r>
              <a:rPr sz="2000" spc="-10" dirty="0">
                <a:latin typeface="PT Sans" panose="020B0503020203020204" pitchFamily="34" charset="0"/>
                <a:cs typeface="Calibri"/>
              </a:rPr>
              <a:t>networks</a:t>
            </a:r>
            <a:endParaRPr sz="2000">
              <a:latin typeface="PT Sans" panose="020B0503020203020204" pitchFamily="34" charset="0"/>
              <a:cs typeface="Calibri"/>
            </a:endParaRPr>
          </a:p>
          <a:p>
            <a:pPr marL="697865" lvl="1" indent="-228600">
              <a:lnSpc>
                <a:spcPct val="100000"/>
              </a:lnSpc>
              <a:spcBef>
                <a:spcPts val="295"/>
              </a:spcBef>
              <a:buFont typeface="Arial"/>
              <a:buChar char="•"/>
              <a:tabLst>
                <a:tab pos="697865" algn="l"/>
              </a:tabLst>
            </a:pPr>
            <a:r>
              <a:rPr sz="1800" dirty="0">
                <a:latin typeface="PT Sans" panose="020B0503020203020204" pitchFamily="34" charset="0"/>
                <a:cs typeface="Calibri"/>
              </a:rPr>
              <a:t>Introduced</a:t>
            </a:r>
            <a:r>
              <a:rPr sz="1800" spc="365" dirty="0">
                <a:latin typeface="PT Sans" panose="020B0503020203020204" pitchFamily="34" charset="0"/>
                <a:cs typeface="Calibri"/>
              </a:rPr>
              <a:t> </a:t>
            </a:r>
            <a:r>
              <a:rPr sz="1800" dirty="0">
                <a:latin typeface="PT Sans" panose="020B0503020203020204" pitchFamily="34" charset="0"/>
                <a:cs typeface="Calibri"/>
              </a:rPr>
              <a:t>energy-function</a:t>
            </a:r>
            <a:r>
              <a:rPr sz="1800" spc="400" dirty="0">
                <a:latin typeface="PT Sans" panose="020B0503020203020204" pitchFamily="34" charset="0"/>
                <a:cs typeface="Calibri"/>
              </a:rPr>
              <a:t> </a:t>
            </a:r>
            <a:r>
              <a:rPr sz="1800" spc="-10" dirty="0">
                <a:latin typeface="PT Sans" panose="020B0503020203020204" pitchFamily="34" charset="0"/>
                <a:cs typeface="Calibri"/>
              </a:rPr>
              <a:t>concept</a:t>
            </a:r>
            <a:endParaRPr sz="1800">
              <a:latin typeface="PT Sans" panose="020B0503020203020204" pitchFamily="34" charset="0"/>
              <a:cs typeface="Calibri"/>
            </a:endParaRPr>
          </a:p>
          <a:p>
            <a:pPr marL="240665" indent="-227965">
              <a:lnSpc>
                <a:spcPct val="100000"/>
              </a:lnSpc>
              <a:spcBef>
                <a:spcPts val="750"/>
              </a:spcBef>
              <a:buFont typeface="Arial"/>
              <a:buChar char="•"/>
              <a:tabLst>
                <a:tab pos="240665" algn="l"/>
              </a:tabLst>
            </a:pPr>
            <a:r>
              <a:rPr sz="2000" spc="10" dirty="0">
                <a:latin typeface="PT Sans" panose="020B0503020203020204" pitchFamily="34" charset="0"/>
                <a:cs typeface="Calibri"/>
              </a:rPr>
              <a:t>1986:</a:t>
            </a:r>
            <a:r>
              <a:rPr sz="2000" spc="250" dirty="0">
                <a:latin typeface="PT Sans" panose="020B0503020203020204" pitchFamily="34" charset="0"/>
                <a:cs typeface="Calibri"/>
              </a:rPr>
              <a:t> </a:t>
            </a:r>
            <a:r>
              <a:rPr sz="2000" spc="10" dirty="0">
                <a:latin typeface="PT Sans" panose="020B0503020203020204" pitchFamily="34" charset="0"/>
                <a:cs typeface="Calibri"/>
              </a:rPr>
              <a:t>Backpropagation</a:t>
            </a:r>
            <a:r>
              <a:rPr sz="2000" spc="225" dirty="0">
                <a:latin typeface="PT Sans" panose="020B0503020203020204" pitchFamily="34" charset="0"/>
                <a:cs typeface="Calibri"/>
              </a:rPr>
              <a:t> </a:t>
            </a:r>
            <a:r>
              <a:rPr sz="2000" spc="10" dirty="0">
                <a:latin typeface="PT Sans" panose="020B0503020203020204" pitchFamily="34" charset="0"/>
                <a:cs typeface="Calibri"/>
              </a:rPr>
              <a:t>of</a:t>
            </a:r>
            <a:r>
              <a:rPr sz="2000" spc="270" dirty="0">
                <a:latin typeface="PT Sans" panose="020B0503020203020204" pitchFamily="34" charset="0"/>
                <a:cs typeface="Calibri"/>
              </a:rPr>
              <a:t> </a:t>
            </a:r>
            <a:r>
              <a:rPr sz="2000" spc="-10" dirty="0">
                <a:latin typeface="PT Sans" panose="020B0503020203020204" pitchFamily="34" charset="0"/>
                <a:cs typeface="Calibri"/>
              </a:rPr>
              <a:t>errors</a:t>
            </a:r>
            <a:endParaRPr sz="2000">
              <a:latin typeface="PT Sans" panose="020B0503020203020204" pitchFamily="34" charset="0"/>
              <a:cs typeface="Calibri"/>
            </a:endParaRPr>
          </a:p>
          <a:p>
            <a:pPr marL="697865" lvl="1" indent="-228600">
              <a:lnSpc>
                <a:spcPct val="100000"/>
              </a:lnSpc>
              <a:spcBef>
                <a:spcPts val="295"/>
              </a:spcBef>
              <a:buFont typeface="Arial"/>
              <a:buChar char="•"/>
              <a:tabLst>
                <a:tab pos="697865" algn="l"/>
              </a:tabLst>
            </a:pPr>
            <a:r>
              <a:rPr sz="1800" dirty="0">
                <a:latin typeface="PT Sans" panose="020B0503020203020204" pitchFamily="34" charset="0"/>
                <a:cs typeface="Calibri"/>
              </a:rPr>
              <a:t>Method</a:t>
            </a:r>
            <a:r>
              <a:rPr sz="1800" spc="204" dirty="0">
                <a:latin typeface="PT Sans" panose="020B0503020203020204" pitchFamily="34" charset="0"/>
                <a:cs typeface="Calibri"/>
              </a:rPr>
              <a:t> </a:t>
            </a:r>
            <a:r>
              <a:rPr sz="1800" dirty="0">
                <a:latin typeface="PT Sans" panose="020B0503020203020204" pitchFamily="34" charset="0"/>
                <a:cs typeface="Calibri"/>
              </a:rPr>
              <a:t>for</a:t>
            </a:r>
            <a:r>
              <a:rPr sz="1800" spc="210" dirty="0">
                <a:latin typeface="PT Sans" panose="020B0503020203020204" pitchFamily="34" charset="0"/>
                <a:cs typeface="Calibri"/>
              </a:rPr>
              <a:t> </a:t>
            </a:r>
            <a:r>
              <a:rPr sz="1800" dirty="0">
                <a:latin typeface="PT Sans" panose="020B0503020203020204" pitchFamily="34" charset="0"/>
                <a:cs typeface="Calibri"/>
              </a:rPr>
              <a:t>training</a:t>
            </a:r>
            <a:r>
              <a:rPr sz="1800" spc="240" dirty="0">
                <a:latin typeface="PT Sans" panose="020B0503020203020204" pitchFamily="34" charset="0"/>
                <a:cs typeface="Calibri"/>
              </a:rPr>
              <a:t> </a:t>
            </a:r>
            <a:r>
              <a:rPr sz="1800" dirty="0">
                <a:latin typeface="PT Sans" panose="020B0503020203020204" pitchFamily="34" charset="0"/>
                <a:cs typeface="Calibri"/>
              </a:rPr>
              <a:t>multilayer</a:t>
            </a:r>
            <a:r>
              <a:rPr sz="1800" spc="215" dirty="0">
                <a:latin typeface="PT Sans" panose="020B0503020203020204" pitchFamily="34" charset="0"/>
                <a:cs typeface="Calibri"/>
              </a:rPr>
              <a:t> </a:t>
            </a:r>
            <a:r>
              <a:rPr sz="1800" spc="-10" dirty="0">
                <a:latin typeface="PT Sans" panose="020B0503020203020204" pitchFamily="34" charset="0"/>
                <a:cs typeface="Calibri"/>
              </a:rPr>
              <a:t>networks</a:t>
            </a:r>
            <a:endParaRPr sz="1800">
              <a:latin typeface="PT Sans" panose="020B0503020203020204" pitchFamily="34" charset="0"/>
              <a:cs typeface="Calibri"/>
            </a:endParaRPr>
          </a:p>
          <a:p>
            <a:pPr marL="240665" indent="-227965">
              <a:lnSpc>
                <a:spcPct val="100000"/>
              </a:lnSpc>
              <a:spcBef>
                <a:spcPts val="750"/>
              </a:spcBef>
              <a:buFont typeface="Arial"/>
              <a:buChar char="•"/>
              <a:tabLst>
                <a:tab pos="240665" algn="l"/>
              </a:tabLst>
            </a:pPr>
            <a:r>
              <a:rPr sz="2000" spc="10" dirty="0">
                <a:latin typeface="PT Sans" panose="020B0503020203020204" pitchFamily="34" charset="0"/>
                <a:cs typeface="Calibri"/>
              </a:rPr>
              <a:t>Present:</a:t>
            </a:r>
            <a:r>
              <a:rPr sz="2000" spc="175" dirty="0">
                <a:latin typeface="PT Sans" panose="020B0503020203020204" pitchFamily="34" charset="0"/>
                <a:cs typeface="Calibri"/>
              </a:rPr>
              <a:t> </a:t>
            </a:r>
            <a:r>
              <a:rPr sz="2000" spc="10" dirty="0">
                <a:latin typeface="PT Sans" panose="020B0503020203020204" pitchFamily="34" charset="0"/>
                <a:cs typeface="Calibri"/>
              </a:rPr>
              <a:t>Probabilistic</a:t>
            </a:r>
            <a:r>
              <a:rPr sz="2000" spc="95" dirty="0">
                <a:latin typeface="PT Sans" panose="020B0503020203020204" pitchFamily="34" charset="0"/>
                <a:cs typeface="Calibri"/>
              </a:rPr>
              <a:t> </a:t>
            </a:r>
            <a:r>
              <a:rPr sz="2000" spc="10" dirty="0">
                <a:latin typeface="PT Sans" panose="020B0503020203020204" pitchFamily="34" charset="0"/>
                <a:cs typeface="Calibri"/>
              </a:rPr>
              <a:t>interpretations,</a:t>
            </a:r>
            <a:r>
              <a:rPr sz="2000" spc="-15" dirty="0">
                <a:latin typeface="PT Sans" panose="020B0503020203020204" pitchFamily="34" charset="0"/>
                <a:cs typeface="Calibri"/>
              </a:rPr>
              <a:t> </a:t>
            </a:r>
            <a:r>
              <a:rPr sz="2000" spc="10" dirty="0">
                <a:latin typeface="PT Sans" panose="020B0503020203020204" pitchFamily="34" charset="0"/>
                <a:cs typeface="Calibri"/>
              </a:rPr>
              <a:t>Bayesian</a:t>
            </a:r>
            <a:r>
              <a:rPr sz="2000" spc="170" dirty="0">
                <a:latin typeface="PT Sans" panose="020B0503020203020204" pitchFamily="34" charset="0"/>
                <a:cs typeface="Calibri"/>
              </a:rPr>
              <a:t> </a:t>
            </a:r>
            <a:r>
              <a:rPr sz="2000" spc="10" dirty="0">
                <a:latin typeface="PT Sans" panose="020B0503020203020204" pitchFamily="34" charset="0"/>
                <a:cs typeface="Calibri"/>
              </a:rPr>
              <a:t>and</a:t>
            </a:r>
            <a:r>
              <a:rPr sz="2000" spc="195" dirty="0">
                <a:latin typeface="PT Sans" panose="020B0503020203020204" pitchFamily="34" charset="0"/>
                <a:cs typeface="Calibri"/>
              </a:rPr>
              <a:t> </a:t>
            </a:r>
            <a:r>
              <a:rPr sz="2000" spc="55" dirty="0">
                <a:latin typeface="PT Sans" panose="020B0503020203020204" pitchFamily="34" charset="0"/>
                <a:cs typeface="Calibri"/>
              </a:rPr>
              <a:t>spiking</a:t>
            </a:r>
            <a:r>
              <a:rPr sz="2000" spc="229" dirty="0">
                <a:latin typeface="PT Sans" panose="020B0503020203020204" pitchFamily="34" charset="0"/>
                <a:cs typeface="Calibri"/>
              </a:rPr>
              <a:t> </a:t>
            </a:r>
            <a:r>
              <a:rPr sz="2000" spc="-10" dirty="0">
                <a:latin typeface="PT Sans" panose="020B0503020203020204" pitchFamily="34" charset="0"/>
                <a:cs typeface="Calibri"/>
              </a:rPr>
              <a:t>networks</a:t>
            </a:r>
            <a:endParaRPr sz="2000">
              <a:latin typeface="PT Sans" panose="020B0503020203020204" pitchFamily="34" charset="0"/>
              <a:cs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78739" y="14986"/>
            <a:ext cx="10328275" cy="50526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>
                <a:latin typeface="PT Sans" panose="020B0503020203020204" pitchFamily="34" charset="0"/>
              </a:rPr>
              <a:t>Why</a:t>
            </a:r>
            <a:r>
              <a:rPr spc="15" dirty="0">
                <a:latin typeface="PT Sans" panose="020B0503020203020204" pitchFamily="34" charset="0"/>
              </a:rPr>
              <a:t> </a:t>
            </a:r>
            <a:r>
              <a:rPr dirty="0">
                <a:latin typeface="PT Sans" panose="020B0503020203020204" pitchFamily="34" charset="0"/>
              </a:rPr>
              <a:t>Deep</a:t>
            </a:r>
            <a:r>
              <a:rPr spc="110" dirty="0">
                <a:latin typeface="PT Sans" panose="020B0503020203020204" pitchFamily="34" charset="0"/>
              </a:rPr>
              <a:t> </a:t>
            </a:r>
            <a:r>
              <a:rPr spc="60" dirty="0">
                <a:latin typeface="PT Sans" panose="020B0503020203020204" pitchFamily="34" charset="0"/>
              </a:rPr>
              <a:t>Neural</a:t>
            </a:r>
            <a:r>
              <a:rPr spc="125" dirty="0">
                <a:latin typeface="PT Sans" panose="020B0503020203020204" pitchFamily="34" charset="0"/>
              </a:rPr>
              <a:t> </a:t>
            </a:r>
            <a:r>
              <a:rPr spc="-10" dirty="0">
                <a:latin typeface="PT Sans" panose="020B0503020203020204" pitchFamily="34" charset="0"/>
              </a:rPr>
              <a:t>Networks?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969009" y="5189587"/>
            <a:ext cx="9438005" cy="85664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40665" indent="-227965">
              <a:spcBef>
                <a:spcPts val="100"/>
              </a:spcBef>
              <a:buFont typeface="Arial"/>
              <a:buChar char="•"/>
              <a:tabLst>
                <a:tab pos="240665" algn="l"/>
              </a:tabLst>
            </a:pPr>
            <a:r>
              <a:rPr sz="1800" dirty="0">
                <a:latin typeface="PT Sans" panose="020B0503020203020204" pitchFamily="34" charset="0"/>
                <a:cs typeface="Calibri"/>
              </a:rPr>
              <a:t>Deep</a:t>
            </a:r>
            <a:r>
              <a:rPr sz="1800" spc="190" dirty="0">
                <a:latin typeface="PT Sans" panose="020B0503020203020204" pitchFamily="34" charset="0"/>
                <a:cs typeface="Calibri"/>
              </a:rPr>
              <a:t> </a:t>
            </a:r>
            <a:r>
              <a:rPr sz="1800" dirty="0">
                <a:latin typeface="PT Sans" panose="020B0503020203020204" pitchFamily="34" charset="0"/>
                <a:cs typeface="Calibri"/>
              </a:rPr>
              <a:t>neural</a:t>
            </a:r>
            <a:r>
              <a:rPr sz="1800" spc="190" dirty="0">
                <a:latin typeface="PT Sans" panose="020B0503020203020204" pitchFamily="34" charset="0"/>
                <a:cs typeface="Calibri"/>
              </a:rPr>
              <a:t> </a:t>
            </a:r>
            <a:r>
              <a:rPr sz="1800" dirty="0">
                <a:latin typeface="PT Sans" panose="020B0503020203020204" pitchFamily="34" charset="0"/>
                <a:cs typeface="Calibri"/>
              </a:rPr>
              <a:t>networks</a:t>
            </a:r>
            <a:r>
              <a:rPr sz="1800" spc="200" dirty="0">
                <a:latin typeface="PT Sans" panose="020B0503020203020204" pitchFamily="34" charset="0"/>
                <a:cs typeface="Calibri"/>
              </a:rPr>
              <a:t> </a:t>
            </a:r>
            <a:r>
              <a:rPr sz="1800" dirty="0">
                <a:latin typeface="PT Sans" panose="020B0503020203020204" pitchFamily="34" charset="0"/>
                <a:cs typeface="Calibri"/>
              </a:rPr>
              <a:t>are</a:t>
            </a:r>
            <a:r>
              <a:rPr sz="1800" spc="185" dirty="0">
                <a:latin typeface="PT Sans" panose="020B0503020203020204" pitchFamily="34" charset="0"/>
                <a:cs typeface="Calibri"/>
              </a:rPr>
              <a:t> </a:t>
            </a:r>
            <a:r>
              <a:rPr sz="1800" dirty="0">
                <a:latin typeface="PT Sans" panose="020B0503020203020204" pitchFamily="34" charset="0"/>
                <a:cs typeface="Calibri"/>
              </a:rPr>
              <a:t>excellent</a:t>
            </a:r>
            <a:r>
              <a:rPr sz="1800" spc="180" dirty="0">
                <a:latin typeface="PT Sans" panose="020B0503020203020204" pitchFamily="34" charset="0"/>
                <a:cs typeface="Calibri"/>
              </a:rPr>
              <a:t> </a:t>
            </a:r>
            <a:r>
              <a:rPr sz="1800" dirty="0">
                <a:latin typeface="PT Sans" panose="020B0503020203020204" pitchFamily="34" charset="0"/>
                <a:cs typeface="Calibri"/>
              </a:rPr>
              <a:t>for</a:t>
            </a:r>
            <a:r>
              <a:rPr sz="1800" spc="185" dirty="0">
                <a:latin typeface="PT Sans" panose="020B0503020203020204" pitchFamily="34" charset="0"/>
                <a:cs typeface="Calibri"/>
              </a:rPr>
              <a:t> </a:t>
            </a:r>
            <a:r>
              <a:rPr sz="1800" dirty="0">
                <a:latin typeface="PT Sans" panose="020B0503020203020204" pitchFamily="34" charset="0"/>
                <a:cs typeface="Calibri"/>
              </a:rPr>
              <a:t>certain</a:t>
            </a:r>
            <a:r>
              <a:rPr sz="1800" spc="190" dirty="0">
                <a:latin typeface="PT Sans" panose="020B0503020203020204" pitchFamily="34" charset="0"/>
                <a:cs typeface="Calibri"/>
              </a:rPr>
              <a:t> </a:t>
            </a:r>
            <a:r>
              <a:rPr sz="1800" spc="45" dirty="0">
                <a:latin typeface="PT Sans" panose="020B0503020203020204" pitchFamily="34" charset="0"/>
                <a:cs typeface="Calibri"/>
              </a:rPr>
              <a:t>classes</a:t>
            </a:r>
            <a:r>
              <a:rPr sz="1800" spc="195" dirty="0">
                <a:latin typeface="PT Sans" panose="020B0503020203020204" pitchFamily="34" charset="0"/>
                <a:cs typeface="Calibri"/>
              </a:rPr>
              <a:t> </a:t>
            </a:r>
            <a:r>
              <a:rPr sz="1800" dirty="0">
                <a:latin typeface="PT Sans" panose="020B0503020203020204" pitchFamily="34" charset="0"/>
                <a:cs typeface="Calibri"/>
              </a:rPr>
              <a:t>of</a:t>
            </a:r>
            <a:r>
              <a:rPr sz="1800" spc="195" dirty="0">
                <a:latin typeface="PT Sans" panose="020B0503020203020204" pitchFamily="34" charset="0"/>
                <a:cs typeface="Calibri"/>
              </a:rPr>
              <a:t> </a:t>
            </a:r>
            <a:r>
              <a:rPr sz="1800" dirty="0">
                <a:latin typeface="PT Sans" panose="020B0503020203020204" pitchFamily="34" charset="0"/>
                <a:cs typeface="Calibri"/>
              </a:rPr>
              <a:t>problems,</a:t>
            </a:r>
            <a:r>
              <a:rPr sz="1800" spc="10" dirty="0">
                <a:latin typeface="PT Sans" panose="020B0503020203020204" pitchFamily="34" charset="0"/>
                <a:cs typeface="Calibri"/>
              </a:rPr>
              <a:t> </a:t>
            </a:r>
            <a:r>
              <a:rPr sz="1800" dirty="0">
                <a:latin typeface="PT Sans" panose="020B0503020203020204" pitchFamily="34" charset="0"/>
                <a:cs typeface="Calibri"/>
              </a:rPr>
              <a:t>such</a:t>
            </a:r>
            <a:r>
              <a:rPr sz="1800" spc="190" dirty="0">
                <a:latin typeface="PT Sans" panose="020B0503020203020204" pitchFamily="34" charset="0"/>
                <a:cs typeface="Calibri"/>
              </a:rPr>
              <a:t> </a:t>
            </a:r>
            <a:r>
              <a:rPr sz="1800" dirty="0">
                <a:latin typeface="PT Sans" panose="020B0503020203020204" pitchFamily="34" charset="0"/>
                <a:cs typeface="Calibri"/>
              </a:rPr>
              <a:t>as</a:t>
            </a:r>
            <a:r>
              <a:rPr sz="1800" spc="200" dirty="0">
                <a:latin typeface="PT Sans" panose="020B0503020203020204" pitchFamily="34" charset="0"/>
                <a:cs typeface="Calibri"/>
              </a:rPr>
              <a:t> </a:t>
            </a:r>
            <a:r>
              <a:rPr sz="1800" dirty="0">
                <a:latin typeface="PT Sans" panose="020B0503020203020204" pitchFamily="34" charset="0"/>
                <a:cs typeface="Calibri"/>
              </a:rPr>
              <a:t>image</a:t>
            </a:r>
            <a:r>
              <a:rPr sz="1800" spc="175" dirty="0">
                <a:latin typeface="PT Sans" panose="020B0503020203020204" pitchFamily="34" charset="0"/>
                <a:cs typeface="Calibri"/>
              </a:rPr>
              <a:t> </a:t>
            </a:r>
            <a:r>
              <a:rPr sz="1800" spc="-10" dirty="0">
                <a:latin typeface="PT Sans" panose="020B0503020203020204" pitchFamily="34" charset="0"/>
                <a:cs typeface="Calibri"/>
              </a:rPr>
              <a:t>recognition,</a:t>
            </a:r>
            <a:r>
              <a:rPr lang="en-US" sz="1800" spc="-10" dirty="0">
                <a:latin typeface="PT Sans" panose="020B0503020203020204" pitchFamily="34" charset="0"/>
                <a:cs typeface="Calibri"/>
              </a:rPr>
              <a:t> </a:t>
            </a:r>
            <a:r>
              <a:rPr lang="en-US" sz="1800" dirty="0">
                <a:latin typeface="PT Sans" panose="020B0503020203020204" pitchFamily="34" charset="0"/>
                <a:cs typeface="Calibri"/>
              </a:rPr>
              <a:t>speech</a:t>
            </a:r>
            <a:r>
              <a:rPr lang="en-US" sz="1800" spc="280" dirty="0">
                <a:latin typeface="PT Sans" panose="020B0503020203020204" pitchFamily="34" charset="0"/>
                <a:cs typeface="Calibri"/>
              </a:rPr>
              <a:t> </a:t>
            </a:r>
            <a:r>
              <a:rPr lang="en-US" sz="1800" dirty="0">
                <a:latin typeface="PT Sans" panose="020B0503020203020204" pitchFamily="34" charset="0"/>
                <a:cs typeface="Calibri"/>
              </a:rPr>
              <a:t>recognition</a:t>
            </a:r>
            <a:r>
              <a:rPr lang="en-US" sz="1800" spc="280" dirty="0">
                <a:latin typeface="PT Sans" panose="020B0503020203020204" pitchFamily="34" charset="0"/>
                <a:cs typeface="Calibri"/>
              </a:rPr>
              <a:t> </a:t>
            </a:r>
            <a:r>
              <a:rPr lang="en-US" sz="1800" spc="-20" dirty="0">
                <a:latin typeface="PT Sans" panose="020B0503020203020204" pitchFamily="34" charset="0"/>
                <a:cs typeface="Calibri"/>
              </a:rPr>
              <a:t>etc.</a:t>
            </a:r>
            <a:endParaRPr lang="en-US" sz="1800" dirty="0">
              <a:latin typeface="PT Sans" panose="020B0503020203020204" pitchFamily="34" charset="0"/>
              <a:cs typeface="Calibri"/>
            </a:endParaRPr>
          </a:p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240665" algn="l"/>
              </a:tabLst>
            </a:pPr>
            <a:endParaRPr sz="1800" dirty="0">
              <a:latin typeface="PT Sans" panose="020B0503020203020204" pitchFamily="34" charset="0"/>
              <a:cs typeface="Calibri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948274" y="5849933"/>
            <a:ext cx="11049000" cy="334066"/>
          </a:xfrm>
          <a:prstGeom prst="rect">
            <a:avLst/>
          </a:prstGeom>
        </p:spPr>
        <p:txBody>
          <a:bodyPr vert="horz" wrap="square" lIns="0" tIns="56515" rIns="0" bIns="0" rtlCol="0">
            <a:spAutoFit/>
          </a:bodyPr>
          <a:lstStyle/>
          <a:p>
            <a:pPr marL="240665" indent="-227965">
              <a:lnSpc>
                <a:spcPct val="100000"/>
              </a:lnSpc>
              <a:spcBef>
                <a:spcPts val="345"/>
              </a:spcBef>
              <a:buFont typeface="Arial"/>
              <a:buChar char="•"/>
              <a:tabLst>
                <a:tab pos="240665" algn="l"/>
              </a:tabLst>
            </a:pPr>
            <a:r>
              <a:rPr sz="1800" dirty="0">
                <a:latin typeface="PT Sans" panose="020B0503020203020204" pitchFamily="34" charset="0"/>
                <a:cs typeface="Calibri"/>
              </a:rPr>
              <a:t>Importantly, as</a:t>
            </a:r>
            <a:r>
              <a:rPr sz="1800" spc="180" dirty="0">
                <a:latin typeface="PT Sans" panose="020B0503020203020204" pitchFamily="34" charset="0"/>
                <a:cs typeface="Calibri"/>
              </a:rPr>
              <a:t> </a:t>
            </a:r>
            <a:r>
              <a:rPr sz="1800" dirty="0">
                <a:latin typeface="PT Sans" panose="020B0503020203020204" pitchFamily="34" charset="0"/>
                <a:cs typeface="Calibri"/>
              </a:rPr>
              <a:t>the</a:t>
            </a:r>
            <a:r>
              <a:rPr sz="1800" spc="165" dirty="0">
                <a:latin typeface="PT Sans" panose="020B0503020203020204" pitchFamily="34" charset="0"/>
                <a:cs typeface="Calibri"/>
              </a:rPr>
              <a:t> </a:t>
            </a:r>
            <a:r>
              <a:rPr sz="1800" dirty="0">
                <a:latin typeface="PT Sans" panose="020B0503020203020204" pitchFamily="34" charset="0"/>
                <a:cs typeface="Calibri"/>
              </a:rPr>
              <a:t>amount</a:t>
            </a:r>
            <a:r>
              <a:rPr sz="1800" spc="180" dirty="0">
                <a:latin typeface="PT Sans" panose="020B0503020203020204" pitchFamily="34" charset="0"/>
                <a:cs typeface="Calibri"/>
              </a:rPr>
              <a:t> </a:t>
            </a:r>
            <a:r>
              <a:rPr sz="1800" dirty="0">
                <a:latin typeface="PT Sans" panose="020B0503020203020204" pitchFamily="34" charset="0"/>
                <a:cs typeface="Calibri"/>
              </a:rPr>
              <a:t>of</a:t>
            </a:r>
            <a:r>
              <a:rPr sz="1800" spc="175" dirty="0">
                <a:latin typeface="PT Sans" panose="020B0503020203020204" pitchFamily="34" charset="0"/>
                <a:cs typeface="Calibri"/>
              </a:rPr>
              <a:t> </a:t>
            </a:r>
            <a:r>
              <a:rPr sz="1800" dirty="0">
                <a:latin typeface="PT Sans" panose="020B0503020203020204" pitchFamily="34" charset="0"/>
                <a:cs typeface="Calibri"/>
              </a:rPr>
              <a:t>data</a:t>
            </a:r>
            <a:r>
              <a:rPr sz="1800" spc="150" dirty="0">
                <a:latin typeface="PT Sans" panose="020B0503020203020204" pitchFamily="34" charset="0"/>
                <a:cs typeface="Calibri"/>
              </a:rPr>
              <a:t> </a:t>
            </a:r>
            <a:r>
              <a:rPr sz="1800" dirty="0">
                <a:latin typeface="PT Sans" panose="020B0503020203020204" pitchFamily="34" charset="0"/>
                <a:cs typeface="Calibri"/>
              </a:rPr>
              <a:t>scales, the</a:t>
            </a:r>
            <a:r>
              <a:rPr sz="1800" spc="170" dirty="0">
                <a:latin typeface="PT Sans" panose="020B0503020203020204" pitchFamily="34" charset="0"/>
                <a:cs typeface="Calibri"/>
              </a:rPr>
              <a:t> </a:t>
            </a:r>
            <a:r>
              <a:rPr sz="1800" dirty="0">
                <a:latin typeface="PT Sans" panose="020B0503020203020204" pitchFamily="34" charset="0"/>
                <a:cs typeface="Calibri"/>
              </a:rPr>
              <a:t>performance</a:t>
            </a:r>
            <a:r>
              <a:rPr sz="1800" spc="155" dirty="0">
                <a:latin typeface="PT Sans" panose="020B0503020203020204" pitchFamily="34" charset="0"/>
                <a:cs typeface="Calibri"/>
              </a:rPr>
              <a:t> </a:t>
            </a:r>
            <a:r>
              <a:rPr sz="1800" dirty="0">
                <a:latin typeface="PT Sans" panose="020B0503020203020204" pitchFamily="34" charset="0"/>
                <a:cs typeface="Calibri"/>
              </a:rPr>
              <a:t>of</a:t>
            </a:r>
            <a:r>
              <a:rPr sz="1800" spc="175" dirty="0">
                <a:latin typeface="PT Sans" panose="020B0503020203020204" pitchFamily="34" charset="0"/>
                <a:cs typeface="Calibri"/>
              </a:rPr>
              <a:t> </a:t>
            </a:r>
            <a:r>
              <a:rPr sz="1800" dirty="0">
                <a:latin typeface="PT Sans" panose="020B0503020203020204" pitchFamily="34" charset="0"/>
                <a:cs typeface="Calibri"/>
              </a:rPr>
              <a:t>deep</a:t>
            </a:r>
            <a:r>
              <a:rPr sz="1800" spc="170" dirty="0">
                <a:latin typeface="PT Sans" panose="020B0503020203020204" pitchFamily="34" charset="0"/>
                <a:cs typeface="Calibri"/>
              </a:rPr>
              <a:t> </a:t>
            </a:r>
            <a:r>
              <a:rPr sz="1800" dirty="0">
                <a:latin typeface="PT Sans" panose="020B0503020203020204" pitchFamily="34" charset="0"/>
                <a:cs typeface="Calibri"/>
              </a:rPr>
              <a:t>learning</a:t>
            </a:r>
            <a:r>
              <a:rPr sz="1800" spc="175" dirty="0">
                <a:latin typeface="PT Sans" panose="020B0503020203020204" pitchFamily="34" charset="0"/>
                <a:cs typeface="Calibri"/>
              </a:rPr>
              <a:t> </a:t>
            </a:r>
            <a:r>
              <a:rPr sz="1800" dirty="0">
                <a:latin typeface="PT Sans" panose="020B0503020203020204" pitchFamily="34" charset="0"/>
                <a:cs typeface="Calibri"/>
              </a:rPr>
              <a:t>continues</a:t>
            </a:r>
            <a:r>
              <a:rPr sz="1800" spc="180" dirty="0">
                <a:latin typeface="PT Sans" panose="020B0503020203020204" pitchFamily="34" charset="0"/>
                <a:cs typeface="Calibri"/>
              </a:rPr>
              <a:t> </a:t>
            </a:r>
            <a:r>
              <a:rPr sz="1800" dirty="0">
                <a:latin typeface="PT Sans" panose="020B0503020203020204" pitchFamily="34" charset="0"/>
                <a:cs typeface="Calibri"/>
              </a:rPr>
              <a:t>to</a:t>
            </a:r>
            <a:r>
              <a:rPr sz="1800" spc="170" dirty="0">
                <a:latin typeface="PT Sans" panose="020B0503020203020204" pitchFamily="34" charset="0"/>
                <a:cs typeface="Calibri"/>
              </a:rPr>
              <a:t> </a:t>
            </a:r>
            <a:r>
              <a:rPr sz="1800" spc="-10" dirty="0">
                <a:latin typeface="PT Sans" panose="020B0503020203020204" pitchFamily="34" charset="0"/>
                <a:cs typeface="Calibri"/>
              </a:rPr>
              <a:t>improve</a:t>
            </a:r>
            <a:endParaRPr sz="1800" dirty="0">
              <a:latin typeface="PT Sans" panose="020B0503020203020204" pitchFamily="34" charset="0"/>
              <a:cs typeface="Calibri"/>
            </a:endParaRPr>
          </a:p>
        </p:txBody>
      </p:sp>
      <p:pic>
        <p:nvPicPr>
          <p:cNvPr id="5" name="object 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26503" y="927201"/>
            <a:ext cx="10018166" cy="4129963"/>
          </a:xfrm>
          <a:prstGeom prst="rect">
            <a:avLst/>
          </a:prstGeom>
        </p:spPr>
      </p:pic>
      <p:sp>
        <p:nvSpPr>
          <p:cNvPr id="6" name="object 6"/>
          <p:cNvSpPr txBox="1"/>
          <p:nvPr/>
        </p:nvSpPr>
        <p:spPr>
          <a:xfrm>
            <a:off x="4114800" y="6301232"/>
            <a:ext cx="7893685" cy="28982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dirty="0">
                <a:latin typeface="PT Sans" panose="020B0503020203020204" pitchFamily="34" charset="0"/>
                <a:cs typeface="Calibri"/>
              </a:rPr>
              <a:t>Image</a:t>
            </a:r>
            <a:r>
              <a:rPr sz="1800" spc="-60" dirty="0">
                <a:latin typeface="PT Sans" panose="020B0503020203020204" pitchFamily="34" charset="0"/>
                <a:cs typeface="Calibri"/>
              </a:rPr>
              <a:t> </a:t>
            </a:r>
            <a:r>
              <a:rPr sz="1800" dirty="0">
                <a:latin typeface="PT Sans" panose="020B0503020203020204" pitchFamily="34" charset="0"/>
                <a:cs typeface="Calibri"/>
              </a:rPr>
              <a:t>from</a:t>
            </a:r>
            <a:r>
              <a:rPr sz="1800" spc="-50" dirty="0">
                <a:latin typeface="PT Sans" panose="020B0503020203020204" pitchFamily="34" charset="0"/>
                <a:cs typeface="Calibri"/>
              </a:rPr>
              <a:t> </a:t>
            </a:r>
            <a:r>
              <a:rPr sz="1800" dirty="0">
                <a:latin typeface="PT Sans" panose="020B0503020203020204" pitchFamily="34" charset="0"/>
                <a:cs typeface="Calibri"/>
              </a:rPr>
              <a:t>Medium:</a:t>
            </a:r>
            <a:r>
              <a:rPr sz="1800" spc="-30" dirty="0">
                <a:latin typeface="PT Sans" panose="020B0503020203020204" pitchFamily="34" charset="0"/>
                <a:cs typeface="Calibri"/>
              </a:rPr>
              <a:t> </a:t>
            </a:r>
            <a:r>
              <a:rPr sz="1800" dirty="0">
                <a:latin typeface="PT Sans" panose="020B0503020203020204" pitchFamily="34" charset="0"/>
                <a:cs typeface="Calibri"/>
              </a:rPr>
              <a:t>“Review</a:t>
            </a:r>
            <a:r>
              <a:rPr sz="1800" spc="-45" dirty="0">
                <a:latin typeface="PT Sans" panose="020B0503020203020204" pitchFamily="34" charset="0"/>
                <a:cs typeface="Calibri"/>
              </a:rPr>
              <a:t> </a:t>
            </a:r>
            <a:r>
              <a:rPr sz="1800" dirty="0">
                <a:latin typeface="PT Sans" panose="020B0503020203020204" pitchFamily="34" charset="0"/>
                <a:cs typeface="Calibri"/>
              </a:rPr>
              <a:t>of</a:t>
            </a:r>
            <a:r>
              <a:rPr sz="1800" spc="-55" dirty="0">
                <a:latin typeface="PT Sans" panose="020B0503020203020204" pitchFamily="34" charset="0"/>
                <a:cs typeface="Calibri"/>
              </a:rPr>
              <a:t> </a:t>
            </a:r>
            <a:r>
              <a:rPr sz="1800" dirty="0">
                <a:latin typeface="PT Sans" panose="020B0503020203020204" pitchFamily="34" charset="0"/>
                <a:cs typeface="Calibri"/>
              </a:rPr>
              <a:t>Deep</a:t>
            </a:r>
            <a:r>
              <a:rPr sz="1800" spc="-25" dirty="0">
                <a:latin typeface="PT Sans" panose="020B0503020203020204" pitchFamily="34" charset="0"/>
                <a:cs typeface="Calibri"/>
              </a:rPr>
              <a:t> </a:t>
            </a:r>
            <a:r>
              <a:rPr sz="1800" dirty="0">
                <a:latin typeface="PT Sans" panose="020B0503020203020204" pitchFamily="34" charset="0"/>
                <a:cs typeface="Calibri"/>
              </a:rPr>
              <a:t>Learning</a:t>
            </a:r>
            <a:r>
              <a:rPr sz="1800" spc="-35" dirty="0">
                <a:latin typeface="PT Sans" panose="020B0503020203020204" pitchFamily="34" charset="0"/>
                <a:cs typeface="Calibri"/>
              </a:rPr>
              <a:t> </a:t>
            </a:r>
            <a:r>
              <a:rPr sz="1800" dirty="0">
                <a:latin typeface="PT Sans" panose="020B0503020203020204" pitchFamily="34" charset="0"/>
                <a:cs typeface="Calibri"/>
              </a:rPr>
              <a:t>Algorithms</a:t>
            </a:r>
            <a:r>
              <a:rPr sz="1800" spc="-50" dirty="0">
                <a:latin typeface="PT Sans" panose="020B0503020203020204" pitchFamily="34" charset="0"/>
                <a:cs typeface="Calibri"/>
              </a:rPr>
              <a:t> </a:t>
            </a:r>
            <a:r>
              <a:rPr sz="1800" dirty="0">
                <a:latin typeface="PT Sans" panose="020B0503020203020204" pitchFamily="34" charset="0"/>
                <a:cs typeface="Calibri"/>
              </a:rPr>
              <a:t>for</a:t>
            </a:r>
            <a:r>
              <a:rPr sz="1800" spc="-50" dirty="0">
                <a:latin typeface="PT Sans" panose="020B0503020203020204" pitchFamily="34" charset="0"/>
                <a:cs typeface="Calibri"/>
              </a:rPr>
              <a:t> </a:t>
            </a:r>
            <a:r>
              <a:rPr sz="1800" dirty="0">
                <a:latin typeface="PT Sans" panose="020B0503020203020204" pitchFamily="34" charset="0"/>
                <a:cs typeface="Calibri"/>
              </a:rPr>
              <a:t>Object</a:t>
            </a:r>
            <a:r>
              <a:rPr sz="1800" spc="-45" dirty="0">
                <a:latin typeface="PT Sans" panose="020B0503020203020204" pitchFamily="34" charset="0"/>
                <a:cs typeface="Calibri"/>
              </a:rPr>
              <a:t> </a:t>
            </a:r>
            <a:r>
              <a:rPr sz="1800" spc="-10" dirty="0">
                <a:latin typeface="PT Sans" panose="020B0503020203020204" pitchFamily="34" charset="0"/>
                <a:cs typeface="Calibri"/>
              </a:rPr>
              <a:t>Detection”</a:t>
            </a:r>
            <a:endParaRPr sz="1800" dirty="0">
              <a:latin typeface="PT Sans" panose="020B0503020203020204" pitchFamily="34" charset="0"/>
              <a:cs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20" dirty="0"/>
              <a:t>What’s</a:t>
            </a:r>
            <a:r>
              <a:rPr spc="175" dirty="0"/>
              <a:t> </a:t>
            </a:r>
            <a:r>
              <a:rPr dirty="0"/>
              <a:t>so</a:t>
            </a:r>
            <a:r>
              <a:rPr spc="175" dirty="0"/>
              <a:t> </a:t>
            </a:r>
            <a:r>
              <a:rPr dirty="0"/>
              <a:t>deep</a:t>
            </a:r>
            <a:r>
              <a:rPr spc="145" dirty="0"/>
              <a:t> </a:t>
            </a:r>
            <a:r>
              <a:rPr dirty="0"/>
              <a:t>about</a:t>
            </a:r>
            <a:r>
              <a:rPr spc="160" dirty="0"/>
              <a:t> </a:t>
            </a:r>
            <a:r>
              <a:rPr dirty="0"/>
              <a:t>Deep</a:t>
            </a:r>
            <a:r>
              <a:rPr spc="135" dirty="0"/>
              <a:t> </a:t>
            </a:r>
            <a:r>
              <a:rPr spc="60" dirty="0"/>
              <a:t>Neural</a:t>
            </a:r>
            <a:r>
              <a:rPr spc="145" dirty="0"/>
              <a:t> </a:t>
            </a:r>
            <a:r>
              <a:rPr spc="-10" dirty="0"/>
              <a:t>Networks?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1145844" y="4871084"/>
            <a:ext cx="9891395" cy="4222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41300" indent="-228600">
              <a:lnSpc>
                <a:spcPct val="100000"/>
              </a:lnSpc>
              <a:spcBef>
                <a:spcPts val="100"/>
              </a:spcBef>
              <a:buFont typeface="Arial"/>
              <a:buChar char="•"/>
              <a:tabLst>
                <a:tab pos="241300" algn="l"/>
              </a:tabLst>
            </a:pPr>
            <a:r>
              <a:rPr sz="2600" spc="90" dirty="0">
                <a:latin typeface="Calibri"/>
                <a:cs typeface="Calibri"/>
              </a:rPr>
              <a:t>The</a:t>
            </a:r>
            <a:r>
              <a:rPr sz="2600" spc="-5" dirty="0">
                <a:latin typeface="Calibri"/>
                <a:cs typeface="Calibri"/>
              </a:rPr>
              <a:t> </a:t>
            </a:r>
            <a:r>
              <a:rPr sz="2600" spc="-80" dirty="0">
                <a:latin typeface="Calibri"/>
                <a:cs typeface="Calibri"/>
              </a:rPr>
              <a:t>“deep”</a:t>
            </a:r>
            <a:r>
              <a:rPr sz="2600" spc="-55" dirty="0">
                <a:latin typeface="Calibri"/>
                <a:cs typeface="Calibri"/>
              </a:rPr>
              <a:t> </a:t>
            </a:r>
            <a:r>
              <a:rPr sz="2600" dirty="0">
                <a:latin typeface="Calibri"/>
                <a:cs typeface="Calibri"/>
              </a:rPr>
              <a:t>refers</a:t>
            </a:r>
            <a:r>
              <a:rPr sz="2600" spc="210" dirty="0">
                <a:latin typeface="Calibri"/>
                <a:cs typeface="Calibri"/>
              </a:rPr>
              <a:t> </a:t>
            </a:r>
            <a:r>
              <a:rPr sz="2600" dirty="0">
                <a:latin typeface="Calibri"/>
                <a:cs typeface="Calibri"/>
              </a:rPr>
              <a:t>to</a:t>
            </a:r>
            <a:r>
              <a:rPr sz="2600" spc="175" dirty="0">
                <a:latin typeface="Calibri"/>
                <a:cs typeface="Calibri"/>
              </a:rPr>
              <a:t> </a:t>
            </a:r>
            <a:r>
              <a:rPr sz="2600" dirty="0">
                <a:latin typeface="Calibri"/>
                <a:cs typeface="Calibri"/>
              </a:rPr>
              <a:t>the</a:t>
            </a:r>
            <a:r>
              <a:rPr sz="2600" spc="195" dirty="0">
                <a:latin typeface="Calibri"/>
                <a:cs typeface="Calibri"/>
              </a:rPr>
              <a:t> </a:t>
            </a:r>
            <a:r>
              <a:rPr sz="2600" dirty="0">
                <a:latin typeface="Calibri"/>
                <a:cs typeface="Calibri"/>
              </a:rPr>
              <a:t>number</a:t>
            </a:r>
            <a:r>
              <a:rPr sz="2600" spc="175" dirty="0">
                <a:latin typeface="Calibri"/>
                <a:cs typeface="Calibri"/>
              </a:rPr>
              <a:t> </a:t>
            </a:r>
            <a:r>
              <a:rPr sz="2600" dirty="0">
                <a:latin typeface="Calibri"/>
                <a:cs typeface="Calibri"/>
              </a:rPr>
              <a:t>of</a:t>
            </a:r>
            <a:r>
              <a:rPr sz="2600" spc="185" dirty="0">
                <a:latin typeface="Calibri"/>
                <a:cs typeface="Calibri"/>
              </a:rPr>
              <a:t> </a:t>
            </a:r>
            <a:r>
              <a:rPr sz="2600" dirty="0">
                <a:latin typeface="Calibri"/>
                <a:cs typeface="Calibri"/>
              </a:rPr>
              <a:t>layers</a:t>
            </a:r>
            <a:r>
              <a:rPr sz="2600" spc="195" dirty="0">
                <a:latin typeface="Calibri"/>
                <a:cs typeface="Calibri"/>
              </a:rPr>
              <a:t> </a:t>
            </a:r>
            <a:r>
              <a:rPr sz="2600" dirty="0">
                <a:latin typeface="Calibri"/>
                <a:cs typeface="Calibri"/>
              </a:rPr>
              <a:t>of</a:t>
            </a:r>
            <a:r>
              <a:rPr sz="2600" spc="-5" dirty="0">
                <a:latin typeface="Calibri"/>
                <a:cs typeface="Calibri"/>
              </a:rPr>
              <a:t> </a:t>
            </a:r>
            <a:r>
              <a:rPr sz="2600" spc="-30" dirty="0">
                <a:latin typeface="Calibri"/>
                <a:cs typeface="Calibri"/>
              </a:rPr>
              <a:t>‘units’</a:t>
            </a:r>
            <a:r>
              <a:rPr sz="2600" spc="-50" dirty="0">
                <a:latin typeface="Calibri"/>
                <a:cs typeface="Calibri"/>
              </a:rPr>
              <a:t> </a:t>
            </a:r>
            <a:r>
              <a:rPr sz="2600" dirty="0">
                <a:latin typeface="Calibri"/>
                <a:cs typeface="Calibri"/>
              </a:rPr>
              <a:t>between</a:t>
            </a:r>
            <a:r>
              <a:rPr sz="2600" spc="185" dirty="0">
                <a:latin typeface="Calibri"/>
                <a:cs typeface="Calibri"/>
              </a:rPr>
              <a:t> </a:t>
            </a:r>
            <a:r>
              <a:rPr sz="2600" dirty="0">
                <a:latin typeface="Calibri"/>
                <a:cs typeface="Calibri"/>
              </a:rPr>
              <a:t>the</a:t>
            </a:r>
            <a:r>
              <a:rPr sz="2600" spc="200" dirty="0">
                <a:latin typeface="Calibri"/>
                <a:cs typeface="Calibri"/>
              </a:rPr>
              <a:t> </a:t>
            </a:r>
            <a:r>
              <a:rPr sz="2600" spc="-10" dirty="0">
                <a:latin typeface="Calibri"/>
                <a:cs typeface="Calibri"/>
              </a:rPr>
              <a:t>input</a:t>
            </a:r>
            <a:endParaRPr sz="2600" dirty="0">
              <a:latin typeface="Calibri"/>
              <a:cs typeface="Calibri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1145844" y="5148453"/>
            <a:ext cx="8502650" cy="8261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40665">
              <a:lnSpc>
                <a:spcPct val="100000"/>
              </a:lnSpc>
              <a:spcBef>
                <a:spcPts val="100"/>
              </a:spcBef>
            </a:pPr>
            <a:r>
              <a:rPr sz="2600" dirty="0">
                <a:latin typeface="Calibri"/>
                <a:cs typeface="Calibri"/>
              </a:rPr>
              <a:t>layer</a:t>
            </a:r>
            <a:r>
              <a:rPr sz="2600" spc="250" dirty="0">
                <a:latin typeface="Calibri"/>
                <a:cs typeface="Calibri"/>
              </a:rPr>
              <a:t> </a:t>
            </a:r>
            <a:r>
              <a:rPr sz="2600" dirty="0">
                <a:latin typeface="Calibri"/>
                <a:cs typeface="Calibri"/>
              </a:rPr>
              <a:t>and</a:t>
            </a:r>
            <a:r>
              <a:rPr sz="2600" spc="240" dirty="0">
                <a:latin typeface="Calibri"/>
                <a:cs typeface="Calibri"/>
              </a:rPr>
              <a:t> </a:t>
            </a:r>
            <a:r>
              <a:rPr sz="2600" dirty="0">
                <a:latin typeface="Calibri"/>
                <a:cs typeface="Calibri"/>
              </a:rPr>
              <a:t>output</a:t>
            </a:r>
            <a:r>
              <a:rPr sz="2600" spc="250" dirty="0">
                <a:latin typeface="Calibri"/>
                <a:cs typeface="Calibri"/>
              </a:rPr>
              <a:t> </a:t>
            </a:r>
            <a:r>
              <a:rPr sz="2600" spc="-10" dirty="0">
                <a:latin typeface="Calibri"/>
                <a:cs typeface="Calibri"/>
              </a:rPr>
              <a:t>layer.</a:t>
            </a:r>
            <a:endParaRPr sz="2600">
              <a:latin typeface="Calibri"/>
              <a:cs typeface="Calibri"/>
            </a:endParaRPr>
          </a:p>
          <a:p>
            <a:pPr marL="241300" indent="-228600">
              <a:lnSpc>
                <a:spcPct val="100000"/>
              </a:lnSpc>
              <a:spcBef>
                <a:spcPts val="65"/>
              </a:spcBef>
              <a:buFont typeface="Arial"/>
              <a:buChar char="•"/>
              <a:tabLst>
                <a:tab pos="241300" algn="l"/>
              </a:tabLst>
            </a:pPr>
            <a:r>
              <a:rPr sz="2600" spc="65" dirty="0">
                <a:latin typeface="Calibri"/>
                <a:cs typeface="Calibri"/>
              </a:rPr>
              <a:t>Since</a:t>
            </a:r>
            <a:r>
              <a:rPr sz="2600" spc="155" dirty="0">
                <a:latin typeface="Calibri"/>
                <a:cs typeface="Calibri"/>
              </a:rPr>
              <a:t> </a:t>
            </a:r>
            <a:r>
              <a:rPr sz="2600" spc="55" dirty="0">
                <a:latin typeface="Calibri"/>
                <a:cs typeface="Calibri"/>
              </a:rPr>
              <a:t>this</a:t>
            </a:r>
            <a:r>
              <a:rPr sz="2600" spc="175" dirty="0">
                <a:latin typeface="Calibri"/>
                <a:cs typeface="Calibri"/>
              </a:rPr>
              <a:t> </a:t>
            </a:r>
            <a:r>
              <a:rPr sz="2600" spc="85" dirty="0">
                <a:latin typeface="Calibri"/>
                <a:cs typeface="Calibri"/>
              </a:rPr>
              <a:t>is</a:t>
            </a:r>
            <a:r>
              <a:rPr sz="2600" spc="175" dirty="0">
                <a:latin typeface="Calibri"/>
                <a:cs typeface="Calibri"/>
              </a:rPr>
              <a:t> </a:t>
            </a:r>
            <a:r>
              <a:rPr sz="2600" dirty="0">
                <a:latin typeface="Calibri"/>
                <a:cs typeface="Calibri"/>
              </a:rPr>
              <a:t>a</a:t>
            </a:r>
            <a:r>
              <a:rPr sz="2600" spc="160" dirty="0">
                <a:latin typeface="Calibri"/>
                <a:cs typeface="Calibri"/>
              </a:rPr>
              <a:t> </a:t>
            </a:r>
            <a:r>
              <a:rPr sz="2600" dirty="0">
                <a:latin typeface="Calibri"/>
                <a:cs typeface="Calibri"/>
              </a:rPr>
              <a:t>neural</a:t>
            </a:r>
            <a:r>
              <a:rPr sz="2600" spc="160" dirty="0">
                <a:latin typeface="Calibri"/>
                <a:cs typeface="Calibri"/>
              </a:rPr>
              <a:t> </a:t>
            </a:r>
            <a:r>
              <a:rPr sz="2600" dirty="0">
                <a:latin typeface="Calibri"/>
                <a:cs typeface="Calibri"/>
              </a:rPr>
              <a:t>network,</a:t>
            </a:r>
            <a:r>
              <a:rPr sz="2600" spc="-50" dirty="0">
                <a:latin typeface="Calibri"/>
                <a:cs typeface="Calibri"/>
              </a:rPr>
              <a:t> </a:t>
            </a:r>
            <a:r>
              <a:rPr sz="2600" dirty="0">
                <a:latin typeface="Calibri"/>
                <a:cs typeface="Calibri"/>
              </a:rPr>
              <a:t>the</a:t>
            </a:r>
            <a:r>
              <a:rPr sz="2600" spc="155" dirty="0">
                <a:latin typeface="Calibri"/>
                <a:cs typeface="Calibri"/>
              </a:rPr>
              <a:t> </a:t>
            </a:r>
            <a:r>
              <a:rPr sz="2600" spc="50" dirty="0">
                <a:latin typeface="Calibri"/>
                <a:cs typeface="Calibri"/>
              </a:rPr>
              <a:t>units</a:t>
            </a:r>
            <a:r>
              <a:rPr sz="2600" spc="175" dirty="0">
                <a:latin typeface="Calibri"/>
                <a:cs typeface="Calibri"/>
              </a:rPr>
              <a:t> </a:t>
            </a:r>
            <a:r>
              <a:rPr sz="2600" dirty="0">
                <a:latin typeface="Calibri"/>
                <a:cs typeface="Calibri"/>
              </a:rPr>
              <a:t>are</a:t>
            </a:r>
            <a:r>
              <a:rPr sz="2600" spc="160" dirty="0">
                <a:latin typeface="Calibri"/>
                <a:cs typeface="Calibri"/>
              </a:rPr>
              <a:t> </a:t>
            </a:r>
            <a:r>
              <a:rPr sz="2600" spc="75" dirty="0">
                <a:latin typeface="Calibri"/>
                <a:cs typeface="Calibri"/>
              </a:rPr>
              <a:t>called</a:t>
            </a:r>
            <a:r>
              <a:rPr sz="2600" spc="155" dirty="0">
                <a:latin typeface="Calibri"/>
                <a:cs typeface="Calibri"/>
              </a:rPr>
              <a:t> </a:t>
            </a:r>
            <a:r>
              <a:rPr sz="2600" spc="-10" dirty="0">
                <a:latin typeface="Calibri"/>
                <a:cs typeface="Calibri"/>
              </a:rPr>
              <a:t>neurons</a:t>
            </a:r>
            <a:endParaRPr sz="2600">
              <a:latin typeface="Calibri"/>
              <a:cs typeface="Calibri"/>
            </a:endParaRPr>
          </a:p>
        </p:txBody>
      </p:sp>
      <p:pic>
        <p:nvPicPr>
          <p:cNvPr id="5" name="object 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643587" y="1228839"/>
            <a:ext cx="8193197" cy="3032311"/>
          </a:xfrm>
          <a:prstGeom prst="rect">
            <a:avLst/>
          </a:prstGeom>
        </p:spPr>
      </p:pic>
      <p:sp>
        <p:nvSpPr>
          <p:cNvPr id="6" name="object 6"/>
          <p:cNvSpPr txBox="1"/>
          <p:nvPr/>
        </p:nvSpPr>
        <p:spPr>
          <a:xfrm>
            <a:off x="6599046" y="6431991"/>
            <a:ext cx="5575300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10" dirty="0">
                <a:latin typeface="Calibri"/>
                <a:cs typeface="Calibri"/>
              </a:rPr>
              <a:t>https://becominghuman.ai/deep-learning-made-easy-with-deep-cognition-403fbe445351</a:t>
            </a:r>
            <a:endParaRPr sz="120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60" dirty="0"/>
              <a:t>Fundamental</a:t>
            </a:r>
            <a:r>
              <a:rPr spc="114" dirty="0"/>
              <a:t> </a:t>
            </a:r>
            <a:r>
              <a:rPr spc="55" dirty="0"/>
              <a:t>Unit</a:t>
            </a:r>
            <a:r>
              <a:rPr spc="155" dirty="0"/>
              <a:t> </a:t>
            </a:r>
            <a:r>
              <a:rPr dirty="0"/>
              <a:t>of</a:t>
            </a:r>
            <a:r>
              <a:rPr spc="150" dirty="0"/>
              <a:t> </a:t>
            </a:r>
            <a:r>
              <a:rPr dirty="0"/>
              <a:t>a</a:t>
            </a:r>
            <a:r>
              <a:rPr spc="140" dirty="0"/>
              <a:t> </a:t>
            </a:r>
            <a:r>
              <a:rPr spc="55" dirty="0"/>
              <a:t>Neural</a:t>
            </a:r>
            <a:r>
              <a:rPr spc="125" dirty="0"/>
              <a:t> </a:t>
            </a:r>
            <a:r>
              <a:rPr spc="-10" dirty="0"/>
              <a:t>Network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717905" y="4057378"/>
            <a:ext cx="8677275" cy="2130425"/>
          </a:xfrm>
          <a:prstGeom prst="rect">
            <a:avLst/>
          </a:prstGeom>
        </p:spPr>
        <p:txBody>
          <a:bodyPr vert="horz" wrap="square" lIns="0" tIns="165100" rIns="0" bIns="0" rtlCol="0">
            <a:spAutoFit/>
          </a:bodyPr>
          <a:lstStyle/>
          <a:p>
            <a:pPr marL="2154555">
              <a:lnSpc>
                <a:spcPct val="100000"/>
              </a:lnSpc>
              <a:spcBef>
                <a:spcPts val="1300"/>
              </a:spcBef>
            </a:pPr>
            <a:r>
              <a:rPr sz="1800" b="1" i="1" dirty="0">
                <a:latin typeface="Calibri"/>
                <a:cs typeface="Calibri"/>
              </a:rPr>
              <a:t>Mathematical</a:t>
            </a:r>
            <a:r>
              <a:rPr sz="1800" b="1" i="1" spc="-30" dirty="0">
                <a:latin typeface="Calibri"/>
                <a:cs typeface="Calibri"/>
              </a:rPr>
              <a:t> </a:t>
            </a:r>
            <a:r>
              <a:rPr sz="1800" b="1" i="1" dirty="0">
                <a:latin typeface="Calibri"/>
                <a:cs typeface="Calibri"/>
              </a:rPr>
              <a:t>Definition</a:t>
            </a:r>
            <a:r>
              <a:rPr sz="1800" b="1" i="1" spc="-20" dirty="0">
                <a:latin typeface="Calibri"/>
                <a:cs typeface="Calibri"/>
              </a:rPr>
              <a:t> </a:t>
            </a:r>
            <a:r>
              <a:rPr sz="1800" b="1" i="1" dirty="0">
                <a:latin typeface="Calibri"/>
                <a:cs typeface="Calibri"/>
              </a:rPr>
              <a:t>Y</a:t>
            </a:r>
            <a:r>
              <a:rPr sz="1800" b="1" i="1" spc="-10" dirty="0">
                <a:latin typeface="Calibri"/>
                <a:cs typeface="Calibri"/>
              </a:rPr>
              <a:t> </a:t>
            </a:r>
            <a:r>
              <a:rPr sz="1800" b="1" i="1" dirty="0">
                <a:latin typeface="Calibri"/>
                <a:cs typeface="Calibri"/>
              </a:rPr>
              <a:t>=</a:t>
            </a:r>
            <a:r>
              <a:rPr sz="1800" b="1" i="1" spc="-10" dirty="0">
                <a:latin typeface="Calibri"/>
                <a:cs typeface="Calibri"/>
              </a:rPr>
              <a:t> </a:t>
            </a:r>
            <a:r>
              <a:rPr sz="1800" b="1" i="1" dirty="0">
                <a:latin typeface="Calibri"/>
                <a:cs typeface="Calibri"/>
              </a:rPr>
              <a:t>f(w1*x1</a:t>
            </a:r>
            <a:r>
              <a:rPr sz="1800" b="1" i="1" spc="-15" dirty="0">
                <a:latin typeface="Calibri"/>
                <a:cs typeface="Calibri"/>
              </a:rPr>
              <a:t> </a:t>
            </a:r>
            <a:r>
              <a:rPr sz="1800" b="1" i="1" dirty="0">
                <a:latin typeface="Calibri"/>
                <a:cs typeface="Calibri"/>
              </a:rPr>
              <a:t>+</a:t>
            </a:r>
            <a:r>
              <a:rPr sz="1800" b="1" i="1" spc="-5" dirty="0">
                <a:latin typeface="Calibri"/>
                <a:cs typeface="Calibri"/>
              </a:rPr>
              <a:t> </a:t>
            </a:r>
            <a:r>
              <a:rPr sz="1800" b="1" i="1" dirty="0">
                <a:latin typeface="Calibri"/>
                <a:cs typeface="Calibri"/>
              </a:rPr>
              <a:t>w2*x2</a:t>
            </a:r>
            <a:r>
              <a:rPr sz="1800" b="1" i="1" spc="-25" dirty="0">
                <a:latin typeface="Calibri"/>
                <a:cs typeface="Calibri"/>
              </a:rPr>
              <a:t> </a:t>
            </a:r>
            <a:r>
              <a:rPr sz="1800" b="1" i="1" dirty="0">
                <a:latin typeface="Calibri"/>
                <a:cs typeface="Calibri"/>
              </a:rPr>
              <a:t>+</a:t>
            </a:r>
            <a:r>
              <a:rPr sz="1800" b="1" i="1" spc="-5" dirty="0">
                <a:latin typeface="Calibri"/>
                <a:cs typeface="Calibri"/>
              </a:rPr>
              <a:t> </a:t>
            </a:r>
            <a:r>
              <a:rPr sz="1800" b="1" i="1" dirty="0">
                <a:latin typeface="Calibri"/>
                <a:cs typeface="Calibri"/>
              </a:rPr>
              <a:t>w3*x3</a:t>
            </a:r>
            <a:r>
              <a:rPr sz="1800" b="1" i="1" spc="-15" dirty="0">
                <a:latin typeface="Calibri"/>
                <a:cs typeface="Calibri"/>
              </a:rPr>
              <a:t> </a:t>
            </a:r>
            <a:r>
              <a:rPr sz="1800" b="1" i="1" dirty="0">
                <a:latin typeface="Calibri"/>
                <a:cs typeface="Calibri"/>
              </a:rPr>
              <a:t>+</a:t>
            </a:r>
            <a:r>
              <a:rPr sz="1800" b="1" i="1" spc="-15" dirty="0">
                <a:latin typeface="Calibri"/>
                <a:cs typeface="Calibri"/>
              </a:rPr>
              <a:t> </a:t>
            </a:r>
            <a:r>
              <a:rPr sz="1800" b="1" i="1" spc="-25" dirty="0">
                <a:latin typeface="Calibri"/>
                <a:cs typeface="Calibri"/>
              </a:rPr>
              <a:t>b)</a:t>
            </a:r>
            <a:endParaRPr sz="1800">
              <a:latin typeface="Calibri"/>
              <a:cs typeface="Calibri"/>
            </a:endParaRPr>
          </a:p>
          <a:p>
            <a:pPr marL="278130" indent="-227329">
              <a:lnSpc>
                <a:spcPts val="2775"/>
              </a:lnSpc>
              <a:spcBef>
                <a:spcPts val="1600"/>
              </a:spcBef>
              <a:buFont typeface="Arial"/>
              <a:buChar char="•"/>
              <a:tabLst>
                <a:tab pos="278130" algn="l"/>
              </a:tabLst>
            </a:pPr>
            <a:r>
              <a:rPr sz="2400" spc="70" dirty="0">
                <a:latin typeface="Calibri"/>
                <a:cs typeface="Calibri"/>
              </a:rPr>
              <a:t>The</a:t>
            </a:r>
            <a:r>
              <a:rPr sz="2400" spc="21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above</a:t>
            </a:r>
            <a:r>
              <a:rPr sz="2400" spc="220" dirty="0">
                <a:latin typeface="Calibri"/>
                <a:cs typeface="Calibri"/>
              </a:rPr>
              <a:t> </a:t>
            </a:r>
            <a:r>
              <a:rPr sz="2400" spc="80" dirty="0">
                <a:latin typeface="Calibri"/>
                <a:cs typeface="Calibri"/>
              </a:rPr>
              <a:t>is</a:t>
            </a:r>
            <a:r>
              <a:rPr sz="2400" spc="204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21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fundamental</a:t>
            </a:r>
            <a:r>
              <a:rPr sz="2400" spc="19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unit</a:t>
            </a:r>
            <a:r>
              <a:rPr sz="2400" spc="17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of</a:t>
            </a:r>
            <a:r>
              <a:rPr sz="2400" spc="21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</a:t>
            </a:r>
            <a:r>
              <a:rPr sz="2400" spc="19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neural</a:t>
            </a:r>
            <a:r>
              <a:rPr sz="2400" spc="195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network</a:t>
            </a:r>
            <a:endParaRPr sz="2400">
              <a:latin typeface="Calibri"/>
              <a:cs typeface="Calibri"/>
            </a:endParaRPr>
          </a:p>
          <a:p>
            <a:pPr marL="735965" lvl="1" indent="-227965">
              <a:lnSpc>
                <a:spcPts val="2180"/>
              </a:lnSpc>
              <a:buFont typeface="Arial"/>
              <a:buChar char="•"/>
              <a:tabLst>
                <a:tab pos="735965" algn="l"/>
              </a:tabLst>
            </a:pPr>
            <a:r>
              <a:rPr sz="2000" dirty="0">
                <a:latin typeface="Calibri"/>
                <a:cs typeface="Calibri"/>
              </a:rPr>
              <a:t>W</a:t>
            </a:r>
            <a:r>
              <a:rPr sz="1950" baseline="-21367" dirty="0">
                <a:latin typeface="Calibri"/>
                <a:cs typeface="Calibri"/>
              </a:rPr>
              <a:t>i</a:t>
            </a:r>
            <a:r>
              <a:rPr sz="1950" spc="540" baseline="-21367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refers</a:t>
            </a:r>
            <a:r>
              <a:rPr sz="2000" spc="17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to</a:t>
            </a:r>
            <a:r>
              <a:rPr sz="2000" spc="18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the</a:t>
            </a:r>
            <a:r>
              <a:rPr sz="2000" spc="204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weights,</a:t>
            </a:r>
            <a:r>
              <a:rPr sz="2000" spc="-3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sometimes</a:t>
            </a:r>
            <a:r>
              <a:rPr sz="2000" spc="155" dirty="0">
                <a:latin typeface="Calibri"/>
                <a:cs typeface="Calibri"/>
              </a:rPr>
              <a:t> </a:t>
            </a:r>
            <a:r>
              <a:rPr sz="2000" spc="55" dirty="0">
                <a:latin typeface="Calibri"/>
                <a:cs typeface="Calibri"/>
              </a:rPr>
              <a:t>called</a:t>
            </a:r>
            <a:r>
              <a:rPr sz="2000" spc="18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synaptic</a:t>
            </a:r>
            <a:r>
              <a:rPr sz="2000" spc="125" dirty="0">
                <a:latin typeface="Calibri"/>
                <a:cs typeface="Calibri"/>
              </a:rPr>
              <a:t> </a:t>
            </a:r>
            <a:r>
              <a:rPr sz="2000" spc="35" dirty="0">
                <a:latin typeface="Calibri"/>
                <a:cs typeface="Calibri"/>
              </a:rPr>
              <a:t>weights</a:t>
            </a:r>
            <a:endParaRPr sz="2000">
              <a:latin typeface="Calibri"/>
              <a:cs typeface="Calibri"/>
            </a:endParaRPr>
          </a:p>
          <a:p>
            <a:pPr marL="735965" lvl="1" indent="-227965">
              <a:lnSpc>
                <a:spcPts val="2180"/>
              </a:lnSpc>
              <a:buFont typeface="Arial"/>
              <a:buChar char="•"/>
              <a:tabLst>
                <a:tab pos="735965" algn="l"/>
              </a:tabLst>
            </a:pPr>
            <a:r>
              <a:rPr sz="2000" spc="60" dirty="0">
                <a:latin typeface="Calibri"/>
                <a:cs typeface="Calibri"/>
              </a:rPr>
              <a:t>The</a:t>
            </a:r>
            <a:r>
              <a:rPr sz="2000" spc="22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neuron</a:t>
            </a:r>
            <a:r>
              <a:rPr sz="2000" spc="190" dirty="0">
                <a:latin typeface="Calibri"/>
                <a:cs typeface="Calibri"/>
              </a:rPr>
              <a:t> </a:t>
            </a:r>
            <a:r>
              <a:rPr sz="2000" spc="60" dirty="0">
                <a:latin typeface="Calibri"/>
                <a:cs typeface="Calibri"/>
              </a:rPr>
              <a:t>is</a:t>
            </a:r>
            <a:r>
              <a:rPr sz="2000" spc="22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the</a:t>
            </a:r>
            <a:r>
              <a:rPr sz="2000" spc="204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mathematical</a:t>
            </a:r>
            <a:r>
              <a:rPr sz="2000" spc="18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function</a:t>
            </a:r>
            <a:r>
              <a:rPr sz="2000" spc="204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that</a:t>
            </a:r>
            <a:r>
              <a:rPr sz="2000" spc="20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connects</a:t>
            </a:r>
            <a:r>
              <a:rPr sz="2000" spc="22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inputs</a:t>
            </a:r>
            <a:r>
              <a:rPr sz="2000" spc="204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to</a:t>
            </a:r>
            <a:r>
              <a:rPr sz="2000" spc="220" dirty="0">
                <a:latin typeface="Calibri"/>
                <a:cs typeface="Calibri"/>
              </a:rPr>
              <a:t> </a:t>
            </a:r>
            <a:r>
              <a:rPr sz="2000" spc="-10" dirty="0">
                <a:latin typeface="Calibri"/>
                <a:cs typeface="Calibri"/>
              </a:rPr>
              <a:t>outputs</a:t>
            </a:r>
            <a:endParaRPr sz="2000">
              <a:latin typeface="Calibri"/>
              <a:cs typeface="Calibri"/>
            </a:endParaRPr>
          </a:p>
          <a:p>
            <a:pPr marL="735965" lvl="1" indent="-227965">
              <a:lnSpc>
                <a:spcPts val="2185"/>
              </a:lnSpc>
              <a:buFont typeface="Arial"/>
              <a:buChar char="•"/>
              <a:tabLst>
                <a:tab pos="735965" algn="l"/>
              </a:tabLst>
            </a:pPr>
            <a:r>
              <a:rPr sz="2000" spc="120" dirty="0">
                <a:latin typeface="Calibri"/>
                <a:cs typeface="Calibri"/>
              </a:rPr>
              <a:t>X</a:t>
            </a:r>
            <a:r>
              <a:rPr sz="1950" spc="179" baseline="-21367" dirty="0">
                <a:latin typeface="Calibri"/>
                <a:cs typeface="Calibri"/>
              </a:rPr>
              <a:t>i</a:t>
            </a:r>
            <a:r>
              <a:rPr sz="1950" spc="412" baseline="-21367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refers</a:t>
            </a:r>
            <a:r>
              <a:rPr sz="2000" spc="7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to</a:t>
            </a:r>
            <a:r>
              <a:rPr sz="2000" spc="10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the</a:t>
            </a:r>
            <a:r>
              <a:rPr sz="2000" spc="95" dirty="0">
                <a:latin typeface="Calibri"/>
                <a:cs typeface="Calibri"/>
              </a:rPr>
              <a:t> </a:t>
            </a:r>
            <a:r>
              <a:rPr sz="2000" spc="-10" dirty="0">
                <a:latin typeface="Calibri"/>
                <a:cs typeface="Calibri"/>
              </a:rPr>
              <a:t>inputs</a:t>
            </a:r>
            <a:endParaRPr sz="2000">
              <a:latin typeface="Calibri"/>
              <a:cs typeface="Calibri"/>
            </a:endParaRPr>
          </a:p>
          <a:p>
            <a:pPr marL="735965" lvl="1" indent="-227965">
              <a:lnSpc>
                <a:spcPts val="2295"/>
              </a:lnSpc>
              <a:buFont typeface="Arial"/>
              <a:buChar char="•"/>
              <a:tabLst>
                <a:tab pos="735965" algn="l"/>
              </a:tabLst>
            </a:pPr>
            <a:r>
              <a:rPr sz="2000" spc="135" dirty="0">
                <a:latin typeface="Calibri"/>
                <a:cs typeface="Calibri"/>
              </a:rPr>
              <a:t>Y</a:t>
            </a:r>
            <a:r>
              <a:rPr sz="2000" spc="4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refers</a:t>
            </a:r>
            <a:r>
              <a:rPr sz="2000" spc="8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to</a:t>
            </a:r>
            <a:r>
              <a:rPr sz="2000" spc="10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the</a:t>
            </a:r>
            <a:r>
              <a:rPr sz="2000" spc="105" dirty="0">
                <a:latin typeface="Calibri"/>
                <a:cs typeface="Calibri"/>
              </a:rPr>
              <a:t> </a:t>
            </a:r>
            <a:r>
              <a:rPr sz="2000" spc="-10" dirty="0">
                <a:latin typeface="Calibri"/>
                <a:cs typeface="Calibri"/>
              </a:rPr>
              <a:t>output</a:t>
            </a:r>
            <a:endParaRPr sz="2000">
              <a:latin typeface="Calibri"/>
              <a:cs typeface="Calibri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4765421" y="1461388"/>
            <a:ext cx="1670685" cy="1670685"/>
          </a:xfrm>
          <a:custGeom>
            <a:avLst/>
            <a:gdLst/>
            <a:ahLst/>
            <a:cxnLst/>
            <a:rect l="l" t="t" r="r" b="b"/>
            <a:pathLst>
              <a:path w="1670685" h="1670685">
                <a:moveTo>
                  <a:pt x="0" y="835278"/>
                </a:moveTo>
                <a:lnTo>
                  <a:pt x="1322" y="787885"/>
                </a:lnTo>
                <a:lnTo>
                  <a:pt x="5242" y="741184"/>
                </a:lnTo>
                <a:lnTo>
                  <a:pt x="11690" y="695246"/>
                </a:lnTo>
                <a:lnTo>
                  <a:pt x="20594" y="650143"/>
                </a:lnTo>
                <a:lnTo>
                  <a:pt x="31884" y="605944"/>
                </a:lnTo>
                <a:lnTo>
                  <a:pt x="45490" y="562721"/>
                </a:lnTo>
                <a:lnTo>
                  <a:pt x="61341" y="520543"/>
                </a:lnTo>
                <a:lnTo>
                  <a:pt x="79367" y="479482"/>
                </a:lnTo>
                <a:lnTo>
                  <a:pt x="99496" y="439607"/>
                </a:lnTo>
                <a:lnTo>
                  <a:pt x="121659" y="400990"/>
                </a:lnTo>
                <a:lnTo>
                  <a:pt x="145785" y="363701"/>
                </a:lnTo>
                <a:lnTo>
                  <a:pt x="171804" y="327810"/>
                </a:lnTo>
                <a:lnTo>
                  <a:pt x="199644" y="293389"/>
                </a:lnTo>
                <a:lnTo>
                  <a:pt x="229235" y="260507"/>
                </a:lnTo>
                <a:lnTo>
                  <a:pt x="260507" y="229235"/>
                </a:lnTo>
                <a:lnTo>
                  <a:pt x="293389" y="199644"/>
                </a:lnTo>
                <a:lnTo>
                  <a:pt x="327810" y="171804"/>
                </a:lnTo>
                <a:lnTo>
                  <a:pt x="363701" y="145785"/>
                </a:lnTo>
                <a:lnTo>
                  <a:pt x="400990" y="121659"/>
                </a:lnTo>
                <a:lnTo>
                  <a:pt x="439607" y="99496"/>
                </a:lnTo>
                <a:lnTo>
                  <a:pt x="479482" y="79367"/>
                </a:lnTo>
                <a:lnTo>
                  <a:pt x="520543" y="61341"/>
                </a:lnTo>
                <a:lnTo>
                  <a:pt x="562721" y="45490"/>
                </a:lnTo>
                <a:lnTo>
                  <a:pt x="605944" y="31884"/>
                </a:lnTo>
                <a:lnTo>
                  <a:pt x="650143" y="20594"/>
                </a:lnTo>
                <a:lnTo>
                  <a:pt x="695246" y="11690"/>
                </a:lnTo>
                <a:lnTo>
                  <a:pt x="741184" y="5242"/>
                </a:lnTo>
                <a:lnTo>
                  <a:pt x="787885" y="1322"/>
                </a:lnTo>
                <a:lnTo>
                  <a:pt x="835278" y="0"/>
                </a:lnTo>
                <a:lnTo>
                  <a:pt x="882672" y="1322"/>
                </a:lnTo>
                <a:lnTo>
                  <a:pt x="929373" y="5242"/>
                </a:lnTo>
                <a:lnTo>
                  <a:pt x="975311" y="11690"/>
                </a:lnTo>
                <a:lnTo>
                  <a:pt x="1020414" y="20594"/>
                </a:lnTo>
                <a:lnTo>
                  <a:pt x="1064613" y="31884"/>
                </a:lnTo>
                <a:lnTo>
                  <a:pt x="1107836" y="45490"/>
                </a:lnTo>
                <a:lnTo>
                  <a:pt x="1150014" y="61341"/>
                </a:lnTo>
                <a:lnTo>
                  <a:pt x="1191075" y="79367"/>
                </a:lnTo>
                <a:lnTo>
                  <a:pt x="1230950" y="99496"/>
                </a:lnTo>
                <a:lnTo>
                  <a:pt x="1269567" y="121659"/>
                </a:lnTo>
                <a:lnTo>
                  <a:pt x="1306856" y="145785"/>
                </a:lnTo>
                <a:lnTo>
                  <a:pt x="1342747" y="171804"/>
                </a:lnTo>
                <a:lnTo>
                  <a:pt x="1377168" y="199644"/>
                </a:lnTo>
                <a:lnTo>
                  <a:pt x="1410050" y="229235"/>
                </a:lnTo>
                <a:lnTo>
                  <a:pt x="1441322" y="260507"/>
                </a:lnTo>
                <a:lnTo>
                  <a:pt x="1470913" y="293389"/>
                </a:lnTo>
                <a:lnTo>
                  <a:pt x="1498753" y="327810"/>
                </a:lnTo>
                <a:lnTo>
                  <a:pt x="1524772" y="363701"/>
                </a:lnTo>
                <a:lnTo>
                  <a:pt x="1548898" y="400990"/>
                </a:lnTo>
                <a:lnTo>
                  <a:pt x="1571061" y="439607"/>
                </a:lnTo>
                <a:lnTo>
                  <a:pt x="1591190" y="479482"/>
                </a:lnTo>
                <a:lnTo>
                  <a:pt x="1609216" y="520543"/>
                </a:lnTo>
                <a:lnTo>
                  <a:pt x="1625067" y="562721"/>
                </a:lnTo>
                <a:lnTo>
                  <a:pt x="1638673" y="605944"/>
                </a:lnTo>
                <a:lnTo>
                  <a:pt x="1649963" y="650143"/>
                </a:lnTo>
                <a:lnTo>
                  <a:pt x="1658867" y="695246"/>
                </a:lnTo>
                <a:lnTo>
                  <a:pt x="1665315" y="741184"/>
                </a:lnTo>
                <a:lnTo>
                  <a:pt x="1669235" y="787885"/>
                </a:lnTo>
                <a:lnTo>
                  <a:pt x="1670557" y="835278"/>
                </a:lnTo>
                <a:lnTo>
                  <a:pt x="1669235" y="882672"/>
                </a:lnTo>
                <a:lnTo>
                  <a:pt x="1665315" y="929373"/>
                </a:lnTo>
                <a:lnTo>
                  <a:pt x="1658867" y="975311"/>
                </a:lnTo>
                <a:lnTo>
                  <a:pt x="1649963" y="1020414"/>
                </a:lnTo>
                <a:lnTo>
                  <a:pt x="1638673" y="1064613"/>
                </a:lnTo>
                <a:lnTo>
                  <a:pt x="1625067" y="1107836"/>
                </a:lnTo>
                <a:lnTo>
                  <a:pt x="1609216" y="1150014"/>
                </a:lnTo>
                <a:lnTo>
                  <a:pt x="1591190" y="1191075"/>
                </a:lnTo>
                <a:lnTo>
                  <a:pt x="1571061" y="1230950"/>
                </a:lnTo>
                <a:lnTo>
                  <a:pt x="1548898" y="1269567"/>
                </a:lnTo>
                <a:lnTo>
                  <a:pt x="1524772" y="1306856"/>
                </a:lnTo>
                <a:lnTo>
                  <a:pt x="1498753" y="1342747"/>
                </a:lnTo>
                <a:lnTo>
                  <a:pt x="1470913" y="1377168"/>
                </a:lnTo>
                <a:lnTo>
                  <a:pt x="1441322" y="1410050"/>
                </a:lnTo>
                <a:lnTo>
                  <a:pt x="1410050" y="1441322"/>
                </a:lnTo>
                <a:lnTo>
                  <a:pt x="1377168" y="1470913"/>
                </a:lnTo>
                <a:lnTo>
                  <a:pt x="1342747" y="1498753"/>
                </a:lnTo>
                <a:lnTo>
                  <a:pt x="1306856" y="1524772"/>
                </a:lnTo>
                <a:lnTo>
                  <a:pt x="1269567" y="1548898"/>
                </a:lnTo>
                <a:lnTo>
                  <a:pt x="1230950" y="1571061"/>
                </a:lnTo>
                <a:lnTo>
                  <a:pt x="1191075" y="1591190"/>
                </a:lnTo>
                <a:lnTo>
                  <a:pt x="1150014" y="1609216"/>
                </a:lnTo>
                <a:lnTo>
                  <a:pt x="1107836" y="1625067"/>
                </a:lnTo>
                <a:lnTo>
                  <a:pt x="1064613" y="1638673"/>
                </a:lnTo>
                <a:lnTo>
                  <a:pt x="1020414" y="1649963"/>
                </a:lnTo>
                <a:lnTo>
                  <a:pt x="975311" y="1658867"/>
                </a:lnTo>
                <a:lnTo>
                  <a:pt x="929373" y="1665315"/>
                </a:lnTo>
                <a:lnTo>
                  <a:pt x="882672" y="1669235"/>
                </a:lnTo>
                <a:lnTo>
                  <a:pt x="835278" y="1670558"/>
                </a:lnTo>
                <a:lnTo>
                  <a:pt x="787885" y="1669235"/>
                </a:lnTo>
                <a:lnTo>
                  <a:pt x="741184" y="1665315"/>
                </a:lnTo>
                <a:lnTo>
                  <a:pt x="695246" y="1658867"/>
                </a:lnTo>
                <a:lnTo>
                  <a:pt x="650143" y="1649963"/>
                </a:lnTo>
                <a:lnTo>
                  <a:pt x="605944" y="1638673"/>
                </a:lnTo>
                <a:lnTo>
                  <a:pt x="562721" y="1625067"/>
                </a:lnTo>
                <a:lnTo>
                  <a:pt x="520543" y="1609216"/>
                </a:lnTo>
                <a:lnTo>
                  <a:pt x="479482" y="1591190"/>
                </a:lnTo>
                <a:lnTo>
                  <a:pt x="439607" y="1571061"/>
                </a:lnTo>
                <a:lnTo>
                  <a:pt x="400990" y="1548898"/>
                </a:lnTo>
                <a:lnTo>
                  <a:pt x="363701" y="1524772"/>
                </a:lnTo>
                <a:lnTo>
                  <a:pt x="327810" y="1498753"/>
                </a:lnTo>
                <a:lnTo>
                  <a:pt x="293389" y="1470913"/>
                </a:lnTo>
                <a:lnTo>
                  <a:pt x="260507" y="1441322"/>
                </a:lnTo>
                <a:lnTo>
                  <a:pt x="229235" y="1410050"/>
                </a:lnTo>
                <a:lnTo>
                  <a:pt x="199644" y="1377168"/>
                </a:lnTo>
                <a:lnTo>
                  <a:pt x="171804" y="1342747"/>
                </a:lnTo>
                <a:lnTo>
                  <a:pt x="145785" y="1306856"/>
                </a:lnTo>
                <a:lnTo>
                  <a:pt x="121659" y="1269567"/>
                </a:lnTo>
                <a:lnTo>
                  <a:pt x="99496" y="1230950"/>
                </a:lnTo>
                <a:lnTo>
                  <a:pt x="79367" y="1191075"/>
                </a:lnTo>
                <a:lnTo>
                  <a:pt x="61341" y="1150014"/>
                </a:lnTo>
                <a:lnTo>
                  <a:pt x="45490" y="1107836"/>
                </a:lnTo>
                <a:lnTo>
                  <a:pt x="31884" y="1064613"/>
                </a:lnTo>
                <a:lnTo>
                  <a:pt x="20594" y="1020414"/>
                </a:lnTo>
                <a:lnTo>
                  <a:pt x="11690" y="975311"/>
                </a:lnTo>
                <a:lnTo>
                  <a:pt x="5242" y="929373"/>
                </a:lnTo>
                <a:lnTo>
                  <a:pt x="1322" y="882672"/>
                </a:lnTo>
                <a:lnTo>
                  <a:pt x="0" y="835278"/>
                </a:lnTo>
                <a:close/>
              </a:path>
            </a:pathLst>
          </a:custGeom>
          <a:ln w="1270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/>
          <p:nvPr/>
        </p:nvSpPr>
        <p:spPr>
          <a:xfrm>
            <a:off x="5238115" y="2131516"/>
            <a:ext cx="725170" cy="3003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10" dirty="0">
                <a:latin typeface="Calibri"/>
                <a:cs typeface="Calibri"/>
              </a:rPr>
              <a:t>Neuron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6" name="object 6"/>
          <p:cNvSpPr/>
          <p:nvPr/>
        </p:nvSpPr>
        <p:spPr>
          <a:xfrm>
            <a:off x="3156458" y="1282572"/>
            <a:ext cx="4897755" cy="2028189"/>
          </a:xfrm>
          <a:custGeom>
            <a:avLst/>
            <a:gdLst/>
            <a:ahLst/>
            <a:cxnLst/>
            <a:rect l="l" t="t" r="r" b="b"/>
            <a:pathLst>
              <a:path w="4897755" h="2028189">
                <a:moveTo>
                  <a:pt x="1608963" y="1014095"/>
                </a:moveTo>
                <a:lnTo>
                  <a:pt x="1602613" y="1010920"/>
                </a:lnTo>
                <a:lnTo>
                  <a:pt x="1532763" y="975995"/>
                </a:lnTo>
                <a:lnTo>
                  <a:pt x="1532763" y="1010920"/>
                </a:lnTo>
                <a:lnTo>
                  <a:pt x="0" y="1010920"/>
                </a:lnTo>
                <a:lnTo>
                  <a:pt x="0" y="1017270"/>
                </a:lnTo>
                <a:lnTo>
                  <a:pt x="1532763" y="1017270"/>
                </a:lnTo>
                <a:lnTo>
                  <a:pt x="1532763" y="1052195"/>
                </a:lnTo>
                <a:lnTo>
                  <a:pt x="1602613" y="1017270"/>
                </a:lnTo>
                <a:lnTo>
                  <a:pt x="1608963" y="1014095"/>
                </a:lnTo>
                <a:close/>
              </a:path>
              <a:path w="4897755" h="2028189">
                <a:moveTo>
                  <a:pt x="1737868" y="524637"/>
                </a:moveTo>
                <a:lnTo>
                  <a:pt x="1720113" y="505841"/>
                </a:lnTo>
                <a:lnTo>
                  <a:pt x="1679448" y="462788"/>
                </a:lnTo>
                <a:lnTo>
                  <a:pt x="1667459" y="495554"/>
                </a:lnTo>
                <a:lnTo>
                  <a:pt x="308737" y="0"/>
                </a:lnTo>
                <a:lnTo>
                  <a:pt x="306578" y="5969"/>
                </a:lnTo>
                <a:lnTo>
                  <a:pt x="1665274" y="501510"/>
                </a:lnTo>
                <a:lnTo>
                  <a:pt x="1653286" y="534289"/>
                </a:lnTo>
                <a:lnTo>
                  <a:pt x="1737868" y="524637"/>
                </a:lnTo>
                <a:close/>
              </a:path>
              <a:path w="4897755" h="2028189">
                <a:moveTo>
                  <a:pt x="1749679" y="1540129"/>
                </a:moveTo>
                <a:lnTo>
                  <a:pt x="1664970" y="1530858"/>
                </a:lnTo>
                <a:lnTo>
                  <a:pt x="1677060" y="1563598"/>
                </a:lnTo>
                <a:lnTo>
                  <a:pt x="438531" y="2022221"/>
                </a:lnTo>
                <a:lnTo>
                  <a:pt x="440690" y="2028190"/>
                </a:lnTo>
                <a:lnTo>
                  <a:pt x="1679270" y="1569593"/>
                </a:lnTo>
                <a:lnTo>
                  <a:pt x="1691386" y="1602359"/>
                </a:lnTo>
                <a:lnTo>
                  <a:pt x="1731822" y="1559179"/>
                </a:lnTo>
                <a:lnTo>
                  <a:pt x="1749679" y="1540129"/>
                </a:lnTo>
                <a:close/>
              </a:path>
              <a:path w="4897755" h="2028189">
                <a:moveTo>
                  <a:pt x="4897628" y="1014095"/>
                </a:moveTo>
                <a:lnTo>
                  <a:pt x="4891278" y="1010920"/>
                </a:lnTo>
                <a:lnTo>
                  <a:pt x="4821428" y="975995"/>
                </a:lnTo>
                <a:lnTo>
                  <a:pt x="4821428" y="1010920"/>
                </a:lnTo>
                <a:lnTo>
                  <a:pt x="3288538" y="1010920"/>
                </a:lnTo>
                <a:lnTo>
                  <a:pt x="3288538" y="1017270"/>
                </a:lnTo>
                <a:lnTo>
                  <a:pt x="4821428" y="1017270"/>
                </a:lnTo>
                <a:lnTo>
                  <a:pt x="4821428" y="1052195"/>
                </a:lnTo>
                <a:lnTo>
                  <a:pt x="4891278" y="1017270"/>
                </a:lnTo>
                <a:lnTo>
                  <a:pt x="4897628" y="1014095"/>
                </a:lnTo>
                <a:close/>
              </a:path>
            </a:pathLst>
          </a:custGeom>
          <a:solidFill>
            <a:srgbClr val="5B9BD4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 txBox="1"/>
          <p:nvPr/>
        </p:nvSpPr>
        <p:spPr>
          <a:xfrm>
            <a:off x="2816098" y="2077592"/>
            <a:ext cx="24066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25" dirty="0">
                <a:latin typeface="Calibri"/>
                <a:cs typeface="Calibri"/>
              </a:rPr>
              <a:t>x2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3235579" y="3187065"/>
            <a:ext cx="24066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25" dirty="0">
                <a:latin typeface="Calibri"/>
                <a:cs typeface="Calibri"/>
              </a:rPr>
              <a:t>x3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3137154" y="1036446"/>
            <a:ext cx="24066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25" dirty="0">
                <a:latin typeface="Calibri"/>
                <a:cs typeface="Calibri"/>
              </a:rPr>
              <a:t>x1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7821930" y="1970023"/>
            <a:ext cx="12890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50" dirty="0">
                <a:latin typeface="Calibri"/>
                <a:cs typeface="Calibri"/>
              </a:rPr>
              <a:t>y</a:t>
            </a:r>
            <a:endParaRPr sz="1800">
              <a:latin typeface="Calibri"/>
              <a:cs typeface="Calibri"/>
            </a:endParaRPr>
          </a:p>
        </p:txBody>
      </p:sp>
      <p:grpSp>
        <p:nvGrpSpPr>
          <p:cNvPr id="11" name="object 11"/>
          <p:cNvGrpSpPr/>
          <p:nvPr/>
        </p:nvGrpSpPr>
        <p:grpSpPr>
          <a:xfrm>
            <a:off x="3835908" y="1220977"/>
            <a:ext cx="540385" cy="534670"/>
            <a:chOff x="3835908" y="1220977"/>
            <a:chExt cx="540385" cy="534670"/>
          </a:xfrm>
        </p:grpSpPr>
        <p:sp>
          <p:nvSpPr>
            <p:cNvPr id="12" name="object 12"/>
            <p:cNvSpPr/>
            <p:nvPr/>
          </p:nvSpPr>
          <p:spPr>
            <a:xfrm>
              <a:off x="3842258" y="1227327"/>
              <a:ext cx="527685" cy="521970"/>
            </a:xfrm>
            <a:custGeom>
              <a:avLst/>
              <a:gdLst/>
              <a:ahLst/>
              <a:cxnLst/>
              <a:rect l="l" t="t" r="r" b="b"/>
              <a:pathLst>
                <a:path w="527685" h="521969">
                  <a:moveTo>
                    <a:pt x="263778" y="0"/>
                  </a:moveTo>
                  <a:lnTo>
                    <a:pt x="216367" y="4204"/>
                  </a:lnTo>
                  <a:lnTo>
                    <a:pt x="171742" y="16325"/>
                  </a:lnTo>
                  <a:lnTo>
                    <a:pt x="130650" y="35625"/>
                  </a:lnTo>
                  <a:lnTo>
                    <a:pt x="93834" y="61366"/>
                  </a:lnTo>
                  <a:lnTo>
                    <a:pt x="62041" y="92811"/>
                  </a:lnTo>
                  <a:lnTo>
                    <a:pt x="36016" y="129220"/>
                  </a:lnTo>
                  <a:lnTo>
                    <a:pt x="16504" y="169856"/>
                  </a:lnTo>
                  <a:lnTo>
                    <a:pt x="4250" y="213981"/>
                  </a:lnTo>
                  <a:lnTo>
                    <a:pt x="0" y="260858"/>
                  </a:lnTo>
                  <a:lnTo>
                    <a:pt x="4250" y="307734"/>
                  </a:lnTo>
                  <a:lnTo>
                    <a:pt x="16504" y="351859"/>
                  </a:lnTo>
                  <a:lnTo>
                    <a:pt x="36016" y="392495"/>
                  </a:lnTo>
                  <a:lnTo>
                    <a:pt x="62041" y="428904"/>
                  </a:lnTo>
                  <a:lnTo>
                    <a:pt x="93834" y="460349"/>
                  </a:lnTo>
                  <a:lnTo>
                    <a:pt x="130650" y="486090"/>
                  </a:lnTo>
                  <a:lnTo>
                    <a:pt x="171742" y="505390"/>
                  </a:lnTo>
                  <a:lnTo>
                    <a:pt x="216367" y="517511"/>
                  </a:lnTo>
                  <a:lnTo>
                    <a:pt x="263778" y="521716"/>
                  </a:lnTo>
                  <a:lnTo>
                    <a:pt x="311190" y="517511"/>
                  </a:lnTo>
                  <a:lnTo>
                    <a:pt x="355815" y="505390"/>
                  </a:lnTo>
                  <a:lnTo>
                    <a:pt x="396907" y="486090"/>
                  </a:lnTo>
                  <a:lnTo>
                    <a:pt x="433723" y="460349"/>
                  </a:lnTo>
                  <a:lnTo>
                    <a:pt x="465516" y="428904"/>
                  </a:lnTo>
                  <a:lnTo>
                    <a:pt x="491541" y="392495"/>
                  </a:lnTo>
                  <a:lnTo>
                    <a:pt x="511053" y="351859"/>
                  </a:lnTo>
                  <a:lnTo>
                    <a:pt x="523307" y="307734"/>
                  </a:lnTo>
                  <a:lnTo>
                    <a:pt x="527557" y="260858"/>
                  </a:lnTo>
                  <a:lnTo>
                    <a:pt x="523307" y="213981"/>
                  </a:lnTo>
                  <a:lnTo>
                    <a:pt x="511053" y="169856"/>
                  </a:lnTo>
                  <a:lnTo>
                    <a:pt x="491541" y="129220"/>
                  </a:lnTo>
                  <a:lnTo>
                    <a:pt x="465516" y="92811"/>
                  </a:lnTo>
                  <a:lnTo>
                    <a:pt x="433723" y="61366"/>
                  </a:lnTo>
                  <a:lnTo>
                    <a:pt x="396907" y="35625"/>
                  </a:lnTo>
                  <a:lnTo>
                    <a:pt x="355815" y="16325"/>
                  </a:lnTo>
                  <a:lnTo>
                    <a:pt x="311190" y="4204"/>
                  </a:lnTo>
                  <a:lnTo>
                    <a:pt x="263778" y="0"/>
                  </a:lnTo>
                  <a:close/>
                </a:path>
              </a:pathLst>
            </a:custGeom>
            <a:solidFill>
              <a:srgbClr val="5B9BD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/>
            <p:cNvSpPr/>
            <p:nvPr/>
          </p:nvSpPr>
          <p:spPr>
            <a:xfrm>
              <a:off x="3842258" y="1227327"/>
              <a:ext cx="527685" cy="521970"/>
            </a:xfrm>
            <a:custGeom>
              <a:avLst/>
              <a:gdLst/>
              <a:ahLst/>
              <a:cxnLst/>
              <a:rect l="l" t="t" r="r" b="b"/>
              <a:pathLst>
                <a:path w="527685" h="521969">
                  <a:moveTo>
                    <a:pt x="0" y="260858"/>
                  </a:moveTo>
                  <a:lnTo>
                    <a:pt x="4250" y="213981"/>
                  </a:lnTo>
                  <a:lnTo>
                    <a:pt x="16504" y="169856"/>
                  </a:lnTo>
                  <a:lnTo>
                    <a:pt x="36016" y="129220"/>
                  </a:lnTo>
                  <a:lnTo>
                    <a:pt x="62041" y="92811"/>
                  </a:lnTo>
                  <a:lnTo>
                    <a:pt x="93834" y="61366"/>
                  </a:lnTo>
                  <a:lnTo>
                    <a:pt x="130650" y="35625"/>
                  </a:lnTo>
                  <a:lnTo>
                    <a:pt x="171742" y="16325"/>
                  </a:lnTo>
                  <a:lnTo>
                    <a:pt x="216367" y="4204"/>
                  </a:lnTo>
                  <a:lnTo>
                    <a:pt x="263778" y="0"/>
                  </a:lnTo>
                  <a:lnTo>
                    <a:pt x="311190" y="4204"/>
                  </a:lnTo>
                  <a:lnTo>
                    <a:pt x="355815" y="16325"/>
                  </a:lnTo>
                  <a:lnTo>
                    <a:pt x="396907" y="35625"/>
                  </a:lnTo>
                  <a:lnTo>
                    <a:pt x="433723" y="61366"/>
                  </a:lnTo>
                  <a:lnTo>
                    <a:pt x="465516" y="92811"/>
                  </a:lnTo>
                  <a:lnTo>
                    <a:pt x="491541" y="129220"/>
                  </a:lnTo>
                  <a:lnTo>
                    <a:pt x="511053" y="169856"/>
                  </a:lnTo>
                  <a:lnTo>
                    <a:pt x="523307" y="213981"/>
                  </a:lnTo>
                  <a:lnTo>
                    <a:pt x="527557" y="260858"/>
                  </a:lnTo>
                  <a:lnTo>
                    <a:pt x="523307" y="307734"/>
                  </a:lnTo>
                  <a:lnTo>
                    <a:pt x="511053" y="351859"/>
                  </a:lnTo>
                  <a:lnTo>
                    <a:pt x="491541" y="392495"/>
                  </a:lnTo>
                  <a:lnTo>
                    <a:pt x="465516" y="428904"/>
                  </a:lnTo>
                  <a:lnTo>
                    <a:pt x="433723" y="460349"/>
                  </a:lnTo>
                  <a:lnTo>
                    <a:pt x="396907" y="486090"/>
                  </a:lnTo>
                  <a:lnTo>
                    <a:pt x="355815" y="505390"/>
                  </a:lnTo>
                  <a:lnTo>
                    <a:pt x="311190" y="517511"/>
                  </a:lnTo>
                  <a:lnTo>
                    <a:pt x="263778" y="521716"/>
                  </a:lnTo>
                  <a:lnTo>
                    <a:pt x="216367" y="517511"/>
                  </a:lnTo>
                  <a:lnTo>
                    <a:pt x="171742" y="505390"/>
                  </a:lnTo>
                  <a:lnTo>
                    <a:pt x="130650" y="486090"/>
                  </a:lnTo>
                  <a:lnTo>
                    <a:pt x="93834" y="460349"/>
                  </a:lnTo>
                  <a:lnTo>
                    <a:pt x="62041" y="428904"/>
                  </a:lnTo>
                  <a:lnTo>
                    <a:pt x="36016" y="392495"/>
                  </a:lnTo>
                  <a:lnTo>
                    <a:pt x="16504" y="351859"/>
                  </a:lnTo>
                  <a:lnTo>
                    <a:pt x="4250" y="307734"/>
                  </a:lnTo>
                  <a:lnTo>
                    <a:pt x="0" y="260858"/>
                  </a:lnTo>
                  <a:close/>
                </a:path>
              </a:pathLst>
            </a:custGeom>
            <a:ln w="12700">
              <a:solidFill>
                <a:srgbClr val="41709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4" name="object 14"/>
          <p:cNvSpPr txBox="1"/>
          <p:nvPr/>
        </p:nvSpPr>
        <p:spPr>
          <a:xfrm>
            <a:off x="4000880" y="1375409"/>
            <a:ext cx="21018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25" dirty="0">
                <a:solidFill>
                  <a:srgbClr val="FFFFFF"/>
                </a:solidFill>
                <a:latin typeface="Calibri"/>
                <a:cs typeface="Calibri"/>
              </a:rPr>
              <a:t>w1</a:t>
            </a:r>
            <a:endParaRPr sz="1200">
              <a:latin typeface="Calibri"/>
              <a:cs typeface="Calibri"/>
            </a:endParaRPr>
          </a:p>
        </p:txBody>
      </p:sp>
      <p:grpSp>
        <p:nvGrpSpPr>
          <p:cNvPr id="15" name="object 15"/>
          <p:cNvGrpSpPr/>
          <p:nvPr/>
        </p:nvGrpSpPr>
        <p:grpSpPr>
          <a:xfrm>
            <a:off x="3801998" y="2006219"/>
            <a:ext cx="540385" cy="534670"/>
            <a:chOff x="3801998" y="2006219"/>
            <a:chExt cx="540385" cy="534670"/>
          </a:xfrm>
        </p:grpSpPr>
        <p:sp>
          <p:nvSpPr>
            <p:cNvPr id="16" name="object 16"/>
            <p:cNvSpPr/>
            <p:nvPr/>
          </p:nvSpPr>
          <p:spPr>
            <a:xfrm>
              <a:off x="3808348" y="2012569"/>
              <a:ext cx="527685" cy="521970"/>
            </a:xfrm>
            <a:custGeom>
              <a:avLst/>
              <a:gdLst/>
              <a:ahLst/>
              <a:cxnLst/>
              <a:rect l="l" t="t" r="r" b="b"/>
              <a:pathLst>
                <a:path w="527685" h="521969">
                  <a:moveTo>
                    <a:pt x="263778" y="0"/>
                  </a:moveTo>
                  <a:lnTo>
                    <a:pt x="216367" y="4204"/>
                  </a:lnTo>
                  <a:lnTo>
                    <a:pt x="171742" y="16325"/>
                  </a:lnTo>
                  <a:lnTo>
                    <a:pt x="130650" y="35625"/>
                  </a:lnTo>
                  <a:lnTo>
                    <a:pt x="93834" y="61366"/>
                  </a:lnTo>
                  <a:lnTo>
                    <a:pt x="62041" y="92811"/>
                  </a:lnTo>
                  <a:lnTo>
                    <a:pt x="36016" y="129220"/>
                  </a:lnTo>
                  <a:lnTo>
                    <a:pt x="16504" y="169856"/>
                  </a:lnTo>
                  <a:lnTo>
                    <a:pt x="4250" y="213981"/>
                  </a:lnTo>
                  <a:lnTo>
                    <a:pt x="0" y="260857"/>
                  </a:lnTo>
                  <a:lnTo>
                    <a:pt x="4250" y="307734"/>
                  </a:lnTo>
                  <a:lnTo>
                    <a:pt x="16504" y="351859"/>
                  </a:lnTo>
                  <a:lnTo>
                    <a:pt x="36016" y="392495"/>
                  </a:lnTo>
                  <a:lnTo>
                    <a:pt x="62041" y="428904"/>
                  </a:lnTo>
                  <a:lnTo>
                    <a:pt x="93834" y="460349"/>
                  </a:lnTo>
                  <a:lnTo>
                    <a:pt x="130650" y="486090"/>
                  </a:lnTo>
                  <a:lnTo>
                    <a:pt x="171742" y="505390"/>
                  </a:lnTo>
                  <a:lnTo>
                    <a:pt x="216367" y="517511"/>
                  </a:lnTo>
                  <a:lnTo>
                    <a:pt x="263778" y="521715"/>
                  </a:lnTo>
                  <a:lnTo>
                    <a:pt x="311190" y="517511"/>
                  </a:lnTo>
                  <a:lnTo>
                    <a:pt x="355815" y="505390"/>
                  </a:lnTo>
                  <a:lnTo>
                    <a:pt x="396907" y="486090"/>
                  </a:lnTo>
                  <a:lnTo>
                    <a:pt x="433723" y="460349"/>
                  </a:lnTo>
                  <a:lnTo>
                    <a:pt x="465516" y="428904"/>
                  </a:lnTo>
                  <a:lnTo>
                    <a:pt x="491541" y="392495"/>
                  </a:lnTo>
                  <a:lnTo>
                    <a:pt x="511053" y="351859"/>
                  </a:lnTo>
                  <a:lnTo>
                    <a:pt x="523307" y="307734"/>
                  </a:lnTo>
                  <a:lnTo>
                    <a:pt x="527558" y="260857"/>
                  </a:lnTo>
                  <a:lnTo>
                    <a:pt x="523307" y="213981"/>
                  </a:lnTo>
                  <a:lnTo>
                    <a:pt x="511053" y="169856"/>
                  </a:lnTo>
                  <a:lnTo>
                    <a:pt x="491541" y="129220"/>
                  </a:lnTo>
                  <a:lnTo>
                    <a:pt x="465516" y="92811"/>
                  </a:lnTo>
                  <a:lnTo>
                    <a:pt x="433723" y="61366"/>
                  </a:lnTo>
                  <a:lnTo>
                    <a:pt x="396907" y="35625"/>
                  </a:lnTo>
                  <a:lnTo>
                    <a:pt x="355815" y="16325"/>
                  </a:lnTo>
                  <a:lnTo>
                    <a:pt x="311190" y="4204"/>
                  </a:lnTo>
                  <a:lnTo>
                    <a:pt x="263778" y="0"/>
                  </a:lnTo>
                  <a:close/>
                </a:path>
              </a:pathLst>
            </a:custGeom>
            <a:solidFill>
              <a:srgbClr val="5B9BD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7"/>
            <p:cNvSpPr/>
            <p:nvPr/>
          </p:nvSpPr>
          <p:spPr>
            <a:xfrm>
              <a:off x="3808348" y="2012569"/>
              <a:ext cx="527685" cy="521970"/>
            </a:xfrm>
            <a:custGeom>
              <a:avLst/>
              <a:gdLst/>
              <a:ahLst/>
              <a:cxnLst/>
              <a:rect l="l" t="t" r="r" b="b"/>
              <a:pathLst>
                <a:path w="527685" h="521969">
                  <a:moveTo>
                    <a:pt x="0" y="260857"/>
                  </a:moveTo>
                  <a:lnTo>
                    <a:pt x="4250" y="213981"/>
                  </a:lnTo>
                  <a:lnTo>
                    <a:pt x="16504" y="169856"/>
                  </a:lnTo>
                  <a:lnTo>
                    <a:pt x="36016" y="129220"/>
                  </a:lnTo>
                  <a:lnTo>
                    <a:pt x="62041" y="92811"/>
                  </a:lnTo>
                  <a:lnTo>
                    <a:pt x="93834" y="61366"/>
                  </a:lnTo>
                  <a:lnTo>
                    <a:pt x="130650" y="35625"/>
                  </a:lnTo>
                  <a:lnTo>
                    <a:pt x="171742" y="16325"/>
                  </a:lnTo>
                  <a:lnTo>
                    <a:pt x="216367" y="4204"/>
                  </a:lnTo>
                  <a:lnTo>
                    <a:pt x="263778" y="0"/>
                  </a:lnTo>
                  <a:lnTo>
                    <a:pt x="311190" y="4204"/>
                  </a:lnTo>
                  <a:lnTo>
                    <a:pt x="355815" y="16325"/>
                  </a:lnTo>
                  <a:lnTo>
                    <a:pt x="396907" y="35625"/>
                  </a:lnTo>
                  <a:lnTo>
                    <a:pt x="433723" y="61366"/>
                  </a:lnTo>
                  <a:lnTo>
                    <a:pt x="465516" y="92811"/>
                  </a:lnTo>
                  <a:lnTo>
                    <a:pt x="491541" y="129220"/>
                  </a:lnTo>
                  <a:lnTo>
                    <a:pt x="511053" y="169856"/>
                  </a:lnTo>
                  <a:lnTo>
                    <a:pt x="523307" y="213981"/>
                  </a:lnTo>
                  <a:lnTo>
                    <a:pt x="527558" y="260857"/>
                  </a:lnTo>
                  <a:lnTo>
                    <a:pt x="523307" y="307734"/>
                  </a:lnTo>
                  <a:lnTo>
                    <a:pt x="511053" y="351859"/>
                  </a:lnTo>
                  <a:lnTo>
                    <a:pt x="491541" y="392495"/>
                  </a:lnTo>
                  <a:lnTo>
                    <a:pt x="465516" y="428904"/>
                  </a:lnTo>
                  <a:lnTo>
                    <a:pt x="433723" y="460349"/>
                  </a:lnTo>
                  <a:lnTo>
                    <a:pt x="396907" y="486090"/>
                  </a:lnTo>
                  <a:lnTo>
                    <a:pt x="355815" y="505390"/>
                  </a:lnTo>
                  <a:lnTo>
                    <a:pt x="311190" y="517511"/>
                  </a:lnTo>
                  <a:lnTo>
                    <a:pt x="263778" y="521715"/>
                  </a:lnTo>
                  <a:lnTo>
                    <a:pt x="216367" y="517511"/>
                  </a:lnTo>
                  <a:lnTo>
                    <a:pt x="171742" y="505390"/>
                  </a:lnTo>
                  <a:lnTo>
                    <a:pt x="130650" y="486090"/>
                  </a:lnTo>
                  <a:lnTo>
                    <a:pt x="93834" y="460349"/>
                  </a:lnTo>
                  <a:lnTo>
                    <a:pt x="62041" y="428904"/>
                  </a:lnTo>
                  <a:lnTo>
                    <a:pt x="36016" y="392495"/>
                  </a:lnTo>
                  <a:lnTo>
                    <a:pt x="16504" y="351859"/>
                  </a:lnTo>
                  <a:lnTo>
                    <a:pt x="4250" y="307734"/>
                  </a:lnTo>
                  <a:lnTo>
                    <a:pt x="0" y="260857"/>
                  </a:lnTo>
                  <a:close/>
                </a:path>
              </a:pathLst>
            </a:custGeom>
            <a:ln w="12700">
              <a:solidFill>
                <a:srgbClr val="41709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8" name="object 18"/>
          <p:cNvSpPr txBox="1"/>
          <p:nvPr/>
        </p:nvSpPr>
        <p:spPr>
          <a:xfrm>
            <a:off x="3967098" y="2160523"/>
            <a:ext cx="21018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25" dirty="0">
                <a:solidFill>
                  <a:srgbClr val="FFFFFF"/>
                </a:solidFill>
                <a:latin typeface="Calibri"/>
                <a:cs typeface="Calibri"/>
              </a:rPr>
              <a:t>w2</a:t>
            </a:r>
            <a:endParaRPr sz="1200">
              <a:latin typeface="Calibri"/>
              <a:cs typeface="Calibri"/>
            </a:endParaRPr>
          </a:p>
        </p:txBody>
      </p:sp>
      <p:grpSp>
        <p:nvGrpSpPr>
          <p:cNvPr id="19" name="object 19"/>
          <p:cNvGrpSpPr/>
          <p:nvPr/>
        </p:nvGrpSpPr>
        <p:grpSpPr>
          <a:xfrm>
            <a:off x="3910584" y="2809239"/>
            <a:ext cx="540385" cy="534670"/>
            <a:chOff x="3910584" y="2809239"/>
            <a:chExt cx="540385" cy="534670"/>
          </a:xfrm>
        </p:grpSpPr>
        <p:sp>
          <p:nvSpPr>
            <p:cNvPr id="20" name="object 20"/>
            <p:cNvSpPr/>
            <p:nvPr/>
          </p:nvSpPr>
          <p:spPr>
            <a:xfrm>
              <a:off x="3916934" y="2815589"/>
              <a:ext cx="527685" cy="521970"/>
            </a:xfrm>
            <a:custGeom>
              <a:avLst/>
              <a:gdLst/>
              <a:ahLst/>
              <a:cxnLst/>
              <a:rect l="l" t="t" r="r" b="b"/>
              <a:pathLst>
                <a:path w="527685" h="521970">
                  <a:moveTo>
                    <a:pt x="263778" y="0"/>
                  </a:moveTo>
                  <a:lnTo>
                    <a:pt x="216367" y="4204"/>
                  </a:lnTo>
                  <a:lnTo>
                    <a:pt x="171742" y="16325"/>
                  </a:lnTo>
                  <a:lnTo>
                    <a:pt x="130650" y="35625"/>
                  </a:lnTo>
                  <a:lnTo>
                    <a:pt x="93834" y="61366"/>
                  </a:lnTo>
                  <a:lnTo>
                    <a:pt x="62041" y="92811"/>
                  </a:lnTo>
                  <a:lnTo>
                    <a:pt x="36016" y="129220"/>
                  </a:lnTo>
                  <a:lnTo>
                    <a:pt x="16504" y="169856"/>
                  </a:lnTo>
                  <a:lnTo>
                    <a:pt x="4250" y="213981"/>
                  </a:lnTo>
                  <a:lnTo>
                    <a:pt x="0" y="260858"/>
                  </a:lnTo>
                  <a:lnTo>
                    <a:pt x="4250" y="307734"/>
                  </a:lnTo>
                  <a:lnTo>
                    <a:pt x="16504" y="351859"/>
                  </a:lnTo>
                  <a:lnTo>
                    <a:pt x="36016" y="392495"/>
                  </a:lnTo>
                  <a:lnTo>
                    <a:pt x="62041" y="428904"/>
                  </a:lnTo>
                  <a:lnTo>
                    <a:pt x="93834" y="460349"/>
                  </a:lnTo>
                  <a:lnTo>
                    <a:pt x="130650" y="486090"/>
                  </a:lnTo>
                  <a:lnTo>
                    <a:pt x="171742" y="505390"/>
                  </a:lnTo>
                  <a:lnTo>
                    <a:pt x="216367" y="517511"/>
                  </a:lnTo>
                  <a:lnTo>
                    <a:pt x="263778" y="521715"/>
                  </a:lnTo>
                  <a:lnTo>
                    <a:pt x="311190" y="517511"/>
                  </a:lnTo>
                  <a:lnTo>
                    <a:pt x="355815" y="505390"/>
                  </a:lnTo>
                  <a:lnTo>
                    <a:pt x="396907" y="486090"/>
                  </a:lnTo>
                  <a:lnTo>
                    <a:pt x="433723" y="460349"/>
                  </a:lnTo>
                  <a:lnTo>
                    <a:pt x="465516" y="428904"/>
                  </a:lnTo>
                  <a:lnTo>
                    <a:pt x="491541" y="392495"/>
                  </a:lnTo>
                  <a:lnTo>
                    <a:pt x="511053" y="351859"/>
                  </a:lnTo>
                  <a:lnTo>
                    <a:pt x="523307" y="307734"/>
                  </a:lnTo>
                  <a:lnTo>
                    <a:pt x="527557" y="260858"/>
                  </a:lnTo>
                  <a:lnTo>
                    <a:pt x="523307" y="213981"/>
                  </a:lnTo>
                  <a:lnTo>
                    <a:pt x="511053" y="169856"/>
                  </a:lnTo>
                  <a:lnTo>
                    <a:pt x="491541" y="129220"/>
                  </a:lnTo>
                  <a:lnTo>
                    <a:pt x="465516" y="92811"/>
                  </a:lnTo>
                  <a:lnTo>
                    <a:pt x="433723" y="61366"/>
                  </a:lnTo>
                  <a:lnTo>
                    <a:pt x="396907" y="35625"/>
                  </a:lnTo>
                  <a:lnTo>
                    <a:pt x="355815" y="16325"/>
                  </a:lnTo>
                  <a:lnTo>
                    <a:pt x="311190" y="4204"/>
                  </a:lnTo>
                  <a:lnTo>
                    <a:pt x="263778" y="0"/>
                  </a:lnTo>
                  <a:close/>
                </a:path>
              </a:pathLst>
            </a:custGeom>
            <a:solidFill>
              <a:srgbClr val="5B9BD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3916934" y="2815589"/>
              <a:ext cx="527685" cy="521970"/>
            </a:xfrm>
            <a:custGeom>
              <a:avLst/>
              <a:gdLst/>
              <a:ahLst/>
              <a:cxnLst/>
              <a:rect l="l" t="t" r="r" b="b"/>
              <a:pathLst>
                <a:path w="527685" h="521970">
                  <a:moveTo>
                    <a:pt x="0" y="260858"/>
                  </a:moveTo>
                  <a:lnTo>
                    <a:pt x="4250" y="213981"/>
                  </a:lnTo>
                  <a:lnTo>
                    <a:pt x="16504" y="169856"/>
                  </a:lnTo>
                  <a:lnTo>
                    <a:pt x="36016" y="129220"/>
                  </a:lnTo>
                  <a:lnTo>
                    <a:pt x="62041" y="92811"/>
                  </a:lnTo>
                  <a:lnTo>
                    <a:pt x="93834" y="61366"/>
                  </a:lnTo>
                  <a:lnTo>
                    <a:pt x="130650" y="35625"/>
                  </a:lnTo>
                  <a:lnTo>
                    <a:pt x="171742" y="16325"/>
                  </a:lnTo>
                  <a:lnTo>
                    <a:pt x="216367" y="4204"/>
                  </a:lnTo>
                  <a:lnTo>
                    <a:pt x="263778" y="0"/>
                  </a:lnTo>
                  <a:lnTo>
                    <a:pt x="311190" y="4204"/>
                  </a:lnTo>
                  <a:lnTo>
                    <a:pt x="355815" y="16325"/>
                  </a:lnTo>
                  <a:lnTo>
                    <a:pt x="396907" y="35625"/>
                  </a:lnTo>
                  <a:lnTo>
                    <a:pt x="433723" y="61366"/>
                  </a:lnTo>
                  <a:lnTo>
                    <a:pt x="465516" y="92811"/>
                  </a:lnTo>
                  <a:lnTo>
                    <a:pt x="491541" y="129220"/>
                  </a:lnTo>
                  <a:lnTo>
                    <a:pt x="511053" y="169856"/>
                  </a:lnTo>
                  <a:lnTo>
                    <a:pt x="523307" y="213981"/>
                  </a:lnTo>
                  <a:lnTo>
                    <a:pt x="527557" y="260858"/>
                  </a:lnTo>
                  <a:lnTo>
                    <a:pt x="523307" y="307734"/>
                  </a:lnTo>
                  <a:lnTo>
                    <a:pt x="511053" y="351859"/>
                  </a:lnTo>
                  <a:lnTo>
                    <a:pt x="491541" y="392495"/>
                  </a:lnTo>
                  <a:lnTo>
                    <a:pt x="465516" y="428904"/>
                  </a:lnTo>
                  <a:lnTo>
                    <a:pt x="433723" y="460349"/>
                  </a:lnTo>
                  <a:lnTo>
                    <a:pt x="396907" y="486090"/>
                  </a:lnTo>
                  <a:lnTo>
                    <a:pt x="355815" y="505390"/>
                  </a:lnTo>
                  <a:lnTo>
                    <a:pt x="311190" y="517511"/>
                  </a:lnTo>
                  <a:lnTo>
                    <a:pt x="263778" y="521715"/>
                  </a:lnTo>
                  <a:lnTo>
                    <a:pt x="216367" y="517511"/>
                  </a:lnTo>
                  <a:lnTo>
                    <a:pt x="171742" y="505390"/>
                  </a:lnTo>
                  <a:lnTo>
                    <a:pt x="130650" y="486090"/>
                  </a:lnTo>
                  <a:lnTo>
                    <a:pt x="93834" y="460349"/>
                  </a:lnTo>
                  <a:lnTo>
                    <a:pt x="62041" y="428904"/>
                  </a:lnTo>
                  <a:lnTo>
                    <a:pt x="36016" y="392495"/>
                  </a:lnTo>
                  <a:lnTo>
                    <a:pt x="16504" y="351859"/>
                  </a:lnTo>
                  <a:lnTo>
                    <a:pt x="4250" y="307734"/>
                  </a:lnTo>
                  <a:lnTo>
                    <a:pt x="0" y="260858"/>
                  </a:lnTo>
                  <a:close/>
                </a:path>
              </a:pathLst>
            </a:custGeom>
            <a:ln w="12700">
              <a:solidFill>
                <a:srgbClr val="41709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2" name="object 22"/>
          <p:cNvSpPr txBox="1"/>
          <p:nvPr/>
        </p:nvSpPr>
        <p:spPr>
          <a:xfrm>
            <a:off x="4075557" y="2963366"/>
            <a:ext cx="210185" cy="2089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25" dirty="0">
                <a:solidFill>
                  <a:srgbClr val="FFFFFF"/>
                </a:solidFill>
                <a:latin typeface="Calibri"/>
                <a:cs typeface="Calibri"/>
              </a:rPr>
              <a:t>w3</a:t>
            </a:r>
            <a:endParaRPr sz="1200">
              <a:latin typeface="Calibri"/>
              <a:cs typeface="Calibri"/>
            </a:endParaRPr>
          </a:p>
        </p:txBody>
      </p:sp>
      <p:sp>
        <p:nvSpPr>
          <p:cNvPr id="23" name="object 23"/>
          <p:cNvSpPr/>
          <p:nvPr/>
        </p:nvSpPr>
        <p:spPr>
          <a:xfrm>
            <a:off x="592010" y="4584827"/>
            <a:ext cx="11008360" cy="0"/>
          </a:xfrm>
          <a:custGeom>
            <a:avLst/>
            <a:gdLst/>
            <a:ahLst/>
            <a:cxnLst/>
            <a:rect l="l" t="t" r="r" b="b"/>
            <a:pathLst>
              <a:path w="11008360">
                <a:moveTo>
                  <a:pt x="0" y="0"/>
                </a:moveTo>
                <a:lnTo>
                  <a:pt x="11007915" y="0"/>
                </a:lnTo>
              </a:path>
            </a:pathLst>
          </a:custGeom>
          <a:ln w="6350">
            <a:solidFill>
              <a:srgbClr val="5B9BD4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60" dirty="0"/>
              <a:t>Fundamental</a:t>
            </a:r>
            <a:r>
              <a:rPr spc="114" dirty="0"/>
              <a:t> </a:t>
            </a:r>
            <a:r>
              <a:rPr spc="55" dirty="0"/>
              <a:t>Unit</a:t>
            </a:r>
            <a:r>
              <a:rPr spc="155" dirty="0"/>
              <a:t> </a:t>
            </a:r>
            <a:r>
              <a:rPr dirty="0"/>
              <a:t>of</a:t>
            </a:r>
            <a:r>
              <a:rPr spc="150" dirty="0"/>
              <a:t> </a:t>
            </a:r>
            <a:r>
              <a:rPr dirty="0"/>
              <a:t>a</a:t>
            </a:r>
            <a:r>
              <a:rPr spc="140" dirty="0"/>
              <a:t> </a:t>
            </a:r>
            <a:r>
              <a:rPr spc="55" dirty="0"/>
              <a:t>Neural</a:t>
            </a:r>
            <a:r>
              <a:rPr spc="125" dirty="0"/>
              <a:t> </a:t>
            </a:r>
            <a:r>
              <a:rPr spc="-10" dirty="0"/>
              <a:t>Network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756005" y="4678171"/>
            <a:ext cx="9876790" cy="4222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41300" indent="-228600">
              <a:lnSpc>
                <a:spcPct val="100000"/>
              </a:lnSpc>
              <a:spcBef>
                <a:spcPts val="100"/>
              </a:spcBef>
              <a:buFont typeface="Arial"/>
              <a:buChar char="•"/>
              <a:tabLst>
                <a:tab pos="241300" algn="l"/>
              </a:tabLst>
            </a:pPr>
            <a:r>
              <a:rPr sz="2600" dirty="0">
                <a:latin typeface="Calibri"/>
                <a:cs typeface="Calibri"/>
              </a:rPr>
              <a:t>Many</a:t>
            </a:r>
            <a:r>
              <a:rPr sz="2600" spc="60" dirty="0">
                <a:latin typeface="Calibri"/>
                <a:cs typeface="Calibri"/>
              </a:rPr>
              <a:t> </a:t>
            </a:r>
            <a:r>
              <a:rPr sz="2600" dirty="0">
                <a:latin typeface="Calibri"/>
                <a:cs typeface="Calibri"/>
              </a:rPr>
              <a:t>different</a:t>
            </a:r>
            <a:r>
              <a:rPr sz="2600" spc="180" dirty="0">
                <a:latin typeface="Calibri"/>
                <a:cs typeface="Calibri"/>
              </a:rPr>
              <a:t> </a:t>
            </a:r>
            <a:r>
              <a:rPr sz="2600" spc="50" dirty="0">
                <a:latin typeface="Calibri"/>
                <a:cs typeface="Calibri"/>
              </a:rPr>
              <a:t>functions</a:t>
            </a:r>
            <a:r>
              <a:rPr sz="2600" spc="180" dirty="0">
                <a:latin typeface="Calibri"/>
                <a:cs typeface="Calibri"/>
              </a:rPr>
              <a:t> </a:t>
            </a:r>
            <a:r>
              <a:rPr sz="2600" dirty="0">
                <a:latin typeface="Calibri"/>
                <a:cs typeface="Calibri"/>
              </a:rPr>
              <a:t>are</a:t>
            </a:r>
            <a:r>
              <a:rPr sz="2600" spc="180" dirty="0">
                <a:latin typeface="Calibri"/>
                <a:cs typeface="Calibri"/>
              </a:rPr>
              <a:t> </a:t>
            </a:r>
            <a:r>
              <a:rPr sz="2600" dirty="0">
                <a:latin typeface="Calibri"/>
                <a:cs typeface="Calibri"/>
              </a:rPr>
              <a:t>used</a:t>
            </a:r>
            <a:r>
              <a:rPr sz="2600" spc="195" dirty="0">
                <a:latin typeface="Calibri"/>
                <a:cs typeface="Calibri"/>
              </a:rPr>
              <a:t> </a:t>
            </a:r>
            <a:r>
              <a:rPr sz="2600" dirty="0">
                <a:latin typeface="Calibri"/>
                <a:cs typeface="Calibri"/>
              </a:rPr>
              <a:t>for</a:t>
            </a:r>
            <a:r>
              <a:rPr sz="2600" spc="160" dirty="0">
                <a:latin typeface="Calibri"/>
                <a:cs typeface="Calibri"/>
              </a:rPr>
              <a:t> </a:t>
            </a:r>
            <a:r>
              <a:rPr sz="2600" dirty="0">
                <a:latin typeface="Calibri"/>
                <a:cs typeface="Calibri"/>
              </a:rPr>
              <a:t>the</a:t>
            </a:r>
            <a:r>
              <a:rPr sz="2600" spc="190" dirty="0">
                <a:latin typeface="Calibri"/>
                <a:cs typeface="Calibri"/>
              </a:rPr>
              <a:t> </a:t>
            </a:r>
            <a:r>
              <a:rPr sz="2600" dirty="0">
                <a:latin typeface="Calibri"/>
                <a:cs typeface="Calibri"/>
              </a:rPr>
              <a:t>neuron,</a:t>
            </a:r>
            <a:r>
              <a:rPr sz="2600" spc="-50" dirty="0">
                <a:latin typeface="Calibri"/>
                <a:cs typeface="Calibri"/>
              </a:rPr>
              <a:t> </a:t>
            </a:r>
            <a:r>
              <a:rPr sz="2600" dirty="0">
                <a:latin typeface="Calibri"/>
                <a:cs typeface="Calibri"/>
              </a:rPr>
              <a:t>but</a:t>
            </a:r>
            <a:r>
              <a:rPr sz="2600" spc="180" dirty="0">
                <a:latin typeface="Calibri"/>
                <a:cs typeface="Calibri"/>
              </a:rPr>
              <a:t> </a:t>
            </a:r>
            <a:r>
              <a:rPr sz="2600" dirty="0">
                <a:latin typeface="Calibri"/>
                <a:cs typeface="Calibri"/>
              </a:rPr>
              <a:t>the</a:t>
            </a:r>
            <a:r>
              <a:rPr sz="2600" spc="175" dirty="0">
                <a:latin typeface="Calibri"/>
                <a:cs typeface="Calibri"/>
              </a:rPr>
              <a:t> </a:t>
            </a:r>
            <a:r>
              <a:rPr sz="2600" dirty="0">
                <a:latin typeface="Calibri"/>
                <a:cs typeface="Calibri"/>
              </a:rPr>
              <a:t>three</a:t>
            </a:r>
            <a:r>
              <a:rPr sz="2600" spc="190" dirty="0">
                <a:latin typeface="Calibri"/>
                <a:cs typeface="Calibri"/>
              </a:rPr>
              <a:t> </a:t>
            </a:r>
            <a:r>
              <a:rPr sz="2600" spc="-20" dirty="0">
                <a:latin typeface="Calibri"/>
                <a:cs typeface="Calibri"/>
              </a:rPr>
              <a:t>most</a:t>
            </a:r>
            <a:endParaRPr sz="2600">
              <a:latin typeface="Calibri"/>
              <a:cs typeface="Calibri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984605" y="4955540"/>
            <a:ext cx="5621655" cy="131762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2970"/>
              </a:lnSpc>
              <a:spcBef>
                <a:spcPts val="100"/>
              </a:spcBef>
            </a:pPr>
            <a:r>
              <a:rPr sz="2600" dirty="0">
                <a:latin typeface="Calibri"/>
                <a:cs typeface="Calibri"/>
              </a:rPr>
              <a:t>popular</a:t>
            </a:r>
            <a:r>
              <a:rPr sz="2600" spc="390" dirty="0">
                <a:latin typeface="Calibri"/>
                <a:cs typeface="Calibri"/>
              </a:rPr>
              <a:t> </a:t>
            </a:r>
            <a:r>
              <a:rPr sz="2600" spc="-25" dirty="0">
                <a:latin typeface="Calibri"/>
                <a:cs typeface="Calibri"/>
              </a:rPr>
              <a:t>are</a:t>
            </a:r>
            <a:endParaRPr sz="2600">
              <a:latin typeface="Calibri"/>
              <a:cs typeface="Calibri"/>
            </a:endParaRPr>
          </a:p>
          <a:p>
            <a:pPr marL="469265" indent="-227965">
              <a:lnSpc>
                <a:spcPts val="2350"/>
              </a:lnSpc>
              <a:buFont typeface="Arial"/>
              <a:buChar char="•"/>
              <a:tabLst>
                <a:tab pos="469265" algn="l"/>
              </a:tabLst>
            </a:pPr>
            <a:r>
              <a:rPr sz="2200" spc="45" dirty="0">
                <a:latin typeface="Calibri"/>
                <a:cs typeface="Calibri"/>
              </a:rPr>
              <a:t>Sigmoid:</a:t>
            </a:r>
            <a:r>
              <a:rPr sz="2200" spc="200" dirty="0">
                <a:latin typeface="Calibri"/>
                <a:cs typeface="Calibri"/>
              </a:rPr>
              <a:t> </a:t>
            </a:r>
            <a:r>
              <a:rPr sz="2200" dirty="0">
                <a:latin typeface="Symbol"/>
                <a:cs typeface="Symbol"/>
              </a:rPr>
              <a:t></a:t>
            </a:r>
            <a:r>
              <a:rPr sz="2200" dirty="0">
                <a:latin typeface="Calibri"/>
                <a:cs typeface="Calibri"/>
              </a:rPr>
              <a:t>(x)</a:t>
            </a:r>
            <a:r>
              <a:rPr sz="2200" spc="180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=</a:t>
            </a:r>
            <a:r>
              <a:rPr sz="2200" spc="185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1/(1+exp(-</a:t>
            </a:r>
            <a:r>
              <a:rPr sz="2200" spc="-25" dirty="0">
                <a:latin typeface="Calibri"/>
                <a:cs typeface="Calibri"/>
              </a:rPr>
              <a:t>x))</a:t>
            </a:r>
            <a:endParaRPr sz="2200">
              <a:latin typeface="Calibri"/>
              <a:cs typeface="Calibri"/>
            </a:endParaRPr>
          </a:p>
          <a:p>
            <a:pPr marL="469265" indent="-227965">
              <a:lnSpc>
                <a:spcPts val="2355"/>
              </a:lnSpc>
              <a:buFont typeface="Arial"/>
              <a:buChar char="•"/>
              <a:tabLst>
                <a:tab pos="469265" algn="l"/>
              </a:tabLst>
            </a:pPr>
            <a:r>
              <a:rPr sz="2200" dirty="0">
                <a:latin typeface="Calibri"/>
                <a:cs typeface="Calibri"/>
              </a:rPr>
              <a:t>Rectified</a:t>
            </a:r>
            <a:r>
              <a:rPr sz="2200" spc="170" dirty="0">
                <a:latin typeface="Calibri"/>
                <a:cs typeface="Calibri"/>
              </a:rPr>
              <a:t> </a:t>
            </a:r>
            <a:r>
              <a:rPr sz="2200" spc="60" dirty="0">
                <a:latin typeface="Calibri"/>
                <a:cs typeface="Calibri"/>
              </a:rPr>
              <a:t>Linear</a:t>
            </a:r>
            <a:r>
              <a:rPr sz="2200" spc="170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Unit</a:t>
            </a:r>
            <a:r>
              <a:rPr sz="2200" spc="180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(ReLU):</a:t>
            </a:r>
            <a:r>
              <a:rPr sz="2200" spc="185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f(x)</a:t>
            </a:r>
            <a:r>
              <a:rPr sz="2200" spc="175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=</a:t>
            </a:r>
            <a:r>
              <a:rPr sz="2200" spc="180" dirty="0">
                <a:latin typeface="Calibri"/>
                <a:cs typeface="Calibri"/>
              </a:rPr>
              <a:t> </a:t>
            </a:r>
            <a:r>
              <a:rPr sz="2200" spc="-10" dirty="0">
                <a:latin typeface="Calibri"/>
                <a:cs typeface="Calibri"/>
              </a:rPr>
              <a:t>max(0,x)</a:t>
            </a:r>
            <a:endParaRPr sz="2200">
              <a:latin typeface="Calibri"/>
              <a:cs typeface="Calibri"/>
            </a:endParaRPr>
          </a:p>
          <a:p>
            <a:pPr marL="469265" indent="-227965">
              <a:lnSpc>
                <a:spcPts val="2495"/>
              </a:lnSpc>
              <a:buFont typeface="Arial"/>
              <a:buChar char="•"/>
              <a:tabLst>
                <a:tab pos="469265" algn="l"/>
              </a:tabLst>
            </a:pPr>
            <a:r>
              <a:rPr sz="2200" dirty="0">
                <a:latin typeface="Calibri"/>
                <a:cs typeface="Calibri"/>
              </a:rPr>
              <a:t>tanh:</a:t>
            </a:r>
            <a:r>
              <a:rPr sz="2200" spc="190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tanh(x)</a:t>
            </a:r>
            <a:r>
              <a:rPr sz="2200" spc="190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=</a:t>
            </a:r>
            <a:r>
              <a:rPr sz="2200" spc="180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2</a:t>
            </a:r>
            <a:r>
              <a:rPr sz="2200" dirty="0">
                <a:latin typeface="Symbol"/>
                <a:cs typeface="Symbol"/>
              </a:rPr>
              <a:t></a:t>
            </a:r>
            <a:r>
              <a:rPr sz="2200" dirty="0">
                <a:latin typeface="Calibri"/>
                <a:cs typeface="Calibri"/>
              </a:rPr>
              <a:t>(2x)</a:t>
            </a:r>
            <a:r>
              <a:rPr sz="2200" spc="-5" dirty="0">
                <a:latin typeface="Calibri"/>
                <a:cs typeface="Calibri"/>
              </a:rPr>
              <a:t> </a:t>
            </a:r>
            <a:r>
              <a:rPr sz="2200" spc="110" dirty="0">
                <a:latin typeface="Calibri"/>
                <a:cs typeface="Calibri"/>
              </a:rPr>
              <a:t>-</a:t>
            </a:r>
            <a:r>
              <a:rPr sz="2200" spc="-25" dirty="0">
                <a:latin typeface="Calibri"/>
                <a:cs typeface="Calibri"/>
              </a:rPr>
              <a:t> </a:t>
            </a:r>
            <a:r>
              <a:rPr sz="2200" spc="25" dirty="0">
                <a:latin typeface="Calibri"/>
                <a:cs typeface="Calibri"/>
              </a:rPr>
              <a:t>1</a:t>
            </a:r>
            <a:endParaRPr sz="2200">
              <a:latin typeface="Calibri"/>
              <a:cs typeface="Calibri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4765421" y="1461388"/>
            <a:ext cx="1670685" cy="1670685"/>
          </a:xfrm>
          <a:custGeom>
            <a:avLst/>
            <a:gdLst/>
            <a:ahLst/>
            <a:cxnLst/>
            <a:rect l="l" t="t" r="r" b="b"/>
            <a:pathLst>
              <a:path w="1670685" h="1670685">
                <a:moveTo>
                  <a:pt x="0" y="835278"/>
                </a:moveTo>
                <a:lnTo>
                  <a:pt x="1322" y="787885"/>
                </a:lnTo>
                <a:lnTo>
                  <a:pt x="5242" y="741184"/>
                </a:lnTo>
                <a:lnTo>
                  <a:pt x="11690" y="695246"/>
                </a:lnTo>
                <a:lnTo>
                  <a:pt x="20594" y="650143"/>
                </a:lnTo>
                <a:lnTo>
                  <a:pt x="31884" y="605944"/>
                </a:lnTo>
                <a:lnTo>
                  <a:pt x="45490" y="562721"/>
                </a:lnTo>
                <a:lnTo>
                  <a:pt x="61341" y="520543"/>
                </a:lnTo>
                <a:lnTo>
                  <a:pt x="79367" y="479482"/>
                </a:lnTo>
                <a:lnTo>
                  <a:pt x="99496" y="439607"/>
                </a:lnTo>
                <a:lnTo>
                  <a:pt x="121659" y="400990"/>
                </a:lnTo>
                <a:lnTo>
                  <a:pt x="145785" y="363701"/>
                </a:lnTo>
                <a:lnTo>
                  <a:pt x="171804" y="327810"/>
                </a:lnTo>
                <a:lnTo>
                  <a:pt x="199644" y="293389"/>
                </a:lnTo>
                <a:lnTo>
                  <a:pt x="229235" y="260507"/>
                </a:lnTo>
                <a:lnTo>
                  <a:pt x="260507" y="229235"/>
                </a:lnTo>
                <a:lnTo>
                  <a:pt x="293389" y="199644"/>
                </a:lnTo>
                <a:lnTo>
                  <a:pt x="327810" y="171804"/>
                </a:lnTo>
                <a:lnTo>
                  <a:pt x="363701" y="145785"/>
                </a:lnTo>
                <a:lnTo>
                  <a:pt x="400990" y="121659"/>
                </a:lnTo>
                <a:lnTo>
                  <a:pt x="439607" y="99496"/>
                </a:lnTo>
                <a:lnTo>
                  <a:pt x="479482" y="79367"/>
                </a:lnTo>
                <a:lnTo>
                  <a:pt x="520543" y="61341"/>
                </a:lnTo>
                <a:lnTo>
                  <a:pt x="562721" y="45490"/>
                </a:lnTo>
                <a:lnTo>
                  <a:pt x="605944" y="31884"/>
                </a:lnTo>
                <a:lnTo>
                  <a:pt x="650143" y="20594"/>
                </a:lnTo>
                <a:lnTo>
                  <a:pt x="695246" y="11690"/>
                </a:lnTo>
                <a:lnTo>
                  <a:pt x="741184" y="5242"/>
                </a:lnTo>
                <a:lnTo>
                  <a:pt x="787885" y="1322"/>
                </a:lnTo>
                <a:lnTo>
                  <a:pt x="835278" y="0"/>
                </a:lnTo>
                <a:lnTo>
                  <a:pt x="882672" y="1322"/>
                </a:lnTo>
                <a:lnTo>
                  <a:pt x="929373" y="5242"/>
                </a:lnTo>
                <a:lnTo>
                  <a:pt x="975311" y="11690"/>
                </a:lnTo>
                <a:lnTo>
                  <a:pt x="1020414" y="20594"/>
                </a:lnTo>
                <a:lnTo>
                  <a:pt x="1064613" y="31884"/>
                </a:lnTo>
                <a:lnTo>
                  <a:pt x="1107836" y="45490"/>
                </a:lnTo>
                <a:lnTo>
                  <a:pt x="1150014" y="61341"/>
                </a:lnTo>
                <a:lnTo>
                  <a:pt x="1191075" y="79367"/>
                </a:lnTo>
                <a:lnTo>
                  <a:pt x="1230950" y="99496"/>
                </a:lnTo>
                <a:lnTo>
                  <a:pt x="1269567" y="121659"/>
                </a:lnTo>
                <a:lnTo>
                  <a:pt x="1306856" y="145785"/>
                </a:lnTo>
                <a:lnTo>
                  <a:pt x="1342747" y="171804"/>
                </a:lnTo>
                <a:lnTo>
                  <a:pt x="1377168" y="199644"/>
                </a:lnTo>
                <a:lnTo>
                  <a:pt x="1410050" y="229235"/>
                </a:lnTo>
                <a:lnTo>
                  <a:pt x="1441322" y="260507"/>
                </a:lnTo>
                <a:lnTo>
                  <a:pt x="1470913" y="293389"/>
                </a:lnTo>
                <a:lnTo>
                  <a:pt x="1498753" y="327810"/>
                </a:lnTo>
                <a:lnTo>
                  <a:pt x="1524772" y="363701"/>
                </a:lnTo>
                <a:lnTo>
                  <a:pt x="1548898" y="400990"/>
                </a:lnTo>
                <a:lnTo>
                  <a:pt x="1571061" y="439607"/>
                </a:lnTo>
                <a:lnTo>
                  <a:pt x="1591190" y="479482"/>
                </a:lnTo>
                <a:lnTo>
                  <a:pt x="1609216" y="520543"/>
                </a:lnTo>
                <a:lnTo>
                  <a:pt x="1625067" y="562721"/>
                </a:lnTo>
                <a:lnTo>
                  <a:pt x="1638673" y="605944"/>
                </a:lnTo>
                <a:lnTo>
                  <a:pt x="1649963" y="650143"/>
                </a:lnTo>
                <a:lnTo>
                  <a:pt x="1658867" y="695246"/>
                </a:lnTo>
                <a:lnTo>
                  <a:pt x="1665315" y="741184"/>
                </a:lnTo>
                <a:lnTo>
                  <a:pt x="1669235" y="787885"/>
                </a:lnTo>
                <a:lnTo>
                  <a:pt x="1670557" y="835278"/>
                </a:lnTo>
                <a:lnTo>
                  <a:pt x="1669235" y="882672"/>
                </a:lnTo>
                <a:lnTo>
                  <a:pt x="1665315" y="929373"/>
                </a:lnTo>
                <a:lnTo>
                  <a:pt x="1658867" y="975311"/>
                </a:lnTo>
                <a:lnTo>
                  <a:pt x="1649963" y="1020414"/>
                </a:lnTo>
                <a:lnTo>
                  <a:pt x="1638673" y="1064613"/>
                </a:lnTo>
                <a:lnTo>
                  <a:pt x="1625067" y="1107836"/>
                </a:lnTo>
                <a:lnTo>
                  <a:pt x="1609216" y="1150014"/>
                </a:lnTo>
                <a:lnTo>
                  <a:pt x="1591190" y="1191075"/>
                </a:lnTo>
                <a:lnTo>
                  <a:pt x="1571061" y="1230950"/>
                </a:lnTo>
                <a:lnTo>
                  <a:pt x="1548898" y="1269567"/>
                </a:lnTo>
                <a:lnTo>
                  <a:pt x="1524772" y="1306856"/>
                </a:lnTo>
                <a:lnTo>
                  <a:pt x="1498753" y="1342747"/>
                </a:lnTo>
                <a:lnTo>
                  <a:pt x="1470913" y="1377168"/>
                </a:lnTo>
                <a:lnTo>
                  <a:pt x="1441322" y="1410050"/>
                </a:lnTo>
                <a:lnTo>
                  <a:pt x="1410050" y="1441322"/>
                </a:lnTo>
                <a:lnTo>
                  <a:pt x="1377168" y="1470913"/>
                </a:lnTo>
                <a:lnTo>
                  <a:pt x="1342747" y="1498753"/>
                </a:lnTo>
                <a:lnTo>
                  <a:pt x="1306856" y="1524772"/>
                </a:lnTo>
                <a:lnTo>
                  <a:pt x="1269567" y="1548898"/>
                </a:lnTo>
                <a:lnTo>
                  <a:pt x="1230950" y="1571061"/>
                </a:lnTo>
                <a:lnTo>
                  <a:pt x="1191075" y="1591190"/>
                </a:lnTo>
                <a:lnTo>
                  <a:pt x="1150014" y="1609216"/>
                </a:lnTo>
                <a:lnTo>
                  <a:pt x="1107836" y="1625067"/>
                </a:lnTo>
                <a:lnTo>
                  <a:pt x="1064613" y="1638673"/>
                </a:lnTo>
                <a:lnTo>
                  <a:pt x="1020414" y="1649963"/>
                </a:lnTo>
                <a:lnTo>
                  <a:pt x="975311" y="1658867"/>
                </a:lnTo>
                <a:lnTo>
                  <a:pt x="929373" y="1665315"/>
                </a:lnTo>
                <a:lnTo>
                  <a:pt x="882672" y="1669235"/>
                </a:lnTo>
                <a:lnTo>
                  <a:pt x="835278" y="1670558"/>
                </a:lnTo>
                <a:lnTo>
                  <a:pt x="787885" y="1669235"/>
                </a:lnTo>
                <a:lnTo>
                  <a:pt x="741184" y="1665315"/>
                </a:lnTo>
                <a:lnTo>
                  <a:pt x="695246" y="1658867"/>
                </a:lnTo>
                <a:lnTo>
                  <a:pt x="650143" y="1649963"/>
                </a:lnTo>
                <a:lnTo>
                  <a:pt x="605944" y="1638673"/>
                </a:lnTo>
                <a:lnTo>
                  <a:pt x="562721" y="1625067"/>
                </a:lnTo>
                <a:lnTo>
                  <a:pt x="520543" y="1609216"/>
                </a:lnTo>
                <a:lnTo>
                  <a:pt x="479482" y="1591190"/>
                </a:lnTo>
                <a:lnTo>
                  <a:pt x="439607" y="1571061"/>
                </a:lnTo>
                <a:lnTo>
                  <a:pt x="400990" y="1548898"/>
                </a:lnTo>
                <a:lnTo>
                  <a:pt x="363701" y="1524772"/>
                </a:lnTo>
                <a:lnTo>
                  <a:pt x="327810" y="1498753"/>
                </a:lnTo>
                <a:lnTo>
                  <a:pt x="293389" y="1470913"/>
                </a:lnTo>
                <a:lnTo>
                  <a:pt x="260507" y="1441322"/>
                </a:lnTo>
                <a:lnTo>
                  <a:pt x="229235" y="1410050"/>
                </a:lnTo>
                <a:lnTo>
                  <a:pt x="199644" y="1377168"/>
                </a:lnTo>
                <a:lnTo>
                  <a:pt x="171804" y="1342747"/>
                </a:lnTo>
                <a:lnTo>
                  <a:pt x="145785" y="1306856"/>
                </a:lnTo>
                <a:lnTo>
                  <a:pt x="121659" y="1269567"/>
                </a:lnTo>
                <a:lnTo>
                  <a:pt x="99496" y="1230950"/>
                </a:lnTo>
                <a:lnTo>
                  <a:pt x="79367" y="1191075"/>
                </a:lnTo>
                <a:lnTo>
                  <a:pt x="61341" y="1150014"/>
                </a:lnTo>
                <a:lnTo>
                  <a:pt x="45490" y="1107836"/>
                </a:lnTo>
                <a:lnTo>
                  <a:pt x="31884" y="1064613"/>
                </a:lnTo>
                <a:lnTo>
                  <a:pt x="20594" y="1020414"/>
                </a:lnTo>
                <a:lnTo>
                  <a:pt x="11690" y="975311"/>
                </a:lnTo>
                <a:lnTo>
                  <a:pt x="5242" y="929373"/>
                </a:lnTo>
                <a:lnTo>
                  <a:pt x="1322" y="882672"/>
                </a:lnTo>
                <a:lnTo>
                  <a:pt x="0" y="835278"/>
                </a:lnTo>
                <a:close/>
              </a:path>
            </a:pathLst>
          </a:custGeom>
          <a:ln w="1270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 txBox="1"/>
          <p:nvPr/>
        </p:nvSpPr>
        <p:spPr>
          <a:xfrm>
            <a:off x="5238115" y="2131516"/>
            <a:ext cx="725170" cy="3003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10" dirty="0">
                <a:latin typeface="Calibri"/>
                <a:cs typeface="Calibri"/>
              </a:rPr>
              <a:t>Neuron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7" name="object 7"/>
          <p:cNvSpPr/>
          <p:nvPr/>
        </p:nvSpPr>
        <p:spPr>
          <a:xfrm>
            <a:off x="3156458" y="1282572"/>
            <a:ext cx="4897755" cy="2028189"/>
          </a:xfrm>
          <a:custGeom>
            <a:avLst/>
            <a:gdLst/>
            <a:ahLst/>
            <a:cxnLst/>
            <a:rect l="l" t="t" r="r" b="b"/>
            <a:pathLst>
              <a:path w="4897755" h="2028189">
                <a:moveTo>
                  <a:pt x="1608963" y="1014095"/>
                </a:moveTo>
                <a:lnTo>
                  <a:pt x="1602613" y="1010920"/>
                </a:lnTo>
                <a:lnTo>
                  <a:pt x="1532763" y="975995"/>
                </a:lnTo>
                <a:lnTo>
                  <a:pt x="1532763" y="1010920"/>
                </a:lnTo>
                <a:lnTo>
                  <a:pt x="0" y="1010920"/>
                </a:lnTo>
                <a:lnTo>
                  <a:pt x="0" y="1017270"/>
                </a:lnTo>
                <a:lnTo>
                  <a:pt x="1532763" y="1017270"/>
                </a:lnTo>
                <a:lnTo>
                  <a:pt x="1532763" y="1052195"/>
                </a:lnTo>
                <a:lnTo>
                  <a:pt x="1602613" y="1017270"/>
                </a:lnTo>
                <a:lnTo>
                  <a:pt x="1608963" y="1014095"/>
                </a:lnTo>
                <a:close/>
              </a:path>
              <a:path w="4897755" h="2028189">
                <a:moveTo>
                  <a:pt x="1737868" y="524637"/>
                </a:moveTo>
                <a:lnTo>
                  <a:pt x="1720113" y="505841"/>
                </a:lnTo>
                <a:lnTo>
                  <a:pt x="1679448" y="462788"/>
                </a:lnTo>
                <a:lnTo>
                  <a:pt x="1667459" y="495554"/>
                </a:lnTo>
                <a:lnTo>
                  <a:pt x="308737" y="0"/>
                </a:lnTo>
                <a:lnTo>
                  <a:pt x="306578" y="5969"/>
                </a:lnTo>
                <a:lnTo>
                  <a:pt x="1665274" y="501510"/>
                </a:lnTo>
                <a:lnTo>
                  <a:pt x="1653286" y="534289"/>
                </a:lnTo>
                <a:lnTo>
                  <a:pt x="1737868" y="524637"/>
                </a:lnTo>
                <a:close/>
              </a:path>
              <a:path w="4897755" h="2028189">
                <a:moveTo>
                  <a:pt x="1749679" y="1540129"/>
                </a:moveTo>
                <a:lnTo>
                  <a:pt x="1664970" y="1530858"/>
                </a:lnTo>
                <a:lnTo>
                  <a:pt x="1677060" y="1563598"/>
                </a:lnTo>
                <a:lnTo>
                  <a:pt x="438531" y="2022221"/>
                </a:lnTo>
                <a:lnTo>
                  <a:pt x="440690" y="2028190"/>
                </a:lnTo>
                <a:lnTo>
                  <a:pt x="1679270" y="1569593"/>
                </a:lnTo>
                <a:lnTo>
                  <a:pt x="1691386" y="1602359"/>
                </a:lnTo>
                <a:lnTo>
                  <a:pt x="1731822" y="1559179"/>
                </a:lnTo>
                <a:lnTo>
                  <a:pt x="1749679" y="1540129"/>
                </a:lnTo>
                <a:close/>
              </a:path>
              <a:path w="4897755" h="2028189">
                <a:moveTo>
                  <a:pt x="4897628" y="1014095"/>
                </a:moveTo>
                <a:lnTo>
                  <a:pt x="4891278" y="1010920"/>
                </a:lnTo>
                <a:lnTo>
                  <a:pt x="4821428" y="975995"/>
                </a:lnTo>
                <a:lnTo>
                  <a:pt x="4821428" y="1010920"/>
                </a:lnTo>
                <a:lnTo>
                  <a:pt x="3288538" y="1010920"/>
                </a:lnTo>
                <a:lnTo>
                  <a:pt x="3288538" y="1017270"/>
                </a:lnTo>
                <a:lnTo>
                  <a:pt x="4821428" y="1017270"/>
                </a:lnTo>
                <a:lnTo>
                  <a:pt x="4821428" y="1052195"/>
                </a:lnTo>
                <a:lnTo>
                  <a:pt x="4891278" y="1017270"/>
                </a:lnTo>
                <a:lnTo>
                  <a:pt x="4897628" y="1014095"/>
                </a:lnTo>
                <a:close/>
              </a:path>
            </a:pathLst>
          </a:custGeom>
          <a:solidFill>
            <a:srgbClr val="5B9BD4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 txBox="1"/>
          <p:nvPr/>
        </p:nvSpPr>
        <p:spPr>
          <a:xfrm>
            <a:off x="2816098" y="2077592"/>
            <a:ext cx="24066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25" dirty="0">
                <a:latin typeface="Calibri"/>
                <a:cs typeface="Calibri"/>
              </a:rPr>
              <a:t>x2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3235579" y="3187065"/>
            <a:ext cx="24066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25" dirty="0">
                <a:latin typeface="Calibri"/>
                <a:cs typeface="Calibri"/>
              </a:rPr>
              <a:t>x3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3137154" y="1036446"/>
            <a:ext cx="24066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25" dirty="0">
                <a:latin typeface="Calibri"/>
                <a:cs typeface="Calibri"/>
              </a:rPr>
              <a:t>x1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7821930" y="1970023"/>
            <a:ext cx="12890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50" dirty="0">
                <a:latin typeface="Calibri"/>
                <a:cs typeface="Calibri"/>
              </a:rPr>
              <a:t>y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2860039" y="4209745"/>
            <a:ext cx="5603240" cy="3003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i="1" dirty="0">
                <a:latin typeface="Calibri"/>
                <a:cs typeface="Calibri"/>
              </a:rPr>
              <a:t>Mathematical</a:t>
            </a:r>
            <a:r>
              <a:rPr sz="1800" b="1" i="1" spc="-30" dirty="0">
                <a:latin typeface="Calibri"/>
                <a:cs typeface="Calibri"/>
              </a:rPr>
              <a:t> </a:t>
            </a:r>
            <a:r>
              <a:rPr sz="1800" b="1" i="1" dirty="0">
                <a:latin typeface="Calibri"/>
                <a:cs typeface="Calibri"/>
              </a:rPr>
              <a:t>Definition</a:t>
            </a:r>
            <a:r>
              <a:rPr sz="1800" b="1" i="1" spc="-20" dirty="0">
                <a:latin typeface="Calibri"/>
                <a:cs typeface="Calibri"/>
              </a:rPr>
              <a:t> </a:t>
            </a:r>
            <a:r>
              <a:rPr sz="1800" b="1" i="1" dirty="0">
                <a:latin typeface="Calibri"/>
                <a:cs typeface="Calibri"/>
              </a:rPr>
              <a:t>Y</a:t>
            </a:r>
            <a:r>
              <a:rPr sz="1800" b="1" i="1" spc="-10" dirty="0">
                <a:latin typeface="Calibri"/>
                <a:cs typeface="Calibri"/>
              </a:rPr>
              <a:t> </a:t>
            </a:r>
            <a:r>
              <a:rPr sz="1800" b="1" i="1" dirty="0">
                <a:latin typeface="Calibri"/>
                <a:cs typeface="Calibri"/>
              </a:rPr>
              <a:t>=</a:t>
            </a:r>
            <a:r>
              <a:rPr sz="1800" b="1" i="1" spc="-10" dirty="0">
                <a:latin typeface="Calibri"/>
                <a:cs typeface="Calibri"/>
              </a:rPr>
              <a:t> </a:t>
            </a:r>
            <a:r>
              <a:rPr sz="1800" b="1" i="1" dirty="0">
                <a:latin typeface="Calibri"/>
                <a:cs typeface="Calibri"/>
              </a:rPr>
              <a:t>f(w1*x1</a:t>
            </a:r>
            <a:r>
              <a:rPr sz="1800" b="1" i="1" spc="-15" dirty="0">
                <a:latin typeface="Calibri"/>
                <a:cs typeface="Calibri"/>
              </a:rPr>
              <a:t> </a:t>
            </a:r>
            <a:r>
              <a:rPr sz="1800" b="1" i="1" dirty="0">
                <a:latin typeface="Calibri"/>
                <a:cs typeface="Calibri"/>
              </a:rPr>
              <a:t>+</a:t>
            </a:r>
            <a:r>
              <a:rPr sz="1800" b="1" i="1" spc="-5" dirty="0">
                <a:latin typeface="Calibri"/>
                <a:cs typeface="Calibri"/>
              </a:rPr>
              <a:t> </a:t>
            </a:r>
            <a:r>
              <a:rPr sz="1800" b="1" i="1" dirty="0">
                <a:latin typeface="Calibri"/>
                <a:cs typeface="Calibri"/>
              </a:rPr>
              <a:t>w2*x2</a:t>
            </a:r>
            <a:r>
              <a:rPr sz="1800" b="1" i="1" spc="-25" dirty="0">
                <a:latin typeface="Calibri"/>
                <a:cs typeface="Calibri"/>
              </a:rPr>
              <a:t> </a:t>
            </a:r>
            <a:r>
              <a:rPr sz="1800" b="1" i="1" dirty="0">
                <a:latin typeface="Calibri"/>
                <a:cs typeface="Calibri"/>
              </a:rPr>
              <a:t>+</a:t>
            </a:r>
            <a:r>
              <a:rPr sz="1800" b="1" i="1" spc="-5" dirty="0">
                <a:latin typeface="Calibri"/>
                <a:cs typeface="Calibri"/>
              </a:rPr>
              <a:t> </a:t>
            </a:r>
            <a:r>
              <a:rPr sz="1800" b="1" i="1" dirty="0">
                <a:latin typeface="Calibri"/>
                <a:cs typeface="Calibri"/>
              </a:rPr>
              <a:t>w3*x3</a:t>
            </a:r>
            <a:r>
              <a:rPr sz="1800" b="1" i="1" spc="-15" dirty="0">
                <a:latin typeface="Calibri"/>
                <a:cs typeface="Calibri"/>
              </a:rPr>
              <a:t> </a:t>
            </a:r>
            <a:r>
              <a:rPr sz="1800" b="1" i="1" dirty="0">
                <a:latin typeface="Calibri"/>
                <a:cs typeface="Calibri"/>
              </a:rPr>
              <a:t>+</a:t>
            </a:r>
            <a:r>
              <a:rPr sz="1800" b="1" i="1" spc="-15" dirty="0">
                <a:latin typeface="Calibri"/>
                <a:cs typeface="Calibri"/>
              </a:rPr>
              <a:t> </a:t>
            </a:r>
            <a:r>
              <a:rPr sz="1800" b="1" i="1" spc="-25" dirty="0">
                <a:latin typeface="Calibri"/>
                <a:cs typeface="Calibri"/>
              </a:rPr>
              <a:t>b)</a:t>
            </a:r>
            <a:endParaRPr sz="1800">
              <a:latin typeface="Calibri"/>
              <a:cs typeface="Calibri"/>
            </a:endParaRPr>
          </a:p>
        </p:txBody>
      </p:sp>
      <p:grpSp>
        <p:nvGrpSpPr>
          <p:cNvPr id="13" name="object 13"/>
          <p:cNvGrpSpPr/>
          <p:nvPr/>
        </p:nvGrpSpPr>
        <p:grpSpPr>
          <a:xfrm>
            <a:off x="3835908" y="1220977"/>
            <a:ext cx="540385" cy="534670"/>
            <a:chOff x="3835908" y="1220977"/>
            <a:chExt cx="540385" cy="534670"/>
          </a:xfrm>
        </p:grpSpPr>
        <p:sp>
          <p:nvSpPr>
            <p:cNvPr id="14" name="object 14"/>
            <p:cNvSpPr/>
            <p:nvPr/>
          </p:nvSpPr>
          <p:spPr>
            <a:xfrm>
              <a:off x="3842258" y="1227327"/>
              <a:ext cx="527685" cy="521970"/>
            </a:xfrm>
            <a:custGeom>
              <a:avLst/>
              <a:gdLst/>
              <a:ahLst/>
              <a:cxnLst/>
              <a:rect l="l" t="t" r="r" b="b"/>
              <a:pathLst>
                <a:path w="527685" h="521969">
                  <a:moveTo>
                    <a:pt x="263778" y="0"/>
                  </a:moveTo>
                  <a:lnTo>
                    <a:pt x="216367" y="4204"/>
                  </a:lnTo>
                  <a:lnTo>
                    <a:pt x="171742" y="16325"/>
                  </a:lnTo>
                  <a:lnTo>
                    <a:pt x="130650" y="35625"/>
                  </a:lnTo>
                  <a:lnTo>
                    <a:pt x="93834" y="61366"/>
                  </a:lnTo>
                  <a:lnTo>
                    <a:pt x="62041" y="92811"/>
                  </a:lnTo>
                  <a:lnTo>
                    <a:pt x="36016" y="129220"/>
                  </a:lnTo>
                  <a:lnTo>
                    <a:pt x="16504" y="169856"/>
                  </a:lnTo>
                  <a:lnTo>
                    <a:pt x="4250" y="213981"/>
                  </a:lnTo>
                  <a:lnTo>
                    <a:pt x="0" y="260858"/>
                  </a:lnTo>
                  <a:lnTo>
                    <a:pt x="4250" y="307734"/>
                  </a:lnTo>
                  <a:lnTo>
                    <a:pt x="16504" y="351859"/>
                  </a:lnTo>
                  <a:lnTo>
                    <a:pt x="36016" y="392495"/>
                  </a:lnTo>
                  <a:lnTo>
                    <a:pt x="62041" y="428904"/>
                  </a:lnTo>
                  <a:lnTo>
                    <a:pt x="93834" y="460349"/>
                  </a:lnTo>
                  <a:lnTo>
                    <a:pt x="130650" y="486090"/>
                  </a:lnTo>
                  <a:lnTo>
                    <a:pt x="171742" y="505390"/>
                  </a:lnTo>
                  <a:lnTo>
                    <a:pt x="216367" y="517511"/>
                  </a:lnTo>
                  <a:lnTo>
                    <a:pt x="263778" y="521716"/>
                  </a:lnTo>
                  <a:lnTo>
                    <a:pt x="311190" y="517511"/>
                  </a:lnTo>
                  <a:lnTo>
                    <a:pt x="355815" y="505390"/>
                  </a:lnTo>
                  <a:lnTo>
                    <a:pt x="396907" y="486090"/>
                  </a:lnTo>
                  <a:lnTo>
                    <a:pt x="433723" y="460349"/>
                  </a:lnTo>
                  <a:lnTo>
                    <a:pt x="465516" y="428904"/>
                  </a:lnTo>
                  <a:lnTo>
                    <a:pt x="491541" y="392495"/>
                  </a:lnTo>
                  <a:lnTo>
                    <a:pt x="511053" y="351859"/>
                  </a:lnTo>
                  <a:lnTo>
                    <a:pt x="523307" y="307734"/>
                  </a:lnTo>
                  <a:lnTo>
                    <a:pt x="527557" y="260858"/>
                  </a:lnTo>
                  <a:lnTo>
                    <a:pt x="523307" y="213981"/>
                  </a:lnTo>
                  <a:lnTo>
                    <a:pt x="511053" y="169856"/>
                  </a:lnTo>
                  <a:lnTo>
                    <a:pt x="491541" y="129220"/>
                  </a:lnTo>
                  <a:lnTo>
                    <a:pt x="465516" y="92811"/>
                  </a:lnTo>
                  <a:lnTo>
                    <a:pt x="433723" y="61366"/>
                  </a:lnTo>
                  <a:lnTo>
                    <a:pt x="396907" y="35625"/>
                  </a:lnTo>
                  <a:lnTo>
                    <a:pt x="355815" y="16325"/>
                  </a:lnTo>
                  <a:lnTo>
                    <a:pt x="311190" y="4204"/>
                  </a:lnTo>
                  <a:lnTo>
                    <a:pt x="263778" y="0"/>
                  </a:lnTo>
                  <a:close/>
                </a:path>
              </a:pathLst>
            </a:custGeom>
            <a:solidFill>
              <a:srgbClr val="5B9BD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3842258" y="1227327"/>
              <a:ext cx="527685" cy="521970"/>
            </a:xfrm>
            <a:custGeom>
              <a:avLst/>
              <a:gdLst/>
              <a:ahLst/>
              <a:cxnLst/>
              <a:rect l="l" t="t" r="r" b="b"/>
              <a:pathLst>
                <a:path w="527685" h="521969">
                  <a:moveTo>
                    <a:pt x="0" y="260858"/>
                  </a:moveTo>
                  <a:lnTo>
                    <a:pt x="4250" y="213981"/>
                  </a:lnTo>
                  <a:lnTo>
                    <a:pt x="16504" y="169856"/>
                  </a:lnTo>
                  <a:lnTo>
                    <a:pt x="36016" y="129220"/>
                  </a:lnTo>
                  <a:lnTo>
                    <a:pt x="62041" y="92811"/>
                  </a:lnTo>
                  <a:lnTo>
                    <a:pt x="93834" y="61366"/>
                  </a:lnTo>
                  <a:lnTo>
                    <a:pt x="130650" y="35625"/>
                  </a:lnTo>
                  <a:lnTo>
                    <a:pt x="171742" y="16325"/>
                  </a:lnTo>
                  <a:lnTo>
                    <a:pt x="216367" y="4204"/>
                  </a:lnTo>
                  <a:lnTo>
                    <a:pt x="263778" y="0"/>
                  </a:lnTo>
                  <a:lnTo>
                    <a:pt x="311190" y="4204"/>
                  </a:lnTo>
                  <a:lnTo>
                    <a:pt x="355815" y="16325"/>
                  </a:lnTo>
                  <a:lnTo>
                    <a:pt x="396907" y="35625"/>
                  </a:lnTo>
                  <a:lnTo>
                    <a:pt x="433723" y="61366"/>
                  </a:lnTo>
                  <a:lnTo>
                    <a:pt x="465516" y="92811"/>
                  </a:lnTo>
                  <a:lnTo>
                    <a:pt x="491541" y="129220"/>
                  </a:lnTo>
                  <a:lnTo>
                    <a:pt x="511053" y="169856"/>
                  </a:lnTo>
                  <a:lnTo>
                    <a:pt x="523307" y="213981"/>
                  </a:lnTo>
                  <a:lnTo>
                    <a:pt x="527557" y="260858"/>
                  </a:lnTo>
                  <a:lnTo>
                    <a:pt x="523307" y="307734"/>
                  </a:lnTo>
                  <a:lnTo>
                    <a:pt x="511053" y="351859"/>
                  </a:lnTo>
                  <a:lnTo>
                    <a:pt x="491541" y="392495"/>
                  </a:lnTo>
                  <a:lnTo>
                    <a:pt x="465516" y="428904"/>
                  </a:lnTo>
                  <a:lnTo>
                    <a:pt x="433723" y="460349"/>
                  </a:lnTo>
                  <a:lnTo>
                    <a:pt x="396907" y="486090"/>
                  </a:lnTo>
                  <a:lnTo>
                    <a:pt x="355815" y="505390"/>
                  </a:lnTo>
                  <a:lnTo>
                    <a:pt x="311190" y="517511"/>
                  </a:lnTo>
                  <a:lnTo>
                    <a:pt x="263778" y="521716"/>
                  </a:lnTo>
                  <a:lnTo>
                    <a:pt x="216367" y="517511"/>
                  </a:lnTo>
                  <a:lnTo>
                    <a:pt x="171742" y="505390"/>
                  </a:lnTo>
                  <a:lnTo>
                    <a:pt x="130650" y="486090"/>
                  </a:lnTo>
                  <a:lnTo>
                    <a:pt x="93834" y="460349"/>
                  </a:lnTo>
                  <a:lnTo>
                    <a:pt x="62041" y="428904"/>
                  </a:lnTo>
                  <a:lnTo>
                    <a:pt x="36016" y="392495"/>
                  </a:lnTo>
                  <a:lnTo>
                    <a:pt x="16504" y="351859"/>
                  </a:lnTo>
                  <a:lnTo>
                    <a:pt x="4250" y="307734"/>
                  </a:lnTo>
                  <a:lnTo>
                    <a:pt x="0" y="260858"/>
                  </a:lnTo>
                  <a:close/>
                </a:path>
              </a:pathLst>
            </a:custGeom>
            <a:ln w="12700">
              <a:solidFill>
                <a:srgbClr val="41709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6" name="object 16"/>
          <p:cNvSpPr txBox="1"/>
          <p:nvPr/>
        </p:nvSpPr>
        <p:spPr>
          <a:xfrm>
            <a:off x="4000880" y="1375409"/>
            <a:ext cx="21018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25" dirty="0">
                <a:solidFill>
                  <a:srgbClr val="FFFFFF"/>
                </a:solidFill>
                <a:latin typeface="Calibri"/>
                <a:cs typeface="Calibri"/>
              </a:rPr>
              <a:t>w1</a:t>
            </a:r>
            <a:endParaRPr sz="1200">
              <a:latin typeface="Calibri"/>
              <a:cs typeface="Calibri"/>
            </a:endParaRPr>
          </a:p>
        </p:txBody>
      </p:sp>
      <p:grpSp>
        <p:nvGrpSpPr>
          <p:cNvPr id="17" name="object 17"/>
          <p:cNvGrpSpPr/>
          <p:nvPr/>
        </p:nvGrpSpPr>
        <p:grpSpPr>
          <a:xfrm>
            <a:off x="3801998" y="2006219"/>
            <a:ext cx="540385" cy="534670"/>
            <a:chOff x="3801998" y="2006219"/>
            <a:chExt cx="540385" cy="534670"/>
          </a:xfrm>
        </p:grpSpPr>
        <p:sp>
          <p:nvSpPr>
            <p:cNvPr id="18" name="object 18"/>
            <p:cNvSpPr/>
            <p:nvPr/>
          </p:nvSpPr>
          <p:spPr>
            <a:xfrm>
              <a:off x="3808348" y="2012569"/>
              <a:ext cx="527685" cy="521970"/>
            </a:xfrm>
            <a:custGeom>
              <a:avLst/>
              <a:gdLst/>
              <a:ahLst/>
              <a:cxnLst/>
              <a:rect l="l" t="t" r="r" b="b"/>
              <a:pathLst>
                <a:path w="527685" h="521969">
                  <a:moveTo>
                    <a:pt x="263778" y="0"/>
                  </a:moveTo>
                  <a:lnTo>
                    <a:pt x="216367" y="4204"/>
                  </a:lnTo>
                  <a:lnTo>
                    <a:pt x="171742" y="16325"/>
                  </a:lnTo>
                  <a:lnTo>
                    <a:pt x="130650" y="35625"/>
                  </a:lnTo>
                  <a:lnTo>
                    <a:pt x="93834" y="61366"/>
                  </a:lnTo>
                  <a:lnTo>
                    <a:pt x="62041" y="92811"/>
                  </a:lnTo>
                  <a:lnTo>
                    <a:pt x="36016" y="129220"/>
                  </a:lnTo>
                  <a:lnTo>
                    <a:pt x="16504" y="169856"/>
                  </a:lnTo>
                  <a:lnTo>
                    <a:pt x="4250" y="213981"/>
                  </a:lnTo>
                  <a:lnTo>
                    <a:pt x="0" y="260857"/>
                  </a:lnTo>
                  <a:lnTo>
                    <a:pt x="4250" y="307734"/>
                  </a:lnTo>
                  <a:lnTo>
                    <a:pt x="16504" y="351859"/>
                  </a:lnTo>
                  <a:lnTo>
                    <a:pt x="36016" y="392495"/>
                  </a:lnTo>
                  <a:lnTo>
                    <a:pt x="62041" y="428904"/>
                  </a:lnTo>
                  <a:lnTo>
                    <a:pt x="93834" y="460349"/>
                  </a:lnTo>
                  <a:lnTo>
                    <a:pt x="130650" y="486090"/>
                  </a:lnTo>
                  <a:lnTo>
                    <a:pt x="171742" y="505390"/>
                  </a:lnTo>
                  <a:lnTo>
                    <a:pt x="216367" y="517511"/>
                  </a:lnTo>
                  <a:lnTo>
                    <a:pt x="263778" y="521715"/>
                  </a:lnTo>
                  <a:lnTo>
                    <a:pt x="311190" y="517511"/>
                  </a:lnTo>
                  <a:lnTo>
                    <a:pt x="355815" y="505390"/>
                  </a:lnTo>
                  <a:lnTo>
                    <a:pt x="396907" y="486090"/>
                  </a:lnTo>
                  <a:lnTo>
                    <a:pt x="433723" y="460349"/>
                  </a:lnTo>
                  <a:lnTo>
                    <a:pt x="465516" y="428904"/>
                  </a:lnTo>
                  <a:lnTo>
                    <a:pt x="491541" y="392495"/>
                  </a:lnTo>
                  <a:lnTo>
                    <a:pt x="511053" y="351859"/>
                  </a:lnTo>
                  <a:lnTo>
                    <a:pt x="523307" y="307734"/>
                  </a:lnTo>
                  <a:lnTo>
                    <a:pt x="527558" y="260857"/>
                  </a:lnTo>
                  <a:lnTo>
                    <a:pt x="523307" y="213981"/>
                  </a:lnTo>
                  <a:lnTo>
                    <a:pt x="511053" y="169856"/>
                  </a:lnTo>
                  <a:lnTo>
                    <a:pt x="491541" y="129220"/>
                  </a:lnTo>
                  <a:lnTo>
                    <a:pt x="465516" y="92811"/>
                  </a:lnTo>
                  <a:lnTo>
                    <a:pt x="433723" y="61366"/>
                  </a:lnTo>
                  <a:lnTo>
                    <a:pt x="396907" y="35625"/>
                  </a:lnTo>
                  <a:lnTo>
                    <a:pt x="355815" y="16325"/>
                  </a:lnTo>
                  <a:lnTo>
                    <a:pt x="311190" y="4204"/>
                  </a:lnTo>
                  <a:lnTo>
                    <a:pt x="263778" y="0"/>
                  </a:lnTo>
                  <a:close/>
                </a:path>
              </a:pathLst>
            </a:custGeom>
            <a:solidFill>
              <a:srgbClr val="5B9BD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9" name="object 19"/>
            <p:cNvSpPr/>
            <p:nvPr/>
          </p:nvSpPr>
          <p:spPr>
            <a:xfrm>
              <a:off x="3808348" y="2012569"/>
              <a:ext cx="527685" cy="521970"/>
            </a:xfrm>
            <a:custGeom>
              <a:avLst/>
              <a:gdLst/>
              <a:ahLst/>
              <a:cxnLst/>
              <a:rect l="l" t="t" r="r" b="b"/>
              <a:pathLst>
                <a:path w="527685" h="521969">
                  <a:moveTo>
                    <a:pt x="0" y="260857"/>
                  </a:moveTo>
                  <a:lnTo>
                    <a:pt x="4250" y="213981"/>
                  </a:lnTo>
                  <a:lnTo>
                    <a:pt x="16504" y="169856"/>
                  </a:lnTo>
                  <a:lnTo>
                    <a:pt x="36016" y="129220"/>
                  </a:lnTo>
                  <a:lnTo>
                    <a:pt x="62041" y="92811"/>
                  </a:lnTo>
                  <a:lnTo>
                    <a:pt x="93834" y="61366"/>
                  </a:lnTo>
                  <a:lnTo>
                    <a:pt x="130650" y="35625"/>
                  </a:lnTo>
                  <a:lnTo>
                    <a:pt x="171742" y="16325"/>
                  </a:lnTo>
                  <a:lnTo>
                    <a:pt x="216367" y="4204"/>
                  </a:lnTo>
                  <a:lnTo>
                    <a:pt x="263778" y="0"/>
                  </a:lnTo>
                  <a:lnTo>
                    <a:pt x="311190" y="4204"/>
                  </a:lnTo>
                  <a:lnTo>
                    <a:pt x="355815" y="16325"/>
                  </a:lnTo>
                  <a:lnTo>
                    <a:pt x="396907" y="35625"/>
                  </a:lnTo>
                  <a:lnTo>
                    <a:pt x="433723" y="61366"/>
                  </a:lnTo>
                  <a:lnTo>
                    <a:pt x="465516" y="92811"/>
                  </a:lnTo>
                  <a:lnTo>
                    <a:pt x="491541" y="129220"/>
                  </a:lnTo>
                  <a:lnTo>
                    <a:pt x="511053" y="169856"/>
                  </a:lnTo>
                  <a:lnTo>
                    <a:pt x="523307" y="213981"/>
                  </a:lnTo>
                  <a:lnTo>
                    <a:pt x="527558" y="260857"/>
                  </a:lnTo>
                  <a:lnTo>
                    <a:pt x="523307" y="307734"/>
                  </a:lnTo>
                  <a:lnTo>
                    <a:pt x="511053" y="351859"/>
                  </a:lnTo>
                  <a:lnTo>
                    <a:pt x="491541" y="392495"/>
                  </a:lnTo>
                  <a:lnTo>
                    <a:pt x="465516" y="428904"/>
                  </a:lnTo>
                  <a:lnTo>
                    <a:pt x="433723" y="460349"/>
                  </a:lnTo>
                  <a:lnTo>
                    <a:pt x="396907" y="486090"/>
                  </a:lnTo>
                  <a:lnTo>
                    <a:pt x="355815" y="505390"/>
                  </a:lnTo>
                  <a:lnTo>
                    <a:pt x="311190" y="517511"/>
                  </a:lnTo>
                  <a:lnTo>
                    <a:pt x="263778" y="521715"/>
                  </a:lnTo>
                  <a:lnTo>
                    <a:pt x="216367" y="517511"/>
                  </a:lnTo>
                  <a:lnTo>
                    <a:pt x="171742" y="505390"/>
                  </a:lnTo>
                  <a:lnTo>
                    <a:pt x="130650" y="486090"/>
                  </a:lnTo>
                  <a:lnTo>
                    <a:pt x="93834" y="460349"/>
                  </a:lnTo>
                  <a:lnTo>
                    <a:pt x="62041" y="428904"/>
                  </a:lnTo>
                  <a:lnTo>
                    <a:pt x="36016" y="392495"/>
                  </a:lnTo>
                  <a:lnTo>
                    <a:pt x="16504" y="351859"/>
                  </a:lnTo>
                  <a:lnTo>
                    <a:pt x="4250" y="307734"/>
                  </a:lnTo>
                  <a:lnTo>
                    <a:pt x="0" y="260857"/>
                  </a:lnTo>
                  <a:close/>
                </a:path>
              </a:pathLst>
            </a:custGeom>
            <a:ln w="12700">
              <a:solidFill>
                <a:srgbClr val="41709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0" name="object 20"/>
          <p:cNvSpPr txBox="1"/>
          <p:nvPr/>
        </p:nvSpPr>
        <p:spPr>
          <a:xfrm>
            <a:off x="3967098" y="2160523"/>
            <a:ext cx="21018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25" dirty="0">
                <a:solidFill>
                  <a:srgbClr val="FFFFFF"/>
                </a:solidFill>
                <a:latin typeface="Calibri"/>
                <a:cs typeface="Calibri"/>
              </a:rPr>
              <a:t>w2</a:t>
            </a:r>
            <a:endParaRPr sz="1200">
              <a:latin typeface="Calibri"/>
              <a:cs typeface="Calibri"/>
            </a:endParaRPr>
          </a:p>
        </p:txBody>
      </p:sp>
      <p:grpSp>
        <p:nvGrpSpPr>
          <p:cNvPr id="21" name="object 21"/>
          <p:cNvGrpSpPr/>
          <p:nvPr/>
        </p:nvGrpSpPr>
        <p:grpSpPr>
          <a:xfrm>
            <a:off x="3910584" y="2809239"/>
            <a:ext cx="540385" cy="534670"/>
            <a:chOff x="3910584" y="2809239"/>
            <a:chExt cx="540385" cy="534670"/>
          </a:xfrm>
        </p:grpSpPr>
        <p:sp>
          <p:nvSpPr>
            <p:cNvPr id="22" name="object 22"/>
            <p:cNvSpPr/>
            <p:nvPr/>
          </p:nvSpPr>
          <p:spPr>
            <a:xfrm>
              <a:off x="3916934" y="2815589"/>
              <a:ext cx="527685" cy="521970"/>
            </a:xfrm>
            <a:custGeom>
              <a:avLst/>
              <a:gdLst/>
              <a:ahLst/>
              <a:cxnLst/>
              <a:rect l="l" t="t" r="r" b="b"/>
              <a:pathLst>
                <a:path w="527685" h="521970">
                  <a:moveTo>
                    <a:pt x="263778" y="0"/>
                  </a:moveTo>
                  <a:lnTo>
                    <a:pt x="216367" y="4204"/>
                  </a:lnTo>
                  <a:lnTo>
                    <a:pt x="171742" y="16325"/>
                  </a:lnTo>
                  <a:lnTo>
                    <a:pt x="130650" y="35625"/>
                  </a:lnTo>
                  <a:lnTo>
                    <a:pt x="93834" y="61366"/>
                  </a:lnTo>
                  <a:lnTo>
                    <a:pt x="62041" y="92811"/>
                  </a:lnTo>
                  <a:lnTo>
                    <a:pt x="36016" y="129220"/>
                  </a:lnTo>
                  <a:lnTo>
                    <a:pt x="16504" y="169856"/>
                  </a:lnTo>
                  <a:lnTo>
                    <a:pt x="4250" y="213981"/>
                  </a:lnTo>
                  <a:lnTo>
                    <a:pt x="0" y="260858"/>
                  </a:lnTo>
                  <a:lnTo>
                    <a:pt x="4250" y="307734"/>
                  </a:lnTo>
                  <a:lnTo>
                    <a:pt x="16504" y="351859"/>
                  </a:lnTo>
                  <a:lnTo>
                    <a:pt x="36016" y="392495"/>
                  </a:lnTo>
                  <a:lnTo>
                    <a:pt x="62041" y="428904"/>
                  </a:lnTo>
                  <a:lnTo>
                    <a:pt x="93834" y="460349"/>
                  </a:lnTo>
                  <a:lnTo>
                    <a:pt x="130650" y="486090"/>
                  </a:lnTo>
                  <a:lnTo>
                    <a:pt x="171742" y="505390"/>
                  </a:lnTo>
                  <a:lnTo>
                    <a:pt x="216367" y="517511"/>
                  </a:lnTo>
                  <a:lnTo>
                    <a:pt x="263778" y="521715"/>
                  </a:lnTo>
                  <a:lnTo>
                    <a:pt x="311190" y="517511"/>
                  </a:lnTo>
                  <a:lnTo>
                    <a:pt x="355815" y="505390"/>
                  </a:lnTo>
                  <a:lnTo>
                    <a:pt x="396907" y="486090"/>
                  </a:lnTo>
                  <a:lnTo>
                    <a:pt x="433723" y="460349"/>
                  </a:lnTo>
                  <a:lnTo>
                    <a:pt x="465516" y="428904"/>
                  </a:lnTo>
                  <a:lnTo>
                    <a:pt x="491541" y="392495"/>
                  </a:lnTo>
                  <a:lnTo>
                    <a:pt x="511053" y="351859"/>
                  </a:lnTo>
                  <a:lnTo>
                    <a:pt x="523307" y="307734"/>
                  </a:lnTo>
                  <a:lnTo>
                    <a:pt x="527557" y="260858"/>
                  </a:lnTo>
                  <a:lnTo>
                    <a:pt x="523307" y="213981"/>
                  </a:lnTo>
                  <a:lnTo>
                    <a:pt x="511053" y="169856"/>
                  </a:lnTo>
                  <a:lnTo>
                    <a:pt x="491541" y="129220"/>
                  </a:lnTo>
                  <a:lnTo>
                    <a:pt x="465516" y="92811"/>
                  </a:lnTo>
                  <a:lnTo>
                    <a:pt x="433723" y="61366"/>
                  </a:lnTo>
                  <a:lnTo>
                    <a:pt x="396907" y="35625"/>
                  </a:lnTo>
                  <a:lnTo>
                    <a:pt x="355815" y="16325"/>
                  </a:lnTo>
                  <a:lnTo>
                    <a:pt x="311190" y="4204"/>
                  </a:lnTo>
                  <a:lnTo>
                    <a:pt x="263778" y="0"/>
                  </a:lnTo>
                  <a:close/>
                </a:path>
              </a:pathLst>
            </a:custGeom>
            <a:solidFill>
              <a:srgbClr val="5B9BD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3" name="object 23"/>
            <p:cNvSpPr/>
            <p:nvPr/>
          </p:nvSpPr>
          <p:spPr>
            <a:xfrm>
              <a:off x="3916934" y="2815589"/>
              <a:ext cx="527685" cy="521970"/>
            </a:xfrm>
            <a:custGeom>
              <a:avLst/>
              <a:gdLst/>
              <a:ahLst/>
              <a:cxnLst/>
              <a:rect l="l" t="t" r="r" b="b"/>
              <a:pathLst>
                <a:path w="527685" h="521970">
                  <a:moveTo>
                    <a:pt x="0" y="260858"/>
                  </a:moveTo>
                  <a:lnTo>
                    <a:pt x="4250" y="213981"/>
                  </a:lnTo>
                  <a:lnTo>
                    <a:pt x="16504" y="169856"/>
                  </a:lnTo>
                  <a:lnTo>
                    <a:pt x="36016" y="129220"/>
                  </a:lnTo>
                  <a:lnTo>
                    <a:pt x="62041" y="92811"/>
                  </a:lnTo>
                  <a:lnTo>
                    <a:pt x="93834" y="61366"/>
                  </a:lnTo>
                  <a:lnTo>
                    <a:pt x="130650" y="35625"/>
                  </a:lnTo>
                  <a:lnTo>
                    <a:pt x="171742" y="16325"/>
                  </a:lnTo>
                  <a:lnTo>
                    <a:pt x="216367" y="4204"/>
                  </a:lnTo>
                  <a:lnTo>
                    <a:pt x="263778" y="0"/>
                  </a:lnTo>
                  <a:lnTo>
                    <a:pt x="311190" y="4204"/>
                  </a:lnTo>
                  <a:lnTo>
                    <a:pt x="355815" y="16325"/>
                  </a:lnTo>
                  <a:lnTo>
                    <a:pt x="396907" y="35625"/>
                  </a:lnTo>
                  <a:lnTo>
                    <a:pt x="433723" y="61366"/>
                  </a:lnTo>
                  <a:lnTo>
                    <a:pt x="465516" y="92811"/>
                  </a:lnTo>
                  <a:lnTo>
                    <a:pt x="491541" y="129220"/>
                  </a:lnTo>
                  <a:lnTo>
                    <a:pt x="511053" y="169856"/>
                  </a:lnTo>
                  <a:lnTo>
                    <a:pt x="523307" y="213981"/>
                  </a:lnTo>
                  <a:lnTo>
                    <a:pt x="527557" y="260858"/>
                  </a:lnTo>
                  <a:lnTo>
                    <a:pt x="523307" y="307734"/>
                  </a:lnTo>
                  <a:lnTo>
                    <a:pt x="511053" y="351859"/>
                  </a:lnTo>
                  <a:lnTo>
                    <a:pt x="491541" y="392495"/>
                  </a:lnTo>
                  <a:lnTo>
                    <a:pt x="465516" y="428904"/>
                  </a:lnTo>
                  <a:lnTo>
                    <a:pt x="433723" y="460349"/>
                  </a:lnTo>
                  <a:lnTo>
                    <a:pt x="396907" y="486090"/>
                  </a:lnTo>
                  <a:lnTo>
                    <a:pt x="355815" y="505390"/>
                  </a:lnTo>
                  <a:lnTo>
                    <a:pt x="311190" y="517511"/>
                  </a:lnTo>
                  <a:lnTo>
                    <a:pt x="263778" y="521715"/>
                  </a:lnTo>
                  <a:lnTo>
                    <a:pt x="216367" y="517511"/>
                  </a:lnTo>
                  <a:lnTo>
                    <a:pt x="171742" y="505390"/>
                  </a:lnTo>
                  <a:lnTo>
                    <a:pt x="130650" y="486090"/>
                  </a:lnTo>
                  <a:lnTo>
                    <a:pt x="93834" y="460349"/>
                  </a:lnTo>
                  <a:lnTo>
                    <a:pt x="62041" y="428904"/>
                  </a:lnTo>
                  <a:lnTo>
                    <a:pt x="36016" y="392495"/>
                  </a:lnTo>
                  <a:lnTo>
                    <a:pt x="16504" y="351859"/>
                  </a:lnTo>
                  <a:lnTo>
                    <a:pt x="4250" y="307734"/>
                  </a:lnTo>
                  <a:lnTo>
                    <a:pt x="0" y="260858"/>
                  </a:lnTo>
                  <a:close/>
                </a:path>
              </a:pathLst>
            </a:custGeom>
            <a:ln w="12700">
              <a:solidFill>
                <a:srgbClr val="41709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4" name="object 24"/>
          <p:cNvSpPr txBox="1"/>
          <p:nvPr/>
        </p:nvSpPr>
        <p:spPr>
          <a:xfrm>
            <a:off x="4075557" y="2963366"/>
            <a:ext cx="210185" cy="2089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25" dirty="0">
                <a:solidFill>
                  <a:srgbClr val="FFFFFF"/>
                </a:solidFill>
                <a:latin typeface="Calibri"/>
                <a:cs typeface="Calibri"/>
              </a:rPr>
              <a:t>w3</a:t>
            </a:r>
            <a:endParaRPr sz="1200">
              <a:latin typeface="Calibri"/>
              <a:cs typeface="Calibri"/>
            </a:endParaRPr>
          </a:p>
        </p:txBody>
      </p:sp>
      <p:sp>
        <p:nvSpPr>
          <p:cNvPr id="25" name="object 25"/>
          <p:cNvSpPr/>
          <p:nvPr/>
        </p:nvSpPr>
        <p:spPr>
          <a:xfrm>
            <a:off x="592010" y="4584827"/>
            <a:ext cx="11008360" cy="0"/>
          </a:xfrm>
          <a:custGeom>
            <a:avLst/>
            <a:gdLst/>
            <a:ahLst/>
            <a:cxnLst/>
            <a:rect l="l" t="t" r="r" b="b"/>
            <a:pathLst>
              <a:path w="11008360">
                <a:moveTo>
                  <a:pt x="0" y="0"/>
                </a:moveTo>
                <a:lnTo>
                  <a:pt x="11007915" y="0"/>
                </a:lnTo>
              </a:path>
            </a:pathLst>
          </a:custGeom>
          <a:ln w="6350">
            <a:solidFill>
              <a:srgbClr val="5B9BD4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829740-9DFA-93FA-40D7-334D591682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62DC982A-B1D4-D67C-550D-C8E674D98DE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8739" y="14986"/>
            <a:ext cx="10328275" cy="50526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pc="60" dirty="0"/>
              <a:t>Activation functions </a:t>
            </a:r>
            <a:r>
              <a:rPr dirty="0"/>
              <a:t>of</a:t>
            </a:r>
            <a:r>
              <a:rPr spc="150" dirty="0"/>
              <a:t> </a:t>
            </a:r>
            <a:r>
              <a:rPr dirty="0"/>
              <a:t>a</a:t>
            </a:r>
            <a:r>
              <a:rPr spc="140" dirty="0"/>
              <a:t> </a:t>
            </a:r>
            <a:r>
              <a:rPr spc="55" dirty="0"/>
              <a:t>Neural</a:t>
            </a:r>
            <a:r>
              <a:rPr spc="125" dirty="0"/>
              <a:t> </a:t>
            </a:r>
            <a:r>
              <a:rPr spc="-10" dirty="0"/>
              <a:t>Network</a:t>
            </a:r>
          </a:p>
        </p:txBody>
      </p:sp>
      <p:pic>
        <p:nvPicPr>
          <p:cNvPr id="27" name="Picture 26" descr="A graph of a function&#10;&#10;AI-generated content may be incorrect.">
            <a:extLst>
              <a:ext uri="{FF2B5EF4-FFF2-40B4-BE49-F238E27FC236}">
                <a16:creationId xmlns:a16="http://schemas.microsoft.com/office/drawing/2014/main" id="{B03C7CE8-52F0-3BD1-00D8-65FC3134CB95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066800"/>
            <a:ext cx="3614936" cy="2743200"/>
          </a:xfrm>
          <a:prstGeom prst="rect">
            <a:avLst/>
          </a:prstGeom>
        </p:spPr>
      </p:pic>
      <p:pic>
        <p:nvPicPr>
          <p:cNvPr id="29" name="Picture 28" descr="A graph with a line&#10;&#10;AI-generated content may be incorrect.">
            <a:extLst>
              <a:ext uri="{FF2B5EF4-FFF2-40B4-BE49-F238E27FC236}">
                <a16:creationId xmlns:a16="http://schemas.microsoft.com/office/drawing/2014/main" id="{57DB25D7-BAE3-E3FE-847C-429BA2E8675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92751" y="1066800"/>
            <a:ext cx="3725633" cy="2743200"/>
          </a:xfrm>
          <a:prstGeom prst="rect">
            <a:avLst/>
          </a:prstGeom>
        </p:spPr>
      </p:pic>
      <p:pic>
        <p:nvPicPr>
          <p:cNvPr id="31" name="Picture 30" descr="A graph with a line&#10;&#10;AI-generated content may be incorrect.">
            <a:extLst>
              <a:ext uri="{FF2B5EF4-FFF2-40B4-BE49-F238E27FC236}">
                <a16:creationId xmlns:a16="http://schemas.microsoft.com/office/drawing/2014/main" id="{7456E9DE-BBFE-6571-975C-16F7608D13F5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96200" y="1066800"/>
            <a:ext cx="3895137" cy="2743200"/>
          </a:xfrm>
          <a:prstGeom prst="rect">
            <a:avLst/>
          </a:prstGeom>
        </p:spPr>
      </p:pic>
      <p:pic>
        <p:nvPicPr>
          <p:cNvPr id="33" name="Picture 32" descr="A math equations on a white background&#10;&#10;AI-generated content may be incorrect.">
            <a:extLst>
              <a:ext uri="{FF2B5EF4-FFF2-40B4-BE49-F238E27FC236}">
                <a16:creationId xmlns:a16="http://schemas.microsoft.com/office/drawing/2014/main" id="{8ED5E9EA-A69C-6AF5-D6D8-DB0D205A78F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92751" y="3996739"/>
            <a:ext cx="4275190" cy="1303133"/>
          </a:xfrm>
          <a:prstGeom prst="rect">
            <a:avLst/>
          </a:prstGeom>
        </p:spPr>
      </p:pic>
      <p:pic>
        <p:nvPicPr>
          <p:cNvPr id="35" name="Picture 34" descr="A white background with black text&#10;&#10;AI-generated content may be incorrect.">
            <a:extLst>
              <a:ext uri="{FF2B5EF4-FFF2-40B4-BE49-F238E27FC236}">
                <a16:creationId xmlns:a16="http://schemas.microsoft.com/office/drawing/2014/main" id="{446599FD-E2EA-6E3D-9A4C-0B6206306DE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7176" y="4080566"/>
            <a:ext cx="3482642" cy="1181202"/>
          </a:xfrm>
          <a:prstGeom prst="rect">
            <a:avLst/>
          </a:prstGeom>
        </p:spPr>
      </p:pic>
      <p:pic>
        <p:nvPicPr>
          <p:cNvPr id="37" name="Picture 36" descr="A math equation with black text&#10;&#10;AI-generated content may be incorrect.">
            <a:extLst>
              <a:ext uri="{FF2B5EF4-FFF2-40B4-BE49-F238E27FC236}">
                <a16:creationId xmlns:a16="http://schemas.microsoft.com/office/drawing/2014/main" id="{3849239B-7D71-1838-C5DE-4CD053CE8399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67941" y="4103428"/>
            <a:ext cx="4092295" cy="11583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043803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Operation</a:t>
            </a:r>
            <a:r>
              <a:rPr spc="195" dirty="0"/>
              <a:t> </a:t>
            </a:r>
            <a:r>
              <a:rPr dirty="0"/>
              <a:t>of</a:t>
            </a:r>
            <a:r>
              <a:rPr spc="240" dirty="0"/>
              <a:t> </a:t>
            </a:r>
            <a:r>
              <a:rPr dirty="0"/>
              <a:t>a</a:t>
            </a:r>
            <a:r>
              <a:rPr spc="229" dirty="0"/>
              <a:t> </a:t>
            </a:r>
            <a:r>
              <a:rPr spc="55" dirty="0"/>
              <a:t>neural</a:t>
            </a:r>
            <a:r>
              <a:rPr spc="220" dirty="0"/>
              <a:t> </a:t>
            </a:r>
            <a:r>
              <a:rPr spc="-10" dirty="0"/>
              <a:t>network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657250" y="4915915"/>
            <a:ext cx="11515725" cy="1663064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40665" indent="-227965">
              <a:lnSpc>
                <a:spcPts val="2345"/>
              </a:lnSpc>
              <a:spcBef>
                <a:spcPts val="100"/>
              </a:spcBef>
              <a:buFont typeface="Arial"/>
              <a:buChar char="•"/>
              <a:tabLst>
                <a:tab pos="240665" algn="l"/>
              </a:tabLst>
            </a:pPr>
            <a:r>
              <a:rPr sz="2000" spc="50" dirty="0">
                <a:latin typeface="Calibri"/>
                <a:cs typeface="Calibri"/>
              </a:rPr>
              <a:t>Image</a:t>
            </a:r>
            <a:r>
              <a:rPr sz="2000" spc="100" dirty="0">
                <a:latin typeface="Calibri"/>
                <a:cs typeface="Calibri"/>
              </a:rPr>
              <a:t> </a:t>
            </a:r>
            <a:r>
              <a:rPr sz="2000" spc="60" dirty="0">
                <a:latin typeface="Calibri"/>
                <a:cs typeface="Calibri"/>
              </a:rPr>
              <a:t>is</a:t>
            </a:r>
            <a:r>
              <a:rPr sz="2000" spc="13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made</a:t>
            </a:r>
            <a:r>
              <a:rPr sz="2000" spc="10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up</a:t>
            </a:r>
            <a:r>
              <a:rPr sz="2000" spc="13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of</a:t>
            </a:r>
            <a:r>
              <a:rPr sz="2000" spc="13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a</a:t>
            </a:r>
            <a:r>
              <a:rPr sz="2000" spc="13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set</a:t>
            </a:r>
            <a:r>
              <a:rPr sz="2000" spc="12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number</a:t>
            </a:r>
            <a:r>
              <a:rPr sz="2000" spc="114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of</a:t>
            </a:r>
            <a:r>
              <a:rPr sz="2000" spc="120" dirty="0">
                <a:latin typeface="Calibri"/>
                <a:cs typeface="Calibri"/>
              </a:rPr>
              <a:t> </a:t>
            </a:r>
            <a:r>
              <a:rPr sz="2000" spc="55" dirty="0">
                <a:latin typeface="Calibri"/>
                <a:cs typeface="Calibri"/>
              </a:rPr>
              <a:t>pixels</a:t>
            </a:r>
            <a:endParaRPr sz="2000">
              <a:latin typeface="Calibri"/>
              <a:cs typeface="Calibri"/>
            </a:endParaRPr>
          </a:p>
          <a:p>
            <a:pPr marL="698500" lvl="1" indent="-228600">
              <a:lnSpc>
                <a:spcPts val="1935"/>
              </a:lnSpc>
              <a:buFont typeface="Arial"/>
              <a:buChar char="•"/>
              <a:tabLst>
                <a:tab pos="698500" algn="l"/>
              </a:tabLst>
            </a:pPr>
            <a:r>
              <a:rPr sz="1700" dirty="0">
                <a:latin typeface="Calibri"/>
                <a:cs typeface="Calibri"/>
              </a:rPr>
              <a:t>Each</a:t>
            </a:r>
            <a:r>
              <a:rPr sz="1700" spc="125" dirty="0">
                <a:latin typeface="Calibri"/>
                <a:cs typeface="Calibri"/>
              </a:rPr>
              <a:t> </a:t>
            </a:r>
            <a:r>
              <a:rPr sz="1700" spc="65" dirty="0">
                <a:latin typeface="Calibri"/>
                <a:cs typeface="Calibri"/>
              </a:rPr>
              <a:t>pixel</a:t>
            </a:r>
            <a:r>
              <a:rPr sz="1700" spc="135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becomes</a:t>
            </a:r>
            <a:r>
              <a:rPr sz="1700" spc="114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an</a:t>
            </a:r>
            <a:r>
              <a:rPr sz="1700" spc="145" dirty="0">
                <a:latin typeface="Calibri"/>
                <a:cs typeface="Calibri"/>
              </a:rPr>
              <a:t> </a:t>
            </a:r>
            <a:r>
              <a:rPr sz="1700" spc="-10" dirty="0">
                <a:latin typeface="Calibri"/>
                <a:cs typeface="Calibri"/>
              </a:rPr>
              <a:t>input</a:t>
            </a:r>
            <a:endParaRPr sz="1700">
              <a:latin typeface="Calibri"/>
              <a:cs typeface="Calibri"/>
            </a:endParaRPr>
          </a:p>
          <a:p>
            <a:pPr marL="698500" lvl="1" indent="-228600">
              <a:lnSpc>
                <a:spcPts val="1925"/>
              </a:lnSpc>
              <a:buFont typeface="Arial"/>
              <a:buChar char="•"/>
              <a:tabLst>
                <a:tab pos="698500" algn="l"/>
              </a:tabLst>
            </a:pPr>
            <a:r>
              <a:rPr sz="1700" spc="50" dirty="0">
                <a:latin typeface="Calibri"/>
                <a:cs typeface="Calibri"/>
              </a:rPr>
              <a:t>Example</a:t>
            </a:r>
            <a:r>
              <a:rPr sz="1700" spc="65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here:</a:t>
            </a:r>
            <a:r>
              <a:rPr sz="1700" spc="65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each</a:t>
            </a:r>
            <a:r>
              <a:rPr sz="1700" spc="60" dirty="0">
                <a:latin typeface="Calibri"/>
                <a:cs typeface="Calibri"/>
              </a:rPr>
              <a:t> </a:t>
            </a:r>
            <a:r>
              <a:rPr sz="1700" spc="65" dirty="0">
                <a:latin typeface="Calibri"/>
                <a:cs typeface="Calibri"/>
              </a:rPr>
              <a:t>pixel</a:t>
            </a:r>
            <a:r>
              <a:rPr sz="1700" spc="60" dirty="0">
                <a:latin typeface="Calibri"/>
                <a:cs typeface="Calibri"/>
              </a:rPr>
              <a:t> </a:t>
            </a:r>
            <a:r>
              <a:rPr sz="1700" spc="55" dirty="0">
                <a:latin typeface="Calibri"/>
                <a:cs typeface="Calibri"/>
              </a:rPr>
              <a:t>is</a:t>
            </a:r>
            <a:r>
              <a:rPr sz="1700" spc="60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from</a:t>
            </a:r>
            <a:r>
              <a:rPr sz="1700" spc="65" dirty="0">
                <a:latin typeface="Calibri"/>
                <a:cs typeface="Calibri"/>
              </a:rPr>
              <a:t> </a:t>
            </a:r>
            <a:r>
              <a:rPr sz="1700" spc="60" dirty="0">
                <a:latin typeface="Calibri"/>
                <a:cs typeface="Calibri"/>
              </a:rPr>
              <a:t>0</a:t>
            </a:r>
            <a:r>
              <a:rPr sz="1700" spc="80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to</a:t>
            </a:r>
            <a:r>
              <a:rPr sz="1700" spc="80" dirty="0">
                <a:latin typeface="Calibri"/>
                <a:cs typeface="Calibri"/>
              </a:rPr>
              <a:t> </a:t>
            </a:r>
            <a:r>
              <a:rPr sz="1700" spc="55" dirty="0">
                <a:latin typeface="Calibri"/>
                <a:cs typeface="Calibri"/>
              </a:rPr>
              <a:t>256</a:t>
            </a:r>
            <a:r>
              <a:rPr sz="1700" spc="65" dirty="0">
                <a:latin typeface="Calibri"/>
                <a:cs typeface="Calibri"/>
              </a:rPr>
              <a:t> </a:t>
            </a:r>
            <a:r>
              <a:rPr sz="1700" spc="50" dirty="0">
                <a:latin typeface="Calibri"/>
                <a:cs typeface="Calibri"/>
              </a:rPr>
              <a:t>in</a:t>
            </a:r>
            <a:r>
              <a:rPr sz="1700" spc="60" dirty="0">
                <a:latin typeface="Calibri"/>
                <a:cs typeface="Calibri"/>
              </a:rPr>
              <a:t> </a:t>
            </a:r>
            <a:r>
              <a:rPr sz="1700" spc="-10" dirty="0">
                <a:latin typeface="Calibri"/>
                <a:cs typeface="Calibri"/>
              </a:rPr>
              <a:t>greyscale</a:t>
            </a:r>
            <a:endParaRPr sz="1700">
              <a:latin typeface="Calibri"/>
              <a:cs typeface="Calibri"/>
            </a:endParaRPr>
          </a:p>
          <a:p>
            <a:pPr marL="698500" lvl="1" indent="-228600">
              <a:lnSpc>
                <a:spcPts val="1925"/>
              </a:lnSpc>
              <a:buFont typeface="Arial"/>
              <a:buChar char="•"/>
              <a:tabLst>
                <a:tab pos="698500" algn="l"/>
              </a:tabLst>
            </a:pPr>
            <a:r>
              <a:rPr sz="1700" dirty="0">
                <a:latin typeface="Calibri"/>
                <a:cs typeface="Calibri"/>
              </a:rPr>
              <a:t>Each</a:t>
            </a:r>
            <a:r>
              <a:rPr sz="1700" spc="130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input</a:t>
            </a:r>
            <a:r>
              <a:rPr sz="1700" spc="105" dirty="0">
                <a:latin typeface="Calibri"/>
                <a:cs typeface="Calibri"/>
              </a:rPr>
              <a:t> </a:t>
            </a:r>
            <a:r>
              <a:rPr sz="1700" spc="55" dirty="0">
                <a:latin typeface="Calibri"/>
                <a:cs typeface="Calibri"/>
              </a:rPr>
              <a:t>is</a:t>
            </a:r>
            <a:r>
              <a:rPr sz="1700" spc="135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connected</a:t>
            </a:r>
            <a:r>
              <a:rPr sz="1700" spc="120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to</a:t>
            </a:r>
            <a:r>
              <a:rPr sz="1700" spc="155" dirty="0">
                <a:latin typeface="Calibri"/>
                <a:cs typeface="Calibri"/>
              </a:rPr>
              <a:t> </a:t>
            </a:r>
            <a:r>
              <a:rPr sz="1700" spc="75" dirty="0">
                <a:latin typeface="Calibri"/>
                <a:cs typeface="Calibri"/>
              </a:rPr>
              <a:t>all</a:t>
            </a:r>
            <a:r>
              <a:rPr sz="1700" spc="150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the</a:t>
            </a:r>
            <a:r>
              <a:rPr sz="1700" spc="145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neurons</a:t>
            </a:r>
            <a:r>
              <a:rPr sz="1700" spc="85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of</a:t>
            </a:r>
            <a:r>
              <a:rPr sz="1700" spc="155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the</a:t>
            </a:r>
            <a:r>
              <a:rPr sz="1700" spc="125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hidden</a:t>
            </a:r>
            <a:r>
              <a:rPr sz="1700" spc="130" dirty="0">
                <a:latin typeface="Calibri"/>
                <a:cs typeface="Calibri"/>
              </a:rPr>
              <a:t> </a:t>
            </a:r>
            <a:r>
              <a:rPr sz="1700" spc="-10" dirty="0">
                <a:latin typeface="Calibri"/>
                <a:cs typeface="Calibri"/>
              </a:rPr>
              <a:t>layer</a:t>
            </a:r>
            <a:endParaRPr sz="1700">
              <a:latin typeface="Calibri"/>
              <a:cs typeface="Calibri"/>
            </a:endParaRPr>
          </a:p>
          <a:p>
            <a:pPr marL="698500" lvl="1" indent="-228600">
              <a:lnSpc>
                <a:spcPts val="1985"/>
              </a:lnSpc>
              <a:buFont typeface="Arial"/>
              <a:buChar char="•"/>
              <a:tabLst>
                <a:tab pos="698500" algn="l"/>
              </a:tabLst>
            </a:pPr>
            <a:r>
              <a:rPr sz="1700" dirty="0">
                <a:latin typeface="Calibri"/>
                <a:cs typeface="Calibri"/>
              </a:rPr>
              <a:t>Adjusting</a:t>
            </a:r>
            <a:r>
              <a:rPr sz="1700" spc="175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the</a:t>
            </a:r>
            <a:r>
              <a:rPr sz="1700" spc="235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weights</a:t>
            </a:r>
            <a:r>
              <a:rPr sz="1700" spc="220" dirty="0">
                <a:latin typeface="Calibri"/>
                <a:cs typeface="Calibri"/>
              </a:rPr>
              <a:t> </a:t>
            </a:r>
            <a:r>
              <a:rPr sz="1700" spc="70" dirty="0">
                <a:latin typeface="Calibri"/>
                <a:cs typeface="Calibri"/>
              </a:rPr>
              <a:t>will</a:t>
            </a:r>
            <a:r>
              <a:rPr sz="1700" spc="240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then</a:t>
            </a:r>
            <a:r>
              <a:rPr sz="1700" spc="225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eventually</a:t>
            </a:r>
            <a:r>
              <a:rPr sz="1700" spc="140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allow</a:t>
            </a:r>
            <a:r>
              <a:rPr sz="1700" spc="210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recognition</a:t>
            </a:r>
            <a:r>
              <a:rPr sz="1700" spc="175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of</a:t>
            </a:r>
            <a:r>
              <a:rPr sz="1700" spc="229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the</a:t>
            </a:r>
            <a:r>
              <a:rPr sz="1700" spc="235" dirty="0">
                <a:latin typeface="Calibri"/>
                <a:cs typeface="Calibri"/>
              </a:rPr>
              <a:t> </a:t>
            </a:r>
            <a:r>
              <a:rPr sz="1700" spc="-10" dirty="0">
                <a:latin typeface="Calibri"/>
                <a:cs typeface="Calibri"/>
              </a:rPr>
              <a:t>digits</a:t>
            </a:r>
            <a:endParaRPr sz="1700">
              <a:latin typeface="Calibri"/>
              <a:cs typeface="Calibri"/>
            </a:endParaRPr>
          </a:p>
          <a:p>
            <a:pPr marL="6409055">
              <a:lnSpc>
                <a:spcPct val="100000"/>
              </a:lnSpc>
              <a:spcBef>
                <a:spcPts val="1450"/>
              </a:spcBef>
            </a:pPr>
            <a:r>
              <a:rPr sz="1100" spc="-10" dirty="0">
                <a:latin typeface="Calibri"/>
                <a:cs typeface="Calibri"/>
              </a:rPr>
              <a:t>https://becominghuman.ai/deep-learning-made-easy-with-deep-cognition-403fbe445351</a:t>
            </a:r>
            <a:endParaRPr sz="1100">
              <a:latin typeface="Calibri"/>
              <a:cs typeface="Calibri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123657" y="656880"/>
            <a:ext cx="8055483" cy="4128407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55" dirty="0"/>
              <a:t>Training</a:t>
            </a:r>
            <a:r>
              <a:rPr spc="150" dirty="0"/>
              <a:t> </a:t>
            </a:r>
            <a:r>
              <a:rPr dirty="0"/>
              <a:t>of</a:t>
            </a:r>
            <a:r>
              <a:rPr spc="165" dirty="0"/>
              <a:t> </a:t>
            </a:r>
            <a:r>
              <a:rPr dirty="0"/>
              <a:t>an</a:t>
            </a:r>
            <a:r>
              <a:rPr spc="45" dirty="0"/>
              <a:t> </a:t>
            </a:r>
            <a:r>
              <a:rPr spc="80" dirty="0"/>
              <a:t>Artificial</a:t>
            </a:r>
            <a:r>
              <a:rPr spc="165" dirty="0"/>
              <a:t> </a:t>
            </a:r>
            <a:r>
              <a:rPr spc="55" dirty="0"/>
              <a:t>Neural</a:t>
            </a:r>
            <a:r>
              <a:rPr spc="140" dirty="0"/>
              <a:t> </a:t>
            </a:r>
            <a:r>
              <a:rPr spc="-10" dirty="0"/>
              <a:t>Network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799896" y="4397121"/>
            <a:ext cx="9628505" cy="106616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40665" indent="-227965">
              <a:lnSpc>
                <a:spcPts val="2345"/>
              </a:lnSpc>
              <a:spcBef>
                <a:spcPts val="100"/>
              </a:spcBef>
              <a:buFont typeface="Arial"/>
              <a:buChar char="•"/>
              <a:tabLst>
                <a:tab pos="240665" algn="l"/>
              </a:tabLst>
            </a:pPr>
            <a:r>
              <a:rPr sz="2000" spc="10" dirty="0">
                <a:latin typeface="Calibri"/>
                <a:cs typeface="Calibri"/>
              </a:rPr>
              <a:t>Backpropagation</a:t>
            </a:r>
            <a:r>
              <a:rPr sz="2000" spc="210" dirty="0">
                <a:latin typeface="Calibri"/>
                <a:cs typeface="Calibri"/>
              </a:rPr>
              <a:t> </a:t>
            </a:r>
            <a:r>
              <a:rPr sz="2000" spc="10" dirty="0">
                <a:latin typeface="Calibri"/>
                <a:cs typeface="Calibri"/>
              </a:rPr>
              <a:t>algorithm</a:t>
            </a:r>
            <a:r>
              <a:rPr sz="2000" spc="210" dirty="0">
                <a:latin typeface="Calibri"/>
                <a:cs typeface="Calibri"/>
              </a:rPr>
              <a:t> </a:t>
            </a:r>
            <a:r>
              <a:rPr sz="2000" spc="10" dirty="0">
                <a:latin typeface="Calibri"/>
                <a:cs typeface="Calibri"/>
              </a:rPr>
              <a:t>a</a:t>
            </a:r>
            <a:r>
              <a:rPr sz="2000" spc="245" dirty="0">
                <a:latin typeface="Calibri"/>
                <a:cs typeface="Calibri"/>
              </a:rPr>
              <a:t> </a:t>
            </a:r>
            <a:r>
              <a:rPr sz="2000" spc="10" dirty="0">
                <a:latin typeface="Calibri"/>
                <a:cs typeface="Calibri"/>
              </a:rPr>
              <a:t>form</a:t>
            </a:r>
            <a:r>
              <a:rPr sz="2000" spc="245" dirty="0">
                <a:latin typeface="Calibri"/>
                <a:cs typeface="Calibri"/>
              </a:rPr>
              <a:t> </a:t>
            </a:r>
            <a:r>
              <a:rPr sz="2000" spc="10" dirty="0">
                <a:latin typeface="Calibri"/>
                <a:cs typeface="Calibri"/>
              </a:rPr>
              <a:t>of</a:t>
            </a:r>
            <a:r>
              <a:rPr sz="2000" spc="229" dirty="0">
                <a:latin typeface="Calibri"/>
                <a:cs typeface="Calibri"/>
              </a:rPr>
              <a:t> </a:t>
            </a:r>
            <a:r>
              <a:rPr sz="2000" spc="10" dirty="0">
                <a:latin typeface="Calibri"/>
                <a:cs typeface="Calibri"/>
              </a:rPr>
              <a:t>supervised</a:t>
            </a:r>
            <a:r>
              <a:rPr sz="2000" spc="204" dirty="0">
                <a:latin typeface="Calibri"/>
                <a:cs typeface="Calibri"/>
              </a:rPr>
              <a:t> </a:t>
            </a:r>
            <a:r>
              <a:rPr sz="2000" spc="40" dirty="0">
                <a:latin typeface="Calibri"/>
                <a:cs typeface="Calibri"/>
              </a:rPr>
              <a:t>learning</a:t>
            </a:r>
            <a:endParaRPr sz="2000">
              <a:latin typeface="Calibri"/>
              <a:cs typeface="Calibri"/>
            </a:endParaRPr>
          </a:p>
          <a:p>
            <a:pPr marL="697865" lvl="1" indent="-228600">
              <a:lnSpc>
                <a:spcPts val="1930"/>
              </a:lnSpc>
              <a:buFont typeface="Arial"/>
              <a:buChar char="•"/>
              <a:tabLst>
                <a:tab pos="697865" algn="l"/>
              </a:tabLst>
            </a:pPr>
            <a:r>
              <a:rPr sz="1700" spc="-20" dirty="0">
                <a:latin typeface="Calibri"/>
                <a:cs typeface="Calibri"/>
              </a:rPr>
              <a:t>We</a:t>
            </a:r>
            <a:r>
              <a:rPr sz="1700" spc="105" dirty="0">
                <a:latin typeface="Calibri"/>
                <a:cs typeface="Calibri"/>
              </a:rPr>
              <a:t> </a:t>
            </a:r>
            <a:r>
              <a:rPr sz="1700" spc="45" dirty="0">
                <a:latin typeface="Calibri"/>
                <a:cs typeface="Calibri"/>
              </a:rPr>
              <a:t>initialize</a:t>
            </a:r>
            <a:r>
              <a:rPr sz="1700" spc="80" dirty="0">
                <a:latin typeface="Calibri"/>
                <a:cs typeface="Calibri"/>
              </a:rPr>
              <a:t> </a:t>
            </a:r>
            <a:r>
              <a:rPr sz="1700" spc="75" dirty="0">
                <a:latin typeface="Calibri"/>
                <a:cs typeface="Calibri"/>
              </a:rPr>
              <a:t>all</a:t>
            </a:r>
            <a:r>
              <a:rPr sz="1700" spc="130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the</a:t>
            </a:r>
            <a:r>
              <a:rPr sz="1700" spc="100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weights</a:t>
            </a:r>
            <a:r>
              <a:rPr sz="1700" spc="100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of</a:t>
            </a:r>
            <a:r>
              <a:rPr sz="1700" spc="125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the</a:t>
            </a:r>
            <a:r>
              <a:rPr sz="1700" spc="45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ANN,</a:t>
            </a:r>
            <a:r>
              <a:rPr sz="1700" spc="-40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and</a:t>
            </a:r>
            <a:r>
              <a:rPr sz="1700" spc="110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then</a:t>
            </a:r>
            <a:r>
              <a:rPr sz="1700" spc="90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feed</a:t>
            </a:r>
            <a:r>
              <a:rPr sz="1700" spc="114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the</a:t>
            </a:r>
            <a:r>
              <a:rPr sz="1700" spc="114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data</a:t>
            </a:r>
            <a:r>
              <a:rPr sz="1700" spc="100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into</a:t>
            </a:r>
            <a:r>
              <a:rPr sz="1700" spc="100" dirty="0">
                <a:latin typeface="Calibri"/>
                <a:cs typeface="Calibri"/>
              </a:rPr>
              <a:t> </a:t>
            </a:r>
            <a:r>
              <a:rPr sz="1700" spc="-25" dirty="0">
                <a:latin typeface="Calibri"/>
                <a:cs typeface="Calibri"/>
              </a:rPr>
              <a:t>it</a:t>
            </a:r>
            <a:endParaRPr sz="1700">
              <a:latin typeface="Calibri"/>
              <a:cs typeface="Calibri"/>
            </a:endParaRPr>
          </a:p>
          <a:p>
            <a:pPr marL="697865" lvl="1" indent="-228600">
              <a:lnSpc>
                <a:spcPts val="1925"/>
              </a:lnSpc>
              <a:buFont typeface="Arial"/>
              <a:buChar char="•"/>
              <a:tabLst>
                <a:tab pos="697865" algn="l"/>
              </a:tabLst>
            </a:pPr>
            <a:r>
              <a:rPr sz="1700" dirty="0">
                <a:latin typeface="Calibri"/>
                <a:cs typeface="Calibri"/>
              </a:rPr>
              <a:t>Each</a:t>
            </a:r>
            <a:r>
              <a:rPr sz="1700" spc="254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training</a:t>
            </a:r>
            <a:r>
              <a:rPr sz="1700" spc="220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example</a:t>
            </a:r>
            <a:r>
              <a:rPr sz="1700" spc="275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generates</a:t>
            </a:r>
            <a:r>
              <a:rPr sz="1700" spc="254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an</a:t>
            </a:r>
            <a:r>
              <a:rPr sz="1700" spc="265" dirty="0">
                <a:latin typeface="Calibri"/>
                <a:cs typeface="Calibri"/>
              </a:rPr>
              <a:t> </a:t>
            </a:r>
            <a:r>
              <a:rPr sz="1700" spc="-10" dirty="0">
                <a:latin typeface="Calibri"/>
                <a:cs typeface="Calibri"/>
              </a:rPr>
              <a:t>output.</a:t>
            </a:r>
            <a:endParaRPr sz="1700">
              <a:latin typeface="Calibri"/>
              <a:cs typeface="Calibri"/>
            </a:endParaRPr>
          </a:p>
          <a:p>
            <a:pPr marL="697865" lvl="1" indent="-228600">
              <a:lnSpc>
                <a:spcPts val="1980"/>
              </a:lnSpc>
              <a:buFont typeface="Arial"/>
              <a:buChar char="•"/>
              <a:tabLst>
                <a:tab pos="697865" algn="l"/>
              </a:tabLst>
            </a:pPr>
            <a:r>
              <a:rPr sz="1700" spc="-20" dirty="0">
                <a:latin typeface="Calibri"/>
                <a:cs typeface="Calibri"/>
              </a:rPr>
              <a:t>We</a:t>
            </a:r>
            <a:r>
              <a:rPr sz="1700" spc="130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know</a:t>
            </a:r>
            <a:r>
              <a:rPr sz="1700" spc="85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the</a:t>
            </a:r>
            <a:r>
              <a:rPr sz="1700" spc="125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correct</a:t>
            </a:r>
            <a:r>
              <a:rPr sz="1700" spc="130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output</a:t>
            </a:r>
            <a:r>
              <a:rPr sz="1700" spc="105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for</a:t>
            </a:r>
            <a:r>
              <a:rPr sz="1700" spc="150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those</a:t>
            </a:r>
            <a:r>
              <a:rPr sz="1700" spc="125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training</a:t>
            </a:r>
            <a:r>
              <a:rPr sz="1700" spc="100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samples,</a:t>
            </a:r>
            <a:r>
              <a:rPr sz="1700" spc="-35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so</a:t>
            </a:r>
            <a:r>
              <a:rPr sz="1700" spc="140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for</a:t>
            </a:r>
            <a:r>
              <a:rPr sz="1700" spc="150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each</a:t>
            </a:r>
            <a:r>
              <a:rPr sz="1700" spc="125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output,</a:t>
            </a:r>
            <a:r>
              <a:rPr sz="1700" spc="-30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we</a:t>
            </a:r>
            <a:r>
              <a:rPr sz="1700" spc="150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can</a:t>
            </a:r>
            <a:r>
              <a:rPr sz="1700" spc="130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define</a:t>
            </a:r>
            <a:r>
              <a:rPr sz="1700" spc="100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an</a:t>
            </a:r>
            <a:r>
              <a:rPr sz="1700" spc="140" dirty="0">
                <a:latin typeface="Calibri"/>
                <a:cs typeface="Calibri"/>
              </a:rPr>
              <a:t> </a:t>
            </a:r>
            <a:r>
              <a:rPr sz="1700" spc="-10" dirty="0">
                <a:latin typeface="Calibri"/>
                <a:cs typeface="Calibri"/>
              </a:rPr>
              <a:t>error</a:t>
            </a:r>
            <a:endParaRPr sz="1700">
              <a:latin typeface="Calibri"/>
              <a:cs typeface="Calibri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1257096" y="5423103"/>
            <a:ext cx="9794875" cy="2851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40665" indent="-227965">
              <a:lnSpc>
                <a:spcPct val="100000"/>
              </a:lnSpc>
              <a:spcBef>
                <a:spcPts val="100"/>
              </a:spcBef>
              <a:buFont typeface="Arial"/>
              <a:buChar char="•"/>
              <a:tabLst>
                <a:tab pos="240665" algn="l"/>
              </a:tabLst>
            </a:pPr>
            <a:r>
              <a:rPr sz="1700" spc="10" dirty="0">
                <a:latin typeface="Calibri"/>
                <a:cs typeface="Calibri"/>
              </a:rPr>
              <a:t>Then,</a:t>
            </a:r>
            <a:r>
              <a:rPr sz="1700" spc="-65" dirty="0">
                <a:latin typeface="Calibri"/>
                <a:cs typeface="Calibri"/>
              </a:rPr>
              <a:t> </a:t>
            </a:r>
            <a:r>
              <a:rPr sz="1700" spc="10" dirty="0">
                <a:latin typeface="Calibri"/>
                <a:cs typeface="Calibri"/>
              </a:rPr>
              <a:t>we</a:t>
            </a:r>
            <a:r>
              <a:rPr sz="1700" spc="125" dirty="0">
                <a:latin typeface="Calibri"/>
                <a:cs typeface="Calibri"/>
              </a:rPr>
              <a:t> </a:t>
            </a:r>
            <a:r>
              <a:rPr sz="1700" spc="10" dirty="0">
                <a:latin typeface="Calibri"/>
                <a:cs typeface="Calibri"/>
              </a:rPr>
              <a:t>can</a:t>
            </a:r>
            <a:r>
              <a:rPr sz="1700" spc="105" dirty="0">
                <a:latin typeface="Calibri"/>
                <a:cs typeface="Calibri"/>
              </a:rPr>
              <a:t> </a:t>
            </a:r>
            <a:r>
              <a:rPr sz="1700" spc="10" dirty="0">
                <a:latin typeface="Calibri"/>
                <a:cs typeface="Calibri"/>
              </a:rPr>
              <a:t>essentially </a:t>
            </a:r>
            <a:r>
              <a:rPr sz="1700" spc="55" dirty="0">
                <a:latin typeface="Calibri"/>
                <a:cs typeface="Calibri"/>
              </a:rPr>
              <a:t>go</a:t>
            </a:r>
            <a:r>
              <a:rPr sz="1700" spc="125" dirty="0">
                <a:latin typeface="Calibri"/>
                <a:cs typeface="Calibri"/>
              </a:rPr>
              <a:t> </a:t>
            </a:r>
            <a:r>
              <a:rPr sz="1700" spc="10" dirty="0">
                <a:latin typeface="Calibri"/>
                <a:cs typeface="Calibri"/>
              </a:rPr>
              <a:t>backwards,</a:t>
            </a:r>
            <a:r>
              <a:rPr sz="1700" spc="-60" dirty="0">
                <a:latin typeface="Calibri"/>
                <a:cs typeface="Calibri"/>
              </a:rPr>
              <a:t> </a:t>
            </a:r>
            <a:r>
              <a:rPr sz="1700" spc="60" dirty="0">
                <a:latin typeface="Calibri"/>
                <a:cs typeface="Calibri"/>
              </a:rPr>
              <a:t>assigning</a:t>
            </a:r>
            <a:r>
              <a:rPr sz="1700" spc="80" dirty="0">
                <a:latin typeface="Calibri"/>
                <a:cs typeface="Calibri"/>
              </a:rPr>
              <a:t> </a:t>
            </a:r>
            <a:r>
              <a:rPr sz="1700" spc="10" dirty="0">
                <a:latin typeface="Calibri"/>
                <a:cs typeface="Calibri"/>
              </a:rPr>
              <a:t>some</a:t>
            </a:r>
            <a:r>
              <a:rPr sz="1700" spc="90" dirty="0">
                <a:latin typeface="Calibri"/>
                <a:cs typeface="Calibri"/>
              </a:rPr>
              <a:t> </a:t>
            </a:r>
            <a:r>
              <a:rPr sz="1700" spc="10" dirty="0">
                <a:latin typeface="Calibri"/>
                <a:cs typeface="Calibri"/>
              </a:rPr>
              <a:t>part</a:t>
            </a:r>
            <a:r>
              <a:rPr sz="1700" spc="125" dirty="0">
                <a:latin typeface="Calibri"/>
                <a:cs typeface="Calibri"/>
              </a:rPr>
              <a:t> </a:t>
            </a:r>
            <a:r>
              <a:rPr sz="1700" spc="10" dirty="0">
                <a:latin typeface="Calibri"/>
                <a:cs typeface="Calibri"/>
              </a:rPr>
              <a:t>of</a:t>
            </a:r>
            <a:r>
              <a:rPr sz="1700" spc="105" dirty="0">
                <a:latin typeface="Calibri"/>
                <a:cs typeface="Calibri"/>
              </a:rPr>
              <a:t> </a:t>
            </a:r>
            <a:r>
              <a:rPr sz="1700" spc="10" dirty="0">
                <a:latin typeface="Calibri"/>
                <a:cs typeface="Calibri"/>
              </a:rPr>
              <a:t>that</a:t>
            </a:r>
            <a:r>
              <a:rPr sz="1700" spc="105" dirty="0">
                <a:latin typeface="Calibri"/>
                <a:cs typeface="Calibri"/>
              </a:rPr>
              <a:t> </a:t>
            </a:r>
            <a:r>
              <a:rPr sz="1700" spc="10" dirty="0">
                <a:latin typeface="Calibri"/>
                <a:cs typeface="Calibri"/>
              </a:rPr>
              <a:t>error</a:t>
            </a:r>
            <a:r>
              <a:rPr sz="1700" spc="110" dirty="0">
                <a:latin typeface="Calibri"/>
                <a:cs typeface="Calibri"/>
              </a:rPr>
              <a:t> </a:t>
            </a:r>
            <a:r>
              <a:rPr sz="1700" spc="10" dirty="0">
                <a:latin typeface="Calibri"/>
                <a:cs typeface="Calibri"/>
              </a:rPr>
              <a:t>to</a:t>
            </a:r>
            <a:r>
              <a:rPr sz="1700" spc="125" dirty="0">
                <a:latin typeface="Calibri"/>
                <a:cs typeface="Calibri"/>
              </a:rPr>
              <a:t> </a:t>
            </a:r>
            <a:r>
              <a:rPr sz="1700" spc="10" dirty="0">
                <a:latin typeface="Calibri"/>
                <a:cs typeface="Calibri"/>
              </a:rPr>
              <a:t>the</a:t>
            </a:r>
            <a:r>
              <a:rPr sz="1700" spc="95" dirty="0">
                <a:latin typeface="Calibri"/>
                <a:cs typeface="Calibri"/>
              </a:rPr>
              <a:t> </a:t>
            </a:r>
            <a:r>
              <a:rPr sz="1700" spc="10" dirty="0">
                <a:latin typeface="Calibri"/>
                <a:cs typeface="Calibri"/>
              </a:rPr>
              <a:t>weights</a:t>
            </a:r>
            <a:r>
              <a:rPr sz="1700" spc="100" dirty="0">
                <a:latin typeface="Calibri"/>
                <a:cs typeface="Calibri"/>
              </a:rPr>
              <a:t> </a:t>
            </a:r>
            <a:r>
              <a:rPr sz="1700" spc="10" dirty="0">
                <a:latin typeface="Calibri"/>
                <a:cs typeface="Calibri"/>
              </a:rPr>
              <a:t>between</a:t>
            </a:r>
            <a:r>
              <a:rPr sz="1700" spc="105" dirty="0">
                <a:latin typeface="Calibri"/>
                <a:cs typeface="Calibri"/>
              </a:rPr>
              <a:t> </a:t>
            </a:r>
            <a:r>
              <a:rPr sz="1700" spc="-10" dirty="0">
                <a:latin typeface="Calibri"/>
                <a:cs typeface="Calibri"/>
              </a:rPr>
              <a:t>output</a:t>
            </a:r>
            <a:endParaRPr sz="1700">
              <a:latin typeface="Calibri"/>
              <a:cs typeface="Calibri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1257096" y="5604459"/>
            <a:ext cx="8069580" cy="5308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40665">
              <a:lnSpc>
                <a:spcPts val="1985"/>
              </a:lnSpc>
              <a:spcBef>
                <a:spcPts val="100"/>
              </a:spcBef>
            </a:pPr>
            <a:r>
              <a:rPr sz="1700" dirty="0">
                <a:latin typeface="Calibri"/>
                <a:cs typeface="Calibri"/>
              </a:rPr>
              <a:t>neuron</a:t>
            </a:r>
            <a:r>
              <a:rPr sz="1700" spc="155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and</a:t>
            </a:r>
            <a:r>
              <a:rPr sz="1700" spc="175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previous</a:t>
            </a:r>
            <a:r>
              <a:rPr sz="1700" spc="185" dirty="0">
                <a:latin typeface="Calibri"/>
                <a:cs typeface="Calibri"/>
              </a:rPr>
              <a:t> </a:t>
            </a:r>
            <a:r>
              <a:rPr sz="1700" spc="-10" dirty="0">
                <a:latin typeface="Calibri"/>
                <a:cs typeface="Calibri"/>
              </a:rPr>
              <a:t>neurons</a:t>
            </a:r>
            <a:endParaRPr sz="1700">
              <a:latin typeface="Calibri"/>
              <a:cs typeface="Calibri"/>
            </a:endParaRPr>
          </a:p>
          <a:p>
            <a:pPr marL="240665" indent="-227965">
              <a:lnSpc>
                <a:spcPts val="1985"/>
              </a:lnSpc>
              <a:buFont typeface="Arial"/>
              <a:buChar char="•"/>
              <a:tabLst>
                <a:tab pos="240665" algn="l"/>
              </a:tabLst>
            </a:pPr>
            <a:r>
              <a:rPr sz="1700" dirty="0">
                <a:latin typeface="Calibri"/>
                <a:cs typeface="Calibri"/>
              </a:rPr>
              <a:t>Adjusting</a:t>
            </a:r>
            <a:r>
              <a:rPr sz="1700" spc="120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the</a:t>
            </a:r>
            <a:r>
              <a:rPr sz="1700" spc="170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weights</a:t>
            </a:r>
            <a:r>
              <a:rPr sz="1700" spc="155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allows</a:t>
            </a:r>
            <a:r>
              <a:rPr sz="1700" spc="185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us</a:t>
            </a:r>
            <a:r>
              <a:rPr sz="1700" spc="155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to</a:t>
            </a:r>
            <a:r>
              <a:rPr sz="1700" spc="185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move</a:t>
            </a:r>
            <a:r>
              <a:rPr sz="1700" spc="195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towards</a:t>
            </a:r>
            <a:r>
              <a:rPr sz="1700" spc="170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the</a:t>
            </a:r>
            <a:r>
              <a:rPr sz="1700" spc="170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correct</a:t>
            </a:r>
            <a:r>
              <a:rPr sz="1700" spc="155" dirty="0">
                <a:latin typeface="Calibri"/>
                <a:cs typeface="Calibri"/>
              </a:rPr>
              <a:t> </a:t>
            </a:r>
            <a:r>
              <a:rPr sz="1700" spc="-10" dirty="0">
                <a:latin typeface="Calibri"/>
                <a:cs typeface="Calibri"/>
              </a:rPr>
              <a:t>answer,</a:t>
            </a:r>
            <a:r>
              <a:rPr sz="1700" spc="-15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as</a:t>
            </a:r>
            <a:r>
              <a:rPr sz="1700" spc="175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defined</a:t>
            </a:r>
            <a:r>
              <a:rPr sz="1700" spc="125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by</a:t>
            </a:r>
            <a:r>
              <a:rPr sz="1700" spc="90" dirty="0">
                <a:latin typeface="Calibri"/>
                <a:cs typeface="Calibri"/>
              </a:rPr>
              <a:t> </a:t>
            </a:r>
            <a:r>
              <a:rPr sz="1700" spc="-25" dirty="0">
                <a:latin typeface="Calibri"/>
                <a:cs typeface="Calibri"/>
              </a:rPr>
              <a:t>us</a:t>
            </a:r>
            <a:endParaRPr sz="1700">
              <a:latin typeface="Calibri"/>
              <a:cs typeface="Calibri"/>
            </a:endParaRPr>
          </a:p>
        </p:txBody>
      </p:sp>
      <p:pic>
        <p:nvPicPr>
          <p:cNvPr id="6" name="object 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223514" y="933450"/>
            <a:ext cx="4571999" cy="3276600"/>
          </a:xfrm>
          <a:prstGeom prst="rect">
            <a:avLst/>
          </a:prstGeom>
        </p:spPr>
      </p:pic>
      <p:sp>
        <p:nvSpPr>
          <p:cNvPr id="7" name="object 7"/>
          <p:cNvSpPr/>
          <p:nvPr/>
        </p:nvSpPr>
        <p:spPr>
          <a:xfrm>
            <a:off x="474789" y="4333113"/>
            <a:ext cx="11052175" cy="0"/>
          </a:xfrm>
          <a:custGeom>
            <a:avLst/>
            <a:gdLst/>
            <a:ahLst/>
            <a:cxnLst/>
            <a:rect l="l" t="t" r="r" b="b"/>
            <a:pathLst>
              <a:path w="11052175">
                <a:moveTo>
                  <a:pt x="0" y="0"/>
                </a:moveTo>
                <a:lnTo>
                  <a:pt x="11051984" y="0"/>
                </a:lnTo>
              </a:path>
            </a:pathLst>
          </a:custGeom>
          <a:ln w="6350">
            <a:solidFill>
              <a:srgbClr val="5B9BD4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 txBox="1"/>
          <p:nvPr/>
        </p:nvSpPr>
        <p:spPr>
          <a:xfrm>
            <a:off x="6528307" y="6390233"/>
            <a:ext cx="5588635" cy="18732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050" spc="-10" dirty="0">
                <a:latin typeface="Calibri"/>
                <a:cs typeface="Calibri"/>
              </a:rPr>
              <a:t>https://github.com/rasbt/python-machine-learning-book/blob/master/faq/visual-backpropagation.md</a:t>
            </a:r>
            <a:endParaRPr sz="105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75" dirty="0"/>
              <a:t>Handwriting</a:t>
            </a:r>
            <a:r>
              <a:rPr spc="100" dirty="0"/>
              <a:t> </a:t>
            </a:r>
            <a:r>
              <a:rPr spc="45" dirty="0"/>
              <a:t>Recognition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870305" y="4166081"/>
            <a:ext cx="9878695" cy="1210945"/>
          </a:xfrm>
          <a:prstGeom prst="rect">
            <a:avLst/>
          </a:prstGeom>
        </p:spPr>
        <p:txBody>
          <a:bodyPr vert="horz" wrap="square" lIns="0" tIns="46355" rIns="0" bIns="0" rtlCol="0">
            <a:spAutoFit/>
          </a:bodyPr>
          <a:lstStyle/>
          <a:p>
            <a:pPr marL="240029" indent="-227329">
              <a:lnSpc>
                <a:spcPct val="100000"/>
              </a:lnSpc>
              <a:spcBef>
                <a:spcPts val="365"/>
              </a:spcBef>
              <a:buFont typeface="Arial"/>
              <a:buChar char="•"/>
              <a:tabLst>
                <a:tab pos="240029" algn="l"/>
              </a:tabLst>
            </a:pPr>
            <a:r>
              <a:rPr sz="2800" spc="-10" dirty="0">
                <a:latin typeface="Calibri"/>
                <a:cs typeface="Calibri"/>
              </a:rPr>
              <a:t>We</a:t>
            </a:r>
            <a:r>
              <a:rPr sz="2800" spc="95" dirty="0">
                <a:latin typeface="Calibri"/>
                <a:cs typeface="Calibri"/>
              </a:rPr>
              <a:t> </a:t>
            </a:r>
            <a:r>
              <a:rPr sz="2800" spc="50" dirty="0">
                <a:latin typeface="Calibri"/>
                <a:cs typeface="Calibri"/>
              </a:rPr>
              <a:t>can</a:t>
            </a:r>
            <a:r>
              <a:rPr sz="2800" spc="114" dirty="0">
                <a:latin typeface="Calibri"/>
                <a:cs typeface="Calibri"/>
              </a:rPr>
              <a:t> </a:t>
            </a:r>
            <a:r>
              <a:rPr sz="2800" spc="70" dirty="0">
                <a:latin typeface="Calibri"/>
                <a:cs typeface="Calibri"/>
              </a:rPr>
              <a:t>easily</a:t>
            </a:r>
            <a:r>
              <a:rPr sz="2800" spc="5" dirty="0">
                <a:latin typeface="Calibri"/>
                <a:cs typeface="Calibri"/>
              </a:rPr>
              <a:t> </a:t>
            </a:r>
            <a:r>
              <a:rPr sz="2800" spc="45" dirty="0">
                <a:latin typeface="Calibri"/>
                <a:cs typeface="Calibri"/>
              </a:rPr>
              <a:t>recognize</a:t>
            </a:r>
            <a:r>
              <a:rPr sz="2800" spc="13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these</a:t>
            </a:r>
            <a:r>
              <a:rPr sz="2800" spc="120" dirty="0">
                <a:latin typeface="Calibri"/>
                <a:cs typeface="Calibri"/>
              </a:rPr>
              <a:t> </a:t>
            </a:r>
            <a:r>
              <a:rPr sz="2800" spc="-10" dirty="0">
                <a:latin typeface="Calibri"/>
                <a:cs typeface="Calibri"/>
              </a:rPr>
              <a:t>numbers</a:t>
            </a:r>
            <a:endParaRPr sz="2800">
              <a:latin typeface="Calibri"/>
              <a:cs typeface="Calibri"/>
            </a:endParaRPr>
          </a:p>
          <a:p>
            <a:pPr marL="697230" lvl="1" indent="-227329">
              <a:lnSpc>
                <a:spcPts val="2735"/>
              </a:lnSpc>
              <a:spcBef>
                <a:spcPts val="234"/>
              </a:spcBef>
              <a:buFont typeface="Arial"/>
              <a:buChar char="•"/>
              <a:tabLst>
                <a:tab pos="697230" algn="l"/>
              </a:tabLst>
            </a:pPr>
            <a:r>
              <a:rPr sz="2400" dirty="0">
                <a:latin typeface="Calibri"/>
                <a:cs typeface="Calibri"/>
              </a:rPr>
              <a:t>But</a:t>
            </a:r>
            <a:r>
              <a:rPr sz="2400" spc="135" dirty="0">
                <a:latin typeface="Calibri"/>
                <a:cs typeface="Calibri"/>
              </a:rPr>
              <a:t> </a:t>
            </a:r>
            <a:r>
              <a:rPr sz="2400" spc="50" dirty="0">
                <a:latin typeface="Calibri"/>
                <a:cs typeface="Calibri"/>
              </a:rPr>
              <a:t>this</a:t>
            </a:r>
            <a:r>
              <a:rPr sz="2400" spc="13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uses</a:t>
            </a:r>
            <a:r>
              <a:rPr sz="2400" spc="16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</a:t>
            </a:r>
            <a:r>
              <a:rPr sz="2400" spc="145" dirty="0">
                <a:latin typeface="Calibri"/>
                <a:cs typeface="Calibri"/>
              </a:rPr>
              <a:t> </a:t>
            </a:r>
            <a:r>
              <a:rPr sz="2400" spc="60" dirty="0">
                <a:latin typeface="Calibri"/>
                <a:cs typeface="Calibri"/>
              </a:rPr>
              <a:t>huge</a:t>
            </a:r>
            <a:r>
              <a:rPr sz="2400" spc="14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number</a:t>
            </a:r>
            <a:r>
              <a:rPr sz="2400" spc="15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of</a:t>
            </a:r>
            <a:r>
              <a:rPr sz="2400" spc="15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neurons</a:t>
            </a:r>
            <a:r>
              <a:rPr sz="2400" spc="145" dirty="0">
                <a:latin typeface="Calibri"/>
                <a:cs typeface="Calibri"/>
              </a:rPr>
              <a:t> </a:t>
            </a:r>
            <a:r>
              <a:rPr sz="2400" spc="60" dirty="0">
                <a:latin typeface="Calibri"/>
                <a:cs typeface="Calibri"/>
              </a:rPr>
              <a:t>(~billion</a:t>
            </a:r>
            <a:r>
              <a:rPr sz="2400" spc="14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or</a:t>
            </a:r>
            <a:r>
              <a:rPr sz="2400" spc="15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more)</a:t>
            </a:r>
            <a:r>
              <a:rPr sz="2400" spc="16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and</a:t>
            </a:r>
            <a:r>
              <a:rPr sz="2400" spc="15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an</a:t>
            </a:r>
            <a:r>
              <a:rPr sz="2400" spc="140" dirty="0">
                <a:latin typeface="Calibri"/>
                <a:cs typeface="Calibri"/>
              </a:rPr>
              <a:t> </a:t>
            </a:r>
            <a:r>
              <a:rPr sz="2400" spc="-20" dirty="0">
                <a:latin typeface="Calibri"/>
                <a:cs typeface="Calibri"/>
              </a:rPr>
              <a:t>even</a:t>
            </a:r>
            <a:endParaRPr sz="2400">
              <a:latin typeface="Calibri"/>
              <a:cs typeface="Calibri"/>
            </a:endParaRPr>
          </a:p>
          <a:p>
            <a:pPr marL="698500">
              <a:lnSpc>
                <a:spcPts val="2735"/>
              </a:lnSpc>
            </a:pPr>
            <a:r>
              <a:rPr sz="2400" dirty="0">
                <a:latin typeface="Calibri"/>
                <a:cs typeface="Calibri"/>
              </a:rPr>
              <a:t>larger</a:t>
            </a:r>
            <a:r>
              <a:rPr sz="2400" spc="254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number</a:t>
            </a:r>
            <a:r>
              <a:rPr sz="2400" spc="27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of</a:t>
            </a:r>
            <a:r>
              <a:rPr sz="2400" spc="25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connections/synapses</a:t>
            </a:r>
            <a:r>
              <a:rPr sz="2400" spc="31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(100’s</a:t>
            </a:r>
            <a:r>
              <a:rPr sz="2400" spc="26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of</a:t>
            </a:r>
            <a:r>
              <a:rPr sz="2400" spc="270" dirty="0">
                <a:latin typeface="Calibri"/>
                <a:cs typeface="Calibri"/>
              </a:rPr>
              <a:t> </a:t>
            </a:r>
            <a:r>
              <a:rPr sz="2400" spc="50" dirty="0">
                <a:latin typeface="Calibri"/>
                <a:cs typeface="Calibri"/>
              </a:rPr>
              <a:t>billions)</a:t>
            </a:r>
            <a:endParaRPr sz="2400">
              <a:latin typeface="Calibri"/>
              <a:cs typeface="Calibri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672460" y="2101342"/>
            <a:ext cx="5924550" cy="1066800"/>
          </a:xfrm>
          <a:prstGeom prst="rect">
            <a:avLst/>
          </a:prstGeom>
        </p:spPr>
      </p:pic>
      <p:sp>
        <p:nvSpPr>
          <p:cNvPr id="5" name="object 5"/>
          <p:cNvSpPr/>
          <p:nvPr/>
        </p:nvSpPr>
        <p:spPr>
          <a:xfrm>
            <a:off x="791311" y="3956558"/>
            <a:ext cx="10364470" cy="0"/>
          </a:xfrm>
          <a:custGeom>
            <a:avLst/>
            <a:gdLst/>
            <a:ahLst/>
            <a:cxnLst/>
            <a:rect l="l" t="t" r="r" b="b"/>
            <a:pathLst>
              <a:path w="10364470">
                <a:moveTo>
                  <a:pt x="0" y="0"/>
                </a:moveTo>
                <a:lnTo>
                  <a:pt x="10364368" y="0"/>
                </a:lnTo>
              </a:path>
            </a:pathLst>
          </a:custGeom>
          <a:ln w="6350">
            <a:solidFill>
              <a:srgbClr val="5B9BD4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Approach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1176324" y="4931488"/>
            <a:ext cx="7418705" cy="881380"/>
          </a:xfrm>
          <a:prstGeom prst="rect">
            <a:avLst/>
          </a:prstGeom>
        </p:spPr>
        <p:txBody>
          <a:bodyPr vert="horz" wrap="square" lIns="0" tIns="46355" rIns="0" bIns="0" rtlCol="0">
            <a:spAutoFit/>
          </a:bodyPr>
          <a:lstStyle/>
          <a:p>
            <a:pPr marL="240029" indent="-227329">
              <a:lnSpc>
                <a:spcPct val="100000"/>
              </a:lnSpc>
              <a:spcBef>
                <a:spcPts val="365"/>
              </a:spcBef>
              <a:buFont typeface="Arial"/>
              <a:buChar char="•"/>
              <a:tabLst>
                <a:tab pos="240029" algn="l"/>
              </a:tabLst>
            </a:pPr>
            <a:r>
              <a:rPr sz="2800" dirty="0">
                <a:latin typeface="Calibri"/>
                <a:cs typeface="Calibri"/>
              </a:rPr>
              <a:t>Need</a:t>
            </a:r>
            <a:r>
              <a:rPr sz="2800" spc="19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a</a:t>
            </a:r>
            <a:r>
              <a:rPr sz="2800" spc="165" dirty="0">
                <a:latin typeface="Calibri"/>
                <a:cs typeface="Calibri"/>
              </a:rPr>
              <a:t> </a:t>
            </a:r>
            <a:r>
              <a:rPr sz="2800" spc="75" dirty="0">
                <a:latin typeface="Calibri"/>
                <a:cs typeface="Calibri"/>
              </a:rPr>
              <a:t>large</a:t>
            </a:r>
            <a:r>
              <a:rPr sz="2800" spc="16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set</a:t>
            </a:r>
            <a:r>
              <a:rPr sz="2800" spc="16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of</a:t>
            </a:r>
            <a:r>
              <a:rPr sz="2800" spc="160" dirty="0">
                <a:latin typeface="Calibri"/>
                <a:cs typeface="Calibri"/>
              </a:rPr>
              <a:t> </a:t>
            </a:r>
            <a:r>
              <a:rPr sz="2800" spc="55" dirty="0">
                <a:latin typeface="Calibri"/>
                <a:cs typeface="Calibri"/>
              </a:rPr>
              <a:t>training</a:t>
            </a:r>
            <a:r>
              <a:rPr sz="2800" spc="195" dirty="0">
                <a:latin typeface="Calibri"/>
                <a:cs typeface="Calibri"/>
              </a:rPr>
              <a:t> </a:t>
            </a:r>
            <a:r>
              <a:rPr sz="2800" spc="-20" dirty="0">
                <a:latin typeface="Calibri"/>
                <a:cs typeface="Calibri"/>
              </a:rPr>
              <a:t>data</a:t>
            </a:r>
            <a:endParaRPr sz="2800">
              <a:latin typeface="Calibri"/>
              <a:cs typeface="Calibri"/>
            </a:endParaRPr>
          </a:p>
          <a:p>
            <a:pPr marL="696595" lvl="1" indent="-227329">
              <a:lnSpc>
                <a:spcPct val="100000"/>
              </a:lnSpc>
              <a:spcBef>
                <a:spcPts val="229"/>
              </a:spcBef>
              <a:buFont typeface="Arial"/>
              <a:buChar char="•"/>
              <a:tabLst>
                <a:tab pos="696595" algn="l"/>
              </a:tabLst>
            </a:pPr>
            <a:r>
              <a:rPr sz="2400" spc="55" dirty="0">
                <a:latin typeface="Calibri"/>
                <a:cs typeface="Calibri"/>
              </a:rPr>
              <a:t>Also</a:t>
            </a:r>
            <a:r>
              <a:rPr sz="2400" spc="15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need</a:t>
            </a:r>
            <a:r>
              <a:rPr sz="2400" spc="15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</a:t>
            </a:r>
            <a:r>
              <a:rPr sz="2400" spc="14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set</a:t>
            </a:r>
            <a:r>
              <a:rPr sz="2400" spc="15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on</a:t>
            </a:r>
            <a:r>
              <a:rPr sz="2400" spc="150" dirty="0">
                <a:latin typeface="Calibri"/>
                <a:cs typeface="Calibri"/>
              </a:rPr>
              <a:t> </a:t>
            </a:r>
            <a:r>
              <a:rPr sz="2400" spc="55" dirty="0">
                <a:latin typeface="Calibri"/>
                <a:cs typeface="Calibri"/>
              </a:rPr>
              <a:t>which</a:t>
            </a:r>
            <a:r>
              <a:rPr sz="2400" spc="14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to</a:t>
            </a:r>
            <a:r>
              <a:rPr sz="2400" spc="14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test</a:t>
            </a:r>
            <a:r>
              <a:rPr sz="2400" spc="11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your</a:t>
            </a:r>
            <a:r>
              <a:rPr sz="2400" spc="13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trained</a:t>
            </a:r>
            <a:r>
              <a:rPr sz="2400" spc="125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model</a:t>
            </a:r>
            <a:endParaRPr sz="2400">
              <a:latin typeface="Calibri"/>
              <a:cs typeface="Calibri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993718" y="888641"/>
            <a:ext cx="4708338" cy="371017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Perceptron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1176324" y="4209745"/>
            <a:ext cx="7286625" cy="1771014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96085">
              <a:lnSpc>
                <a:spcPct val="100000"/>
              </a:lnSpc>
              <a:spcBef>
                <a:spcPts val="100"/>
              </a:spcBef>
            </a:pPr>
            <a:r>
              <a:rPr sz="1800" b="1" i="1" dirty="0">
                <a:latin typeface="Calibri"/>
                <a:cs typeface="Calibri"/>
              </a:rPr>
              <a:t>Mathematical</a:t>
            </a:r>
            <a:r>
              <a:rPr sz="1800" b="1" i="1" spc="-30" dirty="0">
                <a:latin typeface="Calibri"/>
                <a:cs typeface="Calibri"/>
              </a:rPr>
              <a:t> </a:t>
            </a:r>
            <a:r>
              <a:rPr sz="1800" b="1" i="1" dirty="0">
                <a:latin typeface="Calibri"/>
                <a:cs typeface="Calibri"/>
              </a:rPr>
              <a:t>Definition</a:t>
            </a:r>
            <a:r>
              <a:rPr sz="1800" b="1" i="1" spc="-20" dirty="0">
                <a:latin typeface="Calibri"/>
                <a:cs typeface="Calibri"/>
              </a:rPr>
              <a:t> </a:t>
            </a:r>
            <a:r>
              <a:rPr sz="1800" b="1" i="1" dirty="0">
                <a:latin typeface="Calibri"/>
                <a:cs typeface="Calibri"/>
              </a:rPr>
              <a:t>Y</a:t>
            </a:r>
            <a:r>
              <a:rPr sz="1800" b="1" i="1" spc="-10" dirty="0">
                <a:latin typeface="Calibri"/>
                <a:cs typeface="Calibri"/>
              </a:rPr>
              <a:t> </a:t>
            </a:r>
            <a:r>
              <a:rPr sz="1800" b="1" i="1" dirty="0">
                <a:latin typeface="Calibri"/>
                <a:cs typeface="Calibri"/>
              </a:rPr>
              <a:t>=</a:t>
            </a:r>
            <a:r>
              <a:rPr sz="1800" b="1" i="1" spc="-10" dirty="0">
                <a:latin typeface="Calibri"/>
                <a:cs typeface="Calibri"/>
              </a:rPr>
              <a:t> </a:t>
            </a:r>
            <a:r>
              <a:rPr sz="1800" b="1" i="1" dirty="0">
                <a:latin typeface="Calibri"/>
                <a:cs typeface="Calibri"/>
              </a:rPr>
              <a:t>f(w1*x1</a:t>
            </a:r>
            <a:r>
              <a:rPr sz="1800" b="1" i="1" spc="-15" dirty="0">
                <a:latin typeface="Calibri"/>
                <a:cs typeface="Calibri"/>
              </a:rPr>
              <a:t> </a:t>
            </a:r>
            <a:r>
              <a:rPr sz="1800" b="1" i="1" dirty="0">
                <a:latin typeface="Calibri"/>
                <a:cs typeface="Calibri"/>
              </a:rPr>
              <a:t>+</a:t>
            </a:r>
            <a:r>
              <a:rPr sz="1800" b="1" i="1" spc="-5" dirty="0">
                <a:latin typeface="Calibri"/>
                <a:cs typeface="Calibri"/>
              </a:rPr>
              <a:t> </a:t>
            </a:r>
            <a:r>
              <a:rPr sz="1800" b="1" i="1" dirty="0">
                <a:latin typeface="Calibri"/>
                <a:cs typeface="Calibri"/>
              </a:rPr>
              <a:t>w2*x2</a:t>
            </a:r>
            <a:r>
              <a:rPr sz="1800" b="1" i="1" spc="-25" dirty="0">
                <a:latin typeface="Calibri"/>
                <a:cs typeface="Calibri"/>
              </a:rPr>
              <a:t> </a:t>
            </a:r>
            <a:r>
              <a:rPr sz="1800" b="1" i="1" dirty="0">
                <a:latin typeface="Calibri"/>
                <a:cs typeface="Calibri"/>
              </a:rPr>
              <a:t>+</a:t>
            </a:r>
            <a:r>
              <a:rPr sz="1800" b="1" i="1" spc="-5" dirty="0">
                <a:latin typeface="Calibri"/>
                <a:cs typeface="Calibri"/>
              </a:rPr>
              <a:t> </a:t>
            </a:r>
            <a:r>
              <a:rPr sz="1800" b="1" i="1" dirty="0">
                <a:latin typeface="Calibri"/>
                <a:cs typeface="Calibri"/>
              </a:rPr>
              <a:t>w3*x3</a:t>
            </a:r>
            <a:r>
              <a:rPr sz="1800" b="1" i="1" spc="-15" dirty="0">
                <a:latin typeface="Calibri"/>
                <a:cs typeface="Calibri"/>
              </a:rPr>
              <a:t> </a:t>
            </a:r>
            <a:r>
              <a:rPr sz="1800" b="1" i="1" dirty="0">
                <a:latin typeface="Calibri"/>
                <a:cs typeface="Calibri"/>
              </a:rPr>
              <a:t>+</a:t>
            </a:r>
            <a:r>
              <a:rPr sz="1800" b="1" i="1" spc="-15" dirty="0">
                <a:latin typeface="Calibri"/>
                <a:cs typeface="Calibri"/>
              </a:rPr>
              <a:t> </a:t>
            </a:r>
            <a:r>
              <a:rPr sz="1800" b="1" i="1" spc="-25" dirty="0">
                <a:latin typeface="Calibri"/>
                <a:cs typeface="Calibri"/>
              </a:rPr>
              <a:t>b)</a:t>
            </a:r>
            <a:endParaRPr sz="1800">
              <a:latin typeface="Calibri"/>
              <a:cs typeface="Calibri"/>
            </a:endParaRPr>
          </a:p>
          <a:p>
            <a:pPr marL="240029" indent="-227329">
              <a:lnSpc>
                <a:spcPct val="100000"/>
              </a:lnSpc>
              <a:spcBef>
                <a:spcPts val="1985"/>
              </a:spcBef>
              <a:buFont typeface="Arial"/>
              <a:buChar char="•"/>
              <a:tabLst>
                <a:tab pos="240029" algn="l"/>
              </a:tabLst>
            </a:pPr>
            <a:r>
              <a:rPr sz="2800" dirty="0">
                <a:latin typeface="Calibri"/>
                <a:cs typeface="Calibri"/>
              </a:rPr>
              <a:t>For</a:t>
            </a:r>
            <a:r>
              <a:rPr sz="2800" spc="22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the</a:t>
            </a:r>
            <a:r>
              <a:rPr sz="2800" spc="250" dirty="0">
                <a:latin typeface="Calibri"/>
                <a:cs typeface="Calibri"/>
              </a:rPr>
              <a:t> </a:t>
            </a:r>
            <a:r>
              <a:rPr sz="2800" spc="-10" dirty="0">
                <a:latin typeface="Calibri"/>
                <a:cs typeface="Calibri"/>
              </a:rPr>
              <a:t>perceptron:</a:t>
            </a:r>
            <a:endParaRPr sz="2800">
              <a:latin typeface="Calibri"/>
              <a:cs typeface="Calibri"/>
            </a:endParaRPr>
          </a:p>
          <a:p>
            <a:pPr marL="696595" lvl="1" indent="-227329">
              <a:lnSpc>
                <a:spcPct val="100000"/>
              </a:lnSpc>
              <a:spcBef>
                <a:spcPts val="254"/>
              </a:spcBef>
              <a:buFont typeface="Arial"/>
              <a:buChar char="•"/>
              <a:tabLst>
                <a:tab pos="696595" algn="l"/>
              </a:tabLst>
            </a:pPr>
            <a:r>
              <a:rPr sz="2400" dirty="0">
                <a:latin typeface="Calibri"/>
                <a:cs typeface="Calibri"/>
              </a:rPr>
              <a:t>Output</a:t>
            </a:r>
            <a:r>
              <a:rPr sz="2400" spc="7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=</a:t>
            </a:r>
            <a:r>
              <a:rPr sz="2400" spc="95" dirty="0">
                <a:latin typeface="Calibri"/>
                <a:cs typeface="Calibri"/>
              </a:rPr>
              <a:t> </a:t>
            </a:r>
            <a:r>
              <a:rPr sz="2400" spc="80" dirty="0">
                <a:latin typeface="Calibri"/>
                <a:cs typeface="Calibri"/>
              </a:rPr>
              <a:t>0</a:t>
            </a:r>
            <a:r>
              <a:rPr sz="2400" spc="100" dirty="0">
                <a:latin typeface="Calibri"/>
                <a:cs typeface="Calibri"/>
              </a:rPr>
              <a:t> </a:t>
            </a:r>
            <a:r>
              <a:rPr sz="2400" spc="55" dirty="0">
                <a:latin typeface="Calibri"/>
                <a:cs typeface="Calibri"/>
              </a:rPr>
              <a:t>if</a:t>
            </a:r>
            <a:r>
              <a:rPr sz="2400" spc="75" dirty="0">
                <a:latin typeface="Calibri"/>
                <a:cs typeface="Calibri"/>
              </a:rPr>
              <a:t> </a:t>
            </a:r>
            <a:r>
              <a:rPr sz="2400" dirty="0">
                <a:latin typeface="Symbol"/>
                <a:cs typeface="Symbol"/>
              </a:rPr>
              <a:t></a:t>
            </a:r>
            <a:r>
              <a:rPr sz="2400" dirty="0">
                <a:latin typeface="Calibri"/>
                <a:cs typeface="Calibri"/>
              </a:rPr>
              <a:t>w*x</a:t>
            </a:r>
            <a:r>
              <a:rPr sz="2400" spc="25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≤threshold</a:t>
            </a:r>
            <a:endParaRPr sz="2400">
              <a:latin typeface="Calibri"/>
              <a:cs typeface="Calibri"/>
            </a:endParaRPr>
          </a:p>
          <a:p>
            <a:pPr marL="696595" lvl="1" indent="-227329">
              <a:lnSpc>
                <a:spcPct val="100000"/>
              </a:lnSpc>
              <a:spcBef>
                <a:spcPts val="219"/>
              </a:spcBef>
              <a:buFont typeface="Arial"/>
              <a:buChar char="•"/>
              <a:tabLst>
                <a:tab pos="696595" algn="l"/>
              </a:tabLst>
            </a:pPr>
            <a:r>
              <a:rPr sz="2400" dirty="0">
                <a:latin typeface="Calibri"/>
                <a:cs typeface="Calibri"/>
              </a:rPr>
              <a:t>Output</a:t>
            </a:r>
            <a:r>
              <a:rPr sz="2400" spc="7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=</a:t>
            </a:r>
            <a:r>
              <a:rPr sz="2400" spc="105" dirty="0">
                <a:latin typeface="Calibri"/>
                <a:cs typeface="Calibri"/>
              </a:rPr>
              <a:t> </a:t>
            </a:r>
            <a:r>
              <a:rPr sz="2400" spc="80" dirty="0">
                <a:latin typeface="Calibri"/>
                <a:cs typeface="Calibri"/>
              </a:rPr>
              <a:t>1</a:t>
            </a:r>
            <a:r>
              <a:rPr sz="2400" spc="95" dirty="0">
                <a:latin typeface="Calibri"/>
                <a:cs typeface="Calibri"/>
              </a:rPr>
              <a:t> </a:t>
            </a:r>
            <a:r>
              <a:rPr sz="2400" spc="60" dirty="0">
                <a:latin typeface="Calibri"/>
                <a:cs typeface="Calibri"/>
              </a:rPr>
              <a:t>if</a:t>
            </a:r>
            <a:r>
              <a:rPr sz="2400" spc="85" dirty="0">
                <a:latin typeface="Calibri"/>
                <a:cs typeface="Calibri"/>
              </a:rPr>
              <a:t> </a:t>
            </a:r>
            <a:r>
              <a:rPr sz="2400" spc="-10" dirty="0">
                <a:latin typeface="Symbol"/>
                <a:cs typeface="Symbol"/>
              </a:rPr>
              <a:t></a:t>
            </a:r>
            <a:r>
              <a:rPr sz="2400" spc="-10" dirty="0">
                <a:latin typeface="Calibri"/>
                <a:cs typeface="Calibri"/>
              </a:rPr>
              <a:t>w*x</a:t>
            </a:r>
            <a:r>
              <a:rPr sz="2400" spc="30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&gt;threshold</a:t>
            </a:r>
            <a:endParaRPr sz="2400">
              <a:latin typeface="Calibri"/>
              <a:cs typeface="Calibri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4765421" y="1461388"/>
            <a:ext cx="1670685" cy="1670685"/>
          </a:xfrm>
          <a:custGeom>
            <a:avLst/>
            <a:gdLst/>
            <a:ahLst/>
            <a:cxnLst/>
            <a:rect l="l" t="t" r="r" b="b"/>
            <a:pathLst>
              <a:path w="1670685" h="1670685">
                <a:moveTo>
                  <a:pt x="0" y="835278"/>
                </a:moveTo>
                <a:lnTo>
                  <a:pt x="1322" y="787885"/>
                </a:lnTo>
                <a:lnTo>
                  <a:pt x="5242" y="741184"/>
                </a:lnTo>
                <a:lnTo>
                  <a:pt x="11690" y="695246"/>
                </a:lnTo>
                <a:lnTo>
                  <a:pt x="20594" y="650143"/>
                </a:lnTo>
                <a:lnTo>
                  <a:pt x="31884" y="605944"/>
                </a:lnTo>
                <a:lnTo>
                  <a:pt x="45490" y="562721"/>
                </a:lnTo>
                <a:lnTo>
                  <a:pt x="61341" y="520543"/>
                </a:lnTo>
                <a:lnTo>
                  <a:pt x="79367" y="479482"/>
                </a:lnTo>
                <a:lnTo>
                  <a:pt x="99496" y="439607"/>
                </a:lnTo>
                <a:lnTo>
                  <a:pt x="121659" y="400990"/>
                </a:lnTo>
                <a:lnTo>
                  <a:pt x="145785" y="363701"/>
                </a:lnTo>
                <a:lnTo>
                  <a:pt x="171804" y="327810"/>
                </a:lnTo>
                <a:lnTo>
                  <a:pt x="199644" y="293389"/>
                </a:lnTo>
                <a:lnTo>
                  <a:pt x="229235" y="260507"/>
                </a:lnTo>
                <a:lnTo>
                  <a:pt x="260507" y="229235"/>
                </a:lnTo>
                <a:lnTo>
                  <a:pt x="293389" y="199644"/>
                </a:lnTo>
                <a:lnTo>
                  <a:pt x="327810" y="171804"/>
                </a:lnTo>
                <a:lnTo>
                  <a:pt x="363701" y="145785"/>
                </a:lnTo>
                <a:lnTo>
                  <a:pt x="400990" y="121659"/>
                </a:lnTo>
                <a:lnTo>
                  <a:pt x="439607" y="99496"/>
                </a:lnTo>
                <a:lnTo>
                  <a:pt x="479482" y="79367"/>
                </a:lnTo>
                <a:lnTo>
                  <a:pt x="520543" y="61341"/>
                </a:lnTo>
                <a:lnTo>
                  <a:pt x="562721" y="45490"/>
                </a:lnTo>
                <a:lnTo>
                  <a:pt x="605944" y="31884"/>
                </a:lnTo>
                <a:lnTo>
                  <a:pt x="650143" y="20594"/>
                </a:lnTo>
                <a:lnTo>
                  <a:pt x="695246" y="11690"/>
                </a:lnTo>
                <a:lnTo>
                  <a:pt x="741184" y="5242"/>
                </a:lnTo>
                <a:lnTo>
                  <a:pt x="787885" y="1322"/>
                </a:lnTo>
                <a:lnTo>
                  <a:pt x="835278" y="0"/>
                </a:lnTo>
                <a:lnTo>
                  <a:pt x="882672" y="1322"/>
                </a:lnTo>
                <a:lnTo>
                  <a:pt x="929373" y="5242"/>
                </a:lnTo>
                <a:lnTo>
                  <a:pt x="975311" y="11690"/>
                </a:lnTo>
                <a:lnTo>
                  <a:pt x="1020414" y="20594"/>
                </a:lnTo>
                <a:lnTo>
                  <a:pt x="1064613" y="31884"/>
                </a:lnTo>
                <a:lnTo>
                  <a:pt x="1107836" y="45490"/>
                </a:lnTo>
                <a:lnTo>
                  <a:pt x="1150014" y="61341"/>
                </a:lnTo>
                <a:lnTo>
                  <a:pt x="1191075" y="79367"/>
                </a:lnTo>
                <a:lnTo>
                  <a:pt x="1230950" y="99496"/>
                </a:lnTo>
                <a:lnTo>
                  <a:pt x="1269567" y="121659"/>
                </a:lnTo>
                <a:lnTo>
                  <a:pt x="1306856" y="145785"/>
                </a:lnTo>
                <a:lnTo>
                  <a:pt x="1342747" y="171804"/>
                </a:lnTo>
                <a:lnTo>
                  <a:pt x="1377168" y="199644"/>
                </a:lnTo>
                <a:lnTo>
                  <a:pt x="1410050" y="229235"/>
                </a:lnTo>
                <a:lnTo>
                  <a:pt x="1441322" y="260507"/>
                </a:lnTo>
                <a:lnTo>
                  <a:pt x="1470913" y="293389"/>
                </a:lnTo>
                <a:lnTo>
                  <a:pt x="1498753" y="327810"/>
                </a:lnTo>
                <a:lnTo>
                  <a:pt x="1524772" y="363701"/>
                </a:lnTo>
                <a:lnTo>
                  <a:pt x="1548898" y="400990"/>
                </a:lnTo>
                <a:lnTo>
                  <a:pt x="1571061" y="439607"/>
                </a:lnTo>
                <a:lnTo>
                  <a:pt x="1591190" y="479482"/>
                </a:lnTo>
                <a:lnTo>
                  <a:pt x="1609216" y="520543"/>
                </a:lnTo>
                <a:lnTo>
                  <a:pt x="1625067" y="562721"/>
                </a:lnTo>
                <a:lnTo>
                  <a:pt x="1638673" y="605944"/>
                </a:lnTo>
                <a:lnTo>
                  <a:pt x="1649963" y="650143"/>
                </a:lnTo>
                <a:lnTo>
                  <a:pt x="1658867" y="695246"/>
                </a:lnTo>
                <a:lnTo>
                  <a:pt x="1665315" y="741184"/>
                </a:lnTo>
                <a:lnTo>
                  <a:pt x="1669235" y="787885"/>
                </a:lnTo>
                <a:lnTo>
                  <a:pt x="1670557" y="835278"/>
                </a:lnTo>
                <a:lnTo>
                  <a:pt x="1669235" y="882672"/>
                </a:lnTo>
                <a:lnTo>
                  <a:pt x="1665315" y="929373"/>
                </a:lnTo>
                <a:lnTo>
                  <a:pt x="1658867" y="975311"/>
                </a:lnTo>
                <a:lnTo>
                  <a:pt x="1649963" y="1020414"/>
                </a:lnTo>
                <a:lnTo>
                  <a:pt x="1638673" y="1064613"/>
                </a:lnTo>
                <a:lnTo>
                  <a:pt x="1625067" y="1107836"/>
                </a:lnTo>
                <a:lnTo>
                  <a:pt x="1609216" y="1150014"/>
                </a:lnTo>
                <a:lnTo>
                  <a:pt x="1591190" y="1191075"/>
                </a:lnTo>
                <a:lnTo>
                  <a:pt x="1571061" y="1230950"/>
                </a:lnTo>
                <a:lnTo>
                  <a:pt x="1548898" y="1269567"/>
                </a:lnTo>
                <a:lnTo>
                  <a:pt x="1524772" y="1306856"/>
                </a:lnTo>
                <a:lnTo>
                  <a:pt x="1498753" y="1342747"/>
                </a:lnTo>
                <a:lnTo>
                  <a:pt x="1470913" y="1377168"/>
                </a:lnTo>
                <a:lnTo>
                  <a:pt x="1441322" y="1410050"/>
                </a:lnTo>
                <a:lnTo>
                  <a:pt x="1410050" y="1441322"/>
                </a:lnTo>
                <a:lnTo>
                  <a:pt x="1377168" y="1470913"/>
                </a:lnTo>
                <a:lnTo>
                  <a:pt x="1342747" y="1498753"/>
                </a:lnTo>
                <a:lnTo>
                  <a:pt x="1306856" y="1524772"/>
                </a:lnTo>
                <a:lnTo>
                  <a:pt x="1269567" y="1548898"/>
                </a:lnTo>
                <a:lnTo>
                  <a:pt x="1230950" y="1571061"/>
                </a:lnTo>
                <a:lnTo>
                  <a:pt x="1191075" y="1591190"/>
                </a:lnTo>
                <a:lnTo>
                  <a:pt x="1150014" y="1609216"/>
                </a:lnTo>
                <a:lnTo>
                  <a:pt x="1107836" y="1625067"/>
                </a:lnTo>
                <a:lnTo>
                  <a:pt x="1064613" y="1638673"/>
                </a:lnTo>
                <a:lnTo>
                  <a:pt x="1020414" y="1649963"/>
                </a:lnTo>
                <a:lnTo>
                  <a:pt x="975311" y="1658867"/>
                </a:lnTo>
                <a:lnTo>
                  <a:pt x="929373" y="1665315"/>
                </a:lnTo>
                <a:lnTo>
                  <a:pt x="882672" y="1669235"/>
                </a:lnTo>
                <a:lnTo>
                  <a:pt x="835278" y="1670558"/>
                </a:lnTo>
                <a:lnTo>
                  <a:pt x="787885" y="1669235"/>
                </a:lnTo>
                <a:lnTo>
                  <a:pt x="741184" y="1665315"/>
                </a:lnTo>
                <a:lnTo>
                  <a:pt x="695246" y="1658867"/>
                </a:lnTo>
                <a:lnTo>
                  <a:pt x="650143" y="1649963"/>
                </a:lnTo>
                <a:lnTo>
                  <a:pt x="605944" y="1638673"/>
                </a:lnTo>
                <a:lnTo>
                  <a:pt x="562721" y="1625067"/>
                </a:lnTo>
                <a:lnTo>
                  <a:pt x="520543" y="1609216"/>
                </a:lnTo>
                <a:lnTo>
                  <a:pt x="479482" y="1591190"/>
                </a:lnTo>
                <a:lnTo>
                  <a:pt x="439607" y="1571061"/>
                </a:lnTo>
                <a:lnTo>
                  <a:pt x="400990" y="1548898"/>
                </a:lnTo>
                <a:lnTo>
                  <a:pt x="363701" y="1524772"/>
                </a:lnTo>
                <a:lnTo>
                  <a:pt x="327810" y="1498753"/>
                </a:lnTo>
                <a:lnTo>
                  <a:pt x="293389" y="1470913"/>
                </a:lnTo>
                <a:lnTo>
                  <a:pt x="260507" y="1441322"/>
                </a:lnTo>
                <a:lnTo>
                  <a:pt x="229235" y="1410050"/>
                </a:lnTo>
                <a:lnTo>
                  <a:pt x="199644" y="1377168"/>
                </a:lnTo>
                <a:lnTo>
                  <a:pt x="171804" y="1342747"/>
                </a:lnTo>
                <a:lnTo>
                  <a:pt x="145785" y="1306856"/>
                </a:lnTo>
                <a:lnTo>
                  <a:pt x="121659" y="1269567"/>
                </a:lnTo>
                <a:lnTo>
                  <a:pt x="99496" y="1230950"/>
                </a:lnTo>
                <a:lnTo>
                  <a:pt x="79367" y="1191075"/>
                </a:lnTo>
                <a:lnTo>
                  <a:pt x="61341" y="1150014"/>
                </a:lnTo>
                <a:lnTo>
                  <a:pt x="45490" y="1107836"/>
                </a:lnTo>
                <a:lnTo>
                  <a:pt x="31884" y="1064613"/>
                </a:lnTo>
                <a:lnTo>
                  <a:pt x="20594" y="1020414"/>
                </a:lnTo>
                <a:lnTo>
                  <a:pt x="11690" y="975311"/>
                </a:lnTo>
                <a:lnTo>
                  <a:pt x="5242" y="929373"/>
                </a:lnTo>
                <a:lnTo>
                  <a:pt x="1322" y="882672"/>
                </a:lnTo>
                <a:lnTo>
                  <a:pt x="0" y="835278"/>
                </a:lnTo>
                <a:close/>
              </a:path>
            </a:pathLst>
          </a:custGeom>
          <a:ln w="1270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/>
          <p:nvPr/>
        </p:nvSpPr>
        <p:spPr>
          <a:xfrm>
            <a:off x="5238115" y="2131516"/>
            <a:ext cx="725170" cy="3003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10" dirty="0">
                <a:latin typeface="Calibri"/>
                <a:cs typeface="Calibri"/>
              </a:rPr>
              <a:t>Neuron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6" name="object 6"/>
          <p:cNvSpPr/>
          <p:nvPr/>
        </p:nvSpPr>
        <p:spPr>
          <a:xfrm>
            <a:off x="3156458" y="1282572"/>
            <a:ext cx="4897755" cy="2028189"/>
          </a:xfrm>
          <a:custGeom>
            <a:avLst/>
            <a:gdLst/>
            <a:ahLst/>
            <a:cxnLst/>
            <a:rect l="l" t="t" r="r" b="b"/>
            <a:pathLst>
              <a:path w="4897755" h="2028189">
                <a:moveTo>
                  <a:pt x="1608963" y="1014095"/>
                </a:moveTo>
                <a:lnTo>
                  <a:pt x="1602613" y="1010920"/>
                </a:lnTo>
                <a:lnTo>
                  <a:pt x="1532763" y="975995"/>
                </a:lnTo>
                <a:lnTo>
                  <a:pt x="1532763" y="1010920"/>
                </a:lnTo>
                <a:lnTo>
                  <a:pt x="0" y="1010920"/>
                </a:lnTo>
                <a:lnTo>
                  <a:pt x="0" y="1017270"/>
                </a:lnTo>
                <a:lnTo>
                  <a:pt x="1532763" y="1017270"/>
                </a:lnTo>
                <a:lnTo>
                  <a:pt x="1532763" y="1052195"/>
                </a:lnTo>
                <a:lnTo>
                  <a:pt x="1602613" y="1017270"/>
                </a:lnTo>
                <a:lnTo>
                  <a:pt x="1608963" y="1014095"/>
                </a:lnTo>
                <a:close/>
              </a:path>
              <a:path w="4897755" h="2028189">
                <a:moveTo>
                  <a:pt x="1737868" y="524637"/>
                </a:moveTo>
                <a:lnTo>
                  <a:pt x="1720113" y="505841"/>
                </a:lnTo>
                <a:lnTo>
                  <a:pt x="1679448" y="462788"/>
                </a:lnTo>
                <a:lnTo>
                  <a:pt x="1667459" y="495554"/>
                </a:lnTo>
                <a:lnTo>
                  <a:pt x="308737" y="0"/>
                </a:lnTo>
                <a:lnTo>
                  <a:pt x="306578" y="5969"/>
                </a:lnTo>
                <a:lnTo>
                  <a:pt x="1665274" y="501510"/>
                </a:lnTo>
                <a:lnTo>
                  <a:pt x="1653286" y="534289"/>
                </a:lnTo>
                <a:lnTo>
                  <a:pt x="1737868" y="524637"/>
                </a:lnTo>
                <a:close/>
              </a:path>
              <a:path w="4897755" h="2028189">
                <a:moveTo>
                  <a:pt x="1749679" y="1540129"/>
                </a:moveTo>
                <a:lnTo>
                  <a:pt x="1664970" y="1530858"/>
                </a:lnTo>
                <a:lnTo>
                  <a:pt x="1677060" y="1563598"/>
                </a:lnTo>
                <a:lnTo>
                  <a:pt x="438531" y="2022221"/>
                </a:lnTo>
                <a:lnTo>
                  <a:pt x="440690" y="2028190"/>
                </a:lnTo>
                <a:lnTo>
                  <a:pt x="1679270" y="1569593"/>
                </a:lnTo>
                <a:lnTo>
                  <a:pt x="1691386" y="1602359"/>
                </a:lnTo>
                <a:lnTo>
                  <a:pt x="1731822" y="1559179"/>
                </a:lnTo>
                <a:lnTo>
                  <a:pt x="1749679" y="1540129"/>
                </a:lnTo>
                <a:close/>
              </a:path>
              <a:path w="4897755" h="2028189">
                <a:moveTo>
                  <a:pt x="4897628" y="1014095"/>
                </a:moveTo>
                <a:lnTo>
                  <a:pt x="4891278" y="1010920"/>
                </a:lnTo>
                <a:lnTo>
                  <a:pt x="4821428" y="975995"/>
                </a:lnTo>
                <a:lnTo>
                  <a:pt x="4821428" y="1010920"/>
                </a:lnTo>
                <a:lnTo>
                  <a:pt x="3288538" y="1010920"/>
                </a:lnTo>
                <a:lnTo>
                  <a:pt x="3288538" y="1017270"/>
                </a:lnTo>
                <a:lnTo>
                  <a:pt x="4821428" y="1017270"/>
                </a:lnTo>
                <a:lnTo>
                  <a:pt x="4821428" y="1052195"/>
                </a:lnTo>
                <a:lnTo>
                  <a:pt x="4891278" y="1017270"/>
                </a:lnTo>
                <a:lnTo>
                  <a:pt x="4897628" y="1014095"/>
                </a:lnTo>
                <a:close/>
              </a:path>
            </a:pathLst>
          </a:custGeom>
          <a:solidFill>
            <a:srgbClr val="5B9BD4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 txBox="1"/>
          <p:nvPr/>
        </p:nvSpPr>
        <p:spPr>
          <a:xfrm>
            <a:off x="2816098" y="2077592"/>
            <a:ext cx="24066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25" dirty="0">
                <a:latin typeface="Calibri"/>
                <a:cs typeface="Calibri"/>
              </a:rPr>
              <a:t>x2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3235579" y="3187065"/>
            <a:ext cx="24066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25" dirty="0">
                <a:latin typeface="Calibri"/>
                <a:cs typeface="Calibri"/>
              </a:rPr>
              <a:t>x3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3137154" y="1036446"/>
            <a:ext cx="24066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25" dirty="0">
                <a:latin typeface="Calibri"/>
                <a:cs typeface="Calibri"/>
              </a:rPr>
              <a:t>x1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7821930" y="1970023"/>
            <a:ext cx="12890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50" dirty="0">
                <a:latin typeface="Calibri"/>
                <a:cs typeface="Calibri"/>
              </a:rPr>
              <a:t>y</a:t>
            </a:r>
            <a:endParaRPr sz="1800">
              <a:latin typeface="Calibri"/>
              <a:cs typeface="Calibri"/>
            </a:endParaRPr>
          </a:p>
        </p:txBody>
      </p:sp>
      <p:grpSp>
        <p:nvGrpSpPr>
          <p:cNvPr id="11" name="object 11"/>
          <p:cNvGrpSpPr/>
          <p:nvPr/>
        </p:nvGrpSpPr>
        <p:grpSpPr>
          <a:xfrm>
            <a:off x="3835908" y="1220977"/>
            <a:ext cx="540385" cy="534670"/>
            <a:chOff x="3835908" y="1220977"/>
            <a:chExt cx="540385" cy="534670"/>
          </a:xfrm>
        </p:grpSpPr>
        <p:sp>
          <p:nvSpPr>
            <p:cNvPr id="12" name="object 12"/>
            <p:cNvSpPr/>
            <p:nvPr/>
          </p:nvSpPr>
          <p:spPr>
            <a:xfrm>
              <a:off x="3842258" y="1227327"/>
              <a:ext cx="527685" cy="521970"/>
            </a:xfrm>
            <a:custGeom>
              <a:avLst/>
              <a:gdLst/>
              <a:ahLst/>
              <a:cxnLst/>
              <a:rect l="l" t="t" r="r" b="b"/>
              <a:pathLst>
                <a:path w="527685" h="521969">
                  <a:moveTo>
                    <a:pt x="263778" y="0"/>
                  </a:moveTo>
                  <a:lnTo>
                    <a:pt x="216367" y="4204"/>
                  </a:lnTo>
                  <a:lnTo>
                    <a:pt x="171742" y="16325"/>
                  </a:lnTo>
                  <a:lnTo>
                    <a:pt x="130650" y="35625"/>
                  </a:lnTo>
                  <a:lnTo>
                    <a:pt x="93834" y="61366"/>
                  </a:lnTo>
                  <a:lnTo>
                    <a:pt x="62041" y="92811"/>
                  </a:lnTo>
                  <a:lnTo>
                    <a:pt x="36016" y="129220"/>
                  </a:lnTo>
                  <a:lnTo>
                    <a:pt x="16504" y="169856"/>
                  </a:lnTo>
                  <a:lnTo>
                    <a:pt x="4250" y="213981"/>
                  </a:lnTo>
                  <a:lnTo>
                    <a:pt x="0" y="260858"/>
                  </a:lnTo>
                  <a:lnTo>
                    <a:pt x="4250" y="307734"/>
                  </a:lnTo>
                  <a:lnTo>
                    <a:pt x="16504" y="351859"/>
                  </a:lnTo>
                  <a:lnTo>
                    <a:pt x="36016" y="392495"/>
                  </a:lnTo>
                  <a:lnTo>
                    <a:pt x="62041" y="428904"/>
                  </a:lnTo>
                  <a:lnTo>
                    <a:pt x="93834" y="460349"/>
                  </a:lnTo>
                  <a:lnTo>
                    <a:pt x="130650" y="486090"/>
                  </a:lnTo>
                  <a:lnTo>
                    <a:pt x="171742" y="505390"/>
                  </a:lnTo>
                  <a:lnTo>
                    <a:pt x="216367" y="517511"/>
                  </a:lnTo>
                  <a:lnTo>
                    <a:pt x="263778" y="521716"/>
                  </a:lnTo>
                  <a:lnTo>
                    <a:pt x="311190" y="517511"/>
                  </a:lnTo>
                  <a:lnTo>
                    <a:pt x="355815" y="505390"/>
                  </a:lnTo>
                  <a:lnTo>
                    <a:pt x="396907" y="486090"/>
                  </a:lnTo>
                  <a:lnTo>
                    <a:pt x="433723" y="460349"/>
                  </a:lnTo>
                  <a:lnTo>
                    <a:pt x="465516" y="428904"/>
                  </a:lnTo>
                  <a:lnTo>
                    <a:pt x="491541" y="392495"/>
                  </a:lnTo>
                  <a:lnTo>
                    <a:pt x="511053" y="351859"/>
                  </a:lnTo>
                  <a:lnTo>
                    <a:pt x="523307" y="307734"/>
                  </a:lnTo>
                  <a:lnTo>
                    <a:pt x="527557" y="260858"/>
                  </a:lnTo>
                  <a:lnTo>
                    <a:pt x="523307" y="213981"/>
                  </a:lnTo>
                  <a:lnTo>
                    <a:pt x="511053" y="169856"/>
                  </a:lnTo>
                  <a:lnTo>
                    <a:pt x="491541" y="129220"/>
                  </a:lnTo>
                  <a:lnTo>
                    <a:pt x="465516" y="92811"/>
                  </a:lnTo>
                  <a:lnTo>
                    <a:pt x="433723" y="61366"/>
                  </a:lnTo>
                  <a:lnTo>
                    <a:pt x="396907" y="35625"/>
                  </a:lnTo>
                  <a:lnTo>
                    <a:pt x="355815" y="16325"/>
                  </a:lnTo>
                  <a:lnTo>
                    <a:pt x="311190" y="4204"/>
                  </a:lnTo>
                  <a:lnTo>
                    <a:pt x="263778" y="0"/>
                  </a:lnTo>
                  <a:close/>
                </a:path>
              </a:pathLst>
            </a:custGeom>
            <a:solidFill>
              <a:srgbClr val="5B9BD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/>
            <p:cNvSpPr/>
            <p:nvPr/>
          </p:nvSpPr>
          <p:spPr>
            <a:xfrm>
              <a:off x="3842258" y="1227327"/>
              <a:ext cx="527685" cy="521970"/>
            </a:xfrm>
            <a:custGeom>
              <a:avLst/>
              <a:gdLst/>
              <a:ahLst/>
              <a:cxnLst/>
              <a:rect l="l" t="t" r="r" b="b"/>
              <a:pathLst>
                <a:path w="527685" h="521969">
                  <a:moveTo>
                    <a:pt x="0" y="260858"/>
                  </a:moveTo>
                  <a:lnTo>
                    <a:pt x="4250" y="213981"/>
                  </a:lnTo>
                  <a:lnTo>
                    <a:pt x="16504" y="169856"/>
                  </a:lnTo>
                  <a:lnTo>
                    <a:pt x="36016" y="129220"/>
                  </a:lnTo>
                  <a:lnTo>
                    <a:pt x="62041" y="92811"/>
                  </a:lnTo>
                  <a:lnTo>
                    <a:pt x="93834" y="61366"/>
                  </a:lnTo>
                  <a:lnTo>
                    <a:pt x="130650" y="35625"/>
                  </a:lnTo>
                  <a:lnTo>
                    <a:pt x="171742" y="16325"/>
                  </a:lnTo>
                  <a:lnTo>
                    <a:pt x="216367" y="4204"/>
                  </a:lnTo>
                  <a:lnTo>
                    <a:pt x="263778" y="0"/>
                  </a:lnTo>
                  <a:lnTo>
                    <a:pt x="311190" y="4204"/>
                  </a:lnTo>
                  <a:lnTo>
                    <a:pt x="355815" y="16325"/>
                  </a:lnTo>
                  <a:lnTo>
                    <a:pt x="396907" y="35625"/>
                  </a:lnTo>
                  <a:lnTo>
                    <a:pt x="433723" y="61366"/>
                  </a:lnTo>
                  <a:lnTo>
                    <a:pt x="465516" y="92811"/>
                  </a:lnTo>
                  <a:lnTo>
                    <a:pt x="491541" y="129220"/>
                  </a:lnTo>
                  <a:lnTo>
                    <a:pt x="511053" y="169856"/>
                  </a:lnTo>
                  <a:lnTo>
                    <a:pt x="523307" y="213981"/>
                  </a:lnTo>
                  <a:lnTo>
                    <a:pt x="527557" y="260858"/>
                  </a:lnTo>
                  <a:lnTo>
                    <a:pt x="523307" y="307734"/>
                  </a:lnTo>
                  <a:lnTo>
                    <a:pt x="511053" y="351859"/>
                  </a:lnTo>
                  <a:lnTo>
                    <a:pt x="491541" y="392495"/>
                  </a:lnTo>
                  <a:lnTo>
                    <a:pt x="465516" y="428904"/>
                  </a:lnTo>
                  <a:lnTo>
                    <a:pt x="433723" y="460349"/>
                  </a:lnTo>
                  <a:lnTo>
                    <a:pt x="396907" y="486090"/>
                  </a:lnTo>
                  <a:lnTo>
                    <a:pt x="355815" y="505390"/>
                  </a:lnTo>
                  <a:lnTo>
                    <a:pt x="311190" y="517511"/>
                  </a:lnTo>
                  <a:lnTo>
                    <a:pt x="263778" y="521716"/>
                  </a:lnTo>
                  <a:lnTo>
                    <a:pt x="216367" y="517511"/>
                  </a:lnTo>
                  <a:lnTo>
                    <a:pt x="171742" y="505390"/>
                  </a:lnTo>
                  <a:lnTo>
                    <a:pt x="130650" y="486090"/>
                  </a:lnTo>
                  <a:lnTo>
                    <a:pt x="93834" y="460349"/>
                  </a:lnTo>
                  <a:lnTo>
                    <a:pt x="62041" y="428904"/>
                  </a:lnTo>
                  <a:lnTo>
                    <a:pt x="36016" y="392495"/>
                  </a:lnTo>
                  <a:lnTo>
                    <a:pt x="16504" y="351859"/>
                  </a:lnTo>
                  <a:lnTo>
                    <a:pt x="4250" y="307734"/>
                  </a:lnTo>
                  <a:lnTo>
                    <a:pt x="0" y="260858"/>
                  </a:lnTo>
                  <a:close/>
                </a:path>
              </a:pathLst>
            </a:custGeom>
            <a:ln w="12700">
              <a:solidFill>
                <a:srgbClr val="41709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4" name="object 14"/>
          <p:cNvSpPr txBox="1"/>
          <p:nvPr/>
        </p:nvSpPr>
        <p:spPr>
          <a:xfrm>
            <a:off x="4000880" y="1375409"/>
            <a:ext cx="21018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25" dirty="0">
                <a:solidFill>
                  <a:srgbClr val="FFFFFF"/>
                </a:solidFill>
                <a:latin typeface="Calibri"/>
                <a:cs typeface="Calibri"/>
              </a:rPr>
              <a:t>w1</a:t>
            </a:r>
            <a:endParaRPr sz="1200">
              <a:latin typeface="Calibri"/>
              <a:cs typeface="Calibri"/>
            </a:endParaRPr>
          </a:p>
        </p:txBody>
      </p:sp>
      <p:grpSp>
        <p:nvGrpSpPr>
          <p:cNvPr id="15" name="object 15"/>
          <p:cNvGrpSpPr/>
          <p:nvPr/>
        </p:nvGrpSpPr>
        <p:grpSpPr>
          <a:xfrm>
            <a:off x="3801998" y="2006219"/>
            <a:ext cx="540385" cy="534670"/>
            <a:chOff x="3801998" y="2006219"/>
            <a:chExt cx="540385" cy="534670"/>
          </a:xfrm>
        </p:grpSpPr>
        <p:sp>
          <p:nvSpPr>
            <p:cNvPr id="16" name="object 16"/>
            <p:cNvSpPr/>
            <p:nvPr/>
          </p:nvSpPr>
          <p:spPr>
            <a:xfrm>
              <a:off x="3808348" y="2012569"/>
              <a:ext cx="527685" cy="521970"/>
            </a:xfrm>
            <a:custGeom>
              <a:avLst/>
              <a:gdLst/>
              <a:ahLst/>
              <a:cxnLst/>
              <a:rect l="l" t="t" r="r" b="b"/>
              <a:pathLst>
                <a:path w="527685" h="521969">
                  <a:moveTo>
                    <a:pt x="263778" y="0"/>
                  </a:moveTo>
                  <a:lnTo>
                    <a:pt x="216367" y="4204"/>
                  </a:lnTo>
                  <a:lnTo>
                    <a:pt x="171742" y="16325"/>
                  </a:lnTo>
                  <a:lnTo>
                    <a:pt x="130650" y="35625"/>
                  </a:lnTo>
                  <a:lnTo>
                    <a:pt x="93834" y="61366"/>
                  </a:lnTo>
                  <a:lnTo>
                    <a:pt x="62041" y="92811"/>
                  </a:lnTo>
                  <a:lnTo>
                    <a:pt x="36016" y="129220"/>
                  </a:lnTo>
                  <a:lnTo>
                    <a:pt x="16504" y="169856"/>
                  </a:lnTo>
                  <a:lnTo>
                    <a:pt x="4250" y="213981"/>
                  </a:lnTo>
                  <a:lnTo>
                    <a:pt x="0" y="260857"/>
                  </a:lnTo>
                  <a:lnTo>
                    <a:pt x="4250" y="307734"/>
                  </a:lnTo>
                  <a:lnTo>
                    <a:pt x="16504" y="351859"/>
                  </a:lnTo>
                  <a:lnTo>
                    <a:pt x="36016" y="392495"/>
                  </a:lnTo>
                  <a:lnTo>
                    <a:pt x="62041" y="428904"/>
                  </a:lnTo>
                  <a:lnTo>
                    <a:pt x="93834" y="460349"/>
                  </a:lnTo>
                  <a:lnTo>
                    <a:pt x="130650" y="486090"/>
                  </a:lnTo>
                  <a:lnTo>
                    <a:pt x="171742" y="505390"/>
                  </a:lnTo>
                  <a:lnTo>
                    <a:pt x="216367" y="517511"/>
                  </a:lnTo>
                  <a:lnTo>
                    <a:pt x="263778" y="521715"/>
                  </a:lnTo>
                  <a:lnTo>
                    <a:pt x="311190" y="517511"/>
                  </a:lnTo>
                  <a:lnTo>
                    <a:pt x="355815" y="505390"/>
                  </a:lnTo>
                  <a:lnTo>
                    <a:pt x="396907" y="486090"/>
                  </a:lnTo>
                  <a:lnTo>
                    <a:pt x="433723" y="460349"/>
                  </a:lnTo>
                  <a:lnTo>
                    <a:pt x="465516" y="428904"/>
                  </a:lnTo>
                  <a:lnTo>
                    <a:pt x="491541" y="392495"/>
                  </a:lnTo>
                  <a:lnTo>
                    <a:pt x="511053" y="351859"/>
                  </a:lnTo>
                  <a:lnTo>
                    <a:pt x="523307" y="307734"/>
                  </a:lnTo>
                  <a:lnTo>
                    <a:pt x="527558" y="260857"/>
                  </a:lnTo>
                  <a:lnTo>
                    <a:pt x="523307" y="213981"/>
                  </a:lnTo>
                  <a:lnTo>
                    <a:pt x="511053" y="169856"/>
                  </a:lnTo>
                  <a:lnTo>
                    <a:pt x="491541" y="129220"/>
                  </a:lnTo>
                  <a:lnTo>
                    <a:pt x="465516" y="92811"/>
                  </a:lnTo>
                  <a:lnTo>
                    <a:pt x="433723" y="61366"/>
                  </a:lnTo>
                  <a:lnTo>
                    <a:pt x="396907" y="35625"/>
                  </a:lnTo>
                  <a:lnTo>
                    <a:pt x="355815" y="16325"/>
                  </a:lnTo>
                  <a:lnTo>
                    <a:pt x="311190" y="4204"/>
                  </a:lnTo>
                  <a:lnTo>
                    <a:pt x="263778" y="0"/>
                  </a:lnTo>
                  <a:close/>
                </a:path>
              </a:pathLst>
            </a:custGeom>
            <a:solidFill>
              <a:srgbClr val="5B9BD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7"/>
            <p:cNvSpPr/>
            <p:nvPr/>
          </p:nvSpPr>
          <p:spPr>
            <a:xfrm>
              <a:off x="3808348" y="2012569"/>
              <a:ext cx="527685" cy="521970"/>
            </a:xfrm>
            <a:custGeom>
              <a:avLst/>
              <a:gdLst/>
              <a:ahLst/>
              <a:cxnLst/>
              <a:rect l="l" t="t" r="r" b="b"/>
              <a:pathLst>
                <a:path w="527685" h="521969">
                  <a:moveTo>
                    <a:pt x="0" y="260857"/>
                  </a:moveTo>
                  <a:lnTo>
                    <a:pt x="4250" y="213981"/>
                  </a:lnTo>
                  <a:lnTo>
                    <a:pt x="16504" y="169856"/>
                  </a:lnTo>
                  <a:lnTo>
                    <a:pt x="36016" y="129220"/>
                  </a:lnTo>
                  <a:lnTo>
                    <a:pt x="62041" y="92811"/>
                  </a:lnTo>
                  <a:lnTo>
                    <a:pt x="93834" y="61366"/>
                  </a:lnTo>
                  <a:lnTo>
                    <a:pt x="130650" y="35625"/>
                  </a:lnTo>
                  <a:lnTo>
                    <a:pt x="171742" y="16325"/>
                  </a:lnTo>
                  <a:lnTo>
                    <a:pt x="216367" y="4204"/>
                  </a:lnTo>
                  <a:lnTo>
                    <a:pt x="263778" y="0"/>
                  </a:lnTo>
                  <a:lnTo>
                    <a:pt x="311190" y="4204"/>
                  </a:lnTo>
                  <a:lnTo>
                    <a:pt x="355815" y="16325"/>
                  </a:lnTo>
                  <a:lnTo>
                    <a:pt x="396907" y="35625"/>
                  </a:lnTo>
                  <a:lnTo>
                    <a:pt x="433723" y="61366"/>
                  </a:lnTo>
                  <a:lnTo>
                    <a:pt x="465516" y="92811"/>
                  </a:lnTo>
                  <a:lnTo>
                    <a:pt x="491541" y="129220"/>
                  </a:lnTo>
                  <a:lnTo>
                    <a:pt x="511053" y="169856"/>
                  </a:lnTo>
                  <a:lnTo>
                    <a:pt x="523307" y="213981"/>
                  </a:lnTo>
                  <a:lnTo>
                    <a:pt x="527558" y="260857"/>
                  </a:lnTo>
                  <a:lnTo>
                    <a:pt x="523307" y="307734"/>
                  </a:lnTo>
                  <a:lnTo>
                    <a:pt x="511053" y="351859"/>
                  </a:lnTo>
                  <a:lnTo>
                    <a:pt x="491541" y="392495"/>
                  </a:lnTo>
                  <a:lnTo>
                    <a:pt x="465516" y="428904"/>
                  </a:lnTo>
                  <a:lnTo>
                    <a:pt x="433723" y="460349"/>
                  </a:lnTo>
                  <a:lnTo>
                    <a:pt x="396907" y="486090"/>
                  </a:lnTo>
                  <a:lnTo>
                    <a:pt x="355815" y="505390"/>
                  </a:lnTo>
                  <a:lnTo>
                    <a:pt x="311190" y="517511"/>
                  </a:lnTo>
                  <a:lnTo>
                    <a:pt x="263778" y="521715"/>
                  </a:lnTo>
                  <a:lnTo>
                    <a:pt x="216367" y="517511"/>
                  </a:lnTo>
                  <a:lnTo>
                    <a:pt x="171742" y="505390"/>
                  </a:lnTo>
                  <a:lnTo>
                    <a:pt x="130650" y="486090"/>
                  </a:lnTo>
                  <a:lnTo>
                    <a:pt x="93834" y="460349"/>
                  </a:lnTo>
                  <a:lnTo>
                    <a:pt x="62041" y="428904"/>
                  </a:lnTo>
                  <a:lnTo>
                    <a:pt x="36016" y="392495"/>
                  </a:lnTo>
                  <a:lnTo>
                    <a:pt x="16504" y="351859"/>
                  </a:lnTo>
                  <a:lnTo>
                    <a:pt x="4250" y="307734"/>
                  </a:lnTo>
                  <a:lnTo>
                    <a:pt x="0" y="260857"/>
                  </a:lnTo>
                  <a:close/>
                </a:path>
              </a:pathLst>
            </a:custGeom>
            <a:ln w="12700">
              <a:solidFill>
                <a:srgbClr val="41709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8" name="object 18"/>
          <p:cNvSpPr txBox="1"/>
          <p:nvPr/>
        </p:nvSpPr>
        <p:spPr>
          <a:xfrm>
            <a:off x="3967098" y="2160523"/>
            <a:ext cx="21018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25" dirty="0">
                <a:solidFill>
                  <a:srgbClr val="FFFFFF"/>
                </a:solidFill>
                <a:latin typeface="Calibri"/>
                <a:cs typeface="Calibri"/>
              </a:rPr>
              <a:t>w2</a:t>
            </a:r>
            <a:endParaRPr sz="1200">
              <a:latin typeface="Calibri"/>
              <a:cs typeface="Calibri"/>
            </a:endParaRPr>
          </a:p>
        </p:txBody>
      </p:sp>
      <p:grpSp>
        <p:nvGrpSpPr>
          <p:cNvPr id="19" name="object 19"/>
          <p:cNvGrpSpPr/>
          <p:nvPr/>
        </p:nvGrpSpPr>
        <p:grpSpPr>
          <a:xfrm>
            <a:off x="3910584" y="2809239"/>
            <a:ext cx="540385" cy="534670"/>
            <a:chOff x="3910584" y="2809239"/>
            <a:chExt cx="540385" cy="534670"/>
          </a:xfrm>
        </p:grpSpPr>
        <p:sp>
          <p:nvSpPr>
            <p:cNvPr id="20" name="object 20"/>
            <p:cNvSpPr/>
            <p:nvPr/>
          </p:nvSpPr>
          <p:spPr>
            <a:xfrm>
              <a:off x="3916934" y="2815589"/>
              <a:ext cx="527685" cy="521970"/>
            </a:xfrm>
            <a:custGeom>
              <a:avLst/>
              <a:gdLst/>
              <a:ahLst/>
              <a:cxnLst/>
              <a:rect l="l" t="t" r="r" b="b"/>
              <a:pathLst>
                <a:path w="527685" h="521970">
                  <a:moveTo>
                    <a:pt x="263778" y="0"/>
                  </a:moveTo>
                  <a:lnTo>
                    <a:pt x="216367" y="4204"/>
                  </a:lnTo>
                  <a:lnTo>
                    <a:pt x="171742" y="16325"/>
                  </a:lnTo>
                  <a:lnTo>
                    <a:pt x="130650" y="35625"/>
                  </a:lnTo>
                  <a:lnTo>
                    <a:pt x="93834" y="61366"/>
                  </a:lnTo>
                  <a:lnTo>
                    <a:pt x="62041" y="92811"/>
                  </a:lnTo>
                  <a:lnTo>
                    <a:pt x="36016" y="129220"/>
                  </a:lnTo>
                  <a:lnTo>
                    <a:pt x="16504" y="169856"/>
                  </a:lnTo>
                  <a:lnTo>
                    <a:pt x="4250" y="213981"/>
                  </a:lnTo>
                  <a:lnTo>
                    <a:pt x="0" y="260858"/>
                  </a:lnTo>
                  <a:lnTo>
                    <a:pt x="4250" y="307734"/>
                  </a:lnTo>
                  <a:lnTo>
                    <a:pt x="16504" y="351859"/>
                  </a:lnTo>
                  <a:lnTo>
                    <a:pt x="36016" y="392495"/>
                  </a:lnTo>
                  <a:lnTo>
                    <a:pt x="62041" y="428904"/>
                  </a:lnTo>
                  <a:lnTo>
                    <a:pt x="93834" y="460349"/>
                  </a:lnTo>
                  <a:lnTo>
                    <a:pt x="130650" y="486090"/>
                  </a:lnTo>
                  <a:lnTo>
                    <a:pt x="171742" y="505390"/>
                  </a:lnTo>
                  <a:lnTo>
                    <a:pt x="216367" y="517511"/>
                  </a:lnTo>
                  <a:lnTo>
                    <a:pt x="263778" y="521715"/>
                  </a:lnTo>
                  <a:lnTo>
                    <a:pt x="311190" y="517511"/>
                  </a:lnTo>
                  <a:lnTo>
                    <a:pt x="355815" y="505390"/>
                  </a:lnTo>
                  <a:lnTo>
                    <a:pt x="396907" y="486090"/>
                  </a:lnTo>
                  <a:lnTo>
                    <a:pt x="433723" y="460349"/>
                  </a:lnTo>
                  <a:lnTo>
                    <a:pt x="465516" y="428904"/>
                  </a:lnTo>
                  <a:lnTo>
                    <a:pt x="491541" y="392495"/>
                  </a:lnTo>
                  <a:lnTo>
                    <a:pt x="511053" y="351859"/>
                  </a:lnTo>
                  <a:lnTo>
                    <a:pt x="523307" y="307734"/>
                  </a:lnTo>
                  <a:lnTo>
                    <a:pt x="527557" y="260858"/>
                  </a:lnTo>
                  <a:lnTo>
                    <a:pt x="523307" y="213981"/>
                  </a:lnTo>
                  <a:lnTo>
                    <a:pt x="511053" y="169856"/>
                  </a:lnTo>
                  <a:lnTo>
                    <a:pt x="491541" y="129220"/>
                  </a:lnTo>
                  <a:lnTo>
                    <a:pt x="465516" y="92811"/>
                  </a:lnTo>
                  <a:lnTo>
                    <a:pt x="433723" y="61366"/>
                  </a:lnTo>
                  <a:lnTo>
                    <a:pt x="396907" y="35625"/>
                  </a:lnTo>
                  <a:lnTo>
                    <a:pt x="355815" y="16325"/>
                  </a:lnTo>
                  <a:lnTo>
                    <a:pt x="311190" y="4204"/>
                  </a:lnTo>
                  <a:lnTo>
                    <a:pt x="263778" y="0"/>
                  </a:lnTo>
                  <a:close/>
                </a:path>
              </a:pathLst>
            </a:custGeom>
            <a:solidFill>
              <a:srgbClr val="5B9BD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3916934" y="2815589"/>
              <a:ext cx="527685" cy="521970"/>
            </a:xfrm>
            <a:custGeom>
              <a:avLst/>
              <a:gdLst/>
              <a:ahLst/>
              <a:cxnLst/>
              <a:rect l="l" t="t" r="r" b="b"/>
              <a:pathLst>
                <a:path w="527685" h="521970">
                  <a:moveTo>
                    <a:pt x="0" y="260858"/>
                  </a:moveTo>
                  <a:lnTo>
                    <a:pt x="4250" y="213981"/>
                  </a:lnTo>
                  <a:lnTo>
                    <a:pt x="16504" y="169856"/>
                  </a:lnTo>
                  <a:lnTo>
                    <a:pt x="36016" y="129220"/>
                  </a:lnTo>
                  <a:lnTo>
                    <a:pt x="62041" y="92811"/>
                  </a:lnTo>
                  <a:lnTo>
                    <a:pt x="93834" y="61366"/>
                  </a:lnTo>
                  <a:lnTo>
                    <a:pt x="130650" y="35625"/>
                  </a:lnTo>
                  <a:lnTo>
                    <a:pt x="171742" y="16325"/>
                  </a:lnTo>
                  <a:lnTo>
                    <a:pt x="216367" y="4204"/>
                  </a:lnTo>
                  <a:lnTo>
                    <a:pt x="263778" y="0"/>
                  </a:lnTo>
                  <a:lnTo>
                    <a:pt x="311190" y="4204"/>
                  </a:lnTo>
                  <a:lnTo>
                    <a:pt x="355815" y="16325"/>
                  </a:lnTo>
                  <a:lnTo>
                    <a:pt x="396907" y="35625"/>
                  </a:lnTo>
                  <a:lnTo>
                    <a:pt x="433723" y="61366"/>
                  </a:lnTo>
                  <a:lnTo>
                    <a:pt x="465516" y="92811"/>
                  </a:lnTo>
                  <a:lnTo>
                    <a:pt x="491541" y="129220"/>
                  </a:lnTo>
                  <a:lnTo>
                    <a:pt x="511053" y="169856"/>
                  </a:lnTo>
                  <a:lnTo>
                    <a:pt x="523307" y="213981"/>
                  </a:lnTo>
                  <a:lnTo>
                    <a:pt x="527557" y="260858"/>
                  </a:lnTo>
                  <a:lnTo>
                    <a:pt x="523307" y="307734"/>
                  </a:lnTo>
                  <a:lnTo>
                    <a:pt x="511053" y="351859"/>
                  </a:lnTo>
                  <a:lnTo>
                    <a:pt x="491541" y="392495"/>
                  </a:lnTo>
                  <a:lnTo>
                    <a:pt x="465516" y="428904"/>
                  </a:lnTo>
                  <a:lnTo>
                    <a:pt x="433723" y="460349"/>
                  </a:lnTo>
                  <a:lnTo>
                    <a:pt x="396907" y="486090"/>
                  </a:lnTo>
                  <a:lnTo>
                    <a:pt x="355815" y="505390"/>
                  </a:lnTo>
                  <a:lnTo>
                    <a:pt x="311190" y="517511"/>
                  </a:lnTo>
                  <a:lnTo>
                    <a:pt x="263778" y="521715"/>
                  </a:lnTo>
                  <a:lnTo>
                    <a:pt x="216367" y="517511"/>
                  </a:lnTo>
                  <a:lnTo>
                    <a:pt x="171742" y="505390"/>
                  </a:lnTo>
                  <a:lnTo>
                    <a:pt x="130650" y="486090"/>
                  </a:lnTo>
                  <a:lnTo>
                    <a:pt x="93834" y="460349"/>
                  </a:lnTo>
                  <a:lnTo>
                    <a:pt x="62041" y="428904"/>
                  </a:lnTo>
                  <a:lnTo>
                    <a:pt x="36016" y="392495"/>
                  </a:lnTo>
                  <a:lnTo>
                    <a:pt x="16504" y="351859"/>
                  </a:lnTo>
                  <a:lnTo>
                    <a:pt x="4250" y="307734"/>
                  </a:lnTo>
                  <a:lnTo>
                    <a:pt x="0" y="260858"/>
                  </a:lnTo>
                  <a:close/>
                </a:path>
              </a:pathLst>
            </a:custGeom>
            <a:ln w="12700">
              <a:solidFill>
                <a:srgbClr val="41709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2" name="object 22"/>
          <p:cNvSpPr txBox="1"/>
          <p:nvPr/>
        </p:nvSpPr>
        <p:spPr>
          <a:xfrm>
            <a:off x="4075557" y="2963366"/>
            <a:ext cx="210185" cy="2089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25" dirty="0">
                <a:solidFill>
                  <a:srgbClr val="FFFFFF"/>
                </a:solidFill>
                <a:latin typeface="Calibri"/>
                <a:cs typeface="Calibri"/>
              </a:rPr>
              <a:t>w3</a:t>
            </a:r>
            <a:endParaRPr sz="120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What</a:t>
            </a:r>
            <a:r>
              <a:rPr spc="145" dirty="0"/>
              <a:t> </a:t>
            </a:r>
            <a:r>
              <a:rPr spc="60" dirty="0"/>
              <a:t>can</a:t>
            </a:r>
            <a:r>
              <a:rPr spc="165" dirty="0"/>
              <a:t> </a:t>
            </a:r>
            <a:r>
              <a:rPr dirty="0"/>
              <a:t>we</a:t>
            </a:r>
            <a:r>
              <a:rPr spc="155" dirty="0"/>
              <a:t> </a:t>
            </a:r>
            <a:r>
              <a:rPr dirty="0"/>
              <a:t>answer</a:t>
            </a:r>
            <a:r>
              <a:rPr spc="165" dirty="0"/>
              <a:t> </a:t>
            </a:r>
            <a:r>
              <a:rPr spc="50" dirty="0"/>
              <a:t>with</a:t>
            </a:r>
            <a:r>
              <a:rPr spc="150" dirty="0"/>
              <a:t> </a:t>
            </a:r>
            <a:r>
              <a:rPr dirty="0"/>
              <a:t>a</a:t>
            </a:r>
            <a:r>
              <a:rPr spc="165" dirty="0"/>
              <a:t> </a:t>
            </a:r>
            <a:r>
              <a:rPr spc="-10" dirty="0"/>
              <a:t>perceptron?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666089" y="1775586"/>
            <a:ext cx="5064760" cy="202565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240029" indent="-227329">
              <a:lnSpc>
                <a:spcPct val="100000"/>
              </a:lnSpc>
              <a:spcBef>
                <a:spcPts val="95"/>
              </a:spcBef>
              <a:buFont typeface="Arial"/>
              <a:buChar char="•"/>
              <a:tabLst>
                <a:tab pos="240029" algn="l"/>
              </a:tabLst>
            </a:pPr>
            <a:r>
              <a:rPr sz="2800" dirty="0">
                <a:latin typeface="Calibri"/>
                <a:cs typeface="Calibri"/>
              </a:rPr>
              <a:t>Do</a:t>
            </a:r>
            <a:r>
              <a:rPr sz="2800" spc="14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we</a:t>
            </a:r>
            <a:r>
              <a:rPr sz="2800" spc="16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want</a:t>
            </a:r>
            <a:r>
              <a:rPr sz="2800" spc="16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to</a:t>
            </a:r>
            <a:r>
              <a:rPr sz="2800" spc="170" dirty="0">
                <a:latin typeface="Calibri"/>
                <a:cs typeface="Calibri"/>
              </a:rPr>
              <a:t> </a:t>
            </a:r>
            <a:r>
              <a:rPr sz="2800" spc="95" dirty="0">
                <a:latin typeface="Calibri"/>
                <a:cs typeface="Calibri"/>
              </a:rPr>
              <a:t>go</a:t>
            </a:r>
            <a:r>
              <a:rPr sz="2800" spc="14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to</a:t>
            </a:r>
            <a:r>
              <a:rPr sz="2800" spc="155" dirty="0">
                <a:latin typeface="Calibri"/>
                <a:cs typeface="Calibri"/>
              </a:rPr>
              <a:t> </a:t>
            </a:r>
            <a:r>
              <a:rPr sz="2800" spc="40" dirty="0">
                <a:latin typeface="Calibri"/>
                <a:cs typeface="Calibri"/>
              </a:rPr>
              <a:t>Coachella?</a:t>
            </a:r>
            <a:endParaRPr sz="2800" dirty="0">
              <a:latin typeface="Calibri"/>
              <a:cs typeface="Calibri"/>
            </a:endParaRPr>
          </a:p>
          <a:p>
            <a:pPr marL="697230" lvl="1" indent="-227965">
              <a:lnSpc>
                <a:spcPct val="100000"/>
              </a:lnSpc>
              <a:spcBef>
                <a:spcPts val="3315"/>
              </a:spcBef>
              <a:buFont typeface="Arial"/>
              <a:buChar char="•"/>
              <a:tabLst>
                <a:tab pos="697230" algn="l"/>
              </a:tabLst>
            </a:pPr>
            <a:r>
              <a:rPr sz="2400" dirty="0">
                <a:latin typeface="Calibri"/>
                <a:cs typeface="Calibri"/>
              </a:rPr>
              <a:t>Factor</a:t>
            </a:r>
            <a:r>
              <a:rPr sz="2400" spc="15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1:</a:t>
            </a:r>
            <a:r>
              <a:rPr sz="2400" spc="18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Good</a:t>
            </a:r>
            <a:r>
              <a:rPr sz="2400" spc="175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weather?</a:t>
            </a:r>
            <a:endParaRPr sz="2400" dirty="0">
              <a:latin typeface="Calibri"/>
              <a:cs typeface="Calibri"/>
            </a:endParaRPr>
          </a:p>
          <a:p>
            <a:pPr marL="697230" lvl="1" indent="-227965">
              <a:lnSpc>
                <a:spcPct val="100000"/>
              </a:lnSpc>
              <a:spcBef>
                <a:spcPts val="220"/>
              </a:spcBef>
              <a:buFont typeface="Arial"/>
              <a:buChar char="•"/>
              <a:tabLst>
                <a:tab pos="697230" algn="l"/>
              </a:tabLst>
            </a:pPr>
            <a:r>
              <a:rPr sz="2400" dirty="0">
                <a:latin typeface="Calibri"/>
                <a:cs typeface="Calibri"/>
              </a:rPr>
              <a:t>Factor</a:t>
            </a:r>
            <a:r>
              <a:rPr sz="2400" spc="15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2:</a:t>
            </a:r>
            <a:r>
              <a:rPr sz="2400" spc="175" dirty="0">
                <a:latin typeface="Calibri"/>
                <a:cs typeface="Calibri"/>
              </a:rPr>
              <a:t> </a:t>
            </a:r>
            <a:r>
              <a:rPr sz="2400" spc="50" dirty="0">
                <a:latin typeface="Calibri"/>
                <a:cs typeface="Calibri"/>
              </a:rPr>
              <a:t>Friends</a:t>
            </a:r>
            <a:r>
              <a:rPr sz="2400" spc="150" dirty="0">
                <a:latin typeface="Calibri"/>
                <a:cs typeface="Calibri"/>
              </a:rPr>
              <a:t> </a:t>
            </a:r>
            <a:r>
              <a:rPr sz="2400" spc="45" dirty="0">
                <a:latin typeface="Calibri"/>
                <a:cs typeface="Calibri"/>
              </a:rPr>
              <a:t>going?</a:t>
            </a:r>
            <a:endParaRPr sz="2400" dirty="0">
              <a:latin typeface="Calibri"/>
              <a:cs typeface="Calibri"/>
            </a:endParaRPr>
          </a:p>
          <a:p>
            <a:pPr marL="697230" lvl="1" indent="-227965">
              <a:lnSpc>
                <a:spcPct val="100000"/>
              </a:lnSpc>
              <a:spcBef>
                <a:spcPts val="215"/>
              </a:spcBef>
              <a:buFont typeface="Arial"/>
              <a:buChar char="•"/>
              <a:tabLst>
                <a:tab pos="697230" algn="l"/>
              </a:tabLst>
            </a:pPr>
            <a:r>
              <a:rPr sz="2400" dirty="0">
                <a:latin typeface="Calibri"/>
                <a:cs typeface="Calibri"/>
              </a:rPr>
              <a:t>Factor</a:t>
            </a:r>
            <a:r>
              <a:rPr sz="2400" spc="15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3:</a:t>
            </a:r>
            <a:r>
              <a:rPr sz="2400" spc="180" dirty="0">
                <a:latin typeface="Calibri"/>
                <a:cs typeface="Calibri"/>
              </a:rPr>
              <a:t> </a:t>
            </a:r>
            <a:r>
              <a:rPr sz="2400" spc="50" dirty="0">
                <a:latin typeface="Calibri"/>
                <a:cs typeface="Calibri"/>
              </a:rPr>
              <a:t>Do</a:t>
            </a:r>
            <a:r>
              <a:rPr sz="2400" spc="16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we</a:t>
            </a:r>
            <a:r>
              <a:rPr sz="2400" spc="16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have</a:t>
            </a:r>
            <a:r>
              <a:rPr sz="2400" spc="175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tickets?</a:t>
            </a:r>
            <a:endParaRPr sz="2400" dirty="0">
              <a:latin typeface="Calibri"/>
              <a:cs typeface="Calibri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4439411" y="1921018"/>
            <a:ext cx="7399020" cy="2302510"/>
            <a:chOff x="4439411" y="1921018"/>
            <a:chExt cx="7399020" cy="2302510"/>
          </a:xfrm>
        </p:grpSpPr>
        <p:pic>
          <p:nvPicPr>
            <p:cNvPr id="5" name="object 5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6611266" y="1921018"/>
              <a:ext cx="5226982" cy="2302478"/>
            </a:xfrm>
            <a:prstGeom prst="rect">
              <a:avLst/>
            </a:prstGeom>
          </p:spPr>
        </p:pic>
        <p:sp>
          <p:nvSpPr>
            <p:cNvPr id="6" name="object 6"/>
            <p:cNvSpPr/>
            <p:nvPr/>
          </p:nvSpPr>
          <p:spPr>
            <a:xfrm>
              <a:off x="4439412" y="2045334"/>
              <a:ext cx="2541905" cy="2157095"/>
            </a:xfrm>
            <a:custGeom>
              <a:avLst/>
              <a:gdLst/>
              <a:ahLst/>
              <a:cxnLst/>
              <a:rect l="l" t="t" r="r" b="b"/>
              <a:pathLst>
                <a:path w="2541904" h="2157095">
                  <a:moveTo>
                    <a:pt x="2084451" y="1023239"/>
                  </a:moveTo>
                  <a:lnTo>
                    <a:pt x="2001520" y="1003681"/>
                  </a:lnTo>
                  <a:lnTo>
                    <a:pt x="2009546" y="1037615"/>
                  </a:lnTo>
                  <a:lnTo>
                    <a:pt x="0" y="1512443"/>
                  </a:lnTo>
                  <a:lnTo>
                    <a:pt x="1397" y="1518666"/>
                  </a:lnTo>
                  <a:lnTo>
                    <a:pt x="2011006" y="1043813"/>
                  </a:lnTo>
                  <a:lnTo>
                    <a:pt x="2019046" y="1077722"/>
                  </a:lnTo>
                  <a:lnTo>
                    <a:pt x="2070722" y="1034669"/>
                  </a:lnTo>
                  <a:lnTo>
                    <a:pt x="2084451" y="1023239"/>
                  </a:lnTo>
                  <a:close/>
                </a:path>
                <a:path w="2541904" h="2157095">
                  <a:moveTo>
                    <a:pt x="2436114" y="3302"/>
                  </a:moveTo>
                  <a:lnTo>
                    <a:pt x="2351024" y="0"/>
                  </a:lnTo>
                  <a:lnTo>
                    <a:pt x="2365413" y="31813"/>
                  </a:lnTo>
                  <a:lnTo>
                    <a:pt x="140081" y="1037844"/>
                  </a:lnTo>
                  <a:lnTo>
                    <a:pt x="142748" y="1043686"/>
                  </a:lnTo>
                  <a:lnTo>
                    <a:pt x="2368029" y="37617"/>
                  </a:lnTo>
                  <a:lnTo>
                    <a:pt x="2382393" y="69342"/>
                  </a:lnTo>
                  <a:lnTo>
                    <a:pt x="2417203" y="26543"/>
                  </a:lnTo>
                  <a:lnTo>
                    <a:pt x="2436114" y="3302"/>
                  </a:lnTo>
                  <a:close/>
                </a:path>
                <a:path w="2541904" h="2157095">
                  <a:moveTo>
                    <a:pt x="2541651" y="2122170"/>
                  </a:moveTo>
                  <a:lnTo>
                    <a:pt x="2467229" y="2080641"/>
                  </a:lnTo>
                  <a:lnTo>
                    <a:pt x="2465654" y="2115629"/>
                  </a:lnTo>
                  <a:lnTo>
                    <a:pt x="800989" y="2039874"/>
                  </a:lnTo>
                  <a:lnTo>
                    <a:pt x="800608" y="2046224"/>
                  </a:lnTo>
                  <a:lnTo>
                    <a:pt x="2465362" y="2121979"/>
                  </a:lnTo>
                  <a:lnTo>
                    <a:pt x="2463800" y="2156841"/>
                  </a:lnTo>
                  <a:lnTo>
                    <a:pt x="2540787" y="2122551"/>
                  </a:lnTo>
                  <a:lnTo>
                    <a:pt x="2541651" y="2122170"/>
                  </a:lnTo>
                  <a:close/>
                </a:path>
              </a:pathLst>
            </a:custGeom>
            <a:solidFill>
              <a:srgbClr val="5B9BD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How</a:t>
            </a:r>
            <a:r>
              <a:rPr spc="85" dirty="0"/>
              <a:t> </a:t>
            </a:r>
            <a:r>
              <a:rPr spc="55" dirty="0"/>
              <a:t>would</a:t>
            </a:r>
            <a:r>
              <a:rPr spc="175" dirty="0"/>
              <a:t> </a:t>
            </a:r>
            <a:r>
              <a:rPr dirty="0"/>
              <a:t>we</a:t>
            </a:r>
            <a:r>
              <a:rPr spc="175" dirty="0"/>
              <a:t> </a:t>
            </a:r>
            <a:r>
              <a:rPr spc="50" dirty="0"/>
              <a:t>decide</a:t>
            </a:r>
            <a:r>
              <a:rPr spc="165" dirty="0"/>
              <a:t> </a:t>
            </a:r>
            <a:r>
              <a:rPr spc="-10" dirty="0"/>
              <a:t>this?</a:t>
            </a: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15645" y="483234"/>
            <a:ext cx="11576304" cy="4716780"/>
          </a:xfrm>
          <a:prstGeom prst="rect">
            <a:avLst/>
          </a:prstGeom>
        </p:spPr>
      </p:pic>
      <p:sp>
        <p:nvSpPr>
          <p:cNvPr id="4" name="object 4"/>
          <p:cNvSpPr txBox="1"/>
          <p:nvPr/>
        </p:nvSpPr>
        <p:spPr>
          <a:xfrm>
            <a:off x="515823" y="4342865"/>
            <a:ext cx="7724775" cy="1275080"/>
          </a:xfrm>
          <a:prstGeom prst="rect">
            <a:avLst/>
          </a:prstGeom>
        </p:spPr>
        <p:txBody>
          <a:bodyPr vert="horz" wrap="square" lIns="0" tIns="46355" rIns="0" bIns="0" rtlCol="0">
            <a:spAutoFit/>
          </a:bodyPr>
          <a:lstStyle/>
          <a:p>
            <a:pPr marL="240029" indent="-227329">
              <a:lnSpc>
                <a:spcPct val="100000"/>
              </a:lnSpc>
              <a:spcBef>
                <a:spcPts val="365"/>
              </a:spcBef>
              <a:buFont typeface="Arial"/>
              <a:buChar char="•"/>
              <a:tabLst>
                <a:tab pos="240029" algn="l"/>
              </a:tabLst>
            </a:pPr>
            <a:r>
              <a:rPr sz="2800" spc="65" dirty="0">
                <a:latin typeface="Calibri"/>
                <a:cs typeface="Calibri"/>
              </a:rPr>
              <a:t>Each</a:t>
            </a:r>
            <a:r>
              <a:rPr sz="2800" spc="110" dirty="0">
                <a:latin typeface="Calibri"/>
                <a:cs typeface="Calibri"/>
              </a:rPr>
              <a:t> </a:t>
            </a:r>
            <a:r>
              <a:rPr sz="2800" spc="55" dirty="0">
                <a:latin typeface="Calibri"/>
                <a:cs typeface="Calibri"/>
              </a:rPr>
              <a:t>variable</a:t>
            </a:r>
            <a:r>
              <a:rPr sz="2800" spc="155" dirty="0">
                <a:latin typeface="Calibri"/>
                <a:cs typeface="Calibri"/>
              </a:rPr>
              <a:t> </a:t>
            </a:r>
            <a:r>
              <a:rPr sz="2800" spc="85" dirty="0">
                <a:latin typeface="Calibri"/>
                <a:cs typeface="Calibri"/>
              </a:rPr>
              <a:t>is</a:t>
            </a:r>
            <a:r>
              <a:rPr sz="2800" spc="14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either</a:t>
            </a:r>
            <a:r>
              <a:rPr sz="2800" spc="17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a</a:t>
            </a:r>
            <a:r>
              <a:rPr sz="2800" spc="140" dirty="0">
                <a:latin typeface="Calibri"/>
                <a:cs typeface="Calibri"/>
              </a:rPr>
              <a:t> </a:t>
            </a:r>
            <a:r>
              <a:rPr sz="2800" spc="85" dirty="0">
                <a:latin typeface="Calibri"/>
                <a:cs typeface="Calibri"/>
              </a:rPr>
              <a:t>1</a:t>
            </a:r>
            <a:r>
              <a:rPr sz="2800" spc="13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or</a:t>
            </a:r>
            <a:r>
              <a:rPr sz="2800" spc="145" dirty="0">
                <a:latin typeface="Calibri"/>
                <a:cs typeface="Calibri"/>
              </a:rPr>
              <a:t> </a:t>
            </a:r>
            <a:r>
              <a:rPr sz="2800" spc="35" dirty="0">
                <a:latin typeface="Calibri"/>
                <a:cs typeface="Calibri"/>
              </a:rPr>
              <a:t>0</a:t>
            </a:r>
            <a:endParaRPr sz="2800">
              <a:latin typeface="Calibri"/>
              <a:cs typeface="Calibri"/>
            </a:endParaRPr>
          </a:p>
          <a:p>
            <a:pPr marL="697230" lvl="1" indent="-227329">
              <a:lnSpc>
                <a:spcPct val="100000"/>
              </a:lnSpc>
              <a:spcBef>
                <a:spcPts val="234"/>
              </a:spcBef>
              <a:buFont typeface="Arial"/>
              <a:buChar char="•"/>
              <a:tabLst>
                <a:tab pos="697230" algn="l"/>
              </a:tabLst>
            </a:pPr>
            <a:r>
              <a:rPr sz="2400" spc="70" dirty="0">
                <a:latin typeface="Calibri"/>
                <a:cs typeface="Calibri"/>
              </a:rPr>
              <a:t>The</a:t>
            </a:r>
            <a:r>
              <a:rPr sz="2400" spc="150" dirty="0">
                <a:latin typeface="Calibri"/>
                <a:cs typeface="Calibri"/>
              </a:rPr>
              <a:t> </a:t>
            </a:r>
            <a:r>
              <a:rPr sz="2400" spc="50" dirty="0">
                <a:latin typeface="Calibri"/>
                <a:cs typeface="Calibri"/>
              </a:rPr>
              <a:t>decision</a:t>
            </a:r>
            <a:r>
              <a:rPr sz="2400" spc="130" dirty="0">
                <a:latin typeface="Calibri"/>
                <a:cs typeface="Calibri"/>
              </a:rPr>
              <a:t> </a:t>
            </a:r>
            <a:r>
              <a:rPr sz="2400" spc="70" dirty="0">
                <a:latin typeface="Calibri"/>
                <a:cs typeface="Calibri"/>
              </a:rPr>
              <a:t>making</a:t>
            </a:r>
            <a:r>
              <a:rPr sz="2400" spc="14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happens</a:t>
            </a:r>
            <a:r>
              <a:rPr sz="2400" spc="160" dirty="0">
                <a:latin typeface="Calibri"/>
                <a:cs typeface="Calibri"/>
              </a:rPr>
              <a:t> </a:t>
            </a:r>
            <a:r>
              <a:rPr sz="2400" spc="60" dirty="0">
                <a:latin typeface="Calibri"/>
                <a:cs typeface="Calibri"/>
              </a:rPr>
              <a:t>in</a:t>
            </a:r>
            <a:r>
              <a:rPr sz="2400" spc="15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150" dirty="0">
                <a:latin typeface="Calibri"/>
                <a:cs typeface="Calibri"/>
              </a:rPr>
              <a:t> </a:t>
            </a:r>
            <a:r>
              <a:rPr sz="2400" spc="40" dirty="0">
                <a:latin typeface="Calibri"/>
                <a:cs typeface="Calibri"/>
              </a:rPr>
              <a:t>weights</a:t>
            </a:r>
            <a:endParaRPr sz="2400">
              <a:latin typeface="Calibri"/>
              <a:cs typeface="Calibri"/>
            </a:endParaRPr>
          </a:p>
          <a:p>
            <a:pPr marL="697230" lvl="1" indent="-227329">
              <a:lnSpc>
                <a:spcPct val="100000"/>
              </a:lnSpc>
              <a:spcBef>
                <a:spcPts val="215"/>
              </a:spcBef>
              <a:buFont typeface="Arial"/>
              <a:buChar char="•"/>
              <a:tabLst>
                <a:tab pos="697230" algn="l"/>
              </a:tabLst>
            </a:pPr>
            <a:r>
              <a:rPr sz="2400" dirty="0">
                <a:latin typeface="Calibri"/>
                <a:cs typeface="Calibri"/>
              </a:rPr>
              <a:t>Here</a:t>
            </a:r>
            <a:r>
              <a:rPr sz="2400" spc="17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we</a:t>
            </a:r>
            <a:r>
              <a:rPr sz="2400" spc="17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have</a:t>
            </a:r>
            <a:r>
              <a:rPr sz="2400" spc="18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to</a:t>
            </a:r>
            <a:r>
              <a:rPr sz="2400" spc="165" dirty="0">
                <a:latin typeface="Calibri"/>
                <a:cs typeface="Calibri"/>
              </a:rPr>
              <a:t> </a:t>
            </a:r>
            <a:r>
              <a:rPr sz="2400" spc="75" dirty="0">
                <a:latin typeface="Calibri"/>
                <a:cs typeface="Calibri"/>
              </a:rPr>
              <a:t>assign</a:t>
            </a:r>
            <a:r>
              <a:rPr sz="2400" spc="170" dirty="0">
                <a:latin typeface="Calibri"/>
                <a:cs typeface="Calibri"/>
              </a:rPr>
              <a:t> </a:t>
            </a:r>
            <a:r>
              <a:rPr sz="2400" spc="55" dirty="0">
                <a:latin typeface="Calibri"/>
                <a:cs typeface="Calibri"/>
              </a:rPr>
              <a:t>weights</a:t>
            </a:r>
            <a:r>
              <a:rPr sz="2400" spc="17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and</a:t>
            </a:r>
            <a:r>
              <a:rPr sz="2400" spc="17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</a:t>
            </a:r>
            <a:r>
              <a:rPr sz="2400" spc="16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threshold</a:t>
            </a:r>
            <a:r>
              <a:rPr sz="2400" spc="130" dirty="0">
                <a:latin typeface="Calibri"/>
                <a:cs typeface="Calibri"/>
              </a:rPr>
              <a:t> </a:t>
            </a:r>
            <a:r>
              <a:rPr sz="2400" spc="45" dirty="0">
                <a:latin typeface="Calibri"/>
                <a:cs typeface="Calibri"/>
              </a:rPr>
              <a:t>value</a:t>
            </a:r>
            <a:endParaRPr sz="240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How</a:t>
            </a:r>
            <a:r>
              <a:rPr spc="85" dirty="0"/>
              <a:t> </a:t>
            </a:r>
            <a:r>
              <a:rPr spc="55" dirty="0"/>
              <a:t>would</a:t>
            </a:r>
            <a:r>
              <a:rPr spc="175" dirty="0"/>
              <a:t> </a:t>
            </a:r>
            <a:r>
              <a:rPr dirty="0"/>
              <a:t>we</a:t>
            </a:r>
            <a:r>
              <a:rPr spc="175" dirty="0"/>
              <a:t> </a:t>
            </a:r>
            <a:r>
              <a:rPr spc="50" dirty="0"/>
              <a:t>decide</a:t>
            </a:r>
            <a:r>
              <a:rPr spc="165" dirty="0"/>
              <a:t> </a:t>
            </a:r>
            <a:r>
              <a:rPr spc="-10" dirty="0"/>
              <a:t>this?</a:t>
            </a: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108011" y="474344"/>
            <a:ext cx="9523349" cy="3684397"/>
          </a:xfrm>
          <a:prstGeom prst="rect">
            <a:avLst/>
          </a:prstGeom>
        </p:spPr>
      </p:pic>
      <p:sp>
        <p:nvSpPr>
          <p:cNvPr id="4" name="object 4"/>
          <p:cNvSpPr txBox="1"/>
          <p:nvPr/>
        </p:nvSpPr>
        <p:spPr>
          <a:xfrm>
            <a:off x="527100" y="3208299"/>
            <a:ext cx="2306320" cy="2071370"/>
          </a:xfrm>
          <a:prstGeom prst="rect">
            <a:avLst/>
          </a:prstGeom>
        </p:spPr>
        <p:txBody>
          <a:bodyPr vert="horz" wrap="square" lIns="0" tIns="9842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775"/>
              </a:spcBef>
            </a:pPr>
            <a:r>
              <a:rPr sz="2800" spc="55" dirty="0">
                <a:latin typeface="Calibri"/>
                <a:cs typeface="Calibri"/>
              </a:rPr>
              <a:t>Threshold</a:t>
            </a:r>
            <a:r>
              <a:rPr sz="2800" spc="17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=</a:t>
            </a:r>
            <a:r>
              <a:rPr sz="2800" spc="120" dirty="0">
                <a:latin typeface="Calibri"/>
                <a:cs typeface="Calibri"/>
              </a:rPr>
              <a:t> </a:t>
            </a:r>
            <a:r>
              <a:rPr sz="2800" spc="60" dirty="0">
                <a:latin typeface="Calibri"/>
                <a:cs typeface="Calibri"/>
              </a:rPr>
              <a:t>10</a:t>
            </a:r>
            <a:endParaRPr sz="280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  <a:spcBef>
                <a:spcPts val="675"/>
              </a:spcBef>
            </a:pPr>
            <a:r>
              <a:rPr sz="2800" spc="65" dirty="0">
                <a:latin typeface="Calibri"/>
                <a:cs typeface="Calibri"/>
              </a:rPr>
              <a:t>w1</a:t>
            </a:r>
            <a:r>
              <a:rPr sz="2800" spc="114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=</a:t>
            </a:r>
            <a:r>
              <a:rPr sz="2800" spc="125" dirty="0">
                <a:latin typeface="Calibri"/>
                <a:cs typeface="Calibri"/>
              </a:rPr>
              <a:t> </a:t>
            </a:r>
            <a:r>
              <a:rPr sz="2800" spc="35" dirty="0">
                <a:latin typeface="Calibri"/>
                <a:cs typeface="Calibri"/>
              </a:rPr>
              <a:t>5</a:t>
            </a:r>
            <a:endParaRPr sz="280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  <a:spcBef>
                <a:spcPts val="660"/>
              </a:spcBef>
            </a:pPr>
            <a:r>
              <a:rPr sz="2800" spc="65" dirty="0">
                <a:latin typeface="Calibri"/>
                <a:cs typeface="Calibri"/>
              </a:rPr>
              <a:t>w2</a:t>
            </a:r>
            <a:r>
              <a:rPr sz="2800" spc="114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=</a:t>
            </a:r>
            <a:r>
              <a:rPr sz="2800" spc="125" dirty="0">
                <a:latin typeface="Calibri"/>
                <a:cs typeface="Calibri"/>
              </a:rPr>
              <a:t> </a:t>
            </a:r>
            <a:r>
              <a:rPr sz="2800" spc="35" dirty="0">
                <a:latin typeface="Calibri"/>
                <a:cs typeface="Calibri"/>
              </a:rPr>
              <a:t>5</a:t>
            </a:r>
            <a:endParaRPr sz="280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  <a:spcBef>
                <a:spcPts val="660"/>
              </a:spcBef>
            </a:pPr>
            <a:r>
              <a:rPr sz="2800" spc="65" dirty="0">
                <a:latin typeface="Calibri"/>
                <a:cs typeface="Calibri"/>
              </a:rPr>
              <a:t>w3</a:t>
            </a:r>
            <a:r>
              <a:rPr sz="2800" spc="114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=</a:t>
            </a:r>
            <a:r>
              <a:rPr sz="2800" spc="125" dirty="0">
                <a:latin typeface="Calibri"/>
                <a:cs typeface="Calibri"/>
              </a:rPr>
              <a:t> </a:t>
            </a:r>
            <a:r>
              <a:rPr sz="2800" spc="60" dirty="0">
                <a:latin typeface="Calibri"/>
                <a:cs typeface="Calibri"/>
              </a:rPr>
              <a:t>11</a:t>
            </a:r>
            <a:endParaRPr sz="2800">
              <a:latin typeface="Calibri"/>
              <a:cs typeface="Calibri"/>
            </a:endParaRPr>
          </a:p>
        </p:txBody>
      </p:sp>
      <p:grpSp>
        <p:nvGrpSpPr>
          <p:cNvPr id="5" name="object 5"/>
          <p:cNvGrpSpPr/>
          <p:nvPr/>
        </p:nvGrpSpPr>
        <p:grpSpPr>
          <a:xfrm>
            <a:off x="3888613" y="4257928"/>
            <a:ext cx="1973580" cy="707390"/>
            <a:chOff x="3888613" y="4257928"/>
            <a:chExt cx="1973580" cy="707390"/>
          </a:xfrm>
        </p:grpSpPr>
        <p:sp>
          <p:nvSpPr>
            <p:cNvPr id="6" name="object 6"/>
            <p:cNvSpPr/>
            <p:nvPr/>
          </p:nvSpPr>
          <p:spPr>
            <a:xfrm>
              <a:off x="3894963" y="4264278"/>
              <a:ext cx="1960880" cy="694690"/>
            </a:xfrm>
            <a:custGeom>
              <a:avLst/>
              <a:gdLst/>
              <a:ahLst/>
              <a:cxnLst/>
              <a:rect l="l" t="t" r="r" b="b"/>
              <a:pathLst>
                <a:path w="1960879" h="694689">
                  <a:moveTo>
                    <a:pt x="1613408" y="0"/>
                  </a:moveTo>
                  <a:lnTo>
                    <a:pt x="1613408" y="173609"/>
                  </a:lnTo>
                  <a:lnTo>
                    <a:pt x="0" y="173609"/>
                  </a:lnTo>
                  <a:lnTo>
                    <a:pt x="0" y="520954"/>
                  </a:lnTo>
                  <a:lnTo>
                    <a:pt x="1613408" y="520954"/>
                  </a:lnTo>
                  <a:lnTo>
                    <a:pt x="1613408" y="694563"/>
                  </a:lnTo>
                  <a:lnTo>
                    <a:pt x="1960752" y="347345"/>
                  </a:lnTo>
                  <a:lnTo>
                    <a:pt x="1613408" y="0"/>
                  </a:lnTo>
                  <a:close/>
                </a:path>
              </a:pathLst>
            </a:custGeom>
            <a:solidFill>
              <a:srgbClr val="5B9BD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3894963" y="4264278"/>
              <a:ext cx="1960880" cy="694690"/>
            </a:xfrm>
            <a:custGeom>
              <a:avLst/>
              <a:gdLst/>
              <a:ahLst/>
              <a:cxnLst/>
              <a:rect l="l" t="t" r="r" b="b"/>
              <a:pathLst>
                <a:path w="1960879" h="694689">
                  <a:moveTo>
                    <a:pt x="0" y="173609"/>
                  </a:moveTo>
                  <a:lnTo>
                    <a:pt x="1613408" y="173609"/>
                  </a:lnTo>
                  <a:lnTo>
                    <a:pt x="1613408" y="0"/>
                  </a:lnTo>
                  <a:lnTo>
                    <a:pt x="1960752" y="347345"/>
                  </a:lnTo>
                  <a:lnTo>
                    <a:pt x="1613408" y="694563"/>
                  </a:lnTo>
                  <a:lnTo>
                    <a:pt x="1613408" y="520954"/>
                  </a:lnTo>
                  <a:lnTo>
                    <a:pt x="0" y="520954"/>
                  </a:lnTo>
                  <a:lnTo>
                    <a:pt x="0" y="173609"/>
                  </a:lnTo>
                  <a:close/>
                </a:path>
              </a:pathLst>
            </a:custGeom>
            <a:ln w="12700">
              <a:solidFill>
                <a:srgbClr val="41709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8" name="object 8"/>
          <p:cNvSpPr txBox="1"/>
          <p:nvPr/>
        </p:nvSpPr>
        <p:spPr>
          <a:xfrm>
            <a:off x="6503289" y="3300729"/>
            <a:ext cx="5152390" cy="1050290"/>
          </a:xfrm>
          <a:prstGeom prst="rect">
            <a:avLst/>
          </a:prstGeom>
        </p:spPr>
        <p:txBody>
          <a:bodyPr vert="horz" wrap="square" lIns="0" tIns="48895" rIns="0" bIns="0" rtlCol="0">
            <a:spAutoFit/>
          </a:bodyPr>
          <a:lstStyle/>
          <a:p>
            <a:pPr marL="12700" marR="5080" algn="just">
              <a:lnSpc>
                <a:spcPct val="90100"/>
              </a:lnSpc>
              <a:spcBef>
                <a:spcPts val="385"/>
              </a:spcBef>
            </a:pP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This</a:t>
            </a:r>
            <a:r>
              <a:rPr sz="2400" spc="-4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is</a:t>
            </a:r>
            <a:r>
              <a:rPr sz="2400" spc="-4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a</a:t>
            </a:r>
            <a:r>
              <a:rPr sz="2400" spc="-5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silly</a:t>
            </a:r>
            <a:r>
              <a:rPr sz="2400" spc="-5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distribution.</a:t>
            </a:r>
            <a:r>
              <a:rPr sz="2400" spc="-4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Either</a:t>
            </a:r>
            <a:r>
              <a:rPr sz="2400" spc="-4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you</a:t>
            </a:r>
            <a:r>
              <a:rPr sz="2400" spc="-6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spc="-20" dirty="0">
                <a:solidFill>
                  <a:srgbClr val="404040"/>
                </a:solidFill>
                <a:latin typeface="Calibri"/>
                <a:cs typeface="Calibri"/>
              </a:rPr>
              <a:t>have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tickets</a:t>
            </a:r>
            <a:r>
              <a:rPr sz="2400" spc="-7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and</a:t>
            </a:r>
            <a:r>
              <a:rPr sz="2400" spc="-4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spc="-10" dirty="0">
                <a:solidFill>
                  <a:srgbClr val="404040"/>
                </a:solidFill>
                <a:latin typeface="Calibri"/>
                <a:cs typeface="Calibri"/>
              </a:rPr>
              <a:t>you’re</a:t>
            </a:r>
            <a:r>
              <a:rPr sz="2400" spc="-5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going,</a:t>
            </a:r>
            <a:r>
              <a:rPr sz="2400" spc="-5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or</a:t>
            </a:r>
            <a:r>
              <a:rPr sz="2400" spc="-5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you</a:t>
            </a:r>
            <a:r>
              <a:rPr sz="2400" spc="-4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don’t</a:t>
            </a:r>
            <a:r>
              <a:rPr sz="2400" spc="-4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spc="-25" dirty="0">
                <a:solidFill>
                  <a:srgbClr val="404040"/>
                </a:solidFill>
                <a:latin typeface="Calibri"/>
                <a:cs typeface="Calibri"/>
              </a:rPr>
              <a:t>and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you</a:t>
            </a:r>
            <a:r>
              <a:rPr sz="2400" spc="-6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spc="-10" dirty="0">
                <a:solidFill>
                  <a:srgbClr val="404040"/>
                </a:solidFill>
                <a:latin typeface="Calibri"/>
                <a:cs typeface="Calibri"/>
              </a:rPr>
              <a:t>aren’t.</a:t>
            </a:r>
            <a:endParaRPr sz="240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How</a:t>
            </a:r>
            <a:r>
              <a:rPr spc="85" dirty="0"/>
              <a:t> </a:t>
            </a:r>
            <a:r>
              <a:rPr spc="55" dirty="0"/>
              <a:t>would</a:t>
            </a:r>
            <a:r>
              <a:rPr spc="175" dirty="0"/>
              <a:t> </a:t>
            </a:r>
            <a:r>
              <a:rPr dirty="0"/>
              <a:t>we</a:t>
            </a:r>
            <a:r>
              <a:rPr spc="175" dirty="0"/>
              <a:t> </a:t>
            </a:r>
            <a:r>
              <a:rPr spc="50" dirty="0"/>
              <a:t>decide</a:t>
            </a:r>
            <a:r>
              <a:rPr spc="165" dirty="0"/>
              <a:t> </a:t>
            </a:r>
            <a:r>
              <a:rPr spc="-10" dirty="0"/>
              <a:t>this?</a:t>
            </a: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108011" y="474344"/>
            <a:ext cx="9523349" cy="3684397"/>
          </a:xfrm>
          <a:prstGeom prst="rect">
            <a:avLst/>
          </a:prstGeom>
        </p:spPr>
      </p:pic>
      <p:sp>
        <p:nvSpPr>
          <p:cNvPr id="4" name="object 4"/>
          <p:cNvSpPr txBox="1"/>
          <p:nvPr/>
        </p:nvSpPr>
        <p:spPr>
          <a:xfrm>
            <a:off x="527100" y="3208299"/>
            <a:ext cx="2306320" cy="2071370"/>
          </a:xfrm>
          <a:prstGeom prst="rect">
            <a:avLst/>
          </a:prstGeom>
        </p:spPr>
        <p:txBody>
          <a:bodyPr vert="horz" wrap="square" lIns="0" tIns="9842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775"/>
              </a:spcBef>
            </a:pPr>
            <a:r>
              <a:rPr sz="2800" spc="55" dirty="0">
                <a:latin typeface="Calibri"/>
                <a:cs typeface="Calibri"/>
              </a:rPr>
              <a:t>Threshold</a:t>
            </a:r>
            <a:r>
              <a:rPr sz="2800" spc="17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=</a:t>
            </a:r>
            <a:r>
              <a:rPr sz="2800" spc="120" dirty="0">
                <a:latin typeface="Calibri"/>
                <a:cs typeface="Calibri"/>
              </a:rPr>
              <a:t> </a:t>
            </a:r>
            <a:r>
              <a:rPr sz="2800" spc="60" dirty="0">
                <a:latin typeface="Calibri"/>
                <a:cs typeface="Calibri"/>
              </a:rPr>
              <a:t>12</a:t>
            </a:r>
            <a:endParaRPr sz="280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  <a:spcBef>
                <a:spcPts val="675"/>
              </a:spcBef>
            </a:pPr>
            <a:r>
              <a:rPr sz="2800" spc="65" dirty="0">
                <a:latin typeface="Calibri"/>
                <a:cs typeface="Calibri"/>
              </a:rPr>
              <a:t>w1</a:t>
            </a:r>
            <a:r>
              <a:rPr sz="2800" spc="114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=</a:t>
            </a:r>
            <a:r>
              <a:rPr sz="2800" spc="125" dirty="0">
                <a:latin typeface="Calibri"/>
                <a:cs typeface="Calibri"/>
              </a:rPr>
              <a:t> </a:t>
            </a:r>
            <a:r>
              <a:rPr sz="2800" spc="35" dirty="0">
                <a:latin typeface="Calibri"/>
                <a:cs typeface="Calibri"/>
              </a:rPr>
              <a:t>5</a:t>
            </a:r>
            <a:endParaRPr sz="280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  <a:spcBef>
                <a:spcPts val="660"/>
              </a:spcBef>
            </a:pPr>
            <a:r>
              <a:rPr sz="2800" spc="65" dirty="0">
                <a:latin typeface="Calibri"/>
                <a:cs typeface="Calibri"/>
              </a:rPr>
              <a:t>w2</a:t>
            </a:r>
            <a:r>
              <a:rPr sz="2800" spc="114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=</a:t>
            </a:r>
            <a:r>
              <a:rPr sz="2800" spc="125" dirty="0">
                <a:latin typeface="Calibri"/>
                <a:cs typeface="Calibri"/>
              </a:rPr>
              <a:t> </a:t>
            </a:r>
            <a:r>
              <a:rPr sz="2800" spc="35" dirty="0">
                <a:latin typeface="Calibri"/>
                <a:cs typeface="Calibri"/>
              </a:rPr>
              <a:t>5</a:t>
            </a:r>
            <a:endParaRPr sz="280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  <a:spcBef>
                <a:spcPts val="660"/>
              </a:spcBef>
            </a:pPr>
            <a:r>
              <a:rPr sz="2800" spc="65" dirty="0">
                <a:latin typeface="Calibri"/>
                <a:cs typeface="Calibri"/>
              </a:rPr>
              <a:t>w3</a:t>
            </a:r>
            <a:r>
              <a:rPr sz="2800" spc="114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=</a:t>
            </a:r>
            <a:r>
              <a:rPr sz="2800" spc="125" dirty="0">
                <a:latin typeface="Calibri"/>
                <a:cs typeface="Calibri"/>
              </a:rPr>
              <a:t> </a:t>
            </a:r>
            <a:r>
              <a:rPr sz="2800" spc="60" dirty="0">
                <a:latin typeface="Calibri"/>
                <a:cs typeface="Calibri"/>
              </a:rPr>
              <a:t>11</a:t>
            </a:r>
            <a:endParaRPr sz="2800">
              <a:latin typeface="Calibri"/>
              <a:cs typeface="Calibri"/>
            </a:endParaRPr>
          </a:p>
        </p:txBody>
      </p:sp>
      <p:grpSp>
        <p:nvGrpSpPr>
          <p:cNvPr id="5" name="object 5"/>
          <p:cNvGrpSpPr/>
          <p:nvPr/>
        </p:nvGrpSpPr>
        <p:grpSpPr>
          <a:xfrm>
            <a:off x="3888613" y="4257928"/>
            <a:ext cx="1973580" cy="707390"/>
            <a:chOff x="3888613" y="4257928"/>
            <a:chExt cx="1973580" cy="707390"/>
          </a:xfrm>
        </p:grpSpPr>
        <p:sp>
          <p:nvSpPr>
            <p:cNvPr id="6" name="object 6"/>
            <p:cNvSpPr/>
            <p:nvPr/>
          </p:nvSpPr>
          <p:spPr>
            <a:xfrm>
              <a:off x="3894963" y="4264278"/>
              <a:ext cx="1960880" cy="694690"/>
            </a:xfrm>
            <a:custGeom>
              <a:avLst/>
              <a:gdLst/>
              <a:ahLst/>
              <a:cxnLst/>
              <a:rect l="l" t="t" r="r" b="b"/>
              <a:pathLst>
                <a:path w="1960879" h="694689">
                  <a:moveTo>
                    <a:pt x="1613408" y="0"/>
                  </a:moveTo>
                  <a:lnTo>
                    <a:pt x="1613408" y="173609"/>
                  </a:lnTo>
                  <a:lnTo>
                    <a:pt x="0" y="173609"/>
                  </a:lnTo>
                  <a:lnTo>
                    <a:pt x="0" y="520954"/>
                  </a:lnTo>
                  <a:lnTo>
                    <a:pt x="1613408" y="520954"/>
                  </a:lnTo>
                  <a:lnTo>
                    <a:pt x="1613408" y="694563"/>
                  </a:lnTo>
                  <a:lnTo>
                    <a:pt x="1960752" y="347345"/>
                  </a:lnTo>
                  <a:lnTo>
                    <a:pt x="1613408" y="0"/>
                  </a:lnTo>
                  <a:close/>
                </a:path>
              </a:pathLst>
            </a:custGeom>
            <a:solidFill>
              <a:srgbClr val="5B9BD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3894963" y="4264278"/>
              <a:ext cx="1960880" cy="694690"/>
            </a:xfrm>
            <a:custGeom>
              <a:avLst/>
              <a:gdLst/>
              <a:ahLst/>
              <a:cxnLst/>
              <a:rect l="l" t="t" r="r" b="b"/>
              <a:pathLst>
                <a:path w="1960879" h="694689">
                  <a:moveTo>
                    <a:pt x="0" y="173609"/>
                  </a:moveTo>
                  <a:lnTo>
                    <a:pt x="1613408" y="173609"/>
                  </a:lnTo>
                  <a:lnTo>
                    <a:pt x="1613408" y="0"/>
                  </a:lnTo>
                  <a:lnTo>
                    <a:pt x="1960752" y="347345"/>
                  </a:lnTo>
                  <a:lnTo>
                    <a:pt x="1613408" y="694563"/>
                  </a:lnTo>
                  <a:lnTo>
                    <a:pt x="1613408" y="520954"/>
                  </a:lnTo>
                  <a:lnTo>
                    <a:pt x="0" y="520954"/>
                  </a:lnTo>
                  <a:lnTo>
                    <a:pt x="0" y="173609"/>
                  </a:lnTo>
                  <a:close/>
                </a:path>
              </a:pathLst>
            </a:custGeom>
            <a:ln w="12700">
              <a:solidFill>
                <a:srgbClr val="41709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8" name="object 8"/>
          <p:cNvSpPr txBox="1"/>
          <p:nvPr/>
        </p:nvSpPr>
        <p:spPr>
          <a:xfrm>
            <a:off x="6503289" y="3300729"/>
            <a:ext cx="5456555" cy="2216150"/>
          </a:xfrm>
          <a:prstGeom prst="rect">
            <a:avLst/>
          </a:prstGeom>
        </p:spPr>
        <p:txBody>
          <a:bodyPr vert="horz" wrap="square" lIns="0" tIns="48895" rIns="0" bIns="0" rtlCol="0">
            <a:spAutoFit/>
          </a:bodyPr>
          <a:lstStyle/>
          <a:p>
            <a:pPr marL="12700" marR="5080">
              <a:lnSpc>
                <a:spcPct val="90100"/>
              </a:lnSpc>
              <a:spcBef>
                <a:spcPts val="385"/>
              </a:spcBef>
            </a:pP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Now</a:t>
            </a:r>
            <a:r>
              <a:rPr sz="2400" spc="-3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this</a:t>
            </a:r>
            <a:r>
              <a:rPr sz="2400" spc="-4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basically</a:t>
            </a:r>
            <a:r>
              <a:rPr sz="2400" spc="-5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says</a:t>
            </a:r>
            <a:r>
              <a:rPr sz="2400" spc="-3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that</a:t>
            </a:r>
            <a:r>
              <a:rPr sz="2400" spc="-3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we</a:t>
            </a:r>
            <a:r>
              <a:rPr sz="2400" spc="-4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only</a:t>
            </a:r>
            <a:r>
              <a:rPr sz="2400" spc="-3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go</a:t>
            </a:r>
            <a:r>
              <a:rPr sz="2400" spc="-5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if</a:t>
            </a:r>
            <a:r>
              <a:rPr sz="2400" spc="-3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spc="-25" dirty="0">
                <a:solidFill>
                  <a:srgbClr val="404040"/>
                </a:solidFill>
                <a:latin typeface="Calibri"/>
                <a:cs typeface="Calibri"/>
              </a:rPr>
              <a:t>we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have</a:t>
            </a:r>
            <a:r>
              <a:rPr sz="2400" spc="-4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tickets</a:t>
            </a:r>
            <a:r>
              <a:rPr sz="2400" spc="-7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AND</a:t>
            </a:r>
            <a:r>
              <a:rPr sz="2400" spc="-5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one</a:t>
            </a:r>
            <a:r>
              <a:rPr sz="2400" spc="-4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of</a:t>
            </a:r>
            <a:r>
              <a:rPr sz="2400" spc="-4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the</a:t>
            </a:r>
            <a:r>
              <a:rPr sz="2400" spc="-4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spc="-10" dirty="0">
                <a:solidFill>
                  <a:srgbClr val="404040"/>
                </a:solidFill>
                <a:latin typeface="Calibri"/>
                <a:cs typeface="Calibri"/>
              </a:rPr>
              <a:t>other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conditions</a:t>
            </a:r>
            <a:r>
              <a:rPr sz="2400" spc="-4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are</a:t>
            </a:r>
            <a:r>
              <a:rPr sz="2400" spc="-3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true,</a:t>
            </a:r>
            <a:r>
              <a:rPr sz="2400" spc="-5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but</a:t>
            </a:r>
            <a:r>
              <a:rPr sz="2400" spc="-4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not</a:t>
            </a:r>
            <a:r>
              <a:rPr sz="2400" spc="-4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both</a:t>
            </a:r>
            <a:r>
              <a:rPr sz="2400" spc="-4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of</a:t>
            </a:r>
            <a:r>
              <a:rPr sz="2400" spc="-3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spc="-10" dirty="0">
                <a:solidFill>
                  <a:srgbClr val="404040"/>
                </a:solidFill>
                <a:latin typeface="Calibri"/>
                <a:cs typeface="Calibri"/>
              </a:rPr>
              <a:t>them.</a:t>
            </a:r>
            <a:endParaRPr sz="2400">
              <a:latin typeface="Calibri"/>
              <a:cs typeface="Calibri"/>
            </a:endParaRPr>
          </a:p>
          <a:p>
            <a:pPr marL="12700" marR="224790">
              <a:lnSpc>
                <a:spcPts val="2590"/>
              </a:lnSpc>
              <a:spcBef>
                <a:spcPts val="1445"/>
              </a:spcBef>
            </a:pP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This</a:t>
            </a:r>
            <a:r>
              <a:rPr sz="2400" spc="-3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is</a:t>
            </a:r>
            <a:r>
              <a:rPr sz="2400" spc="-2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a</a:t>
            </a:r>
            <a:r>
              <a:rPr sz="2400" spc="-4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silly</a:t>
            </a:r>
            <a:r>
              <a:rPr sz="2400" spc="-3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spc="-10" dirty="0">
                <a:solidFill>
                  <a:srgbClr val="404040"/>
                </a:solidFill>
                <a:latin typeface="Calibri"/>
                <a:cs typeface="Calibri"/>
              </a:rPr>
              <a:t>example,</a:t>
            </a:r>
            <a:r>
              <a:rPr sz="2400" spc="-4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but</a:t>
            </a:r>
            <a:r>
              <a:rPr sz="2400" spc="-2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a</a:t>
            </a:r>
            <a:r>
              <a:rPr sz="2400" spc="-3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spc="-10" dirty="0">
                <a:solidFill>
                  <a:srgbClr val="404040"/>
                </a:solidFill>
                <a:latin typeface="Calibri"/>
                <a:cs typeface="Calibri"/>
              </a:rPr>
              <a:t>reasonable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starting</a:t>
            </a:r>
            <a:r>
              <a:rPr sz="2400" spc="-5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point</a:t>
            </a:r>
            <a:r>
              <a:rPr sz="2400" spc="-3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to</a:t>
            </a:r>
            <a:r>
              <a:rPr sz="2400" spc="-4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think</a:t>
            </a:r>
            <a:r>
              <a:rPr sz="2400" spc="-4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about</a:t>
            </a:r>
            <a:r>
              <a:rPr sz="2400" spc="-3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how</a:t>
            </a:r>
            <a:r>
              <a:rPr sz="2400" spc="-3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we</a:t>
            </a:r>
            <a:r>
              <a:rPr sz="2400" spc="-3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spc="-10" dirty="0">
                <a:solidFill>
                  <a:srgbClr val="404040"/>
                </a:solidFill>
                <a:latin typeface="Calibri"/>
                <a:cs typeface="Calibri"/>
              </a:rPr>
              <a:t>build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up</a:t>
            </a:r>
            <a:r>
              <a:rPr sz="2400" spc="-6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complex</a:t>
            </a:r>
            <a:r>
              <a:rPr sz="2400" spc="-6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decision</a:t>
            </a:r>
            <a:r>
              <a:rPr sz="2400" spc="-7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spc="-10" dirty="0">
                <a:solidFill>
                  <a:srgbClr val="404040"/>
                </a:solidFill>
                <a:latin typeface="Calibri"/>
                <a:cs typeface="Calibri"/>
              </a:rPr>
              <a:t>making.</a:t>
            </a:r>
            <a:endParaRPr sz="240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Addition</a:t>
            </a:r>
            <a:r>
              <a:rPr spc="260" dirty="0"/>
              <a:t> </a:t>
            </a:r>
            <a:r>
              <a:rPr dirty="0"/>
              <a:t>of</a:t>
            </a:r>
            <a:r>
              <a:rPr spc="265" dirty="0"/>
              <a:t> </a:t>
            </a:r>
            <a:r>
              <a:rPr dirty="0"/>
              <a:t>other</a:t>
            </a:r>
            <a:r>
              <a:rPr spc="250" dirty="0"/>
              <a:t> </a:t>
            </a:r>
            <a:r>
              <a:rPr dirty="0"/>
              <a:t>nodes</a:t>
            </a:r>
            <a:r>
              <a:rPr spc="265" dirty="0"/>
              <a:t> </a:t>
            </a:r>
            <a:r>
              <a:rPr spc="50" dirty="0"/>
              <a:t>increases</a:t>
            </a:r>
            <a:r>
              <a:rPr spc="260" dirty="0"/>
              <a:t> </a:t>
            </a:r>
            <a:r>
              <a:rPr spc="60" dirty="0"/>
              <a:t>complexity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1176324" y="5061915"/>
            <a:ext cx="9655175" cy="836294"/>
          </a:xfrm>
          <a:prstGeom prst="rect">
            <a:avLst/>
          </a:prstGeom>
        </p:spPr>
        <p:txBody>
          <a:bodyPr vert="horz" wrap="square" lIns="0" tIns="60325" rIns="0" bIns="0" rtlCol="0">
            <a:spAutoFit/>
          </a:bodyPr>
          <a:lstStyle/>
          <a:p>
            <a:pPr marL="239395" marR="5080" indent="-227329">
              <a:lnSpc>
                <a:spcPts val="3030"/>
              </a:lnSpc>
              <a:spcBef>
                <a:spcPts val="475"/>
              </a:spcBef>
              <a:buFont typeface="Arial"/>
              <a:buChar char="•"/>
              <a:tabLst>
                <a:tab pos="240665" algn="l"/>
              </a:tabLst>
            </a:pPr>
            <a:r>
              <a:rPr sz="2800" spc="-10" dirty="0">
                <a:latin typeface="Calibri"/>
                <a:cs typeface="Calibri"/>
              </a:rPr>
              <a:t>We</a:t>
            </a:r>
            <a:r>
              <a:rPr sz="2800" spc="175" dirty="0">
                <a:latin typeface="Calibri"/>
                <a:cs typeface="Calibri"/>
              </a:rPr>
              <a:t> </a:t>
            </a:r>
            <a:r>
              <a:rPr sz="2800" spc="50" dirty="0">
                <a:latin typeface="Calibri"/>
                <a:cs typeface="Calibri"/>
              </a:rPr>
              <a:t>can</a:t>
            </a:r>
            <a:r>
              <a:rPr sz="2800" spc="20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now</a:t>
            </a:r>
            <a:r>
              <a:rPr sz="2800" spc="13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make</a:t>
            </a:r>
            <a:r>
              <a:rPr sz="2800" spc="180" dirty="0">
                <a:latin typeface="Calibri"/>
                <a:cs typeface="Calibri"/>
              </a:rPr>
              <a:t> </a:t>
            </a:r>
            <a:r>
              <a:rPr sz="2800" spc="55" dirty="0">
                <a:latin typeface="Calibri"/>
                <a:cs typeface="Calibri"/>
              </a:rPr>
              <a:t>decisions</a:t>
            </a:r>
            <a:r>
              <a:rPr sz="2800" spc="24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based</a:t>
            </a:r>
            <a:r>
              <a:rPr sz="2800" spc="19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on</a:t>
            </a:r>
            <a:r>
              <a:rPr sz="2800" spc="17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more</a:t>
            </a:r>
            <a:r>
              <a:rPr sz="2800" spc="18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inputs,</a:t>
            </a:r>
            <a:r>
              <a:rPr sz="2800" spc="-3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and</a:t>
            </a:r>
            <a:r>
              <a:rPr sz="2800" spc="19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have</a:t>
            </a:r>
            <a:r>
              <a:rPr sz="2800" spc="204" dirty="0">
                <a:latin typeface="Calibri"/>
                <a:cs typeface="Calibri"/>
              </a:rPr>
              <a:t> </a:t>
            </a:r>
            <a:r>
              <a:rPr sz="2800" spc="-50" dirty="0">
                <a:latin typeface="Calibri"/>
                <a:cs typeface="Calibri"/>
              </a:rPr>
              <a:t>a 	</a:t>
            </a:r>
            <a:r>
              <a:rPr sz="2800" dirty="0">
                <a:latin typeface="Calibri"/>
                <a:cs typeface="Calibri"/>
              </a:rPr>
              <a:t>more</a:t>
            </a:r>
            <a:r>
              <a:rPr sz="2800" spc="18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nuanced</a:t>
            </a:r>
            <a:r>
              <a:rPr sz="2800" spc="22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way</a:t>
            </a:r>
            <a:r>
              <a:rPr sz="2800" spc="8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of</a:t>
            </a:r>
            <a:r>
              <a:rPr sz="2800" spc="175" dirty="0">
                <a:latin typeface="Calibri"/>
                <a:cs typeface="Calibri"/>
              </a:rPr>
              <a:t> </a:t>
            </a:r>
            <a:r>
              <a:rPr sz="2800" spc="80" dirty="0">
                <a:latin typeface="Calibri"/>
                <a:cs typeface="Calibri"/>
              </a:rPr>
              <a:t>getting</a:t>
            </a:r>
            <a:r>
              <a:rPr sz="2800" spc="21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to</a:t>
            </a:r>
            <a:r>
              <a:rPr sz="2800" spc="18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the</a:t>
            </a:r>
            <a:r>
              <a:rPr sz="2800" spc="190" dirty="0">
                <a:latin typeface="Calibri"/>
                <a:cs typeface="Calibri"/>
              </a:rPr>
              <a:t> </a:t>
            </a:r>
            <a:r>
              <a:rPr sz="2800" spc="-10" dirty="0">
                <a:latin typeface="Calibri"/>
                <a:cs typeface="Calibri"/>
              </a:rPr>
              <a:t>outputs.</a:t>
            </a:r>
            <a:endParaRPr sz="2800">
              <a:latin typeface="Calibri"/>
              <a:cs typeface="Calibri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643587" y="1228839"/>
            <a:ext cx="8193197" cy="3032311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How</a:t>
            </a:r>
            <a:r>
              <a:rPr spc="240" dirty="0"/>
              <a:t> </a:t>
            </a:r>
            <a:r>
              <a:rPr dirty="0"/>
              <a:t>does</a:t>
            </a:r>
            <a:r>
              <a:rPr spc="335" dirty="0"/>
              <a:t> </a:t>
            </a:r>
            <a:r>
              <a:rPr dirty="0"/>
              <a:t>information</a:t>
            </a:r>
            <a:r>
              <a:rPr spc="335" dirty="0"/>
              <a:t> </a:t>
            </a:r>
            <a:r>
              <a:rPr spc="75" dirty="0"/>
              <a:t>change</a:t>
            </a:r>
            <a:r>
              <a:rPr spc="335" dirty="0"/>
              <a:t> </a:t>
            </a:r>
            <a:r>
              <a:rPr dirty="0"/>
              <a:t>through</a:t>
            </a:r>
            <a:r>
              <a:rPr spc="300" dirty="0"/>
              <a:t> </a:t>
            </a:r>
            <a:r>
              <a:rPr spc="-10" dirty="0"/>
              <a:t>layers?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1176324" y="5220715"/>
            <a:ext cx="9542145" cy="835660"/>
          </a:xfrm>
          <a:prstGeom prst="rect">
            <a:avLst/>
          </a:prstGeom>
        </p:spPr>
        <p:txBody>
          <a:bodyPr vert="horz" wrap="square" lIns="0" tIns="60960" rIns="0" bIns="0" rtlCol="0">
            <a:spAutoFit/>
          </a:bodyPr>
          <a:lstStyle/>
          <a:p>
            <a:pPr marL="239395" marR="5080" indent="-227329">
              <a:lnSpc>
                <a:spcPts val="3020"/>
              </a:lnSpc>
              <a:spcBef>
                <a:spcPts val="480"/>
              </a:spcBef>
              <a:buFont typeface="Arial"/>
              <a:buChar char="•"/>
              <a:tabLst>
                <a:tab pos="240665" algn="l"/>
              </a:tabLst>
            </a:pPr>
            <a:r>
              <a:rPr sz="2800" dirty="0">
                <a:latin typeface="Calibri"/>
                <a:cs typeface="Calibri"/>
              </a:rPr>
              <a:t>As</a:t>
            </a:r>
            <a:r>
              <a:rPr sz="2800" spc="21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we</a:t>
            </a:r>
            <a:r>
              <a:rPr sz="2800" spc="22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move</a:t>
            </a:r>
            <a:r>
              <a:rPr sz="2800" spc="24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through</a:t>
            </a:r>
            <a:r>
              <a:rPr sz="2800" spc="25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the</a:t>
            </a:r>
            <a:r>
              <a:rPr sz="2800" spc="22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layers</a:t>
            </a:r>
            <a:r>
              <a:rPr sz="2800" spc="20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of</a:t>
            </a:r>
            <a:r>
              <a:rPr sz="2800" spc="21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the</a:t>
            </a:r>
            <a:r>
              <a:rPr sz="2800" spc="24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DNN,</a:t>
            </a:r>
            <a:r>
              <a:rPr sz="2800" spc="-3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we</a:t>
            </a:r>
            <a:r>
              <a:rPr sz="2800" spc="229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are</a:t>
            </a:r>
            <a:r>
              <a:rPr sz="2800" spc="210" dirty="0">
                <a:latin typeface="Calibri"/>
                <a:cs typeface="Calibri"/>
              </a:rPr>
              <a:t> </a:t>
            </a:r>
            <a:r>
              <a:rPr sz="2800" spc="-10" dirty="0">
                <a:latin typeface="Calibri"/>
                <a:cs typeface="Calibri"/>
              </a:rPr>
              <a:t>somewhat 	</a:t>
            </a:r>
            <a:r>
              <a:rPr sz="2800" spc="80" dirty="0">
                <a:latin typeface="Calibri"/>
                <a:cs typeface="Calibri"/>
              </a:rPr>
              <a:t>making</a:t>
            </a:r>
            <a:r>
              <a:rPr sz="2800" spc="204" dirty="0">
                <a:latin typeface="Calibri"/>
                <a:cs typeface="Calibri"/>
              </a:rPr>
              <a:t> </a:t>
            </a:r>
            <a:r>
              <a:rPr sz="2800" spc="50" dirty="0">
                <a:latin typeface="Calibri"/>
                <a:cs typeface="Calibri"/>
              </a:rPr>
              <a:t>decisions</a:t>
            </a:r>
            <a:r>
              <a:rPr sz="2800" spc="24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on</a:t>
            </a:r>
            <a:r>
              <a:rPr sz="2800" spc="19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more</a:t>
            </a:r>
            <a:r>
              <a:rPr sz="2800" spc="21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and</a:t>
            </a:r>
            <a:r>
              <a:rPr sz="2800" spc="21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more</a:t>
            </a:r>
            <a:r>
              <a:rPr sz="2800" spc="20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abstract</a:t>
            </a:r>
            <a:r>
              <a:rPr sz="2800" spc="190" dirty="0">
                <a:latin typeface="Calibri"/>
                <a:cs typeface="Calibri"/>
              </a:rPr>
              <a:t> </a:t>
            </a:r>
            <a:r>
              <a:rPr sz="2800" spc="-10" dirty="0">
                <a:latin typeface="Calibri"/>
                <a:cs typeface="Calibri"/>
              </a:rPr>
              <a:t>items</a:t>
            </a:r>
            <a:endParaRPr sz="2800">
              <a:latin typeface="Calibri"/>
              <a:cs typeface="Calibri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602721" y="837501"/>
            <a:ext cx="6365510" cy="3075495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Perceptrons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1150924" y="3576039"/>
            <a:ext cx="7279005" cy="2346960"/>
          </a:xfrm>
          <a:prstGeom prst="rect">
            <a:avLst/>
          </a:prstGeom>
        </p:spPr>
        <p:txBody>
          <a:bodyPr vert="horz" wrap="square" lIns="0" tIns="46355" rIns="0" bIns="0" rtlCol="0">
            <a:spAutoFit/>
          </a:bodyPr>
          <a:lstStyle/>
          <a:p>
            <a:pPr marL="265430" indent="-227329">
              <a:lnSpc>
                <a:spcPct val="100000"/>
              </a:lnSpc>
              <a:spcBef>
                <a:spcPts val="365"/>
              </a:spcBef>
              <a:buFont typeface="Arial"/>
              <a:buChar char="•"/>
              <a:tabLst>
                <a:tab pos="265430" algn="l"/>
              </a:tabLst>
            </a:pPr>
            <a:r>
              <a:rPr sz="2800" spc="-10" dirty="0">
                <a:latin typeface="Calibri"/>
                <a:cs typeface="Calibri"/>
              </a:rPr>
              <a:t>We</a:t>
            </a:r>
            <a:r>
              <a:rPr sz="2800" spc="-15" dirty="0">
                <a:latin typeface="Calibri"/>
                <a:cs typeface="Calibri"/>
              </a:rPr>
              <a:t> </a:t>
            </a:r>
            <a:r>
              <a:rPr sz="2800" spc="50" dirty="0">
                <a:latin typeface="Calibri"/>
                <a:cs typeface="Calibri"/>
              </a:rPr>
              <a:t>can</a:t>
            </a:r>
            <a:r>
              <a:rPr sz="2800" spc="-5" dirty="0">
                <a:latin typeface="Calibri"/>
                <a:cs typeface="Calibri"/>
              </a:rPr>
              <a:t> </a:t>
            </a:r>
            <a:r>
              <a:rPr sz="2800" spc="-10" dirty="0">
                <a:latin typeface="Calibri"/>
                <a:cs typeface="Calibri"/>
              </a:rPr>
              <a:t>assume</a:t>
            </a:r>
            <a:endParaRPr sz="2800">
              <a:latin typeface="Calibri"/>
              <a:cs typeface="Calibri"/>
            </a:endParaRPr>
          </a:p>
          <a:p>
            <a:pPr marL="721995" lvl="1" indent="-227329">
              <a:lnSpc>
                <a:spcPct val="100000"/>
              </a:lnSpc>
              <a:spcBef>
                <a:spcPts val="234"/>
              </a:spcBef>
              <a:buFont typeface="Arial"/>
              <a:buChar char="•"/>
              <a:tabLst>
                <a:tab pos="721995" algn="l"/>
              </a:tabLst>
            </a:pPr>
            <a:r>
              <a:rPr sz="2400" dirty="0">
                <a:latin typeface="Calibri"/>
                <a:cs typeface="Calibri"/>
              </a:rPr>
              <a:t>Inputs</a:t>
            </a:r>
            <a:r>
              <a:rPr sz="2400" spc="155" dirty="0">
                <a:latin typeface="Calibri"/>
                <a:cs typeface="Calibri"/>
              </a:rPr>
              <a:t> </a:t>
            </a:r>
            <a:r>
              <a:rPr sz="2400" spc="50" dirty="0">
                <a:latin typeface="Calibri"/>
                <a:cs typeface="Calibri"/>
              </a:rPr>
              <a:t>as</a:t>
            </a:r>
            <a:r>
              <a:rPr sz="2400" spc="13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</a:t>
            </a:r>
            <a:r>
              <a:rPr sz="2400" spc="10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vector</a:t>
            </a:r>
            <a:r>
              <a:rPr sz="2400" spc="145" dirty="0">
                <a:latin typeface="Calibri"/>
                <a:cs typeface="Calibri"/>
              </a:rPr>
              <a:t> </a:t>
            </a:r>
            <a:r>
              <a:rPr sz="2400" spc="195" dirty="0">
                <a:latin typeface="Calibri"/>
                <a:cs typeface="Calibri"/>
              </a:rPr>
              <a:t>x</a:t>
            </a:r>
            <a:r>
              <a:rPr sz="2400" spc="8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=</a:t>
            </a:r>
            <a:r>
              <a:rPr sz="2400" spc="145" dirty="0">
                <a:latin typeface="Calibri"/>
                <a:cs typeface="Calibri"/>
              </a:rPr>
              <a:t> </a:t>
            </a:r>
            <a:r>
              <a:rPr sz="2400" spc="70" dirty="0">
                <a:latin typeface="Calibri"/>
                <a:cs typeface="Calibri"/>
              </a:rPr>
              <a:t>{x1,</a:t>
            </a:r>
            <a:r>
              <a:rPr sz="2400" spc="-60" dirty="0">
                <a:latin typeface="Calibri"/>
                <a:cs typeface="Calibri"/>
              </a:rPr>
              <a:t> </a:t>
            </a:r>
            <a:r>
              <a:rPr sz="2400" spc="75" dirty="0">
                <a:latin typeface="Calibri"/>
                <a:cs typeface="Calibri"/>
              </a:rPr>
              <a:t>x2,</a:t>
            </a:r>
            <a:r>
              <a:rPr sz="2400" spc="-55" dirty="0">
                <a:latin typeface="Calibri"/>
                <a:cs typeface="Calibri"/>
              </a:rPr>
              <a:t> </a:t>
            </a:r>
            <a:r>
              <a:rPr sz="2400" spc="95" dirty="0">
                <a:latin typeface="Calibri"/>
                <a:cs typeface="Calibri"/>
              </a:rPr>
              <a:t>x3}</a:t>
            </a:r>
            <a:endParaRPr sz="2400">
              <a:latin typeface="Calibri"/>
              <a:cs typeface="Calibri"/>
            </a:endParaRPr>
          </a:p>
          <a:p>
            <a:pPr marL="721995" lvl="1" indent="-227329">
              <a:lnSpc>
                <a:spcPct val="100000"/>
              </a:lnSpc>
              <a:spcBef>
                <a:spcPts val="215"/>
              </a:spcBef>
              <a:buFont typeface="Arial"/>
              <a:buChar char="•"/>
              <a:tabLst>
                <a:tab pos="721995" algn="l"/>
              </a:tabLst>
            </a:pPr>
            <a:r>
              <a:rPr sz="2400" dirty="0">
                <a:latin typeface="Calibri"/>
                <a:cs typeface="Calibri"/>
              </a:rPr>
              <a:t>Weights</a:t>
            </a:r>
            <a:r>
              <a:rPr sz="2400" spc="145" dirty="0">
                <a:latin typeface="Calibri"/>
                <a:cs typeface="Calibri"/>
              </a:rPr>
              <a:t> </a:t>
            </a:r>
            <a:r>
              <a:rPr sz="2400" spc="50" dirty="0">
                <a:latin typeface="Calibri"/>
                <a:cs typeface="Calibri"/>
              </a:rPr>
              <a:t>as</a:t>
            </a:r>
            <a:r>
              <a:rPr sz="2400" spc="13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vector</a:t>
            </a:r>
            <a:r>
              <a:rPr sz="2400" spc="170" dirty="0">
                <a:latin typeface="Calibri"/>
                <a:cs typeface="Calibri"/>
              </a:rPr>
              <a:t> </a:t>
            </a:r>
            <a:r>
              <a:rPr sz="2400" spc="50" dirty="0">
                <a:latin typeface="Calibri"/>
                <a:cs typeface="Calibri"/>
              </a:rPr>
              <a:t>w</a:t>
            </a:r>
            <a:r>
              <a:rPr sz="2400" spc="10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=</a:t>
            </a:r>
            <a:r>
              <a:rPr sz="2400" spc="16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{w1,</a:t>
            </a:r>
            <a:r>
              <a:rPr sz="2400" spc="-55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w2,w3}</a:t>
            </a:r>
            <a:endParaRPr sz="2400">
              <a:latin typeface="Calibri"/>
              <a:cs typeface="Calibri"/>
            </a:endParaRPr>
          </a:p>
          <a:p>
            <a:pPr marL="721995" lvl="1" indent="-227329">
              <a:lnSpc>
                <a:spcPct val="100000"/>
              </a:lnSpc>
              <a:spcBef>
                <a:spcPts val="215"/>
              </a:spcBef>
              <a:buFont typeface="Arial"/>
              <a:buChar char="•"/>
              <a:tabLst>
                <a:tab pos="721995" algn="l"/>
                <a:tab pos="6229350" algn="l"/>
              </a:tabLst>
            </a:pPr>
            <a:r>
              <a:rPr sz="2400" spc="60" dirty="0">
                <a:latin typeface="Calibri"/>
                <a:cs typeface="Calibri"/>
              </a:rPr>
              <a:t>Then</a:t>
            </a:r>
            <a:r>
              <a:rPr sz="2400" spc="17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sum</a:t>
            </a:r>
            <a:r>
              <a:rPr sz="2400" spc="175" dirty="0">
                <a:latin typeface="Calibri"/>
                <a:cs typeface="Calibri"/>
              </a:rPr>
              <a:t> </a:t>
            </a:r>
            <a:r>
              <a:rPr sz="2400" spc="75" dirty="0">
                <a:latin typeface="Calibri"/>
                <a:cs typeface="Calibri"/>
              </a:rPr>
              <a:t>is</a:t>
            </a:r>
            <a:r>
              <a:rPr sz="2400" spc="15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just</a:t>
            </a:r>
            <a:r>
              <a:rPr sz="2400" spc="18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17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dot</a:t>
            </a:r>
            <a:r>
              <a:rPr sz="2400" spc="18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product,</a:t>
            </a:r>
            <a:r>
              <a:rPr sz="2400" spc="-6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and</a:t>
            </a:r>
            <a:r>
              <a:rPr sz="2400" spc="175" dirty="0">
                <a:latin typeface="Calibri"/>
                <a:cs typeface="Calibri"/>
              </a:rPr>
              <a:t> </a:t>
            </a:r>
            <a:r>
              <a:rPr sz="2400" spc="-25" dirty="0">
                <a:latin typeface="Calibri"/>
                <a:cs typeface="Calibri"/>
              </a:rPr>
              <a:t>the</a:t>
            </a:r>
            <a:r>
              <a:rPr sz="2400" dirty="0">
                <a:latin typeface="Calibri"/>
                <a:cs typeface="Calibri"/>
              </a:rPr>
              <a:t>	</a:t>
            </a:r>
            <a:r>
              <a:rPr sz="2400" spc="-10" dirty="0">
                <a:latin typeface="Calibri"/>
                <a:cs typeface="Calibri"/>
              </a:rPr>
              <a:t>become</a:t>
            </a:r>
            <a:endParaRPr sz="2400">
              <a:latin typeface="Calibri"/>
              <a:cs typeface="Calibri"/>
            </a:endParaRPr>
          </a:p>
          <a:p>
            <a:pPr marL="1180465" lvl="2" indent="-228600">
              <a:lnSpc>
                <a:spcPct val="100000"/>
              </a:lnSpc>
              <a:spcBef>
                <a:spcPts val="280"/>
              </a:spcBef>
              <a:buFont typeface="Arial"/>
              <a:buChar char="•"/>
              <a:tabLst>
                <a:tab pos="1180465" algn="l"/>
                <a:tab pos="2782570" algn="l"/>
              </a:tabLst>
            </a:pPr>
            <a:r>
              <a:rPr sz="2000" spc="70" dirty="0">
                <a:latin typeface="Calibri"/>
                <a:cs typeface="Calibri"/>
              </a:rPr>
              <a:t>0</a:t>
            </a:r>
            <a:r>
              <a:rPr sz="2000" spc="13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when</a:t>
            </a:r>
            <a:r>
              <a:rPr sz="2000" spc="165" dirty="0">
                <a:latin typeface="Calibri"/>
                <a:cs typeface="Calibri"/>
              </a:rPr>
              <a:t> </a:t>
            </a:r>
            <a:r>
              <a:rPr sz="2000" spc="-20" dirty="0">
                <a:latin typeface="Calibri"/>
                <a:cs typeface="Calibri"/>
              </a:rPr>
              <a:t>when</a:t>
            </a:r>
            <a:r>
              <a:rPr sz="2000" dirty="0">
                <a:latin typeface="Calibri"/>
                <a:cs typeface="Calibri"/>
              </a:rPr>
              <a:t>	</a:t>
            </a:r>
            <a:r>
              <a:rPr sz="2000" spc="35" dirty="0">
                <a:latin typeface="Calibri"/>
                <a:cs typeface="Calibri"/>
              </a:rPr>
              <a:t>x</a:t>
            </a:r>
            <a:r>
              <a:rPr sz="975" spc="52" baseline="25641" dirty="0">
                <a:latin typeface="Arial"/>
                <a:cs typeface="Arial"/>
              </a:rPr>
              <a:t>●</a:t>
            </a:r>
            <a:r>
              <a:rPr sz="2000" spc="35" dirty="0">
                <a:latin typeface="Calibri"/>
                <a:cs typeface="Calibri"/>
              </a:rPr>
              <a:t>w+b≤0</a:t>
            </a:r>
            <a:endParaRPr sz="2000">
              <a:latin typeface="Calibri"/>
              <a:cs typeface="Calibri"/>
            </a:endParaRPr>
          </a:p>
          <a:p>
            <a:pPr marL="1180465" lvl="2" indent="-228600">
              <a:lnSpc>
                <a:spcPct val="100000"/>
              </a:lnSpc>
              <a:spcBef>
                <a:spcPts val="265"/>
              </a:spcBef>
              <a:buFont typeface="Arial"/>
              <a:buChar char="•"/>
              <a:tabLst>
                <a:tab pos="1180465" algn="l"/>
                <a:tab pos="2782570" algn="l"/>
              </a:tabLst>
            </a:pPr>
            <a:r>
              <a:rPr sz="2000" spc="70" dirty="0">
                <a:latin typeface="Calibri"/>
                <a:cs typeface="Calibri"/>
              </a:rPr>
              <a:t>1</a:t>
            </a:r>
            <a:r>
              <a:rPr sz="2000" spc="13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when</a:t>
            </a:r>
            <a:r>
              <a:rPr sz="2000" spc="165" dirty="0">
                <a:latin typeface="Calibri"/>
                <a:cs typeface="Calibri"/>
              </a:rPr>
              <a:t> </a:t>
            </a:r>
            <a:r>
              <a:rPr sz="2000" spc="-20" dirty="0">
                <a:latin typeface="Calibri"/>
                <a:cs typeface="Calibri"/>
              </a:rPr>
              <a:t>when</a:t>
            </a:r>
            <a:r>
              <a:rPr sz="2000" dirty="0">
                <a:latin typeface="Calibri"/>
                <a:cs typeface="Calibri"/>
              </a:rPr>
              <a:t>	</a:t>
            </a:r>
            <a:r>
              <a:rPr sz="2000" spc="-15" dirty="0">
                <a:latin typeface="Calibri"/>
                <a:cs typeface="Calibri"/>
              </a:rPr>
              <a:t>x</a:t>
            </a:r>
            <a:r>
              <a:rPr sz="750" spc="-7" baseline="27777" dirty="0">
                <a:latin typeface="Arial"/>
                <a:cs typeface="Arial"/>
              </a:rPr>
              <a:t>●</a:t>
            </a:r>
            <a:r>
              <a:rPr sz="2000" spc="-10" dirty="0">
                <a:latin typeface="Calibri"/>
                <a:cs typeface="Calibri"/>
              </a:rPr>
              <a:t>w+</a:t>
            </a:r>
            <a:r>
              <a:rPr sz="2000" spc="-15" dirty="0">
                <a:latin typeface="Calibri"/>
                <a:cs typeface="Calibri"/>
              </a:rPr>
              <a:t>b&gt;0</a:t>
            </a:r>
            <a:endParaRPr sz="2000">
              <a:latin typeface="Calibri"/>
              <a:cs typeface="Calibri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138111" y="932704"/>
            <a:ext cx="5224730" cy="2302478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Perceptrons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1608074" y="3593718"/>
            <a:ext cx="6327775" cy="1826260"/>
          </a:xfrm>
          <a:prstGeom prst="rect">
            <a:avLst/>
          </a:prstGeom>
        </p:spPr>
        <p:txBody>
          <a:bodyPr vert="horz" wrap="square" lIns="0" tIns="38735" rIns="0" bIns="0" rtlCol="0">
            <a:spAutoFit/>
          </a:bodyPr>
          <a:lstStyle/>
          <a:p>
            <a:pPr marL="265430" indent="-227329">
              <a:lnSpc>
                <a:spcPct val="100000"/>
              </a:lnSpc>
              <a:spcBef>
                <a:spcPts val="305"/>
              </a:spcBef>
              <a:buFont typeface="Arial"/>
              <a:buChar char="•"/>
              <a:tabLst>
                <a:tab pos="265430" algn="l"/>
                <a:tab pos="2182495" algn="l"/>
              </a:tabLst>
            </a:pPr>
            <a:r>
              <a:rPr sz="2400" spc="80" dirty="0">
                <a:latin typeface="Calibri"/>
                <a:cs typeface="Calibri"/>
              </a:rPr>
              <a:t>0</a:t>
            </a:r>
            <a:r>
              <a:rPr sz="2400" spc="16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when</a:t>
            </a:r>
            <a:r>
              <a:rPr sz="2400" spc="170" dirty="0">
                <a:latin typeface="Calibri"/>
                <a:cs typeface="Calibri"/>
              </a:rPr>
              <a:t> </a:t>
            </a:r>
            <a:r>
              <a:rPr sz="2400" spc="-20" dirty="0">
                <a:latin typeface="Calibri"/>
                <a:cs typeface="Calibri"/>
              </a:rPr>
              <a:t>when</a:t>
            </a:r>
            <a:r>
              <a:rPr sz="2400" dirty="0">
                <a:latin typeface="Calibri"/>
                <a:cs typeface="Calibri"/>
              </a:rPr>
              <a:t>	</a:t>
            </a:r>
            <a:r>
              <a:rPr sz="2400" spc="40" dirty="0">
                <a:latin typeface="Calibri"/>
                <a:cs typeface="Calibri"/>
              </a:rPr>
              <a:t>x</a:t>
            </a:r>
            <a:r>
              <a:rPr sz="1800" spc="60" baseline="25462" dirty="0">
                <a:latin typeface="Arial"/>
                <a:cs typeface="Arial"/>
              </a:rPr>
              <a:t>●</a:t>
            </a:r>
            <a:r>
              <a:rPr sz="2400" spc="40" dirty="0">
                <a:latin typeface="Calibri"/>
                <a:cs typeface="Calibri"/>
              </a:rPr>
              <a:t>w+b≤0</a:t>
            </a:r>
            <a:endParaRPr sz="2400">
              <a:latin typeface="Calibri"/>
              <a:cs typeface="Calibri"/>
            </a:endParaRPr>
          </a:p>
          <a:p>
            <a:pPr marL="265430" indent="-227329">
              <a:lnSpc>
                <a:spcPct val="100000"/>
              </a:lnSpc>
              <a:spcBef>
                <a:spcPts val="200"/>
              </a:spcBef>
              <a:buFont typeface="Arial"/>
              <a:buChar char="•"/>
              <a:tabLst>
                <a:tab pos="265430" algn="l"/>
                <a:tab pos="2182495" algn="l"/>
              </a:tabLst>
            </a:pPr>
            <a:r>
              <a:rPr sz="2400" spc="80" dirty="0">
                <a:latin typeface="Calibri"/>
                <a:cs typeface="Calibri"/>
              </a:rPr>
              <a:t>1</a:t>
            </a:r>
            <a:r>
              <a:rPr sz="2400" spc="16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when</a:t>
            </a:r>
            <a:r>
              <a:rPr sz="2400" spc="170" dirty="0">
                <a:latin typeface="Calibri"/>
                <a:cs typeface="Calibri"/>
              </a:rPr>
              <a:t> </a:t>
            </a:r>
            <a:r>
              <a:rPr sz="2400" spc="-20" dirty="0">
                <a:latin typeface="Calibri"/>
                <a:cs typeface="Calibri"/>
              </a:rPr>
              <a:t>when</a:t>
            </a:r>
            <a:r>
              <a:rPr sz="2400" dirty="0">
                <a:latin typeface="Calibri"/>
                <a:cs typeface="Calibri"/>
              </a:rPr>
              <a:t>	</a:t>
            </a:r>
            <a:r>
              <a:rPr sz="2400" spc="40" dirty="0">
                <a:latin typeface="Calibri"/>
                <a:cs typeface="Calibri"/>
              </a:rPr>
              <a:t>x</a:t>
            </a:r>
            <a:r>
              <a:rPr sz="1575" spc="60" baseline="26455" dirty="0">
                <a:latin typeface="Arial"/>
                <a:cs typeface="Arial"/>
              </a:rPr>
              <a:t>●</a:t>
            </a:r>
            <a:r>
              <a:rPr sz="2400" spc="40" dirty="0">
                <a:latin typeface="Calibri"/>
                <a:cs typeface="Calibri"/>
              </a:rPr>
              <a:t>w+b&gt;0</a:t>
            </a:r>
            <a:endParaRPr sz="2400">
              <a:latin typeface="Calibri"/>
              <a:cs typeface="Calibri"/>
            </a:endParaRPr>
          </a:p>
          <a:p>
            <a:pPr marL="723265" lvl="1" indent="-227965">
              <a:lnSpc>
                <a:spcPct val="100000"/>
              </a:lnSpc>
              <a:spcBef>
                <a:spcPts val="295"/>
              </a:spcBef>
              <a:buFont typeface="Arial"/>
              <a:buChar char="•"/>
              <a:tabLst>
                <a:tab pos="723265" algn="l"/>
              </a:tabLst>
            </a:pPr>
            <a:r>
              <a:rPr sz="2000" dirty="0">
                <a:latin typeface="Calibri"/>
                <a:cs typeface="Calibri"/>
              </a:rPr>
              <a:t>b</a:t>
            </a:r>
            <a:r>
              <a:rPr sz="2000" spc="15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can</a:t>
            </a:r>
            <a:r>
              <a:rPr sz="2000" spc="15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be</a:t>
            </a:r>
            <a:r>
              <a:rPr sz="2000" spc="16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thought</a:t>
            </a:r>
            <a:r>
              <a:rPr sz="2000" spc="15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of</a:t>
            </a:r>
            <a:r>
              <a:rPr sz="2000" spc="16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the</a:t>
            </a:r>
            <a:r>
              <a:rPr sz="2000" spc="165" dirty="0">
                <a:latin typeface="Calibri"/>
                <a:cs typeface="Calibri"/>
              </a:rPr>
              <a:t> </a:t>
            </a:r>
            <a:r>
              <a:rPr sz="2000" spc="-20" dirty="0">
                <a:latin typeface="Calibri"/>
                <a:cs typeface="Calibri"/>
              </a:rPr>
              <a:t>bias</a:t>
            </a:r>
            <a:endParaRPr sz="2000">
              <a:latin typeface="Calibri"/>
              <a:cs typeface="Calibri"/>
            </a:endParaRPr>
          </a:p>
          <a:p>
            <a:pPr marL="723265" lvl="1" indent="-227965">
              <a:lnSpc>
                <a:spcPct val="100000"/>
              </a:lnSpc>
              <a:spcBef>
                <a:spcPts val="254"/>
              </a:spcBef>
              <a:buFont typeface="Arial"/>
              <a:buChar char="•"/>
              <a:tabLst>
                <a:tab pos="723265" algn="l"/>
              </a:tabLst>
            </a:pPr>
            <a:r>
              <a:rPr sz="2000" spc="55" dirty="0">
                <a:latin typeface="Calibri"/>
                <a:cs typeface="Calibri"/>
              </a:rPr>
              <a:t>Large</a:t>
            </a:r>
            <a:r>
              <a:rPr sz="2000" spc="14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positive</a:t>
            </a:r>
            <a:r>
              <a:rPr sz="2000" spc="18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b</a:t>
            </a:r>
            <a:r>
              <a:rPr sz="2000" spc="-15" dirty="0">
                <a:latin typeface="Calibri"/>
                <a:cs typeface="Calibri"/>
              </a:rPr>
              <a:t> </a:t>
            </a:r>
            <a:r>
              <a:rPr sz="2000" spc="95" dirty="0">
                <a:latin typeface="Calibri"/>
                <a:cs typeface="Calibri"/>
              </a:rPr>
              <a:t>-</a:t>
            </a:r>
            <a:r>
              <a:rPr sz="2000" dirty="0">
                <a:latin typeface="Calibri"/>
                <a:cs typeface="Calibri"/>
              </a:rPr>
              <a:t>&gt;</a:t>
            </a:r>
            <a:r>
              <a:rPr sz="2000" spc="18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neuron</a:t>
            </a:r>
            <a:r>
              <a:rPr sz="2000" spc="16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that</a:t>
            </a:r>
            <a:r>
              <a:rPr sz="2000" spc="18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fires</a:t>
            </a:r>
            <a:r>
              <a:rPr sz="2000" spc="15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on</a:t>
            </a:r>
            <a:r>
              <a:rPr sz="2000" spc="18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most</a:t>
            </a:r>
            <a:r>
              <a:rPr sz="2000" spc="155" dirty="0">
                <a:latin typeface="Calibri"/>
                <a:cs typeface="Calibri"/>
              </a:rPr>
              <a:t> </a:t>
            </a:r>
            <a:r>
              <a:rPr sz="2000" spc="-10" dirty="0">
                <a:latin typeface="Calibri"/>
                <a:cs typeface="Calibri"/>
              </a:rPr>
              <a:t>inputs</a:t>
            </a:r>
            <a:endParaRPr sz="2000">
              <a:latin typeface="Calibri"/>
              <a:cs typeface="Calibri"/>
            </a:endParaRPr>
          </a:p>
          <a:p>
            <a:pPr marL="723265" lvl="1" indent="-227965">
              <a:lnSpc>
                <a:spcPct val="100000"/>
              </a:lnSpc>
              <a:spcBef>
                <a:spcPts val="260"/>
              </a:spcBef>
              <a:buFont typeface="Arial"/>
              <a:buChar char="•"/>
              <a:tabLst>
                <a:tab pos="723265" algn="l"/>
              </a:tabLst>
            </a:pPr>
            <a:r>
              <a:rPr sz="2000" dirty="0">
                <a:latin typeface="Calibri"/>
                <a:cs typeface="Calibri"/>
              </a:rPr>
              <a:t>Negative</a:t>
            </a:r>
            <a:r>
              <a:rPr sz="2000" spc="185" dirty="0">
                <a:latin typeface="Calibri"/>
                <a:cs typeface="Calibri"/>
              </a:rPr>
              <a:t> </a:t>
            </a:r>
            <a:r>
              <a:rPr sz="2000" spc="65" dirty="0">
                <a:latin typeface="Calibri"/>
                <a:cs typeface="Calibri"/>
              </a:rPr>
              <a:t>b-</a:t>
            </a:r>
            <a:r>
              <a:rPr sz="2000" dirty="0">
                <a:latin typeface="Calibri"/>
                <a:cs typeface="Calibri"/>
              </a:rPr>
              <a:t>&gt;</a:t>
            </a:r>
            <a:r>
              <a:rPr sz="2000" spc="23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neuron</a:t>
            </a:r>
            <a:r>
              <a:rPr sz="2000" spc="21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that</a:t>
            </a:r>
            <a:r>
              <a:rPr sz="2000" spc="204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rarely</a:t>
            </a:r>
            <a:r>
              <a:rPr sz="2000" spc="100" dirty="0">
                <a:latin typeface="Calibri"/>
                <a:cs typeface="Calibri"/>
              </a:rPr>
              <a:t> </a:t>
            </a:r>
            <a:r>
              <a:rPr sz="2000" spc="-10" dirty="0">
                <a:latin typeface="Calibri"/>
                <a:cs typeface="Calibri"/>
              </a:rPr>
              <a:t>fires</a:t>
            </a:r>
            <a:endParaRPr sz="2000">
              <a:latin typeface="Calibri"/>
              <a:cs typeface="Calibri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962216" y="873776"/>
            <a:ext cx="5224730" cy="2302478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Perceptrons</a:t>
            </a:r>
            <a:r>
              <a:rPr spc="160" dirty="0"/>
              <a:t> </a:t>
            </a:r>
            <a:r>
              <a:rPr dirty="0"/>
              <a:t>for</a:t>
            </a:r>
            <a:r>
              <a:rPr spc="210" dirty="0"/>
              <a:t> </a:t>
            </a:r>
            <a:r>
              <a:rPr spc="120" dirty="0"/>
              <a:t>logical</a:t>
            </a:r>
            <a:r>
              <a:rPr spc="210" dirty="0"/>
              <a:t> </a:t>
            </a:r>
            <a:r>
              <a:rPr spc="-10" dirty="0"/>
              <a:t>functions?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1195527" y="3577648"/>
            <a:ext cx="3574415" cy="1449070"/>
          </a:xfrm>
          <a:prstGeom prst="rect">
            <a:avLst/>
          </a:prstGeom>
        </p:spPr>
        <p:txBody>
          <a:bodyPr vert="horz" wrap="square" lIns="0" tIns="54610" rIns="0" bIns="0" rtlCol="0">
            <a:spAutoFit/>
          </a:bodyPr>
          <a:lstStyle/>
          <a:p>
            <a:pPr marL="240029" indent="-227329">
              <a:lnSpc>
                <a:spcPct val="100000"/>
              </a:lnSpc>
              <a:spcBef>
                <a:spcPts val="430"/>
              </a:spcBef>
              <a:buFont typeface="Arial"/>
              <a:buChar char="•"/>
              <a:tabLst>
                <a:tab pos="240029" algn="l"/>
              </a:tabLst>
            </a:pPr>
            <a:r>
              <a:rPr sz="2400" dirty="0">
                <a:latin typeface="Calibri"/>
                <a:cs typeface="Calibri"/>
              </a:rPr>
              <a:t>How</a:t>
            </a:r>
            <a:r>
              <a:rPr sz="2400" spc="15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could</a:t>
            </a:r>
            <a:r>
              <a:rPr sz="2400" spc="22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we</a:t>
            </a:r>
            <a:r>
              <a:rPr sz="2400" spc="225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implement</a:t>
            </a:r>
            <a:endParaRPr sz="2400">
              <a:latin typeface="Calibri"/>
              <a:cs typeface="Calibri"/>
            </a:endParaRPr>
          </a:p>
          <a:p>
            <a:pPr marL="697865" lvl="1" indent="-227965">
              <a:lnSpc>
                <a:spcPct val="100000"/>
              </a:lnSpc>
              <a:spcBef>
                <a:spcPts val="280"/>
              </a:spcBef>
              <a:buFont typeface="Arial"/>
              <a:buChar char="•"/>
              <a:tabLst>
                <a:tab pos="697865" algn="l"/>
              </a:tabLst>
            </a:pPr>
            <a:r>
              <a:rPr sz="2000" spc="-25" dirty="0">
                <a:latin typeface="Calibri"/>
                <a:cs typeface="Calibri"/>
              </a:rPr>
              <a:t>AND</a:t>
            </a:r>
            <a:endParaRPr sz="2000">
              <a:latin typeface="Calibri"/>
              <a:cs typeface="Calibri"/>
            </a:endParaRPr>
          </a:p>
          <a:p>
            <a:pPr marL="697865" lvl="1" indent="-227965">
              <a:lnSpc>
                <a:spcPct val="100000"/>
              </a:lnSpc>
              <a:spcBef>
                <a:spcPts val="265"/>
              </a:spcBef>
              <a:buFont typeface="Arial"/>
              <a:buChar char="•"/>
              <a:tabLst>
                <a:tab pos="697865" algn="l"/>
              </a:tabLst>
            </a:pPr>
            <a:r>
              <a:rPr sz="2000" spc="40" dirty="0">
                <a:latin typeface="Calibri"/>
                <a:cs typeface="Calibri"/>
              </a:rPr>
              <a:t>OR</a:t>
            </a:r>
            <a:endParaRPr sz="2000">
              <a:latin typeface="Calibri"/>
              <a:cs typeface="Calibri"/>
            </a:endParaRPr>
          </a:p>
          <a:p>
            <a:pPr marL="697865" lvl="1" indent="-227965">
              <a:lnSpc>
                <a:spcPct val="100000"/>
              </a:lnSpc>
              <a:spcBef>
                <a:spcPts val="250"/>
              </a:spcBef>
              <a:buFont typeface="Arial"/>
              <a:buChar char="•"/>
              <a:tabLst>
                <a:tab pos="697865" algn="l"/>
              </a:tabLst>
            </a:pPr>
            <a:r>
              <a:rPr sz="2000" spc="-20" dirty="0">
                <a:latin typeface="Calibri"/>
                <a:cs typeface="Calibri"/>
              </a:rPr>
              <a:t>NAND</a:t>
            </a:r>
            <a:endParaRPr sz="2000">
              <a:latin typeface="Calibri"/>
              <a:cs typeface="Calibri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4765421" y="1461388"/>
            <a:ext cx="1670685" cy="1670685"/>
          </a:xfrm>
          <a:custGeom>
            <a:avLst/>
            <a:gdLst/>
            <a:ahLst/>
            <a:cxnLst/>
            <a:rect l="l" t="t" r="r" b="b"/>
            <a:pathLst>
              <a:path w="1670685" h="1670685">
                <a:moveTo>
                  <a:pt x="0" y="835278"/>
                </a:moveTo>
                <a:lnTo>
                  <a:pt x="1322" y="787885"/>
                </a:lnTo>
                <a:lnTo>
                  <a:pt x="5242" y="741184"/>
                </a:lnTo>
                <a:lnTo>
                  <a:pt x="11690" y="695246"/>
                </a:lnTo>
                <a:lnTo>
                  <a:pt x="20594" y="650143"/>
                </a:lnTo>
                <a:lnTo>
                  <a:pt x="31884" y="605944"/>
                </a:lnTo>
                <a:lnTo>
                  <a:pt x="45490" y="562721"/>
                </a:lnTo>
                <a:lnTo>
                  <a:pt x="61341" y="520543"/>
                </a:lnTo>
                <a:lnTo>
                  <a:pt x="79367" y="479482"/>
                </a:lnTo>
                <a:lnTo>
                  <a:pt x="99496" y="439607"/>
                </a:lnTo>
                <a:lnTo>
                  <a:pt x="121659" y="400990"/>
                </a:lnTo>
                <a:lnTo>
                  <a:pt x="145785" y="363701"/>
                </a:lnTo>
                <a:lnTo>
                  <a:pt x="171804" y="327810"/>
                </a:lnTo>
                <a:lnTo>
                  <a:pt x="199644" y="293389"/>
                </a:lnTo>
                <a:lnTo>
                  <a:pt x="229235" y="260507"/>
                </a:lnTo>
                <a:lnTo>
                  <a:pt x="260507" y="229235"/>
                </a:lnTo>
                <a:lnTo>
                  <a:pt x="293389" y="199644"/>
                </a:lnTo>
                <a:lnTo>
                  <a:pt x="327810" y="171804"/>
                </a:lnTo>
                <a:lnTo>
                  <a:pt x="363701" y="145785"/>
                </a:lnTo>
                <a:lnTo>
                  <a:pt x="400990" y="121659"/>
                </a:lnTo>
                <a:lnTo>
                  <a:pt x="439607" y="99496"/>
                </a:lnTo>
                <a:lnTo>
                  <a:pt x="479482" y="79367"/>
                </a:lnTo>
                <a:lnTo>
                  <a:pt x="520543" y="61341"/>
                </a:lnTo>
                <a:lnTo>
                  <a:pt x="562721" y="45490"/>
                </a:lnTo>
                <a:lnTo>
                  <a:pt x="605944" y="31884"/>
                </a:lnTo>
                <a:lnTo>
                  <a:pt x="650143" y="20594"/>
                </a:lnTo>
                <a:lnTo>
                  <a:pt x="695246" y="11690"/>
                </a:lnTo>
                <a:lnTo>
                  <a:pt x="741184" y="5242"/>
                </a:lnTo>
                <a:lnTo>
                  <a:pt x="787885" y="1322"/>
                </a:lnTo>
                <a:lnTo>
                  <a:pt x="835278" y="0"/>
                </a:lnTo>
                <a:lnTo>
                  <a:pt x="882672" y="1322"/>
                </a:lnTo>
                <a:lnTo>
                  <a:pt x="929373" y="5242"/>
                </a:lnTo>
                <a:lnTo>
                  <a:pt x="975311" y="11690"/>
                </a:lnTo>
                <a:lnTo>
                  <a:pt x="1020414" y="20594"/>
                </a:lnTo>
                <a:lnTo>
                  <a:pt x="1064613" y="31884"/>
                </a:lnTo>
                <a:lnTo>
                  <a:pt x="1107836" y="45490"/>
                </a:lnTo>
                <a:lnTo>
                  <a:pt x="1150014" y="61341"/>
                </a:lnTo>
                <a:lnTo>
                  <a:pt x="1191075" y="79367"/>
                </a:lnTo>
                <a:lnTo>
                  <a:pt x="1230950" y="99496"/>
                </a:lnTo>
                <a:lnTo>
                  <a:pt x="1269567" y="121659"/>
                </a:lnTo>
                <a:lnTo>
                  <a:pt x="1306856" y="145785"/>
                </a:lnTo>
                <a:lnTo>
                  <a:pt x="1342747" y="171804"/>
                </a:lnTo>
                <a:lnTo>
                  <a:pt x="1377168" y="199644"/>
                </a:lnTo>
                <a:lnTo>
                  <a:pt x="1410050" y="229235"/>
                </a:lnTo>
                <a:lnTo>
                  <a:pt x="1441322" y="260507"/>
                </a:lnTo>
                <a:lnTo>
                  <a:pt x="1470913" y="293389"/>
                </a:lnTo>
                <a:lnTo>
                  <a:pt x="1498753" y="327810"/>
                </a:lnTo>
                <a:lnTo>
                  <a:pt x="1524772" y="363701"/>
                </a:lnTo>
                <a:lnTo>
                  <a:pt x="1548898" y="400990"/>
                </a:lnTo>
                <a:lnTo>
                  <a:pt x="1571061" y="439607"/>
                </a:lnTo>
                <a:lnTo>
                  <a:pt x="1591190" y="479482"/>
                </a:lnTo>
                <a:lnTo>
                  <a:pt x="1609216" y="520543"/>
                </a:lnTo>
                <a:lnTo>
                  <a:pt x="1625067" y="562721"/>
                </a:lnTo>
                <a:lnTo>
                  <a:pt x="1638673" y="605944"/>
                </a:lnTo>
                <a:lnTo>
                  <a:pt x="1649963" y="650143"/>
                </a:lnTo>
                <a:lnTo>
                  <a:pt x="1658867" y="695246"/>
                </a:lnTo>
                <a:lnTo>
                  <a:pt x="1665315" y="741184"/>
                </a:lnTo>
                <a:lnTo>
                  <a:pt x="1669235" y="787885"/>
                </a:lnTo>
                <a:lnTo>
                  <a:pt x="1670557" y="835278"/>
                </a:lnTo>
                <a:lnTo>
                  <a:pt x="1669235" y="882672"/>
                </a:lnTo>
                <a:lnTo>
                  <a:pt x="1665315" y="929373"/>
                </a:lnTo>
                <a:lnTo>
                  <a:pt x="1658867" y="975311"/>
                </a:lnTo>
                <a:lnTo>
                  <a:pt x="1649963" y="1020414"/>
                </a:lnTo>
                <a:lnTo>
                  <a:pt x="1638673" y="1064613"/>
                </a:lnTo>
                <a:lnTo>
                  <a:pt x="1625067" y="1107836"/>
                </a:lnTo>
                <a:lnTo>
                  <a:pt x="1609216" y="1150014"/>
                </a:lnTo>
                <a:lnTo>
                  <a:pt x="1591190" y="1191075"/>
                </a:lnTo>
                <a:lnTo>
                  <a:pt x="1571061" y="1230950"/>
                </a:lnTo>
                <a:lnTo>
                  <a:pt x="1548898" y="1269567"/>
                </a:lnTo>
                <a:lnTo>
                  <a:pt x="1524772" y="1306856"/>
                </a:lnTo>
                <a:lnTo>
                  <a:pt x="1498753" y="1342747"/>
                </a:lnTo>
                <a:lnTo>
                  <a:pt x="1470913" y="1377168"/>
                </a:lnTo>
                <a:lnTo>
                  <a:pt x="1441322" y="1410050"/>
                </a:lnTo>
                <a:lnTo>
                  <a:pt x="1410050" y="1441322"/>
                </a:lnTo>
                <a:lnTo>
                  <a:pt x="1377168" y="1470913"/>
                </a:lnTo>
                <a:lnTo>
                  <a:pt x="1342747" y="1498753"/>
                </a:lnTo>
                <a:lnTo>
                  <a:pt x="1306856" y="1524772"/>
                </a:lnTo>
                <a:lnTo>
                  <a:pt x="1269567" y="1548898"/>
                </a:lnTo>
                <a:lnTo>
                  <a:pt x="1230950" y="1571061"/>
                </a:lnTo>
                <a:lnTo>
                  <a:pt x="1191075" y="1591190"/>
                </a:lnTo>
                <a:lnTo>
                  <a:pt x="1150014" y="1609216"/>
                </a:lnTo>
                <a:lnTo>
                  <a:pt x="1107836" y="1625067"/>
                </a:lnTo>
                <a:lnTo>
                  <a:pt x="1064613" y="1638673"/>
                </a:lnTo>
                <a:lnTo>
                  <a:pt x="1020414" y="1649963"/>
                </a:lnTo>
                <a:lnTo>
                  <a:pt x="975311" y="1658867"/>
                </a:lnTo>
                <a:lnTo>
                  <a:pt x="929373" y="1665315"/>
                </a:lnTo>
                <a:lnTo>
                  <a:pt x="882672" y="1669235"/>
                </a:lnTo>
                <a:lnTo>
                  <a:pt x="835278" y="1670558"/>
                </a:lnTo>
                <a:lnTo>
                  <a:pt x="787885" y="1669235"/>
                </a:lnTo>
                <a:lnTo>
                  <a:pt x="741184" y="1665315"/>
                </a:lnTo>
                <a:lnTo>
                  <a:pt x="695246" y="1658867"/>
                </a:lnTo>
                <a:lnTo>
                  <a:pt x="650143" y="1649963"/>
                </a:lnTo>
                <a:lnTo>
                  <a:pt x="605944" y="1638673"/>
                </a:lnTo>
                <a:lnTo>
                  <a:pt x="562721" y="1625067"/>
                </a:lnTo>
                <a:lnTo>
                  <a:pt x="520543" y="1609216"/>
                </a:lnTo>
                <a:lnTo>
                  <a:pt x="479482" y="1591190"/>
                </a:lnTo>
                <a:lnTo>
                  <a:pt x="439607" y="1571061"/>
                </a:lnTo>
                <a:lnTo>
                  <a:pt x="400990" y="1548898"/>
                </a:lnTo>
                <a:lnTo>
                  <a:pt x="363701" y="1524772"/>
                </a:lnTo>
                <a:lnTo>
                  <a:pt x="327810" y="1498753"/>
                </a:lnTo>
                <a:lnTo>
                  <a:pt x="293389" y="1470913"/>
                </a:lnTo>
                <a:lnTo>
                  <a:pt x="260507" y="1441322"/>
                </a:lnTo>
                <a:lnTo>
                  <a:pt x="229235" y="1410050"/>
                </a:lnTo>
                <a:lnTo>
                  <a:pt x="199644" y="1377168"/>
                </a:lnTo>
                <a:lnTo>
                  <a:pt x="171804" y="1342747"/>
                </a:lnTo>
                <a:lnTo>
                  <a:pt x="145785" y="1306856"/>
                </a:lnTo>
                <a:lnTo>
                  <a:pt x="121659" y="1269567"/>
                </a:lnTo>
                <a:lnTo>
                  <a:pt x="99496" y="1230950"/>
                </a:lnTo>
                <a:lnTo>
                  <a:pt x="79367" y="1191075"/>
                </a:lnTo>
                <a:lnTo>
                  <a:pt x="61341" y="1150014"/>
                </a:lnTo>
                <a:lnTo>
                  <a:pt x="45490" y="1107836"/>
                </a:lnTo>
                <a:lnTo>
                  <a:pt x="31884" y="1064613"/>
                </a:lnTo>
                <a:lnTo>
                  <a:pt x="20594" y="1020414"/>
                </a:lnTo>
                <a:lnTo>
                  <a:pt x="11690" y="975311"/>
                </a:lnTo>
                <a:lnTo>
                  <a:pt x="5242" y="929373"/>
                </a:lnTo>
                <a:lnTo>
                  <a:pt x="1322" y="882672"/>
                </a:lnTo>
                <a:lnTo>
                  <a:pt x="0" y="835278"/>
                </a:lnTo>
                <a:close/>
              </a:path>
            </a:pathLst>
          </a:custGeom>
          <a:ln w="1270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/>
          <p:nvPr/>
        </p:nvSpPr>
        <p:spPr>
          <a:xfrm>
            <a:off x="5238115" y="2131516"/>
            <a:ext cx="725170" cy="3003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10" dirty="0">
                <a:latin typeface="Calibri"/>
                <a:cs typeface="Calibri"/>
              </a:rPr>
              <a:t>Neuron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6" name="object 6"/>
          <p:cNvSpPr/>
          <p:nvPr/>
        </p:nvSpPr>
        <p:spPr>
          <a:xfrm>
            <a:off x="3156458" y="1282572"/>
            <a:ext cx="4897755" cy="1052195"/>
          </a:xfrm>
          <a:custGeom>
            <a:avLst/>
            <a:gdLst/>
            <a:ahLst/>
            <a:cxnLst/>
            <a:rect l="l" t="t" r="r" b="b"/>
            <a:pathLst>
              <a:path w="4897755" h="1052195">
                <a:moveTo>
                  <a:pt x="1608963" y="1014095"/>
                </a:moveTo>
                <a:lnTo>
                  <a:pt x="1602613" y="1010920"/>
                </a:lnTo>
                <a:lnTo>
                  <a:pt x="1532763" y="975995"/>
                </a:lnTo>
                <a:lnTo>
                  <a:pt x="1532763" y="1010920"/>
                </a:lnTo>
                <a:lnTo>
                  <a:pt x="0" y="1010920"/>
                </a:lnTo>
                <a:lnTo>
                  <a:pt x="0" y="1017270"/>
                </a:lnTo>
                <a:lnTo>
                  <a:pt x="1532763" y="1017270"/>
                </a:lnTo>
                <a:lnTo>
                  <a:pt x="1532763" y="1052195"/>
                </a:lnTo>
                <a:lnTo>
                  <a:pt x="1602613" y="1017270"/>
                </a:lnTo>
                <a:lnTo>
                  <a:pt x="1608963" y="1014095"/>
                </a:lnTo>
                <a:close/>
              </a:path>
              <a:path w="4897755" h="1052195">
                <a:moveTo>
                  <a:pt x="1737868" y="524637"/>
                </a:moveTo>
                <a:lnTo>
                  <a:pt x="1720113" y="505841"/>
                </a:lnTo>
                <a:lnTo>
                  <a:pt x="1679448" y="462788"/>
                </a:lnTo>
                <a:lnTo>
                  <a:pt x="1667459" y="495554"/>
                </a:lnTo>
                <a:lnTo>
                  <a:pt x="308737" y="0"/>
                </a:lnTo>
                <a:lnTo>
                  <a:pt x="306578" y="5969"/>
                </a:lnTo>
                <a:lnTo>
                  <a:pt x="1665274" y="501510"/>
                </a:lnTo>
                <a:lnTo>
                  <a:pt x="1653286" y="534289"/>
                </a:lnTo>
                <a:lnTo>
                  <a:pt x="1737868" y="524637"/>
                </a:lnTo>
                <a:close/>
              </a:path>
              <a:path w="4897755" h="1052195">
                <a:moveTo>
                  <a:pt x="4897628" y="1014095"/>
                </a:moveTo>
                <a:lnTo>
                  <a:pt x="4891278" y="1010920"/>
                </a:lnTo>
                <a:lnTo>
                  <a:pt x="4821428" y="975995"/>
                </a:lnTo>
                <a:lnTo>
                  <a:pt x="4821428" y="1010920"/>
                </a:lnTo>
                <a:lnTo>
                  <a:pt x="3288538" y="1010920"/>
                </a:lnTo>
                <a:lnTo>
                  <a:pt x="3288538" y="1017270"/>
                </a:lnTo>
                <a:lnTo>
                  <a:pt x="4821428" y="1017270"/>
                </a:lnTo>
                <a:lnTo>
                  <a:pt x="4821428" y="1052195"/>
                </a:lnTo>
                <a:lnTo>
                  <a:pt x="4891278" y="1017270"/>
                </a:lnTo>
                <a:lnTo>
                  <a:pt x="4897628" y="1014095"/>
                </a:lnTo>
                <a:close/>
              </a:path>
            </a:pathLst>
          </a:custGeom>
          <a:solidFill>
            <a:srgbClr val="5B9BD4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 txBox="1"/>
          <p:nvPr/>
        </p:nvSpPr>
        <p:spPr>
          <a:xfrm>
            <a:off x="2816098" y="2077592"/>
            <a:ext cx="24066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25" dirty="0">
                <a:latin typeface="Calibri"/>
                <a:cs typeface="Calibri"/>
              </a:rPr>
              <a:t>x2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3137154" y="1036446"/>
            <a:ext cx="24066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25" dirty="0">
                <a:latin typeface="Calibri"/>
                <a:cs typeface="Calibri"/>
              </a:rPr>
              <a:t>x1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7821930" y="1970023"/>
            <a:ext cx="12890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50" dirty="0">
                <a:latin typeface="Calibri"/>
                <a:cs typeface="Calibri"/>
              </a:rPr>
              <a:t>y</a:t>
            </a:r>
            <a:endParaRPr sz="1800">
              <a:latin typeface="Calibri"/>
              <a:cs typeface="Calibri"/>
            </a:endParaRPr>
          </a:p>
        </p:txBody>
      </p:sp>
      <p:grpSp>
        <p:nvGrpSpPr>
          <p:cNvPr id="10" name="object 10"/>
          <p:cNvGrpSpPr/>
          <p:nvPr/>
        </p:nvGrpSpPr>
        <p:grpSpPr>
          <a:xfrm>
            <a:off x="3835908" y="1220977"/>
            <a:ext cx="540385" cy="534670"/>
            <a:chOff x="3835908" y="1220977"/>
            <a:chExt cx="540385" cy="534670"/>
          </a:xfrm>
        </p:grpSpPr>
        <p:sp>
          <p:nvSpPr>
            <p:cNvPr id="11" name="object 11"/>
            <p:cNvSpPr/>
            <p:nvPr/>
          </p:nvSpPr>
          <p:spPr>
            <a:xfrm>
              <a:off x="3842258" y="1227327"/>
              <a:ext cx="527685" cy="521970"/>
            </a:xfrm>
            <a:custGeom>
              <a:avLst/>
              <a:gdLst/>
              <a:ahLst/>
              <a:cxnLst/>
              <a:rect l="l" t="t" r="r" b="b"/>
              <a:pathLst>
                <a:path w="527685" h="521969">
                  <a:moveTo>
                    <a:pt x="263778" y="0"/>
                  </a:moveTo>
                  <a:lnTo>
                    <a:pt x="216367" y="4204"/>
                  </a:lnTo>
                  <a:lnTo>
                    <a:pt x="171742" y="16325"/>
                  </a:lnTo>
                  <a:lnTo>
                    <a:pt x="130650" y="35625"/>
                  </a:lnTo>
                  <a:lnTo>
                    <a:pt x="93834" y="61366"/>
                  </a:lnTo>
                  <a:lnTo>
                    <a:pt x="62041" y="92811"/>
                  </a:lnTo>
                  <a:lnTo>
                    <a:pt x="36016" y="129220"/>
                  </a:lnTo>
                  <a:lnTo>
                    <a:pt x="16504" y="169856"/>
                  </a:lnTo>
                  <a:lnTo>
                    <a:pt x="4250" y="213981"/>
                  </a:lnTo>
                  <a:lnTo>
                    <a:pt x="0" y="260858"/>
                  </a:lnTo>
                  <a:lnTo>
                    <a:pt x="4250" y="307734"/>
                  </a:lnTo>
                  <a:lnTo>
                    <a:pt x="16504" y="351859"/>
                  </a:lnTo>
                  <a:lnTo>
                    <a:pt x="36016" y="392495"/>
                  </a:lnTo>
                  <a:lnTo>
                    <a:pt x="62041" y="428904"/>
                  </a:lnTo>
                  <a:lnTo>
                    <a:pt x="93834" y="460349"/>
                  </a:lnTo>
                  <a:lnTo>
                    <a:pt x="130650" y="486090"/>
                  </a:lnTo>
                  <a:lnTo>
                    <a:pt x="171742" y="505390"/>
                  </a:lnTo>
                  <a:lnTo>
                    <a:pt x="216367" y="517511"/>
                  </a:lnTo>
                  <a:lnTo>
                    <a:pt x="263778" y="521716"/>
                  </a:lnTo>
                  <a:lnTo>
                    <a:pt x="311190" y="517511"/>
                  </a:lnTo>
                  <a:lnTo>
                    <a:pt x="355815" y="505390"/>
                  </a:lnTo>
                  <a:lnTo>
                    <a:pt x="396907" y="486090"/>
                  </a:lnTo>
                  <a:lnTo>
                    <a:pt x="433723" y="460349"/>
                  </a:lnTo>
                  <a:lnTo>
                    <a:pt x="465516" y="428904"/>
                  </a:lnTo>
                  <a:lnTo>
                    <a:pt x="491541" y="392495"/>
                  </a:lnTo>
                  <a:lnTo>
                    <a:pt x="511053" y="351859"/>
                  </a:lnTo>
                  <a:lnTo>
                    <a:pt x="523307" y="307734"/>
                  </a:lnTo>
                  <a:lnTo>
                    <a:pt x="527557" y="260858"/>
                  </a:lnTo>
                  <a:lnTo>
                    <a:pt x="523307" y="213981"/>
                  </a:lnTo>
                  <a:lnTo>
                    <a:pt x="511053" y="169856"/>
                  </a:lnTo>
                  <a:lnTo>
                    <a:pt x="491541" y="129220"/>
                  </a:lnTo>
                  <a:lnTo>
                    <a:pt x="465516" y="92811"/>
                  </a:lnTo>
                  <a:lnTo>
                    <a:pt x="433723" y="61366"/>
                  </a:lnTo>
                  <a:lnTo>
                    <a:pt x="396907" y="35625"/>
                  </a:lnTo>
                  <a:lnTo>
                    <a:pt x="355815" y="16325"/>
                  </a:lnTo>
                  <a:lnTo>
                    <a:pt x="311190" y="4204"/>
                  </a:lnTo>
                  <a:lnTo>
                    <a:pt x="263778" y="0"/>
                  </a:lnTo>
                  <a:close/>
                </a:path>
              </a:pathLst>
            </a:custGeom>
            <a:solidFill>
              <a:srgbClr val="5B9BD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3842258" y="1227327"/>
              <a:ext cx="527685" cy="521970"/>
            </a:xfrm>
            <a:custGeom>
              <a:avLst/>
              <a:gdLst/>
              <a:ahLst/>
              <a:cxnLst/>
              <a:rect l="l" t="t" r="r" b="b"/>
              <a:pathLst>
                <a:path w="527685" h="521969">
                  <a:moveTo>
                    <a:pt x="0" y="260858"/>
                  </a:moveTo>
                  <a:lnTo>
                    <a:pt x="4250" y="213981"/>
                  </a:lnTo>
                  <a:lnTo>
                    <a:pt x="16504" y="169856"/>
                  </a:lnTo>
                  <a:lnTo>
                    <a:pt x="36016" y="129220"/>
                  </a:lnTo>
                  <a:lnTo>
                    <a:pt x="62041" y="92811"/>
                  </a:lnTo>
                  <a:lnTo>
                    <a:pt x="93834" y="61366"/>
                  </a:lnTo>
                  <a:lnTo>
                    <a:pt x="130650" y="35625"/>
                  </a:lnTo>
                  <a:lnTo>
                    <a:pt x="171742" y="16325"/>
                  </a:lnTo>
                  <a:lnTo>
                    <a:pt x="216367" y="4204"/>
                  </a:lnTo>
                  <a:lnTo>
                    <a:pt x="263778" y="0"/>
                  </a:lnTo>
                  <a:lnTo>
                    <a:pt x="311190" y="4204"/>
                  </a:lnTo>
                  <a:lnTo>
                    <a:pt x="355815" y="16325"/>
                  </a:lnTo>
                  <a:lnTo>
                    <a:pt x="396907" y="35625"/>
                  </a:lnTo>
                  <a:lnTo>
                    <a:pt x="433723" y="61366"/>
                  </a:lnTo>
                  <a:lnTo>
                    <a:pt x="465516" y="92811"/>
                  </a:lnTo>
                  <a:lnTo>
                    <a:pt x="491541" y="129220"/>
                  </a:lnTo>
                  <a:lnTo>
                    <a:pt x="511053" y="169856"/>
                  </a:lnTo>
                  <a:lnTo>
                    <a:pt x="523307" y="213981"/>
                  </a:lnTo>
                  <a:lnTo>
                    <a:pt x="527557" y="260858"/>
                  </a:lnTo>
                  <a:lnTo>
                    <a:pt x="523307" y="307734"/>
                  </a:lnTo>
                  <a:lnTo>
                    <a:pt x="511053" y="351859"/>
                  </a:lnTo>
                  <a:lnTo>
                    <a:pt x="491541" y="392495"/>
                  </a:lnTo>
                  <a:lnTo>
                    <a:pt x="465516" y="428904"/>
                  </a:lnTo>
                  <a:lnTo>
                    <a:pt x="433723" y="460349"/>
                  </a:lnTo>
                  <a:lnTo>
                    <a:pt x="396907" y="486090"/>
                  </a:lnTo>
                  <a:lnTo>
                    <a:pt x="355815" y="505390"/>
                  </a:lnTo>
                  <a:lnTo>
                    <a:pt x="311190" y="517511"/>
                  </a:lnTo>
                  <a:lnTo>
                    <a:pt x="263778" y="521716"/>
                  </a:lnTo>
                  <a:lnTo>
                    <a:pt x="216367" y="517511"/>
                  </a:lnTo>
                  <a:lnTo>
                    <a:pt x="171742" y="505390"/>
                  </a:lnTo>
                  <a:lnTo>
                    <a:pt x="130650" y="486090"/>
                  </a:lnTo>
                  <a:lnTo>
                    <a:pt x="93834" y="460349"/>
                  </a:lnTo>
                  <a:lnTo>
                    <a:pt x="62041" y="428904"/>
                  </a:lnTo>
                  <a:lnTo>
                    <a:pt x="36016" y="392495"/>
                  </a:lnTo>
                  <a:lnTo>
                    <a:pt x="16504" y="351859"/>
                  </a:lnTo>
                  <a:lnTo>
                    <a:pt x="4250" y="307734"/>
                  </a:lnTo>
                  <a:lnTo>
                    <a:pt x="0" y="260858"/>
                  </a:lnTo>
                  <a:close/>
                </a:path>
              </a:pathLst>
            </a:custGeom>
            <a:ln w="12700">
              <a:solidFill>
                <a:srgbClr val="41709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object 13"/>
          <p:cNvSpPr txBox="1"/>
          <p:nvPr/>
        </p:nvSpPr>
        <p:spPr>
          <a:xfrm>
            <a:off x="4000880" y="1375409"/>
            <a:ext cx="21018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25" dirty="0">
                <a:solidFill>
                  <a:srgbClr val="FFFFFF"/>
                </a:solidFill>
                <a:latin typeface="Calibri"/>
                <a:cs typeface="Calibri"/>
              </a:rPr>
              <a:t>w1</a:t>
            </a:r>
            <a:endParaRPr sz="1200">
              <a:latin typeface="Calibri"/>
              <a:cs typeface="Calibri"/>
            </a:endParaRPr>
          </a:p>
        </p:txBody>
      </p:sp>
      <p:grpSp>
        <p:nvGrpSpPr>
          <p:cNvPr id="14" name="object 14"/>
          <p:cNvGrpSpPr/>
          <p:nvPr/>
        </p:nvGrpSpPr>
        <p:grpSpPr>
          <a:xfrm>
            <a:off x="3801998" y="2006219"/>
            <a:ext cx="540385" cy="534670"/>
            <a:chOff x="3801998" y="2006219"/>
            <a:chExt cx="540385" cy="534670"/>
          </a:xfrm>
        </p:grpSpPr>
        <p:sp>
          <p:nvSpPr>
            <p:cNvPr id="15" name="object 15"/>
            <p:cNvSpPr/>
            <p:nvPr/>
          </p:nvSpPr>
          <p:spPr>
            <a:xfrm>
              <a:off x="3808348" y="2012569"/>
              <a:ext cx="527685" cy="521970"/>
            </a:xfrm>
            <a:custGeom>
              <a:avLst/>
              <a:gdLst/>
              <a:ahLst/>
              <a:cxnLst/>
              <a:rect l="l" t="t" r="r" b="b"/>
              <a:pathLst>
                <a:path w="527685" h="521969">
                  <a:moveTo>
                    <a:pt x="263778" y="0"/>
                  </a:moveTo>
                  <a:lnTo>
                    <a:pt x="216367" y="4204"/>
                  </a:lnTo>
                  <a:lnTo>
                    <a:pt x="171742" y="16325"/>
                  </a:lnTo>
                  <a:lnTo>
                    <a:pt x="130650" y="35625"/>
                  </a:lnTo>
                  <a:lnTo>
                    <a:pt x="93834" y="61366"/>
                  </a:lnTo>
                  <a:lnTo>
                    <a:pt x="62041" y="92811"/>
                  </a:lnTo>
                  <a:lnTo>
                    <a:pt x="36016" y="129220"/>
                  </a:lnTo>
                  <a:lnTo>
                    <a:pt x="16504" y="169856"/>
                  </a:lnTo>
                  <a:lnTo>
                    <a:pt x="4250" y="213981"/>
                  </a:lnTo>
                  <a:lnTo>
                    <a:pt x="0" y="260857"/>
                  </a:lnTo>
                  <a:lnTo>
                    <a:pt x="4250" y="307734"/>
                  </a:lnTo>
                  <a:lnTo>
                    <a:pt x="16504" y="351859"/>
                  </a:lnTo>
                  <a:lnTo>
                    <a:pt x="36016" y="392495"/>
                  </a:lnTo>
                  <a:lnTo>
                    <a:pt x="62041" y="428904"/>
                  </a:lnTo>
                  <a:lnTo>
                    <a:pt x="93834" y="460349"/>
                  </a:lnTo>
                  <a:lnTo>
                    <a:pt x="130650" y="486090"/>
                  </a:lnTo>
                  <a:lnTo>
                    <a:pt x="171742" y="505390"/>
                  </a:lnTo>
                  <a:lnTo>
                    <a:pt x="216367" y="517511"/>
                  </a:lnTo>
                  <a:lnTo>
                    <a:pt x="263778" y="521715"/>
                  </a:lnTo>
                  <a:lnTo>
                    <a:pt x="311190" y="517511"/>
                  </a:lnTo>
                  <a:lnTo>
                    <a:pt x="355815" y="505390"/>
                  </a:lnTo>
                  <a:lnTo>
                    <a:pt x="396907" y="486090"/>
                  </a:lnTo>
                  <a:lnTo>
                    <a:pt x="433723" y="460349"/>
                  </a:lnTo>
                  <a:lnTo>
                    <a:pt x="465516" y="428904"/>
                  </a:lnTo>
                  <a:lnTo>
                    <a:pt x="491541" y="392495"/>
                  </a:lnTo>
                  <a:lnTo>
                    <a:pt x="511053" y="351859"/>
                  </a:lnTo>
                  <a:lnTo>
                    <a:pt x="523307" y="307734"/>
                  </a:lnTo>
                  <a:lnTo>
                    <a:pt x="527558" y="260857"/>
                  </a:lnTo>
                  <a:lnTo>
                    <a:pt x="523307" y="213981"/>
                  </a:lnTo>
                  <a:lnTo>
                    <a:pt x="511053" y="169856"/>
                  </a:lnTo>
                  <a:lnTo>
                    <a:pt x="491541" y="129220"/>
                  </a:lnTo>
                  <a:lnTo>
                    <a:pt x="465516" y="92811"/>
                  </a:lnTo>
                  <a:lnTo>
                    <a:pt x="433723" y="61366"/>
                  </a:lnTo>
                  <a:lnTo>
                    <a:pt x="396907" y="35625"/>
                  </a:lnTo>
                  <a:lnTo>
                    <a:pt x="355815" y="16325"/>
                  </a:lnTo>
                  <a:lnTo>
                    <a:pt x="311190" y="4204"/>
                  </a:lnTo>
                  <a:lnTo>
                    <a:pt x="263778" y="0"/>
                  </a:lnTo>
                  <a:close/>
                </a:path>
              </a:pathLst>
            </a:custGeom>
            <a:solidFill>
              <a:srgbClr val="5B9BD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6"/>
            <p:cNvSpPr/>
            <p:nvPr/>
          </p:nvSpPr>
          <p:spPr>
            <a:xfrm>
              <a:off x="3808348" y="2012569"/>
              <a:ext cx="527685" cy="521970"/>
            </a:xfrm>
            <a:custGeom>
              <a:avLst/>
              <a:gdLst/>
              <a:ahLst/>
              <a:cxnLst/>
              <a:rect l="l" t="t" r="r" b="b"/>
              <a:pathLst>
                <a:path w="527685" h="521969">
                  <a:moveTo>
                    <a:pt x="0" y="260857"/>
                  </a:moveTo>
                  <a:lnTo>
                    <a:pt x="4250" y="213981"/>
                  </a:lnTo>
                  <a:lnTo>
                    <a:pt x="16504" y="169856"/>
                  </a:lnTo>
                  <a:lnTo>
                    <a:pt x="36016" y="129220"/>
                  </a:lnTo>
                  <a:lnTo>
                    <a:pt x="62041" y="92811"/>
                  </a:lnTo>
                  <a:lnTo>
                    <a:pt x="93834" y="61366"/>
                  </a:lnTo>
                  <a:lnTo>
                    <a:pt x="130650" y="35625"/>
                  </a:lnTo>
                  <a:lnTo>
                    <a:pt x="171742" y="16325"/>
                  </a:lnTo>
                  <a:lnTo>
                    <a:pt x="216367" y="4204"/>
                  </a:lnTo>
                  <a:lnTo>
                    <a:pt x="263778" y="0"/>
                  </a:lnTo>
                  <a:lnTo>
                    <a:pt x="311190" y="4204"/>
                  </a:lnTo>
                  <a:lnTo>
                    <a:pt x="355815" y="16325"/>
                  </a:lnTo>
                  <a:lnTo>
                    <a:pt x="396907" y="35625"/>
                  </a:lnTo>
                  <a:lnTo>
                    <a:pt x="433723" y="61366"/>
                  </a:lnTo>
                  <a:lnTo>
                    <a:pt x="465516" y="92811"/>
                  </a:lnTo>
                  <a:lnTo>
                    <a:pt x="491541" y="129220"/>
                  </a:lnTo>
                  <a:lnTo>
                    <a:pt x="511053" y="169856"/>
                  </a:lnTo>
                  <a:lnTo>
                    <a:pt x="523307" y="213981"/>
                  </a:lnTo>
                  <a:lnTo>
                    <a:pt x="527558" y="260857"/>
                  </a:lnTo>
                  <a:lnTo>
                    <a:pt x="523307" y="307734"/>
                  </a:lnTo>
                  <a:lnTo>
                    <a:pt x="511053" y="351859"/>
                  </a:lnTo>
                  <a:lnTo>
                    <a:pt x="491541" y="392495"/>
                  </a:lnTo>
                  <a:lnTo>
                    <a:pt x="465516" y="428904"/>
                  </a:lnTo>
                  <a:lnTo>
                    <a:pt x="433723" y="460349"/>
                  </a:lnTo>
                  <a:lnTo>
                    <a:pt x="396907" y="486090"/>
                  </a:lnTo>
                  <a:lnTo>
                    <a:pt x="355815" y="505390"/>
                  </a:lnTo>
                  <a:lnTo>
                    <a:pt x="311190" y="517511"/>
                  </a:lnTo>
                  <a:lnTo>
                    <a:pt x="263778" y="521715"/>
                  </a:lnTo>
                  <a:lnTo>
                    <a:pt x="216367" y="517511"/>
                  </a:lnTo>
                  <a:lnTo>
                    <a:pt x="171742" y="505390"/>
                  </a:lnTo>
                  <a:lnTo>
                    <a:pt x="130650" y="486090"/>
                  </a:lnTo>
                  <a:lnTo>
                    <a:pt x="93834" y="460349"/>
                  </a:lnTo>
                  <a:lnTo>
                    <a:pt x="62041" y="428904"/>
                  </a:lnTo>
                  <a:lnTo>
                    <a:pt x="36016" y="392495"/>
                  </a:lnTo>
                  <a:lnTo>
                    <a:pt x="16504" y="351859"/>
                  </a:lnTo>
                  <a:lnTo>
                    <a:pt x="4250" y="307734"/>
                  </a:lnTo>
                  <a:lnTo>
                    <a:pt x="0" y="260857"/>
                  </a:lnTo>
                  <a:close/>
                </a:path>
              </a:pathLst>
            </a:custGeom>
            <a:ln w="12700">
              <a:solidFill>
                <a:srgbClr val="41709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7" name="object 17"/>
          <p:cNvSpPr txBox="1"/>
          <p:nvPr/>
        </p:nvSpPr>
        <p:spPr>
          <a:xfrm>
            <a:off x="3967098" y="2160523"/>
            <a:ext cx="21018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25" dirty="0">
                <a:solidFill>
                  <a:srgbClr val="FFFFFF"/>
                </a:solidFill>
                <a:latin typeface="Calibri"/>
                <a:cs typeface="Calibri"/>
              </a:rPr>
              <a:t>w2</a:t>
            </a:r>
            <a:endParaRPr sz="120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08F828-3BDB-AB6A-1157-723B95E581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739" y="14986"/>
            <a:ext cx="10328275" cy="492443"/>
          </a:xfrm>
        </p:spPr>
        <p:txBody>
          <a:bodyPr/>
          <a:lstStyle/>
          <a:p>
            <a:r>
              <a:rPr lang="en-US" dirty="0"/>
              <a:t>AND gate</a:t>
            </a:r>
          </a:p>
        </p:txBody>
      </p:sp>
      <p:pic>
        <p:nvPicPr>
          <p:cNvPr id="5" name="Picture 4" descr="A graph with numbers and lines&#10;&#10;AI-generated content may be incorrect.">
            <a:extLst>
              <a:ext uri="{FF2B5EF4-FFF2-40B4-BE49-F238E27FC236}">
                <a16:creationId xmlns:a16="http://schemas.microsoft.com/office/drawing/2014/main" id="{8DA0FDD5-6227-04C8-54CD-E48C52518AD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4800" y="1143000"/>
            <a:ext cx="4288545" cy="4498857"/>
          </a:xfrm>
          <a:prstGeom prst="rect">
            <a:avLst/>
          </a:prstGeom>
        </p:spPr>
      </p:pic>
      <p:pic>
        <p:nvPicPr>
          <p:cNvPr id="7" name="Picture 6" descr="A white background with black and white numbers&#10;&#10;AI-generated content may be incorrect.">
            <a:extLst>
              <a:ext uri="{FF2B5EF4-FFF2-40B4-BE49-F238E27FC236}">
                <a16:creationId xmlns:a16="http://schemas.microsoft.com/office/drawing/2014/main" id="{D12D983B-411A-FF6C-085D-E6A10DB418E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85348" y="3392428"/>
            <a:ext cx="7167640" cy="32416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447201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2AE3FB-5B0C-0F55-686B-AEAAD3B5AC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739" y="14986"/>
            <a:ext cx="10328275" cy="492443"/>
          </a:xfrm>
        </p:spPr>
        <p:txBody>
          <a:bodyPr/>
          <a:lstStyle/>
          <a:p>
            <a:r>
              <a:rPr lang="en-US" dirty="0"/>
              <a:t>OR gate</a:t>
            </a:r>
          </a:p>
        </p:txBody>
      </p:sp>
      <p:pic>
        <p:nvPicPr>
          <p:cNvPr id="5" name="Picture 4" descr="A graph with numbers and points&#10;&#10;AI-generated content may be incorrect.">
            <a:extLst>
              <a:ext uri="{FF2B5EF4-FFF2-40B4-BE49-F238E27FC236}">
                <a16:creationId xmlns:a16="http://schemas.microsoft.com/office/drawing/2014/main" id="{74B6CA4E-9897-4BD6-E6C8-1465B5721D2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4800" y="990600"/>
            <a:ext cx="4288545" cy="4498857"/>
          </a:xfrm>
          <a:prstGeom prst="rect">
            <a:avLst/>
          </a:prstGeom>
        </p:spPr>
      </p:pic>
      <p:pic>
        <p:nvPicPr>
          <p:cNvPr id="7" name="Picture 6" descr="A screenshot of a math equation&#10;&#10;AI-generated content may be incorrect.">
            <a:extLst>
              <a:ext uri="{FF2B5EF4-FFF2-40B4-BE49-F238E27FC236}">
                <a16:creationId xmlns:a16="http://schemas.microsoft.com/office/drawing/2014/main" id="{844370E0-D56C-4B49-11BC-E18B5F88948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59133" y="3579388"/>
            <a:ext cx="7354071" cy="32309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793260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ABCAE7-F4D4-C909-54D7-E3FA492218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739" y="14986"/>
            <a:ext cx="10328275" cy="492443"/>
          </a:xfrm>
        </p:spPr>
        <p:txBody>
          <a:bodyPr/>
          <a:lstStyle/>
          <a:p>
            <a:r>
              <a:rPr lang="en-US" dirty="0"/>
              <a:t>NAND gate</a:t>
            </a:r>
          </a:p>
        </p:txBody>
      </p:sp>
      <p:pic>
        <p:nvPicPr>
          <p:cNvPr id="5" name="Picture 4" descr="A graph with numbers and points&#10;&#10;AI-generated content may be incorrect.">
            <a:extLst>
              <a:ext uri="{FF2B5EF4-FFF2-40B4-BE49-F238E27FC236}">
                <a16:creationId xmlns:a16="http://schemas.microsoft.com/office/drawing/2014/main" id="{30F99F9A-6857-455F-23B6-788C2A74447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8600" y="990600"/>
            <a:ext cx="4288545" cy="4498857"/>
          </a:xfrm>
          <a:prstGeom prst="rect">
            <a:avLst/>
          </a:prstGeom>
        </p:spPr>
      </p:pic>
      <p:pic>
        <p:nvPicPr>
          <p:cNvPr id="7" name="Picture 6" descr="A screenshot of a math problem&#10;&#10;AI-generated content may be incorrect.">
            <a:extLst>
              <a:ext uri="{FF2B5EF4-FFF2-40B4-BE49-F238E27FC236}">
                <a16:creationId xmlns:a16="http://schemas.microsoft.com/office/drawing/2014/main" id="{22D506E0-7EEA-8190-1938-C8B93229BB1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76800" y="3947414"/>
            <a:ext cx="6485278" cy="2895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243740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125" dirty="0"/>
              <a:t>So</a:t>
            </a:r>
            <a:r>
              <a:rPr spc="170" dirty="0"/>
              <a:t> </a:t>
            </a:r>
            <a:r>
              <a:rPr dirty="0"/>
              <a:t>are</a:t>
            </a:r>
            <a:r>
              <a:rPr spc="170" dirty="0"/>
              <a:t> </a:t>
            </a:r>
            <a:r>
              <a:rPr dirty="0"/>
              <a:t>perceptrons</a:t>
            </a:r>
            <a:r>
              <a:rPr spc="145" dirty="0"/>
              <a:t> </a:t>
            </a:r>
            <a:r>
              <a:rPr spc="55" dirty="0"/>
              <a:t>just</a:t>
            </a:r>
            <a:r>
              <a:rPr spc="190" dirty="0"/>
              <a:t> </a:t>
            </a:r>
            <a:r>
              <a:rPr dirty="0"/>
              <a:t>more</a:t>
            </a:r>
            <a:r>
              <a:rPr spc="170" dirty="0"/>
              <a:t> </a:t>
            </a:r>
            <a:r>
              <a:rPr spc="75" dirty="0"/>
              <a:t>complex</a:t>
            </a:r>
            <a:r>
              <a:rPr spc="55" dirty="0"/>
              <a:t> </a:t>
            </a:r>
            <a:r>
              <a:rPr spc="75" dirty="0"/>
              <a:t>NAND</a:t>
            </a:r>
            <a:r>
              <a:rPr spc="165" dirty="0"/>
              <a:t> </a:t>
            </a:r>
            <a:r>
              <a:rPr spc="-10" dirty="0"/>
              <a:t>gates?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947419" y="1122153"/>
            <a:ext cx="9768205" cy="4280535"/>
          </a:xfrm>
          <a:prstGeom prst="rect">
            <a:avLst/>
          </a:prstGeom>
        </p:spPr>
        <p:txBody>
          <a:bodyPr vert="horz" wrap="square" lIns="0" tIns="46355" rIns="0" bIns="0" rtlCol="0">
            <a:spAutoFit/>
          </a:bodyPr>
          <a:lstStyle/>
          <a:p>
            <a:pPr marL="240665" indent="-227965">
              <a:lnSpc>
                <a:spcPct val="100000"/>
              </a:lnSpc>
              <a:spcBef>
                <a:spcPts val="365"/>
              </a:spcBef>
              <a:buFont typeface="Arial"/>
              <a:buChar char="•"/>
              <a:tabLst>
                <a:tab pos="240665" algn="l"/>
              </a:tabLst>
            </a:pPr>
            <a:r>
              <a:rPr sz="2800" spc="-25" dirty="0">
                <a:latin typeface="Calibri"/>
                <a:cs typeface="Calibri"/>
              </a:rPr>
              <a:t>No</a:t>
            </a:r>
            <a:endParaRPr sz="2800">
              <a:latin typeface="Calibri"/>
              <a:cs typeface="Calibri"/>
            </a:endParaRPr>
          </a:p>
          <a:p>
            <a:pPr marL="697230" lvl="1" indent="-227329">
              <a:lnSpc>
                <a:spcPts val="2735"/>
              </a:lnSpc>
              <a:spcBef>
                <a:spcPts val="229"/>
              </a:spcBef>
              <a:buFont typeface="Arial"/>
              <a:buChar char="•"/>
              <a:tabLst>
                <a:tab pos="697230" algn="l"/>
              </a:tabLst>
            </a:pPr>
            <a:r>
              <a:rPr sz="2400" spc="65" dirty="0">
                <a:latin typeface="Calibri"/>
                <a:cs typeface="Calibri"/>
              </a:rPr>
              <a:t>The</a:t>
            </a:r>
            <a:r>
              <a:rPr sz="2400" spc="15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key</a:t>
            </a:r>
            <a:r>
              <a:rPr sz="2400" spc="4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strength</a:t>
            </a:r>
            <a:r>
              <a:rPr sz="2400" spc="145" dirty="0">
                <a:latin typeface="Calibri"/>
                <a:cs typeface="Calibri"/>
              </a:rPr>
              <a:t> </a:t>
            </a:r>
            <a:r>
              <a:rPr sz="2400" spc="80" dirty="0">
                <a:latin typeface="Calibri"/>
                <a:cs typeface="Calibri"/>
              </a:rPr>
              <a:t>lies</a:t>
            </a:r>
            <a:r>
              <a:rPr sz="2400" spc="145" dirty="0">
                <a:latin typeface="Calibri"/>
                <a:cs typeface="Calibri"/>
              </a:rPr>
              <a:t> </a:t>
            </a:r>
            <a:r>
              <a:rPr sz="2400" spc="70" dirty="0">
                <a:latin typeface="Calibri"/>
                <a:cs typeface="Calibri"/>
              </a:rPr>
              <a:t>in</a:t>
            </a:r>
            <a:r>
              <a:rPr sz="2400" spc="12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150" dirty="0">
                <a:latin typeface="Calibri"/>
                <a:cs typeface="Calibri"/>
              </a:rPr>
              <a:t> </a:t>
            </a:r>
            <a:r>
              <a:rPr sz="2400" spc="55" dirty="0">
                <a:latin typeface="Calibri"/>
                <a:cs typeface="Calibri"/>
              </a:rPr>
              <a:t>algorithms</a:t>
            </a:r>
            <a:r>
              <a:rPr sz="2400" spc="145" dirty="0">
                <a:latin typeface="Calibri"/>
                <a:cs typeface="Calibri"/>
              </a:rPr>
              <a:t> </a:t>
            </a:r>
            <a:r>
              <a:rPr sz="2400" spc="55" dirty="0">
                <a:latin typeface="Calibri"/>
                <a:cs typeface="Calibri"/>
              </a:rPr>
              <a:t>which</a:t>
            </a:r>
            <a:r>
              <a:rPr sz="2400" spc="135" dirty="0">
                <a:latin typeface="Calibri"/>
                <a:cs typeface="Calibri"/>
              </a:rPr>
              <a:t> </a:t>
            </a:r>
            <a:r>
              <a:rPr sz="2400" spc="70" dirty="0">
                <a:latin typeface="Calibri"/>
                <a:cs typeface="Calibri"/>
              </a:rPr>
              <a:t>allow</a:t>
            </a:r>
            <a:r>
              <a:rPr sz="2400" spc="8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us</a:t>
            </a:r>
            <a:r>
              <a:rPr sz="2400" spc="12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to</a:t>
            </a:r>
            <a:r>
              <a:rPr sz="2400" spc="13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tune</a:t>
            </a:r>
            <a:r>
              <a:rPr sz="2400" spc="150" dirty="0">
                <a:latin typeface="Calibri"/>
                <a:cs typeface="Calibri"/>
              </a:rPr>
              <a:t> </a:t>
            </a:r>
            <a:r>
              <a:rPr sz="2400" spc="-25" dirty="0">
                <a:latin typeface="Calibri"/>
                <a:cs typeface="Calibri"/>
              </a:rPr>
              <a:t>the</a:t>
            </a:r>
            <a:endParaRPr sz="2400">
              <a:latin typeface="Calibri"/>
              <a:cs typeface="Calibri"/>
            </a:endParaRPr>
          </a:p>
          <a:p>
            <a:pPr marL="698500">
              <a:lnSpc>
                <a:spcPts val="2735"/>
              </a:lnSpc>
            </a:pPr>
            <a:r>
              <a:rPr sz="2400" spc="45" dirty="0">
                <a:latin typeface="Calibri"/>
                <a:cs typeface="Calibri"/>
              </a:rPr>
              <a:t>weights</a:t>
            </a:r>
            <a:endParaRPr sz="2400">
              <a:latin typeface="Calibri"/>
              <a:cs typeface="Calibri"/>
            </a:endParaRPr>
          </a:p>
          <a:p>
            <a:pPr marL="697230" lvl="1" indent="-227329">
              <a:lnSpc>
                <a:spcPts val="2735"/>
              </a:lnSpc>
              <a:spcBef>
                <a:spcPts val="215"/>
              </a:spcBef>
              <a:buFont typeface="Arial"/>
              <a:buChar char="•"/>
              <a:tabLst>
                <a:tab pos="697230" algn="l"/>
              </a:tabLst>
            </a:pPr>
            <a:r>
              <a:rPr sz="2400" spc="55" dirty="0">
                <a:latin typeface="Calibri"/>
                <a:cs typeface="Calibri"/>
              </a:rPr>
              <a:t>It</a:t>
            </a:r>
            <a:r>
              <a:rPr sz="2400" spc="160" dirty="0">
                <a:latin typeface="Calibri"/>
                <a:cs typeface="Calibri"/>
              </a:rPr>
              <a:t> </a:t>
            </a:r>
            <a:r>
              <a:rPr sz="2400" spc="65" dirty="0">
                <a:latin typeface="Calibri"/>
                <a:cs typeface="Calibri"/>
              </a:rPr>
              <a:t>also</a:t>
            </a:r>
            <a:r>
              <a:rPr sz="2400" spc="16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needs</a:t>
            </a:r>
            <a:r>
              <a:rPr sz="2400" spc="15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to</a:t>
            </a:r>
            <a:r>
              <a:rPr sz="2400" spc="15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be</a:t>
            </a:r>
            <a:r>
              <a:rPr sz="2400" spc="175" dirty="0">
                <a:latin typeface="Calibri"/>
                <a:cs typeface="Calibri"/>
              </a:rPr>
              <a:t> </a:t>
            </a:r>
            <a:r>
              <a:rPr sz="2400" spc="50" dirty="0">
                <a:latin typeface="Calibri"/>
                <a:cs typeface="Calibri"/>
              </a:rPr>
              <a:t>something</a:t>
            </a:r>
            <a:r>
              <a:rPr sz="2400" spc="16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that’s</a:t>
            </a:r>
            <a:r>
              <a:rPr sz="2400" spc="14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done</a:t>
            </a:r>
            <a:r>
              <a:rPr sz="2400" spc="17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with</a:t>
            </a:r>
            <a:r>
              <a:rPr sz="2400" spc="14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just</a:t>
            </a:r>
            <a:r>
              <a:rPr sz="2400" spc="14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17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input,</a:t>
            </a:r>
            <a:r>
              <a:rPr sz="2400" spc="-7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and</a:t>
            </a:r>
            <a:r>
              <a:rPr sz="2400" spc="165" dirty="0">
                <a:latin typeface="Calibri"/>
                <a:cs typeface="Calibri"/>
              </a:rPr>
              <a:t> </a:t>
            </a:r>
            <a:r>
              <a:rPr sz="2400" spc="-25" dirty="0">
                <a:latin typeface="Calibri"/>
                <a:cs typeface="Calibri"/>
              </a:rPr>
              <a:t>not</a:t>
            </a:r>
            <a:endParaRPr sz="2400">
              <a:latin typeface="Calibri"/>
              <a:cs typeface="Calibri"/>
            </a:endParaRPr>
          </a:p>
          <a:p>
            <a:pPr marR="4667885" algn="r">
              <a:lnSpc>
                <a:spcPts val="2735"/>
              </a:lnSpc>
            </a:pPr>
            <a:r>
              <a:rPr sz="2400" spc="50" dirty="0">
                <a:latin typeface="Calibri"/>
                <a:cs typeface="Calibri"/>
              </a:rPr>
              <a:t>something</a:t>
            </a:r>
            <a:r>
              <a:rPr sz="2400" spc="18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that</a:t>
            </a:r>
            <a:r>
              <a:rPr sz="2400" spc="19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relies</a:t>
            </a:r>
            <a:r>
              <a:rPr sz="2400" spc="18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on</a:t>
            </a:r>
            <a:r>
              <a:rPr sz="2400" spc="19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</a:t>
            </a:r>
            <a:r>
              <a:rPr sz="2400" spc="185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human</a:t>
            </a:r>
            <a:endParaRPr sz="2400">
              <a:latin typeface="Calibri"/>
              <a:cs typeface="Calibri"/>
            </a:endParaRPr>
          </a:p>
          <a:p>
            <a:pPr marL="227329" marR="4721860" indent="-227329" algn="r">
              <a:lnSpc>
                <a:spcPct val="100000"/>
              </a:lnSpc>
              <a:spcBef>
                <a:spcPts val="645"/>
              </a:spcBef>
              <a:buFont typeface="Arial"/>
              <a:buChar char="•"/>
              <a:tabLst>
                <a:tab pos="227329" algn="l"/>
              </a:tabLst>
            </a:pPr>
            <a:r>
              <a:rPr sz="2800" spc="-20" dirty="0">
                <a:latin typeface="Calibri"/>
                <a:cs typeface="Calibri"/>
              </a:rPr>
              <a:t>What’s</a:t>
            </a:r>
            <a:r>
              <a:rPr sz="2800" spc="175" dirty="0">
                <a:latin typeface="Calibri"/>
                <a:cs typeface="Calibri"/>
              </a:rPr>
              <a:t> </a:t>
            </a:r>
            <a:r>
              <a:rPr sz="2800" spc="50" dirty="0">
                <a:latin typeface="Calibri"/>
                <a:cs typeface="Calibri"/>
              </a:rPr>
              <a:t>so</a:t>
            </a:r>
            <a:r>
              <a:rPr sz="2800" spc="17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important</a:t>
            </a:r>
            <a:r>
              <a:rPr sz="2800" spc="204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about</a:t>
            </a:r>
            <a:r>
              <a:rPr sz="2800" spc="175" dirty="0">
                <a:latin typeface="Calibri"/>
                <a:cs typeface="Calibri"/>
              </a:rPr>
              <a:t> </a:t>
            </a:r>
            <a:r>
              <a:rPr sz="2800" spc="-10" dirty="0">
                <a:latin typeface="Calibri"/>
                <a:cs typeface="Calibri"/>
              </a:rPr>
              <a:t>this?</a:t>
            </a:r>
            <a:endParaRPr sz="2800">
              <a:latin typeface="Calibri"/>
              <a:cs typeface="Calibri"/>
            </a:endParaRPr>
          </a:p>
          <a:p>
            <a:pPr marL="697230" lvl="1" indent="-227329">
              <a:lnSpc>
                <a:spcPct val="100000"/>
              </a:lnSpc>
              <a:spcBef>
                <a:spcPts val="235"/>
              </a:spcBef>
              <a:buFont typeface="Arial"/>
              <a:buChar char="•"/>
              <a:tabLst>
                <a:tab pos="697230" algn="l"/>
              </a:tabLst>
            </a:pPr>
            <a:r>
              <a:rPr sz="2400" dirty="0">
                <a:latin typeface="Calibri"/>
                <a:cs typeface="Calibri"/>
              </a:rPr>
              <a:t>When</a:t>
            </a:r>
            <a:r>
              <a:rPr sz="2400" spc="18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we</a:t>
            </a:r>
            <a:r>
              <a:rPr sz="2400" spc="17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create</a:t>
            </a:r>
            <a:r>
              <a:rPr sz="2400" spc="19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</a:t>
            </a:r>
            <a:r>
              <a:rPr sz="2400" spc="17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circuit,</a:t>
            </a:r>
            <a:r>
              <a:rPr sz="2400" spc="-6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we</a:t>
            </a:r>
            <a:r>
              <a:rPr sz="2400" spc="185" dirty="0">
                <a:latin typeface="Calibri"/>
                <a:cs typeface="Calibri"/>
              </a:rPr>
              <a:t> </a:t>
            </a:r>
            <a:r>
              <a:rPr sz="2400" spc="70" dirty="0">
                <a:latin typeface="Calibri"/>
                <a:cs typeface="Calibri"/>
              </a:rPr>
              <a:t>basically</a:t>
            </a:r>
            <a:r>
              <a:rPr sz="2400" spc="10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presolve</a:t>
            </a:r>
            <a:r>
              <a:rPr sz="2400" spc="21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some</a:t>
            </a:r>
            <a:r>
              <a:rPr sz="2400" spc="19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set</a:t>
            </a:r>
            <a:r>
              <a:rPr sz="2400" spc="19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of</a:t>
            </a:r>
            <a:r>
              <a:rPr sz="2400" spc="165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problems</a:t>
            </a:r>
            <a:endParaRPr sz="2400">
              <a:latin typeface="Calibri"/>
              <a:cs typeface="Calibri"/>
            </a:endParaRPr>
          </a:p>
          <a:p>
            <a:pPr marL="697230" lvl="1" indent="-227329">
              <a:lnSpc>
                <a:spcPct val="100000"/>
              </a:lnSpc>
              <a:spcBef>
                <a:spcPts val="215"/>
              </a:spcBef>
              <a:buFont typeface="Arial"/>
              <a:buChar char="•"/>
              <a:tabLst>
                <a:tab pos="697230" algn="l"/>
              </a:tabLst>
            </a:pPr>
            <a:r>
              <a:rPr sz="2400" spc="60" dirty="0">
                <a:latin typeface="Calibri"/>
                <a:cs typeface="Calibri"/>
              </a:rPr>
              <a:t>Then</a:t>
            </a:r>
            <a:r>
              <a:rPr sz="2400" spc="15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we</a:t>
            </a:r>
            <a:r>
              <a:rPr sz="2400" spc="155" dirty="0">
                <a:latin typeface="Calibri"/>
                <a:cs typeface="Calibri"/>
              </a:rPr>
              <a:t> </a:t>
            </a:r>
            <a:r>
              <a:rPr sz="2400" spc="65" dirty="0">
                <a:latin typeface="Calibri"/>
                <a:cs typeface="Calibri"/>
              </a:rPr>
              <a:t>lay</a:t>
            </a:r>
            <a:r>
              <a:rPr sz="2400" spc="6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out</a:t>
            </a:r>
            <a:r>
              <a:rPr sz="2400" spc="15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15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circuit</a:t>
            </a:r>
            <a:r>
              <a:rPr sz="2400" spc="13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to</a:t>
            </a:r>
            <a:r>
              <a:rPr sz="2400" spc="150" dirty="0">
                <a:latin typeface="Calibri"/>
                <a:cs typeface="Calibri"/>
              </a:rPr>
              <a:t> </a:t>
            </a:r>
            <a:r>
              <a:rPr sz="2400" spc="55" dirty="0">
                <a:latin typeface="Calibri"/>
                <a:cs typeface="Calibri"/>
              </a:rPr>
              <a:t>solve</a:t>
            </a:r>
            <a:r>
              <a:rPr sz="2400" spc="175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those</a:t>
            </a:r>
            <a:endParaRPr sz="2400">
              <a:latin typeface="Calibri"/>
              <a:cs typeface="Calibri"/>
            </a:endParaRPr>
          </a:p>
          <a:p>
            <a:pPr marL="697230" marR="5080" lvl="1" indent="-227329">
              <a:lnSpc>
                <a:spcPct val="90000"/>
              </a:lnSpc>
              <a:spcBef>
                <a:spcPts val="495"/>
              </a:spcBef>
              <a:buFont typeface="Arial"/>
              <a:buChar char="•"/>
              <a:tabLst>
                <a:tab pos="698500" algn="l"/>
              </a:tabLst>
            </a:pPr>
            <a:r>
              <a:rPr sz="2400" spc="-10" dirty="0">
                <a:latin typeface="Calibri"/>
                <a:cs typeface="Calibri"/>
              </a:rPr>
              <a:t>However,</a:t>
            </a:r>
            <a:r>
              <a:rPr sz="2400" spc="-4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with</a:t>
            </a:r>
            <a:r>
              <a:rPr sz="2400" spc="14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our</a:t>
            </a:r>
            <a:r>
              <a:rPr sz="2400" spc="-2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‘learning’</a:t>
            </a:r>
            <a:r>
              <a:rPr sz="2400" spc="-6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approach,</a:t>
            </a:r>
            <a:r>
              <a:rPr sz="2400" spc="-3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we</a:t>
            </a:r>
            <a:r>
              <a:rPr sz="2400" spc="15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don’t</a:t>
            </a:r>
            <a:r>
              <a:rPr sz="2400" spc="16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have</a:t>
            </a:r>
            <a:r>
              <a:rPr sz="2400" spc="17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to</a:t>
            </a:r>
            <a:r>
              <a:rPr sz="2400" spc="15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do</a:t>
            </a:r>
            <a:r>
              <a:rPr sz="2400" spc="16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that.</a:t>
            </a:r>
            <a:r>
              <a:rPr sz="2400" spc="-105" dirty="0">
                <a:latin typeface="Calibri"/>
                <a:cs typeface="Calibri"/>
              </a:rPr>
              <a:t> </a:t>
            </a:r>
            <a:r>
              <a:rPr sz="2400" spc="-25" dirty="0">
                <a:latin typeface="Calibri"/>
                <a:cs typeface="Calibri"/>
              </a:rPr>
              <a:t>We 	</a:t>
            </a:r>
            <a:r>
              <a:rPr sz="2400" dirty="0">
                <a:latin typeface="Calibri"/>
                <a:cs typeface="Calibri"/>
              </a:rPr>
              <a:t>just</a:t>
            </a:r>
            <a:r>
              <a:rPr sz="2400" spc="18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create</a:t>
            </a:r>
            <a:r>
              <a:rPr sz="2400" spc="18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some</a:t>
            </a:r>
            <a:r>
              <a:rPr sz="2400" spc="185" dirty="0">
                <a:latin typeface="Calibri"/>
                <a:cs typeface="Calibri"/>
              </a:rPr>
              <a:t> </a:t>
            </a:r>
            <a:r>
              <a:rPr sz="2400" spc="55" dirty="0">
                <a:latin typeface="Calibri"/>
                <a:cs typeface="Calibri"/>
              </a:rPr>
              <a:t>basic</a:t>
            </a:r>
            <a:r>
              <a:rPr sz="2400" spc="11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architecture,</a:t>
            </a:r>
            <a:r>
              <a:rPr sz="2400" spc="-4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and</a:t>
            </a:r>
            <a:r>
              <a:rPr sz="2400" spc="180" dirty="0">
                <a:latin typeface="Calibri"/>
                <a:cs typeface="Calibri"/>
              </a:rPr>
              <a:t> </a:t>
            </a:r>
            <a:r>
              <a:rPr sz="2400" spc="50" dirty="0">
                <a:latin typeface="Calibri"/>
                <a:cs typeface="Calibri"/>
              </a:rPr>
              <a:t>let</a:t>
            </a:r>
            <a:r>
              <a:rPr sz="2400" spc="185" dirty="0">
                <a:latin typeface="Calibri"/>
                <a:cs typeface="Calibri"/>
              </a:rPr>
              <a:t> </a:t>
            </a:r>
            <a:r>
              <a:rPr sz="2400" spc="50" dirty="0">
                <a:latin typeface="Calibri"/>
                <a:cs typeface="Calibri"/>
              </a:rPr>
              <a:t>it</a:t>
            </a:r>
            <a:r>
              <a:rPr sz="2400" spc="175" dirty="0">
                <a:latin typeface="Calibri"/>
                <a:cs typeface="Calibri"/>
              </a:rPr>
              <a:t> </a:t>
            </a:r>
            <a:r>
              <a:rPr sz="2400" spc="45" dirty="0">
                <a:latin typeface="Calibri"/>
                <a:cs typeface="Calibri"/>
              </a:rPr>
              <a:t>automatically</a:t>
            </a:r>
            <a:r>
              <a:rPr sz="2400" spc="6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tune</a:t>
            </a:r>
            <a:r>
              <a:rPr sz="2400" spc="185" dirty="0">
                <a:latin typeface="Calibri"/>
                <a:cs typeface="Calibri"/>
              </a:rPr>
              <a:t> </a:t>
            </a:r>
            <a:r>
              <a:rPr sz="2400" spc="50" dirty="0">
                <a:latin typeface="Calibri"/>
                <a:cs typeface="Calibri"/>
              </a:rPr>
              <a:t>itself 	</a:t>
            </a:r>
            <a:r>
              <a:rPr sz="2400" dirty="0">
                <a:latin typeface="Calibri"/>
                <a:cs typeface="Calibri"/>
              </a:rPr>
              <a:t>to</a:t>
            </a:r>
            <a:r>
              <a:rPr sz="2400" spc="110" dirty="0">
                <a:latin typeface="Calibri"/>
                <a:cs typeface="Calibri"/>
              </a:rPr>
              <a:t> </a:t>
            </a:r>
            <a:r>
              <a:rPr sz="2400" spc="60" dirty="0">
                <a:latin typeface="Calibri"/>
                <a:cs typeface="Calibri"/>
              </a:rPr>
              <a:t>get</a:t>
            </a:r>
            <a:r>
              <a:rPr sz="2400" spc="114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114" dirty="0">
                <a:latin typeface="Calibri"/>
                <a:cs typeface="Calibri"/>
              </a:rPr>
              <a:t> </a:t>
            </a:r>
            <a:r>
              <a:rPr sz="2400" spc="50" dirty="0">
                <a:latin typeface="Calibri"/>
                <a:cs typeface="Calibri"/>
              </a:rPr>
              <a:t>right</a:t>
            </a:r>
            <a:r>
              <a:rPr sz="2400" spc="114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answer</a:t>
            </a:r>
            <a:endParaRPr sz="240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105" dirty="0"/>
              <a:t>Sigmoid </a:t>
            </a:r>
            <a:r>
              <a:rPr spc="35" dirty="0"/>
              <a:t>Neurons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1176324" y="3627831"/>
            <a:ext cx="9742805" cy="1220470"/>
          </a:xfrm>
          <a:prstGeom prst="rect">
            <a:avLst/>
          </a:prstGeom>
        </p:spPr>
        <p:txBody>
          <a:bodyPr vert="horz" wrap="square" lIns="0" tIns="60325" rIns="0" bIns="0" rtlCol="0">
            <a:spAutoFit/>
          </a:bodyPr>
          <a:lstStyle/>
          <a:p>
            <a:pPr marL="239395" marR="5080" indent="-227329">
              <a:lnSpc>
                <a:spcPts val="3030"/>
              </a:lnSpc>
              <a:spcBef>
                <a:spcPts val="475"/>
              </a:spcBef>
              <a:buFont typeface="Arial"/>
              <a:buChar char="•"/>
              <a:tabLst>
                <a:tab pos="240665" algn="l"/>
                <a:tab pos="1181100" algn="l"/>
              </a:tabLst>
            </a:pPr>
            <a:r>
              <a:rPr sz="2800" spc="75" dirty="0">
                <a:latin typeface="Calibri"/>
                <a:cs typeface="Calibri"/>
              </a:rPr>
              <a:t>If</a:t>
            </a:r>
            <a:r>
              <a:rPr sz="2800" spc="114" dirty="0">
                <a:latin typeface="Calibri"/>
                <a:cs typeface="Calibri"/>
              </a:rPr>
              <a:t> </a:t>
            </a:r>
            <a:r>
              <a:rPr sz="2800" spc="-25" dirty="0">
                <a:latin typeface="Calibri"/>
                <a:cs typeface="Calibri"/>
              </a:rPr>
              <a:t>we</a:t>
            </a:r>
            <a:r>
              <a:rPr sz="2800" dirty="0">
                <a:latin typeface="Calibri"/>
                <a:cs typeface="Calibri"/>
              </a:rPr>
              <a:t>	want</a:t>
            </a:r>
            <a:r>
              <a:rPr sz="2800" spc="204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to</a:t>
            </a:r>
            <a:r>
              <a:rPr sz="2800" spc="18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learn,</a:t>
            </a:r>
            <a:r>
              <a:rPr sz="2800" spc="-5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then</a:t>
            </a:r>
            <a:r>
              <a:rPr sz="2800" spc="22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we</a:t>
            </a:r>
            <a:r>
              <a:rPr sz="2800" spc="200" dirty="0">
                <a:latin typeface="Calibri"/>
                <a:cs typeface="Calibri"/>
              </a:rPr>
              <a:t> </a:t>
            </a:r>
            <a:r>
              <a:rPr sz="2800" spc="60" dirty="0">
                <a:latin typeface="Calibri"/>
                <a:cs typeface="Calibri"/>
              </a:rPr>
              <a:t>should</a:t>
            </a:r>
            <a:r>
              <a:rPr sz="2800" spc="19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have</a:t>
            </a:r>
            <a:r>
              <a:rPr sz="2800" spc="20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a</a:t>
            </a:r>
            <a:r>
              <a:rPr sz="2800" spc="180" dirty="0">
                <a:latin typeface="Calibri"/>
                <a:cs typeface="Calibri"/>
              </a:rPr>
              <a:t> </a:t>
            </a:r>
            <a:r>
              <a:rPr sz="2800" spc="95" dirty="0">
                <a:latin typeface="Calibri"/>
                <a:cs typeface="Calibri"/>
              </a:rPr>
              <a:t>small</a:t>
            </a:r>
            <a:r>
              <a:rPr sz="2800" spc="175" dirty="0">
                <a:latin typeface="Calibri"/>
                <a:cs typeface="Calibri"/>
              </a:rPr>
              <a:t> </a:t>
            </a:r>
            <a:r>
              <a:rPr sz="2800" spc="65" dirty="0">
                <a:latin typeface="Calibri"/>
                <a:cs typeface="Calibri"/>
              </a:rPr>
              <a:t>change</a:t>
            </a:r>
            <a:r>
              <a:rPr sz="2800" spc="200" dirty="0">
                <a:latin typeface="Calibri"/>
                <a:cs typeface="Calibri"/>
              </a:rPr>
              <a:t> </a:t>
            </a:r>
            <a:r>
              <a:rPr sz="2800" spc="45" dirty="0">
                <a:latin typeface="Calibri"/>
                <a:cs typeface="Calibri"/>
              </a:rPr>
              <a:t>in 	</a:t>
            </a:r>
            <a:r>
              <a:rPr sz="2800" spc="55" dirty="0">
                <a:latin typeface="Calibri"/>
                <a:cs typeface="Calibri"/>
              </a:rPr>
              <a:t>weight</a:t>
            </a:r>
            <a:r>
              <a:rPr sz="2800" spc="240" dirty="0">
                <a:latin typeface="Calibri"/>
                <a:cs typeface="Calibri"/>
              </a:rPr>
              <a:t> </a:t>
            </a:r>
            <a:r>
              <a:rPr sz="2800" spc="70" dirty="0">
                <a:latin typeface="Calibri"/>
                <a:cs typeface="Calibri"/>
              </a:rPr>
              <a:t>in</a:t>
            </a:r>
            <a:r>
              <a:rPr sz="2800" spc="21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some</a:t>
            </a:r>
            <a:r>
              <a:rPr sz="2800" spc="210" dirty="0">
                <a:latin typeface="Calibri"/>
                <a:cs typeface="Calibri"/>
              </a:rPr>
              <a:t> </a:t>
            </a:r>
            <a:r>
              <a:rPr sz="2800" spc="50" dirty="0">
                <a:latin typeface="Calibri"/>
                <a:cs typeface="Calibri"/>
              </a:rPr>
              <a:t>synapse</a:t>
            </a:r>
            <a:r>
              <a:rPr sz="2800" spc="204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to</a:t>
            </a:r>
            <a:r>
              <a:rPr sz="2800" spc="22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have</a:t>
            </a:r>
            <a:r>
              <a:rPr sz="2800" spc="22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a</a:t>
            </a:r>
            <a:r>
              <a:rPr sz="2800" spc="21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corresponding</a:t>
            </a:r>
            <a:r>
              <a:rPr sz="2800" spc="265" dirty="0">
                <a:latin typeface="Calibri"/>
                <a:cs typeface="Calibri"/>
              </a:rPr>
              <a:t> </a:t>
            </a:r>
            <a:r>
              <a:rPr sz="2800" spc="95" dirty="0">
                <a:latin typeface="Calibri"/>
                <a:cs typeface="Calibri"/>
              </a:rPr>
              <a:t>small</a:t>
            </a:r>
            <a:r>
              <a:rPr sz="2800" spc="200" dirty="0">
                <a:latin typeface="Calibri"/>
                <a:cs typeface="Calibri"/>
              </a:rPr>
              <a:t> </a:t>
            </a:r>
            <a:r>
              <a:rPr sz="2800" spc="60" dirty="0">
                <a:latin typeface="Calibri"/>
                <a:cs typeface="Calibri"/>
              </a:rPr>
              <a:t>change 	</a:t>
            </a:r>
            <a:r>
              <a:rPr sz="2800" spc="70" dirty="0">
                <a:latin typeface="Calibri"/>
                <a:cs typeface="Calibri"/>
              </a:rPr>
              <a:t>in</a:t>
            </a:r>
            <a:r>
              <a:rPr sz="2800" spc="16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the</a:t>
            </a:r>
            <a:r>
              <a:rPr sz="2800" spc="175" dirty="0">
                <a:latin typeface="Calibri"/>
                <a:cs typeface="Calibri"/>
              </a:rPr>
              <a:t> </a:t>
            </a:r>
            <a:r>
              <a:rPr sz="2800" spc="-10" dirty="0">
                <a:latin typeface="Calibri"/>
                <a:cs typeface="Calibri"/>
              </a:rPr>
              <a:t>output</a:t>
            </a:r>
            <a:endParaRPr sz="2800">
              <a:latin typeface="Calibri"/>
              <a:cs typeface="Calibri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512946" y="1074800"/>
            <a:ext cx="4572000" cy="25146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105" dirty="0"/>
              <a:t>Sigmoid </a:t>
            </a:r>
            <a:r>
              <a:rPr spc="35" dirty="0"/>
              <a:t>Neurons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1176324" y="3593132"/>
            <a:ext cx="9720580" cy="2228850"/>
          </a:xfrm>
          <a:prstGeom prst="rect">
            <a:avLst/>
          </a:prstGeom>
        </p:spPr>
        <p:txBody>
          <a:bodyPr vert="horz" wrap="square" lIns="0" tIns="46990" rIns="0" bIns="0" rtlCol="0">
            <a:spAutoFit/>
          </a:bodyPr>
          <a:lstStyle/>
          <a:p>
            <a:pPr marL="240029" indent="-227329">
              <a:lnSpc>
                <a:spcPct val="100000"/>
              </a:lnSpc>
              <a:spcBef>
                <a:spcPts val="370"/>
              </a:spcBef>
              <a:buFont typeface="Arial"/>
              <a:buChar char="•"/>
              <a:tabLst>
                <a:tab pos="240029" algn="l"/>
              </a:tabLst>
            </a:pPr>
            <a:r>
              <a:rPr sz="2800" dirty="0">
                <a:latin typeface="Calibri"/>
                <a:cs typeface="Calibri"/>
              </a:rPr>
              <a:t>Why</a:t>
            </a:r>
            <a:r>
              <a:rPr sz="2800" spc="-20" dirty="0">
                <a:latin typeface="Calibri"/>
                <a:cs typeface="Calibri"/>
              </a:rPr>
              <a:t> </a:t>
            </a:r>
            <a:r>
              <a:rPr sz="2800" spc="85" dirty="0">
                <a:latin typeface="Calibri"/>
                <a:cs typeface="Calibri"/>
              </a:rPr>
              <a:t>is</a:t>
            </a:r>
            <a:r>
              <a:rPr sz="2800" spc="80" dirty="0">
                <a:latin typeface="Calibri"/>
                <a:cs typeface="Calibri"/>
              </a:rPr>
              <a:t> </a:t>
            </a:r>
            <a:r>
              <a:rPr sz="2800" spc="60" dirty="0">
                <a:latin typeface="Calibri"/>
                <a:cs typeface="Calibri"/>
              </a:rPr>
              <a:t>this</a:t>
            </a:r>
            <a:r>
              <a:rPr sz="2800" spc="85" dirty="0">
                <a:latin typeface="Calibri"/>
                <a:cs typeface="Calibri"/>
              </a:rPr>
              <a:t> </a:t>
            </a:r>
            <a:r>
              <a:rPr sz="2800" spc="-10" dirty="0">
                <a:latin typeface="Calibri"/>
                <a:cs typeface="Calibri"/>
              </a:rPr>
              <a:t>important?</a:t>
            </a:r>
            <a:endParaRPr sz="2800">
              <a:latin typeface="Calibri"/>
              <a:cs typeface="Calibri"/>
            </a:endParaRPr>
          </a:p>
          <a:p>
            <a:pPr marL="696595" lvl="1" indent="-227329">
              <a:lnSpc>
                <a:spcPct val="100000"/>
              </a:lnSpc>
              <a:spcBef>
                <a:spcPts val="235"/>
              </a:spcBef>
              <a:buFont typeface="Arial"/>
              <a:buChar char="•"/>
              <a:tabLst>
                <a:tab pos="696595" algn="l"/>
              </a:tabLst>
            </a:pPr>
            <a:r>
              <a:rPr sz="2400" dirty="0">
                <a:latin typeface="Calibri"/>
                <a:cs typeface="Calibri"/>
              </a:rPr>
              <a:t>Let’s</a:t>
            </a:r>
            <a:r>
              <a:rPr sz="2400" spc="16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say</a:t>
            </a:r>
            <a:r>
              <a:rPr sz="2400" spc="6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we</a:t>
            </a:r>
            <a:r>
              <a:rPr sz="2400" spc="16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feed</a:t>
            </a:r>
            <a:r>
              <a:rPr sz="2400" spc="14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an</a:t>
            </a:r>
            <a:r>
              <a:rPr sz="2400" spc="16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input</a:t>
            </a:r>
            <a:r>
              <a:rPr sz="2400" spc="150" dirty="0">
                <a:latin typeface="Calibri"/>
                <a:cs typeface="Calibri"/>
              </a:rPr>
              <a:t> </a:t>
            </a:r>
            <a:r>
              <a:rPr sz="2400" spc="55" dirty="0">
                <a:latin typeface="Calibri"/>
                <a:cs typeface="Calibri"/>
              </a:rPr>
              <a:t>which</a:t>
            </a:r>
            <a:r>
              <a:rPr sz="2400" spc="160" dirty="0">
                <a:latin typeface="Calibri"/>
                <a:cs typeface="Calibri"/>
              </a:rPr>
              <a:t> </a:t>
            </a:r>
            <a:r>
              <a:rPr sz="2400" spc="80" dirty="0">
                <a:latin typeface="Calibri"/>
                <a:cs typeface="Calibri"/>
              </a:rPr>
              <a:t>is</a:t>
            </a:r>
            <a:r>
              <a:rPr sz="2400" spc="16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</a:t>
            </a:r>
            <a:r>
              <a:rPr sz="2400" spc="16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handwritten</a:t>
            </a:r>
            <a:r>
              <a:rPr sz="2400" spc="130" dirty="0">
                <a:latin typeface="Calibri"/>
                <a:cs typeface="Calibri"/>
              </a:rPr>
              <a:t> </a:t>
            </a:r>
            <a:r>
              <a:rPr sz="2400" spc="60" dirty="0">
                <a:latin typeface="Calibri"/>
                <a:cs typeface="Calibri"/>
              </a:rPr>
              <a:t>digit</a:t>
            </a:r>
            <a:endParaRPr sz="2400">
              <a:latin typeface="Calibri"/>
              <a:cs typeface="Calibri"/>
            </a:endParaRPr>
          </a:p>
          <a:p>
            <a:pPr marL="1155065" lvl="2" indent="-228600">
              <a:lnSpc>
                <a:spcPct val="100000"/>
              </a:lnSpc>
              <a:spcBef>
                <a:spcPts val="290"/>
              </a:spcBef>
              <a:buFont typeface="Arial"/>
              <a:buChar char="•"/>
              <a:tabLst>
                <a:tab pos="1155065" algn="l"/>
              </a:tabLst>
            </a:pPr>
            <a:r>
              <a:rPr sz="2000" dirty="0">
                <a:latin typeface="Calibri"/>
                <a:cs typeface="Calibri"/>
              </a:rPr>
              <a:t>It’s</a:t>
            </a:r>
            <a:r>
              <a:rPr sz="2000" spc="3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a</a:t>
            </a:r>
            <a:r>
              <a:rPr sz="2000" spc="45" dirty="0">
                <a:latin typeface="Calibri"/>
                <a:cs typeface="Calibri"/>
              </a:rPr>
              <a:t> </a:t>
            </a:r>
            <a:r>
              <a:rPr sz="2000" spc="20" dirty="0">
                <a:latin typeface="Calibri"/>
                <a:cs typeface="Calibri"/>
              </a:rPr>
              <a:t>3</a:t>
            </a:r>
            <a:endParaRPr sz="2000">
              <a:latin typeface="Calibri"/>
              <a:cs typeface="Calibri"/>
            </a:endParaRPr>
          </a:p>
          <a:p>
            <a:pPr marL="696595" lvl="1" indent="-227329">
              <a:lnSpc>
                <a:spcPct val="100000"/>
              </a:lnSpc>
              <a:spcBef>
                <a:spcPts val="190"/>
              </a:spcBef>
              <a:buFont typeface="Arial"/>
              <a:buChar char="•"/>
              <a:tabLst>
                <a:tab pos="696595" algn="l"/>
              </a:tabLst>
            </a:pPr>
            <a:r>
              <a:rPr sz="2400" dirty="0">
                <a:latin typeface="Calibri"/>
                <a:cs typeface="Calibri"/>
              </a:rPr>
              <a:t>Our</a:t>
            </a:r>
            <a:r>
              <a:rPr sz="2400" spc="100" dirty="0">
                <a:latin typeface="Calibri"/>
                <a:cs typeface="Calibri"/>
              </a:rPr>
              <a:t> </a:t>
            </a:r>
            <a:r>
              <a:rPr sz="2400" spc="60" dirty="0">
                <a:latin typeface="Calibri"/>
                <a:cs typeface="Calibri"/>
              </a:rPr>
              <a:t>NN</a:t>
            </a:r>
            <a:r>
              <a:rPr sz="2400" spc="90" dirty="0">
                <a:latin typeface="Calibri"/>
                <a:cs typeface="Calibri"/>
              </a:rPr>
              <a:t> </a:t>
            </a:r>
            <a:r>
              <a:rPr sz="2400" spc="65" dirty="0">
                <a:latin typeface="Calibri"/>
                <a:cs typeface="Calibri"/>
              </a:rPr>
              <a:t>classifies</a:t>
            </a:r>
            <a:r>
              <a:rPr sz="2400" spc="114" dirty="0">
                <a:latin typeface="Calibri"/>
                <a:cs typeface="Calibri"/>
              </a:rPr>
              <a:t> </a:t>
            </a:r>
            <a:r>
              <a:rPr sz="2400" spc="50" dirty="0">
                <a:latin typeface="Calibri"/>
                <a:cs typeface="Calibri"/>
              </a:rPr>
              <a:t>it</a:t>
            </a:r>
            <a:r>
              <a:rPr sz="2400" spc="85" dirty="0">
                <a:latin typeface="Calibri"/>
                <a:cs typeface="Calibri"/>
              </a:rPr>
              <a:t> </a:t>
            </a:r>
            <a:r>
              <a:rPr sz="2400" spc="50" dirty="0">
                <a:latin typeface="Calibri"/>
                <a:cs typeface="Calibri"/>
              </a:rPr>
              <a:t>as</a:t>
            </a:r>
            <a:r>
              <a:rPr sz="2400" spc="114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</a:t>
            </a:r>
            <a:r>
              <a:rPr sz="2400" spc="110" dirty="0">
                <a:latin typeface="Calibri"/>
                <a:cs typeface="Calibri"/>
              </a:rPr>
              <a:t> </a:t>
            </a:r>
            <a:r>
              <a:rPr sz="2400" spc="90" dirty="0">
                <a:latin typeface="Calibri"/>
                <a:cs typeface="Calibri"/>
              </a:rPr>
              <a:t>4…</a:t>
            </a:r>
            <a:endParaRPr sz="2400">
              <a:latin typeface="Calibri"/>
              <a:cs typeface="Calibri"/>
            </a:endParaRPr>
          </a:p>
          <a:p>
            <a:pPr marL="1155065" lvl="2" indent="-228600">
              <a:lnSpc>
                <a:spcPts val="2280"/>
              </a:lnSpc>
              <a:spcBef>
                <a:spcPts val="280"/>
              </a:spcBef>
              <a:buFont typeface="Arial"/>
              <a:buChar char="•"/>
              <a:tabLst>
                <a:tab pos="1155065" algn="l"/>
              </a:tabLst>
            </a:pPr>
            <a:r>
              <a:rPr sz="2000" dirty="0">
                <a:latin typeface="Calibri"/>
                <a:cs typeface="Calibri"/>
              </a:rPr>
              <a:t>It</a:t>
            </a:r>
            <a:r>
              <a:rPr sz="2000" spc="16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would</a:t>
            </a:r>
            <a:r>
              <a:rPr sz="2000" spc="16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be</a:t>
            </a:r>
            <a:r>
              <a:rPr sz="2000" spc="13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great</a:t>
            </a:r>
            <a:r>
              <a:rPr sz="2000" spc="14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if</a:t>
            </a:r>
            <a:r>
              <a:rPr sz="2000" spc="16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we</a:t>
            </a:r>
            <a:r>
              <a:rPr sz="2000" spc="16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could</a:t>
            </a:r>
            <a:r>
              <a:rPr sz="2000" spc="16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just</a:t>
            </a:r>
            <a:r>
              <a:rPr sz="2000" spc="140" dirty="0">
                <a:latin typeface="Calibri"/>
                <a:cs typeface="Calibri"/>
              </a:rPr>
              <a:t> </a:t>
            </a:r>
            <a:r>
              <a:rPr sz="2000" spc="50" dirty="0">
                <a:latin typeface="Calibri"/>
                <a:cs typeface="Calibri"/>
              </a:rPr>
              <a:t>change</a:t>
            </a:r>
            <a:r>
              <a:rPr sz="2000" spc="15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it</a:t>
            </a:r>
            <a:r>
              <a:rPr sz="2000" spc="160" dirty="0">
                <a:latin typeface="Calibri"/>
                <a:cs typeface="Calibri"/>
              </a:rPr>
              <a:t> </a:t>
            </a:r>
            <a:r>
              <a:rPr sz="2000" spc="70" dirty="0">
                <a:latin typeface="Calibri"/>
                <a:cs typeface="Calibri"/>
              </a:rPr>
              <a:t>slightly</a:t>
            </a:r>
            <a:r>
              <a:rPr sz="2000" spc="8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and</a:t>
            </a:r>
            <a:r>
              <a:rPr sz="2000" spc="15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have</a:t>
            </a:r>
            <a:r>
              <a:rPr sz="2000" spc="16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a</a:t>
            </a:r>
            <a:r>
              <a:rPr sz="2000" spc="165" dirty="0">
                <a:latin typeface="Calibri"/>
                <a:cs typeface="Calibri"/>
              </a:rPr>
              <a:t> </a:t>
            </a:r>
            <a:r>
              <a:rPr sz="2000" spc="60" dirty="0">
                <a:latin typeface="Calibri"/>
                <a:cs typeface="Calibri"/>
              </a:rPr>
              <a:t>small</a:t>
            </a:r>
            <a:r>
              <a:rPr sz="2000" spc="150" dirty="0">
                <a:latin typeface="Calibri"/>
                <a:cs typeface="Calibri"/>
              </a:rPr>
              <a:t> </a:t>
            </a:r>
            <a:r>
              <a:rPr sz="2000" spc="50" dirty="0">
                <a:latin typeface="Calibri"/>
                <a:cs typeface="Calibri"/>
              </a:rPr>
              <a:t>change</a:t>
            </a:r>
            <a:r>
              <a:rPr sz="2000" spc="155" dirty="0">
                <a:latin typeface="Calibri"/>
                <a:cs typeface="Calibri"/>
              </a:rPr>
              <a:t> </a:t>
            </a:r>
            <a:r>
              <a:rPr sz="2000" spc="35" dirty="0">
                <a:latin typeface="Calibri"/>
                <a:cs typeface="Calibri"/>
              </a:rPr>
              <a:t>in</a:t>
            </a:r>
            <a:endParaRPr sz="2000">
              <a:latin typeface="Calibri"/>
              <a:cs typeface="Calibri"/>
            </a:endParaRPr>
          </a:p>
          <a:p>
            <a:pPr marL="1155065">
              <a:lnSpc>
                <a:spcPts val="2280"/>
              </a:lnSpc>
            </a:pPr>
            <a:r>
              <a:rPr sz="2000" dirty="0">
                <a:latin typeface="Calibri"/>
                <a:cs typeface="Calibri"/>
              </a:rPr>
              <a:t>our</a:t>
            </a:r>
            <a:r>
              <a:rPr sz="2000" spc="90" dirty="0">
                <a:latin typeface="Calibri"/>
                <a:cs typeface="Calibri"/>
              </a:rPr>
              <a:t> </a:t>
            </a:r>
            <a:r>
              <a:rPr sz="2000" spc="-10" dirty="0">
                <a:latin typeface="Calibri"/>
                <a:cs typeface="Calibri"/>
              </a:rPr>
              <a:t>output</a:t>
            </a:r>
            <a:endParaRPr sz="2000">
              <a:latin typeface="Calibri"/>
              <a:cs typeface="Calibri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512946" y="1074800"/>
            <a:ext cx="4572000" cy="25146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105" dirty="0"/>
              <a:t>Sigmoid </a:t>
            </a:r>
            <a:r>
              <a:rPr spc="35" dirty="0"/>
              <a:t>Neurons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1176324" y="3593132"/>
            <a:ext cx="9698355" cy="2218055"/>
          </a:xfrm>
          <a:prstGeom prst="rect">
            <a:avLst/>
          </a:prstGeom>
        </p:spPr>
        <p:txBody>
          <a:bodyPr vert="horz" wrap="square" lIns="0" tIns="46990" rIns="0" bIns="0" rtlCol="0">
            <a:spAutoFit/>
          </a:bodyPr>
          <a:lstStyle/>
          <a:p>
            <a:pPr marL="240029" indent="-227329">
              <a:lnSpc>
                <a:spcPct val="100000"/>
              </a:lnSpc>
              <a:spcBef>
                <a:spcPts val="370"/>
              </a:spcBef>
              <a:buFont typeface="Arial"/>
              <a:buChar char="•"/>
              <a:tabLst>
                <a:tab pos="240029" algn="l"/>
              </a:tabLst>
            </a:pPr>
            <a:r>
              <a:rPr sz="2800" dirty="0">
                <a:latin typeface="Calibri"/>
                <a:cs typeface="Calibri"/>
              </a:rPr>
              <a:t>Why</a:t>
            </a:r>
            <a:r>
              <a:rPr sz="2800" spc="-20" dirty="0">
                <a:latin typeface="Calibri"/>
                <a:cs typeface="Calibri"/>
              </a:rPr>
              <a:t> </a:t>
            </a:r>
            <a:r>
              <a:rPr sz="2800" spc="85" dirty="0">
                <a:latin typeface="Calibri"/>
                <a:cs typeface="Calibri"/>
              </a:rPr>
              <a:t>is</a:t>
            </a:r>
            <a:r>
              <a:rPr sz="2800" spc="80" dirty="0">
                <a:latin typeface="Calibri"/>
                <a:cs typeface="Calibri"/>
              </a:rPr>
              <a:t> </a:t>
            </a:r>
            <a:r>
              <a:rPr sz="2800" spc="60" dirty="0">
                <a:latin typeface="Calibri"/>
                <a:cs typeface="Calibri"/>
              </a:rPr>
              <a:t>this</a:t>
            </a:r>
            <a:r>
              <a:rPr sz="2800" spc="85" dirty="0">
                <a:latin typeface="Calibri"/>
                <a:cs typeface="Calibri"/>
              </a:rPr>
              <a:t> </a:t>
            </a:r>
            <a:r>
              <a:rPr sz="2800" spc="-10" dirty="0">
                <a:latin typeface="Calibri"/>
                <a:cs typeface="Calibri"/>
              </a:rPr>
              <a:t>important?</a:t>
            </a:r>
            <a:endParaRPr sz="2800">
              <a:latin typeface="Calibri"/>
              <a:cs typeface="Calibri"/>
            </a:endParaRPr>
          </a:p>
          <a:p>
            <a:pPr marL="696595" marR="5080" lvl="1" indent="-227329">
              <a:lnSpc>
                <a:spcPts val="2590"/>
              </a:lnSpc>
              <a:spcBef>
                <a:spcPts val="560"/>
              </a:spcBef>
              <a:buFont typeface="Arial"/>
              <a:buChar char="•"/>
              <a:tabLst>
                <a:tab pos="697865" algn="l"/>
              </a:tabLst>
            </a:pPr>
            <a:r>
              <a:rPr sz="2400" dirty="0">
                <a:latin typeface="Calibri"/>
                <a:cs typeface="Calibri"/>
              </a:rPr>
              <a:t>But</a:t>
            </a:r>
            <a:r>
              <a:rPr sz="2400" spc="145" dirty="0">
                <a:latin typeface="Calibri"/>
                <a:cs typeface="Calibri"/>
              </a:rPr>
              <a:t> </a:t>
            </a:r>
            <a:r>
              <a:rPr sz="2400" spc="55" dirty="0">
                <a:latin typeface="Calibri"/>
                <a:cs typeface="Calibri"/>
              </a:rPr>
              <a:t>if</a:t>
            </a:r>
            <a:r>
              <a:rPr sz="2400" spc="14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we</a:t>
            </a:r>
            <a:r>
              <a:rPr sz="2400" spc="14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have</a:t>
            </a:r>
            <a:r>
              <a:rPr sz="2400" spc="18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</a:t>
            </a:r>
            <a:r>
              <a:rPr sz="2400" spc="15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perceptron,</a:t>
            </a:r>
            <a:r>
              <a:rPr sz="2400" spc="-3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then</a:t>
            </a:r>
            <a:r>
              <a:rPr sz="2400" spc="15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any</a:t>
            </a:r>
            <a:r>
              <a:rPr sz="2400" spc="65" dirty="0">
                <a:latin typeface="Calibri"/>
                <a:cs typeface="Calibri"/>
              </a:rPr>
              <a:t> </a:t>
            </a:r>
            <a:r>
              <a:rPr sz="2400" spc="80" dirty="0">
                <a:latin typeface="Calibri"/>
                <a:cs typeface="Calibri"/>
              </a:rPr>
              <a:t>small</a:t>
            </a:r>
            <a:r>
              <a:rPr sz="2400" spc="170" dirty="0">
                <a:latin typeface="Calibri"/>
                <a:cs typeface="Calibri"/>
              </a:rPr>
              <a:t> </a:t>
            </a:r>
            <a:r>
              <a:rPr sz="2400" spc="50" dirty="0">
                <a:latin typeface="Calibri"/>
                <a:cs typeface="Calibri"/>
              </a:rPr>
              <a:t>weight</a:t>
            </a:r>
            <a:r>
              <a:rPr sz="2400" spc="140" dirty="0">
                <a:latin typeface="Calibri"/>
                <a:cs typeface="Calibri"/>
              </a:rPr>
              <a:t> </a:t>
            </a:r>
            <a:r>
              <a:rPr sz="2400" spc="50" dirty="0">
                <a:latin typeface="Calibri"/>
                <a:cs typeface="Calibri"/>
              </a:rPr>
              <a:t>change</a:t>
            </a:r>
            <a:r>
              <a:rPr sz="2400" spc="18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can</a:t>
            </a:r>
            <a:r>
              <a:rPr sz="2400" spc="155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invert 	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18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neuron</a:t>
            </a:r>
            <a:r>
              <a:rPr sz="2400" spc="185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output</a:t>
            </a:r>
            <a:endParaRPr sz="2400">
              <a:latin typeface="Calibri"/>
              <a:cs typeface="Calibri"/>
            </a:endParaRPr>
          </a:p>
          <a:p>
            <a:pPr marL="1155065" marR="310515" lvl="2" indent="-228600">
              <a:lnSpc>
                <a:spcPts val="2160"/>
              </a:lnSpc>
              <a:spcBef>
                <a:spcPts val="530"/>
              </a:spcBef>
              <a:buFont typeface="Arial"/>
              <a:buChar char="•"/>
              <a:tabLst>
                <a:tab pos="1155065" algn="l"/>
              </a:tabLst>
            </a:pPr>
            <a:r>
              <a:rPr sz="2000" spc="70" dirty="0">
                <a:latin typeface="Calibri"/>
                <a:cs typeface="Calibri"/>
              </a:rPr>
              <a:t>This</a:t>
            </a:r>
            <a:r>
              <a:rPr sz="2000" spc="19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then</a:t>
            </a:r>
            <a:r>
              <a:rPr sz="2000" spc="18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propagates</a:t>
            </a:r>
            <a:r>
              <a:rPr sz="2000" spc="16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down</a:t>
            </a:r>
            <a:r>
              <a:rPr sz="2000" spc="20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the</a:t>
            </a:r>
            <a:r>
              <a:rPr sz="2000" spc="190" dirty="0">
                <a:latin typeface="Calibri"/>
                <a:cs typeface="Calibri"/>
              </a:rPr>
              <a:t> </a:t>
            </a:r>
            <a:r>
              <a:rPr sz="2000" spc="50" dirty="0">
                <a:latin typeface="Calibri"/>
                <a:cs typeface="Calibri"/>
              </a:rPr>
              <a:t>NN</a:t>
            </a:r>
            <a:r>
              <a:rPr sz="2000" spc="204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and</a:t>
            </a:r>
            <a:r>
              <a:rPr sz="2000" spc="19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can</a:t>
            </a:r>
            <a:r>
              <a:rPr sz="2000" spc="200" dirty="0">
                <a:latin typeface="Calibri"/>
                <a:cs typeface="Calibri"/>
              </a:rPr>
              <a:t> </a:t>
            </a:r>
            <a:r>
              <a:rPr sz="2000" spc="50" dirty="0">
                <a:latin typeface="Calibri"/>
                <a:cs typeface="Calibri"/>
              </a:rPr>
              <a:t>radically</a:t>
            </a:r>
            <a:r>
              <a:rPr sz="2000" spc="7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change</a:t>
            </a:r>
            <a:r>
              <a:rPr sz="2000" spc="20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everything</a:t>
            </a:r>
            <a:r>
              <a:rPr sz="2000" spc="200" dirty="0">
                <a:latin typeface="Calibri"/>
                <a:cs typeface="Calibri"/>
              </a:rPr>
              <a:t> </a:t>
            </a:r>
            <a:r>
              <a:rPr sz="2000" spc="50" dirty="0">
                <a:latin typeface="Calibri"/>
                <a:cs typeface="Calibri"/>
              </a:rPr>
              <a:t>in</a:t>
            </a:r>
            <a:r>
              <a:rPr sz="2000" spc="200" dirty="0">
                <a:latin typeface="Calibri"/>
                <a:cs typeface="Calibri"/>
              </a:rPr>
              <a:t> </a:t>
            </a:r>
            <a:r>
              <a:rPr sz="2000" spc="-50" dirty="0">
                <a:latin typeface="Calibri"/>
                <a:cs typeface="Calibri"/>
              </a:rPr>
              <a:t>a </a:t>
            </a:r>
            <a:r>
              <a:rPr sz="2000" dirty="0">
                <a:latin typeface="Calibri"/>
                <a:cs typeface="Calibri"/>
              </a:rPr>
              <a:t>fashion</a:t>
            </a:r>
            <a:r>
              <a:rPr sz="2000" spc="204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that</a:t>
            </a:r>
            <a:r>
              <a:rPr sz="2000" spc="195" dirty="0">
                <a:latin typeface="Calibri"/>
                <a:cs typeface="Calibri"/>
              </a:rPr>
              <a:t> </a:t>
            </a:r>
            <a:r>
              <a:rPr sz="2000" spc="60" dirty="0">
                <a:latin typeface="Calibri"/>
                <a:cs typeface="Calibri"/>
              </a:rPr>
              <a:t>is</a:t>
            </a:r>
            <a:r>
              <a:rPr sz="2000" spc="19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complex</a:t>
            </a:r>
            <a:r>
              <a:rPr sz="2000" spc="12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to</a:t>
            </a:r>
            <a:r>
              <a:rPr sz="2000" spc="225" dirty="0">
                <a:latin typeface="Calibri"/>
                <a:cs typeface="Calibri"/>
              </a:rPr>
              <a:t> </a:t>
            </a:r>
            <a:r>
              <a:rPr sz="2000" spc="-10" dirty="0">
                <a:latin typeface="Calibri"/>
                <a:cs typeface="Calibri"/>
              </a:rPr>
              <a:t>precalculate</a:t>
            </a:r>
            <a:endParaRPr sz="2000">
              <a:latin typeface="Calibri"/>
              <a:cs typeface="Calibri"/>
            </a:endParaRPr>
          </a:p>
          <a:p>
            <a:pPr marL="696595" lvl="1" indent="-227329">
              <a:lnSpc>
                <a:spcPct val="100000"/>
              </a:lnSpc>
              <a:spcBef>
                <a:spcPts val="160"/>
              </a:spcBef>
              <a:buFont typeface="Arial"/>
              <a:buChar char="•"/>
              <a:tabLst>
                <a:tab pos="696595" algn="l"/>
              </a:tabLst>
            </a:pPr>
            <a:r>
              <a:rPr sz="2400" dirty="0">
                <a:latin typeface="Calibri"/>
                <a:cs typeface="Calibri"/>
              </a:rPr>
              <a:t>You</a:t>
            </a:r>
            <a:r>
              <a:rPr sz="2400" spc="135" dirty="0">
                <a:latin typeface="Calibri"/>
                <a:cs typeface="Calibri"/>
              </a:rPr>
              <a:t> </a:t>
            </a:r>
            <a:r>
              <a:rPr sz="2400" spc="55" dirty="0">
                <a:latin typeface="Calibri"/>
                <a:cs typeface="Calibri"/>
              </a:rPr>
              <a:t>fixed</a:t>
            </a:r>
            <a:r>
              <a:rPr sz="2400" spc="11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your</a:t>
            </a:r>
            <a:r>
              <a:rPr sz="2400" spc="14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incorrect</a:t>
            </a:r>
            <a:r>
              <a:rPr sz="2400" spc="155" dirty="0">
                <a:latin typeface="Calibri"/>
                <a:cs typeface="Calibri"/>
              </a:rPr>
              <a:t> </a:t>
            </a:r>
            <a:r>
              <a:rPr sz="2400" spc="55" dirty="0">
                <a:latin typeface="Calibri"/>
                <a:cs typeface="Calibri"/>
              </a:rPr>
              <a:t>classification</a:t>
            </a:r>
            <a:r>
              <a:rPr sz="2400" spc="15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of</a:t>
            </a:r>
            <a:r>
              <a:rPr sz="2400" spc="15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15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3,</a:t>
            </a:r>
            <a:r>
              <a:rPr sz="2400" spc="-5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but</a:t>
            </a:r>
            <a:r>
              <a:rPr sz="2400" spc="14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messed</a:t>
            </a:r>
            <a:r>
              <a:rPr sz="2400" spc="16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up</a:t>
            </a:r>
            <a:r>
              <a:rPr sz="2400" spc="155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others</a:t>
            </a:r>
            <a:endParaRPr sz="2400">
              <a:latin typeface="Calibri"/>
              <a:cs typeface="Calibri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512946" y="1074800"/>
            <a:ext cx="4572000" cy="25146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105" dirty="0"/>
              <a:t>Sigmoid </a:t>
            </a:r>
            <a:r>
              <a:rPr spc="35" dirty="0"/>
              <a:t>Neurons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1176324" y="3593132"/>
            <a:ext cx="9484360" cy="1604645"/>
          </a:xfrm>
          <a:prstGeom prst="rect">
            <a:avLst/>
          </a:prstGeom>
        </p:spPr>
        <p:txBody>
          <a:bodyPr vert="horz" wrap="square" lIns="0" tIns="46990" rIns="0" bIns="0" rtlCol="0">
            <a:spAutoFit/>
          </a:bodyPr>
          <a:lstStyle/>
          <a:p>
            <a:pPr marL="240029" indent="-227329">
              <a:lnSpc>
                <a:spcPct val="100000"/>
              </a:lnSpc>
              <a:spcBef>
                <a:spcPts val="370"/>
              </a:spcBef>
              <a:buFont typeface="Arial"/>
              <a:buChar char="•"/>
              <a:tabLst>
                <a:tab pos="240029" algn="l"/>
              </a:tabLst>
            </a:pPr>
            <a:r>
              <a:rPr sz="2800" dirty="0">
                <a:latin typeface="Calibri"/>
                <a:cs typeface="Calibri"/>
              </a:rPr>
              <a:t>Why</a:t>
            </a:r>
            <a:r>
              <a:rPr sz="2800" spc="-20" dirty="0">
                <a:latin typeface="Calibri"/>
                <a:cs typeface="Calibri"/>
              </a:rPr>
              <a:t> </a:t>
            </a:r>
            <a:r>
              <a:rPr sz="2800" spc="85" dirty="0">
                <a:latin typeface="Calibri"/>
                <a:cs typeface="Calibri"/>
              </a:rPr>
              <a:t>is</a:t>
            </a:r>
            <a:r>
              <a:rPr sz="2800" spc="80" dirty="0">
                <a:latin typeface="Calibri"/>
                <a:cs typeface="Calibri"/>
              </a:rPr>
              <a:t> </a:t>
            </a:r>
            <a:r>
              <a:rPr sz="2800" spc="60" dirty="0">
                <a:latin typeface="Calibri"/>
                <a:cs typeface="Calibri"/>
              </a:rPr>
              <a:t>this</a:t>
            </a:r>
            <a:r>
              <a:rPr sz="2800" spc="85" dirty="0">
                <a:latin typeface="Calibri"/>
                <a:cs typeface="Calibri"/>
              </a:rPr>
              <a:t> </a:t>
            </a:r>
            <a:r>
              <a:rPr sz="2800" spc="-10" dirty="0">
                <a:latin typeface="Calibri"/>
                <a:cs typeface="Calibri"/>
              </a:rPr>
              <a:t>important?</a:t>
            </a:r>
            <a:endParaRPr sz="2800">
              <a:latin typeface="Calibri"/>
              <a:cs typeface="Calibri"/>
            </a:endParaRPr>
          </a:p>
          <a:p>
            <a:pPr marL="696595" marR="5080" lvl="1" indent="-227329">
              <a:lnSpc>
                <a:spcPts val="2590"/>
              </a:lnSpc>
              <a:spcBef>
                <a:spcPts val="560"/>
              </a:spcBef>
              <a:buFont typeface="Arial"/>
              <a:buChar char="•"/>
              <a:tabLst>
                <a:tab pos="697865" algn="l"/>
              </a:tabLst>
            </a:pPr>
            <a:r>
              <a:rPr sz="2400" spc="90" dirty="0">
                <a:latin typeface="Calibri"/>
                <a:cs typeface="Calibri"/>
              </a:rPr>
              <a:t>So</a:t>
            </a:r>
            <a:r>
              <a:rPr sz="2400" spc="16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with</a:t>
            </a:r>
            <a:r>
              <a:rPr sz="2400" spc="14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perceptrons,</a:t>
            </a:r>
            <a:r>
              <a:rPr sz="2400" spc="-3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it</a:t>
            </a:r>
            <a:r>
              <a:rPr sz="2400" spc="150" dirty="0">
                <a:latin typeface="Calibri"/>
                <a:cs typeface="Calibri"/>
              </a:rPr>
              <a:t> </a:t>
            </a:r>
            <a:r>
              <a:rPr sz="2400" spc="80" dirty="0">
                <a:latin typeface="Calibri"/>
                <a:cs typeface="Calibri"/>
              </a:rPr>
              <a:t>is</a:t>
            </a:r>
            <a:r>
              <a:rPr sz="2400" spc="160" dirty="0">
                <a:latin typeface="Calibri"/>
                <a:cs typeface="Calibri"/>
              </a:rPr>
              <a:t> </a:t>
            </a:r>
            <a:r>
              <a:rPr sz="2400" spc="85" dirty="0">
                <a:latin typeface="Calibri"/>
                <a:cs typeface="Calibri"/>
              </a:rPr>
              <a:t>challenging</a:t>
            </a:r>
            <a:r>
              <a:rPr sz="2400" spc="18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to</a:t>
            </a:r>
            <a:r>
              <a:rPr sz="2400" spc="15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have</a:t>
            </a:r>
            <a:r>
              <a:rPr sz="2400" spc="17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an</a:t>
            </a:r>
            <a:r>
              <a:rPr sz="2400" spc="160" dirty="0">
                <a:latin typeface="Calibri"/>
                <a:cs typeface="Calibri"/>
              </a:rPr>
              <a:t> </a:t>
            </a:r>
            <a:r>
              <a:rPr sz="2400" spc="50" dirty="0">
                <a:latin typeface="Calibri"/>
                <a:cs typeface="Calibri"/>
              </a:rPr>
              <a:t>algorithm</a:t>
            </a:r>
            <a:r>
              <a:rPr sz="2400" spc="15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that</a:t>
            </a:r>
            <a:r>
              <a:rPr sz="2400" spc="160" dirty="0">
                <a:latin typeface="Calibri"/>
                <a:cs typeface="Calibri"/>
              </a:rPr>
              <a:t> </a:t>
            </a:r>
            <a:r>
              <a:rPr sz="2400" spc="85" dirty="0">
                <a:latin typeface="Calibri"/>
                <a:cs typeface="Calibri"/>
              </a:rPr>
              <a:t>will 	</a:t>
            </a:r>
            <a:r>
              <a:rPr sz="2400" spc="70" dirty="0">
                <a:latin typeface="Calibri"/>
                <a:cs typeface="Calibri"/>
              </a:rPr>
              <a:t>allow</a:t>
            </a:r>
            <a:r>
              <a:rPr sz="2400" spc="4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you</a:t>
            </a:r>
            <a:r>
              <a:rPr sz="2400" spc="12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to</a:t>
            </a:r>
            <a:r>
              <a:rPr sz="2400" spc="140" dirty="0">
                <a:latin typeface="Calibri"/>
                <a:cs typeface="Calibri"/>
              </a:rPr>
              <a:t> </a:t>
            </a:r>
            <a:r>
              <a:rPr sz="2400" spc="60" dirty="0">
                <a:latin typeface="Calibri"/>
                <a:cs typeface="Calibri"/>
              </a:rPr>
              <a:t>easily</a:t>
            </a:r>
            <a:r>
              <a:rPr sz="2400" spc="5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learn</a:t>
            </a:r>
            <a:r>
              <a:rPr sz="2400" spc="140" dirty="0">
                <a:latin typeface="Calibri"/>
                <a:cs typeface="Calibri"/>
              </a:rPr>
              <a:t> </a:t>
            </a:r>
            <a:r>
              <a:rPr sz="2400" spc="45" dirty="0">
                <a:latin typeface="Calibri"/>
                <a:cs typeface="Calibri"/>
              </a:rPr>
              <a:t>complex</a:t>
            </a:r>
            <a:r>
              <a:rPr sz="2400" spc="110" dirty="0">
                <a:latin typeface="Calibri"/>
                <a:cs typeface="Calibri"/>
              </a:rPr>
              <a:t> </a:t>
            </a:r>
            <a:r>
              <a:rPr sz="2400" spc="-20" dirty="0">
                <a:latin typeface="Calibri"/>
                <a:cs typeface="Calibri"/>
              </a:rPr>
              <a:t>data</a:t>
            </a:r>
            <a:endParaRPr sz="2400">
              <a:latin typeface="Calibri"/>
              <a:cs typeface="Calibri"/>
            </a:endParaRPr>
          </a:p>
          <a:p>
            <a:pPr marL="696595" lvl="1" indent="-227329">
              <a:lnSpc>
                <a:spcPct val="100000"/>
              </a:lnSpc>
              <a:spcBef>
                <a:spcPts val="180"/>
              </a:spcBef>
              <a:buFont typeface="Arial"/>
              <a:buChar char="•"/>
              <a:tabLst>
                <a:tab pos="696595" algn="l"/>
              </a:tabLst>
            </a:pPr>
            <a:r>
              <a:rPr sz="2400" dirty="0">
                <a:latin typeface="Calibri"/>
                <a:cs typeface="Calibri"/>
              </a:rPr>
              <a:t>To</a:t>
            </a:r>
            <a:r>
              <a:rPr sz="2400" spc="18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circumvent</a:t>
            </a:r>
            <a:r>
              <a:rPr sz="2400" spc="19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this,</a:t>
            </a:r>
            <a:r>
              <a:rPr sz="2400" spc="-3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185" dirty="0">
                <a:latin typeface="Calibri"/>
                <a:cs typeface="Calibri"/>
              </a:rPr>
              <a:t> </a:t>
            </a:r>
            <a:r>
              <a:rPr sz="2400" spc="65" dirty="0">
                <a:latin typeface="Calibri"/>
                <a:cs typeface="Calibri"/>
              </a:rPr>
              <a:t>sigmoid</a:t>
            </a:r>
            <a:r>
              <a:rPr sz="2400" spc="16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neuron</a:t>
            </a:r>
            <a:r>
              <a:rPr sz="2400" spc="185" dirty="0">
                <a:latin typeface="Calibri"/>
                <a:cs typeface="Calibri"/>
              </a:rPr>
              <a:t> </a:t>
            </a:r>
            <a:r>
              <a:rPr sz="2400" spc="50" dirty="0">
                <a:latin typeface="Calibri"/>
                <a:cs typeface="Calibri"/>
              </a:rPr>
              <a:t>was</a:t>
            </a:r>
            <a:r>
              <a:rPr sz="2400" spc="180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introduced</a:t>
            </a:r>
            <a:endParaRPr sz="2400">
              <a:latin typeface="Calibri"/>
              <a:cs typeface="Calibri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512946" y="1074800"/>
            <a:ext cx="4572000" cy="25146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105" dirty="0"/>
              <a:t>Sigmoid </a:t>
            </a:r>
            <a:r>
              <a:rPr spc="35" dirty="0"/>
              <a:t>Neurons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1176324" y="3779366"/>
            <a:ext cx="9826625" cy="1275080"/>
          </a:xfrm>
          <a:prstGeom prst="rect">
            <a:avLst/>
          </a:prstGeom>
        </p:spPr>
        <p:txBody>
          <a:bodyPr vert="horz" wrap="square" lIns="0" tIns="46355" rIns="0" bIns="0" rtlCol="0">
            <a:spAutoFit/>
          </a:bodyPr>
          <a:lstStyle/>
          <a:p>
            <a:pPr marL="240029" indent="-227329">
              <a:lnSpc>
                <a:spcPct val="100000"/>
              </a:lnSpc>
              <a:spcBef>
                <a:spcPts val="365"/>
              </a:spcBef>
              <a:buFont typeface="Arial"/>
              <a:buChar char="•"/>
              <a:tabLst>
                <a:tab pos="240029" algn="l"/>
              </a:tabLst>
            </a:pPr>
            <a:r>
              <a:rPr sz="2800" spc="50" dirty="0">
                <a:latin typeface="Calibri"/>
                <a:cs typeface="Calibri"/>
              </a:rPr>
              <a:t>Looks</a:t>
            </a:r>
            <a:r>
              <a:rPr sz="2800" spc="19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the</a:t>
            </a:r>
            <a:r>
              <a:rPr sz="2800" spc="19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same</a:t>
            </a:r>
            <a:r>
              <a:rPr sz="2800" spc="200" dirty="0">
                <a:latin typeface="Calibri"/>
                <a:cs typeface="Calibri"/>
              </a:rPr>
              <a:t> </a:t>
            </a:r>
            <a:r>
              <a:rPr sz="2800" spc="60" dirty="0">
                <a:latin typeface="Calibri"/>
                <a:cs typeface="Calibri"/>
              </a:rPr>
              <a:t>as</a:t>
            </a:r>
            <a:r>
              <a:rPr sz="2800" spc="175" dirty="0">
                <a:latin typeface="Calibri"/>
                <a:cs typeface="Calibri"/>
              </a:rPr>
              <a:t> </a:t>
            </a:r>
            <a:r>
              <a:rPr sz="2800" spc="-10" dirty="0">
                <a:latin typeface="Calibri"/>
                <a:cs typeface="Calibri"/>
              </a:rPr>
              <a:t>before…</a:t>
            </a:r>
            <a:endParaRPr sz="2800">
              <a:latin typeface="Calibri"/>
              <a:cs typeface="Calibri"/>
            </a:endParaRPr>
          </a:p>
          <a:p>
            <a:pPr marL="696595" lvl="1" indent="-227329">
              <a:lnSpc>
                <a:spcPct val="100000"/>
              </a:lnSpc>
              <a:spcBef>
                <a:spcPts val="234"/>
              </a:spcBef>
              <a:buFont typeface="Arial"/>
              <a:buChar char="•"/>
              <a:tabLst>
                <a:tab pos="696595" algn="l"/>
              </a:tabLst>
            </a:pPr>
            <a:r>
              <a:rPr sz="2400" spc="-10" dirty="0">
                <a:latin typeface="Calibri"/>
                <a:cs typeface="Calibri"/>
              </a:rPr>
              <a:t>However,</a:t>
            </a:r>
            <a:r>
              <a:rPr sz="2400" spc="-4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inputs</a:t>
            </a:r>
            <a:r>
              <a:rPr sz="2400" spc="14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can</a:t>
            </a:r>
            <a:r>
              <a:rPr sz="2400" spc="16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now</a:t>
            </a:r>
            <a:r>
              <a:rPr sz="2400" spc="10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be</a:t>
            </a:r>
            <a:r>
              <a:rPr sz="2400" spc="165" dirty="0">
                <a:latin typeface="Calibri"/>
                <a:cs typeface="Calibri"/>
              </a:rPr>
              <a:t> </a:t>
            </a:r>
            <a:r>
              <a:rPr sz="2400" spc="50" dirty="0">
                <a:latin typeface="Calibri"/>
                <a:cs typeface="Calibri"/>
              </a:rPr>
              <a:t>anything</a:t>
            </a:r>
            <a:r>
              <a:rPr sz="2400" spc="15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between</a:t>
            </a:r>
            <a:r>
              <a:rPr sz="2400" spc="170" dirty="0">
                <a:latin typeface="Calibri"/>
                <a:cs typeface="Calibri"/>
              </a:rPr>
              <a:t> </a:t>
            </a:r>
            <a:r>
              <a:rPr sz="2400" spc="80" dirty="0">
                <a:latin typeface="Calibri"/>
                <a:cs typeface="Calibri"/>
              </a:rPr>
              <a:t>0</a:t>
            </a:r>
            <a:r>
              <a:rPr sz="2400" spc="16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and</a:t>
            </a:r>
            <a:r>
              <a:rPr sz="2400" spc="16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1,</a:t>
            </a:r>
            <a:r>
              <a:rPr sz="2400" spc="-5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not</a:t>
            </a:r>
            <a:r>
              <a:rPr sz="2400" spc="17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just</a:t>
            </a:r>
            <a:r>
              <a:rPr sz="2400" spc="165" dirty="0">
                <a:latin typeface="Calibri"/>
                <a:cs typeface="Calibri"/>
              </a:rPr>
              <a:t> </a:t>
            </a:r>
            <a:r>
              <a:rPr sz="2400" spc="80" dirty="0">
                <a:latin typeface="Calibri"/>
                <a:cs typeface="Calibri"/>
              </a:rPr>
              <a:t>0</a:t>
            </a:r>
            <a:r>
              <a:rPr sz="2400" spc="16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or</a:t>
            </a:r>
            <a:r>
              <a:rPr sz="2400" spc="165" dirty="0">
                <a:latin typeface="Calibri"/>
                <a:cs typeface="Calibri"/>
              </a:rPr>
              <a:t> </a:t>
            </a:r>
            <a:r>
              <a:rPr sz="2400" spc="-25" dirty="0">
                <a:latin typeface="Calibri"/>
                <a:cs typeface="Calibri"/>
              </a:rPr>
              <a:t>1.</a:t>
            </a:r>
            <a:endParaRPr sz="2400">
              <a:latin typeface="Calibri"/>
              <a:cs typeface="Calibri"/>
            </a:endParaRPr>
          </a:p>
          <a:p>
            <a:pPr marL="696595" lvl="1" indent="-227329">
              <a:lnSpc>
                <a:spcPct val="100000"/>
              </a:lnSpc>
              <a:spcBef>
                <a:spcPts val="215"/>
              </a:spcBef>
              <a:buFont typeface="Arial"/>
              <a:buChar char="•"/>
              <a:tabLst>
                <a:tab pos="696595" algn="l"/>
              </a:tabLst>
            </a:pPr>
            <a:r>
              <a:rPr sz="2400" dirty="0">
                <a:latin typeface="Calibri"/>
                <a:cs typeface="Calibri"/>
              </a:rPr>
              <a:t>Equation</a:t>
            </a:r>
            <a:r>
              <a:rPr sz="2400" spc="160" dirty="0">
                <a:latin typeface="Calibri"/>
                <a:cs typeface="Calibri"/>
              </a:rPr>
              <a:t> </a:t>
            </a:r>
            <a:r>
              <a:rPr sz="2400" spc="80" dirty="0">
                <a:latin typeface="Calibri"/>
                <a:cs typeface="Calibri"/>
              </a:rPr>
              <a:t>is</a:t>
            </a:r>
            <a:r>
              <a:rPr sz="2400" spc="19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now</a:t>
            </a:r>
            <a:r>
              <a:rPr sz="2400" spc="13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more</a:t>
            </a:r>
            <a:r>
              <a:rPr sz="2400" spc="190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complex:</a:t>
            </a:r>
            <a:endParaRPr sz="2400">
              <a:latin typeface="Calibri"/>
              <a:cs typeface="Calibri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2065273" y="5124703"/>
            <a:ext cx="1905000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66065" indent="-227965">
              <a:lnSpc>
                <a:spcPct val="100000"/>
              </a:lnSpc>
              <a:spcBef>
                <a:spcPts val="100"/>
              </a:spcBef>
              <a:buFont typeface="Arial"/>
              <a:buChar char="•"/>
              <a:tabLst>
                <a:tab pos="266065" algn="l"/>
              </a:tabLst>
            </a:pPr>
            <a:r>
              <a:rPr sz="2000" spc="-10" dirty="0">
                <a:latin typeface="Symbol"/>
                <a:cs typeface="Symbol"/>
              </a:rPr>
              <a:t></a:t>
            </a:r>
            <a:r>
              <a:rPr sz="2000" spc="-10" dirty="0">
                <a:latin typeface="Calibri"/>
                <a:cs typeface="Calibri"/>
              </a:rPr>
              <a:t>(x</a:t>
            </a:r>
            <a:r>
              <a:rPr sz="975" spc="-15" baseline="25641" dirty="0">
                <a:latin typeface="Arial"/>
                <a:cs typeface="Arial"/>
              </a:rPr>
              <a:t>●</a:t>
            </a:r>
            <a:r>
              <a:rPr sz="2000" spc="-10" dirty="0">
                <a:latin typeface="Calibri"/>
                <a:cs typeface="Calibri"/>
              </a:rPr>
              <a:t>w+b)=</a:t>
            </a:r>
            <a:r>
              <a:rPr sz="2000" spc="-10" dirty="0">
                <a:latin typeface="Symbol"/>
                <a:cs typeface="Symbol"/>
              </a:rPr>
              <a:t></a:t>
            </a:r>
            <a:r>
              <a:rPr sz="2000" spc="-10" dirty="0">
                <a:latin typeface="Calibri"/>
                <a:cs typeface="Calibri"/>
              </a:rPr>
              <a:t>(z)=</a:t>
            </a:r>
            <a:endParaRPr sz="2000">
              <a:latin typeface="Calibri"/>
              <a:cs typeface="Calibri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3971544" y="5309996"/>
            <a:ext cx="562610" cy="17145"/>
          </a:xfrm>
          <a:custGeom>
            <a:avLst/>
            <a:gdLst/>
            <a:ahLst/>
            <a:cxnLst/>
            <a:rect l="l" t="t" r="r" b="b"/>
            <a:pathLst>
              <a:path w="562610" h="17145">
                <a:moveTo>
                  <a:pt x="562355" y="0"/>
                </a:moveTo>
                <a:lnTo>
                  <a:pt x="0" y="0"/>
                </a:lnTo>
                <a:lnTo>
                  <a:pt x="0" y="16763"/>
                </a:lnTo>
                <a:lnTo>
                  <a:pt x="562355" y="16763"/>
                </a:lnTo>
                <a:lnTo>
                  <a:pt x="562355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 txBox="1"/>
          <p:nvPr/>
        </p:nvSpPr>
        <p:spPr>
          <a:xfrm>
            <a:off x="4186554" y="5043373"/>
            <a:ext cx="133350" cy="248920"/>
          </a:xfrm>
          <a:prstGeom prst="rect">
            <a:avLst/>
          </a:prstGeom>
        </p:spPr>
        <p:txBody>
          <a:bodyPr vert="horz" wrap="square" lIns="0" tIns="1460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4"/>
              </a:spcBef>
            </a:pPr>
            <a:r>
              <a:rPr sz="1450" spc="-50" dirty="0">
                <a:latin typeface="Cambria Math"/>
                <a:cs typeface="Cambria Math"/>
              </a:rPr>
              <a:t>1</a:t>
            </a:r>
            <a:endParaRPr sz="1450">
              <a:latin typeface="Cambria Math"/>
              <a:cs typeface="Cambria Math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3934078" y="5321300"/>
            <a:ext cx="631190" cy="248920"/>
          </a:xfrm>
          <a:prstGeom prst="rect">
            <a:avLst/>
          </a:prstGeom>
        </p:spPr>
        <p:txBody>
          <a:bodyPr vert="horz" wrap="square" lIns="0" tIns="1460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15"/>
              </a:spcBef>
            </a:pPr>
            <a:r>
              <a:rPr sz="1450" spc="-10" dirty="0">
                <a:latin typeface="Cambria Math"/>
                <a:cs typeface="Cambria Math"/>
              </a:rPr>
              <a:t>1+𝑒</a:t>
            </a:r>
            <a:r>
              <a:rPr sz="1800" spc="-15" baseline="20833" dirty="0">
                <a:latin typeface="Cambria Math"/>
                <a:cs typeface="Cambria Math"/>
              </a:rPr>
              <a:t>−𝑧</a:t>
            </a:r>
            <a:endParaRPr sz="1800" baseline="20833">
              <a:latin typeface="Cambria Math"/>
              <a:cs typeface="Cambria Math"/>
            </a:endParaRPr>
          </a:p>
        </p:txBody>
      </p:sp>
      <p:pic>
        <p:nvPicPr>
          <p:cNvPr id="8" name="object 8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962216" y="873776"/>
            <a:ext cx="5224730" cy="2302478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90" dirty="0"/>
              <a:t>Similarities</a:t>
            </a:r>
            <a:r>
              <a:rPr spc="240" dirty="0"/>
              <a:t> </a:t>
            </a:r>
            <a:r>
              <a:rPr dirty="0"/>
              <a:t>between</a:t>
            </a:r>
            <a:r>
              <a:rPr spc="270" dirty="0"/>
              <a:t> </a:t>
            </a:r>
            <a:r>
              <a:rPr dirty="0"/>
              <a:t>Perceptrons</a:t>
            </a:r>
            <a:r>
              <a:rPr spc="229" dirty="0"/>
              <a:t> </a:t>
            </a:r>
            <a:r>
              <a:rPr dirty="0"/>
              <a:t>and</a:t>
            </a:r>
            <a:r>
              <a:rPr spc="270" dirty="0"/>
              <a:t> </a:t>
            </a:r>
            <a:r>
              <a:rPr spc="90" dirty="0"/>
              <a:t>Sigmoids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1150924" y="1233881"/>
            <a:ext cx="257492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265430" indent="-227329">
              <a:lnSpc>
                <a:spcPct val="100000"/>
              </a:lnSpc>
              <a:spcBef>
                <a:spcPts val="95"/>
              </a:spcBef>
              <a:buFont typeface="Arial"/>
              <a:buChar char="•"/>
              <a:tabLst>
                <a:tab pos="265430" algn="l"/>
              </a:tabLst>
            </a:pPr>
            <a:r>
              <a:rPr sz="2800" spc="-10" dirty="0">
                <a:latin typeface="Symbol"/>
                <a:cs typeface="Symbol"/>
              </a:rPr>
              <a:t></a:t>
            </a:r>
            <a:r>
              <a:rPr sz="2800" spc="-10" dirty="0">
                <a:latin typeface="Calibri"/>
                <a:cs typeface="Calibri"/>
              </a:rPr>
              <a:t>(x</a:t>
            </a:r>
            <a:r>
              <a:rPr sz="2175" spc="-15" baseline="24904" dirty="0">
                <a:latin typeface="Arial"/>
                <a:cs typeface="Arial"/>
              </a:rPr>
              <a:t>●</a:t>
            </a:r>
            <a:r>
              <a:rPr sz="2800" spc="-10" dirty="0">
                <a:latin typeface="Calibri"/>
                <a:cs typeface="Calibri"/>
              </a:rPr>
              <a:t>w+b)=</a:t>
            </a:r>
            <a:r>
              <a:rPr sz="2800" spc="-10" dirty="0">
                <a:latin typeface="Symbol"/>
                <a:cs typeface="Symbol"/>
              </a:rPr>
              <a:t></a:t>
            </a:r>
            <a:r>
              <a:rPr sz="2800" spc="-10" dirty="0">
                <a:latin typeface="Calibri"/>
                <a:cs typeface="Calibri"/>
              </a:rPr>
              <a:t>(z)=</a:t>
            </a:r>
            <a:endParaRPr sz="2800">
              <a:latin typeface="Calibri"/>
              <a:cs typeface="Calibri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3747515" y="1489075"/>
            <a:ext cx="786765" cy="22860"/>
          </a:xfrm>
          <a:custGeom>
            <a:avLst/>
            <a:gdLst/>
            <a:ahLst/>
            <a:cxnLst/>
            <a:rect l="l" t="t" r="r" b="b"/>
            <a:pathLst>
              <a:path w="786764" h="22859">
                <a:moveTo>
                  <a:pt x="786384" y="0"/>
                </a:moveTo>
                <a:lnTo>
                  <a:pt x="0" y="0"/>
                </a:lnTo>
                <a:lnTo>
                  <a:pt x="0" y="22860"/>
                </a:lnTo>
                <a:lnTo>
                  <a:pt x="786384" y="22860"/>
                </a:lnTo>
                <a:lnTo>
                  <a:pt x="786384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/>
          <p:nvPr/>
        </p:nvSpPr>
        <p:spPr>
          <a:xfrm>
            <a:off x="4052442" y="1121410"/>
            <a:ext cx="175895" cy="33655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2050" spc="-50" dirty="0">
                <a:latin typeface="Cambria Math"/>
                <a:cs typeface="Cambria Math"/>
              </a:rPr>
              <a:t>1</a:t>
            </a:r>
            <a:endParaRPr sz="2050">
              <a:latin typeface="Cambria Math"/>
              <a:cs typeface="Cambria Math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3710051" y="1508886"/>
            <a:ext cx="853440" cy="33655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90"/>
              </a:spcBef>
            </a:pPr>
            <a:r>
              <a:rPr sz="2050" spc="45" dirty="0">
                <a:latin typeface="Cambria Math"/>
                <a:cs typeface="Cambria Math"/>
              </a:rPr>
              <a:t>1+𝑒</a:t>
            </a:r>
            <a:r>
              <a:rPr sz="2475" spc="67" baseline="20202" dirty="0">
                <a:latin typeface="Cambria Math"/>
                <a:cs typeface="Cambria Math"/>
              </a:rPr>
              <a:t>−𝑧</a:t>
            </a:r>
            <a:endParaRPr sz="2475" baseline="20202">
              <a:latin typeface="Cambria Math"/>
              <a:cs typeface="Cambria Math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1633473" y="1739011"/>
            <a:ext cx="8950960" cy="1203960"/>
          </a:xfrm>
          <a:prstGeom prst="rect">
            <a:avLst/>
          </a:prstGeom>
        </p:spPr>
        <p:txBody>
          <a:bodyPr vert="horz" wrap="square" lIns="0" tIns="40005" rIns="0" bIns="0" rtlCol="0">
            <a:spAutoFit/>
          </a:bodyPr>
          <a:lstStyle/>
          <a:p>
            <a:pPr marL="240029" indent="-227329">
              <a:lnSpc>
                <a:spcPct val="100000"/>
              </a:lnSpc>
              <a:spcBef>
                <a:spcPts val="315"/>
              </a:spcBef>
              <a:buFont typeface="Arial"/>
              <a:buChar char="•"/>
              <a:tabLst>
                <a:tab pos="240029" algn="l"/>
              </a:tabLst>
            </a:pPr>
            <a:r>
              <a:rPr sz="2400" dirty="0">
                <a:latin typeface="Calibri"/>
                <a:cs typeface="Calibri"/>
              </a:rPr>
              <a:t>When</a:t>
            </a:r>
            <a:r>
              <a:rPr sz="2400" spc="70" dirty="0">
                <a:latin typeface="Calibri"/>
                <a:cs typeface="Calibri"/>
              </a:rPr>
              <a:t> </a:t>
            </a:r>
            <a:r>
              <a:rPr sz="2400" spc="110" dirty="0">
                <a:latin typeface="Calibri"/>
                <a:cs typeface="Calibri"/>
              </a:rPr>
              <a:t>z</a:t>
            </a:r>
            <a:r>
              <a:rPr sz="2400" spc="60" dirty="0">
                <a:latin typeface="Calibri"/>
                <a:cs typeface="Calibri"/>
              </a:rPr>
              <a:t> </a:t>
            </a:r>
            <a:r>
              <a:rPr sz="2400" spc="80" dirty="0">
                <a:latin typeface="Calibri"/>
                <a:cs typeface="Calibri"/>
              </a:rPr>
              <a:t>is</a:t>
            </a:r>
            <a:r>
              <a:rPr sz="2400" spc="140" dirty="0">
                <a:latin typeface="Calibri"/>
                <a:cs typeface="Calibri"/>
              </a:rPr>
              <a:t> </a:t>
            </a:r>
            <a:r>
              <a:rPr sz="2400" spc="65" dirty="0">
                <a:latin typeface="Calibri"/>
                <a:cs typeface="Calibri"/>
              </a:rPr>
              <a:t>large</a:t>
            </a:r>
            <a:r>
              <a:rPr sz="2400" spc="14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positive</a:t>
            </a:r>
            <a:r>
              <a:rPr sz="2400" spc="145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number,</a:t>
            </a:r>
            <a:r>
              <a:rPr sz="2400" spc="-6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then</a:t>
            </a:r>
            <a:r>
              <a:rPr sz="2400" spc="160" dirty="0">
                <a:latin typeface="Calibri"/>
                <a:cs typeface="Calibri"/>
              </a:rPr>
              <a:t> </a:t>
            </a:r>
            <a:r>
              <a:rPr sz="2400" dirty="0">
                <a:latin typeface="Symbol"/>
                <a:cs typeface="Symbol"/>
              </a:rPr>
              <a:t></a:t>
            </a:r>
            <a:r>
              <a:rPr sz="2400" dirty="0">
                <a:latin typeface="Calibri"/>
                <a:cs typeface="Calibri"/>
              </a:rPr>
              <a:t>(z)</a:t>
            </a:r>
            <a:r>
              <a:rPr sz="2400" spc="150" dirty="0">
                <a:latin typeface="Calibri"/>
                <a:cs typeface="Calibri"/>
              </a:rPr>
              <a:t> </a:t>
            </a:r>
            <a:r>
              <a:rPr sz="2400" spc="-25" dirty="0">
                <a:latin typeface="Calibri"/>
                <a:cs typeface="Calibri"/>
              </a:rPr>
              <a:t>~1</a:t>
            </a:r>
            <a:endParaRPr sz="2400">
              <a:latin typeface="Calibri"/>
              <a:cs typeface="Calibri"/>
            </a:endParaRPr>
          </a:p>
          <a:p>
            <a:pPr marL="240029" indent="-227329">
              <a:lnSpc>
                <a:spcPct val="100000"/>
              </a:lnSpc>
              <a:spcBef>
                <a:spcPts val="215"/>
              </a:spcBef>
              <a:buFont typeface="Arial"/>
              <a:buChar char="•"/>
              <a:tabLst>
                <a:tab pos="240029" algn="l"/>
              </a:tabLst>
            </a:pPr>
            <a:r>
              <a:rPr sz="2400" dirty="0">
                <a:latin typeface="Calibri"/>
                <a:cs typeface="Calibri"/>
              </a:rPr>
              <a:t>When</a:t>
            </a:r>
            <a:r>
              <a:rPr sz="2400" spc="70" dirty="0">
                <a:latin typeface="Calibri"/>
                <a:cs typeface="Calibri"/>
              </a:rPr>
              <a:t> </a:t>
            </a:r>
            <a:r>
              <a:rPr sz="2400" spc="110" dirty="0">
                <a:latin typeface="Calibri"/>
                <a:cs typeface="Calibri"/>
              </a:rPr>
              <a:t>z</a:t>
            </a:r>
            <a:r>
              <a:rPr sz="2400" spc="60" dirty="0">
                <a:latin typeface="Calibri"/>
                <a:cs typeface="Calibri"/>
              </a:rPr>
              <a:t> </a:t>
            </a:r>
            <a:r>
              <a:rPr sz="2400" spc="80" dirty="0">
                <a:latin typeface="Calibri"/>
                <a:cs typeface="Calibri"/>
              </a:rPr>
              <a:t>is</a:t>
            </a:r>
            <a:r>
              <a:rPr sz="2400" spc="135" dirty="0">
                <a:latin typeface="Calibri"/>
                <a:cs typeface="Calibri"/>
              </a:rPr>
              <a:t> </a:t>
            </a:r>
            <a:r>
              <a:rPr sz="2400" spc="65" dirty="0">
                <a:latin typeface="Calibri"/>
                <a:cs typeface="Calibri"/>
              </a:rPr>
              <a:t>large</a:t>
            </a:r>
            <a:r>
              <a:rPr sz="2400" spc="14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negative</a:t>
            </a:r>
            <a:r>
              <a:rPr sz="2400" spc="150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number,</a:t>
            </a:r>
            <a:r>
              <a:rPr sz="2400" spc="-6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then</a:t>
            </a:r>
            <a:r>
              <a:rPr sz="2400" spc="155" dirty="0">
                <a:latin typeface="Calibri"/>
                <a:cs typeface="Calibri"/>
              </a:rPr>
              <a:t> </a:t>
            </a:r>
            <a:r>
              <a:rPr sz="2400" dirty="0">
                <a:latin typeface="Symbol"/>
                <a:cs typeface="Symbol"/>
              </a:rPr>
              <a:t></a:t>
            </a:r>
            <a:r>
              <a:rPr sz="2400" dirty="0">
                <a:latin typeface="Calibri"/>
                <a:cs typeface="Calibri"/>
              </a:rPr>
              <a:t>(z)</a:t>
            </a:r>
            <a:r>
              <a:rPr sz="2400" spc="145" dirty="0">
                <a:latin typeface="Calibri"/>
                <a:cs typeface="Calibri"/>
              </a:rPr>
              <a:t> </a:t>
            </a:r>
            <a:r>
              <a:rPr sz="2400" spc="-25" dirty="0">
                <a:latin typeface="Calibri"/>
                <a:cs typeface="Calibri"/>
              </a:rPr>
              <a:t>~0</a:t>
            </a:r>
            <a:endParaRPr sz="2400">
              <a:latin typeface="Calibri"/>
              <a:cs typeface="Calibri"/>
            </a:endParaRPr>
          </a:p>
          <a:p>
            <a:pPr marL="240029" indent="-227329">
              <a:lnSpc>
                <a:spcPct val="100000"/>
              </a:lnSpc>
              <a:spcBef>
                <a:spcPts val="204"/>
              </a:spcBef>
              <a:buFont typeface="Arial"/>
              <a:buChar char="•"/>
              <a:tabLst>
                <a:tab pos="240029" algn="l"/>
              </a:tabLst>
            </a:pPr>
            <a:r>
              <a:rPr sz="2400" dirty="0">
                <a:latin typeface="Calibri"/>
                <a:cs typeface="Calibri"/>
              </a:rPr>
              <a:t>Key</a:t>
            </a:r>
            <a:r>
              <a:rPr sz="2400" spc="10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difference</a:t>
            </a:r>
            <a:r>
              <a:rPr sz="2400" spc="170" dirty="0">
                <a:latin typeface="Calibri"/>
                <a:cs typeface="Calibri"/>
              </a:rPr>
              <a:t> </a:t>
            </a:r>
            <a:r>
              <a:rPr sz="2400" spc="80" dirty="0">
                <a:latin typeface="Calibri"/>
                <a:cs typeface="Calibri"/>
              </a:rPr>
              <a:t>is</a:t>
            </a:r>
            <a:r>
              <a:rPr sz="2400" spc="20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that</a:t>
            </a:r>
            <a:r>
              <a:rPr sz="2400" spc="20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we</a:t>
            </a:r>
            <a:r>
              <a:rPr sz="2400" spc="20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have</a:t>
            </a:r>
            <a:r>
              <a:rPr sz="2400" spc="21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smoothed</a:t>
            </a:r>
            <a:r>
              <a:rPr sz="2400" spc="21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out</a:t>
            </a:r>
            <a:r>
              <a:rPr sz="2400" spc="18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any</a:t>
            </a:r>
            <a:r>
              <a:rPr sz="2400" spc="10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sudden</a:t>
            </a:r>
            <a:r>
              <a:rPr sz="2400" spc="175" dirty="0">
                <a:latin typeface="Calibri"/>
                <a:cs typeface="Calibri"/>
              </a:rPr>
              <a:t> </a:t>
            </a:r>
            <a:r>
              <a:rPr sz="2400" spc="60" dirty="0">
                <a:latin typeface="Calibri"/>
                <a:cs typeface="Calibri"/>
              </a:rPr>
              <a:t>changes…</a:t>
            </a:r>
            <a:endParaRPr sz="2400">
              <a:latin typeface="Calibri"/>
              <a:cs typeface="Calibri"/>
            </a:endParaRPr>
          </a:p>
        </p:txBody>
      </p:sp>
      <p:pic>
        <p:nvPicPr>
          <p:cNvPr id="8" name="object 8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423125" y="3819145"/>
            <a:ext cx="2878734" cy="1902147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Why</a:t>
            </a:r>
            <a:r>
              <a:rPr spc="-35" dirty="0"/>
              <a:t> </a:t>
            </a:r>
            <a:r>
              <a:rPr spc="105" dirty="0"/>
              <a:t>is</a:t>
            </a:r>
            <a:r>
              <a:rPr spc="95" dirty="0"/>
              <a:t> </a:t>
            </a:r>
            <a:r>
              <a:rPr spc="50" dirty="0"/>
              <a:t>smoothness</a:t>
            </a:r>
            <a:r>
              <a:rPr spc="80" dirty="0"/>
              <a:t> </a:t>
            </a:r>
            <a:r>
              <a:rPr spc="40" dirty="0"/>
              <a:t>crucial?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1150924" y="1233881"/>
            <a:ext cx="257492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265430" indent="-227329">
              <a:lnSpc>
                <a:spcPct val="100000"/>
              </a:lnSpc>
              <a:spcBef>
                <a:spcPts val="95"/>
              </a:spcBef>
              <a:buFont typeface="Arial"/>
              <a:buChar char="•"/>
              <a:tabLst>
                <a:tab pos="265430" algn="l"/>
              </a:tabLst>
            </a:pPr>
            <a:r>
              <a:rPr sz="2800" spc="-10" dirty="0">
                <a:latin typeface="Symbol"/>
                <a:cs typeface="Symbol"/>
              </a:rPr>
              <a:t></a:t>
            </a:r>
            <a:r>
              <a:rPr sz="2800" spc="-10" dirty="0">
                <a:latin typeface="Calibri"/>
                <a:cs typeface="Calibri"/>
              </a:rPr>
              <a:t>(x</a:t>
            </a:r>
            <a:r>
              <a:rPr sz="2175" spc="-15" baseline="24904" dirty="0">
                <a:latin typeface="Arial"/>
                <a:cs typeface="Arial"/>
              </a:rPr>
              <a:t>●</a:t>
            </a:r>
            <a:r>
              <a:rPr sz="2800" spc="-10" dirty="0">
                <a:latin typeface="Calibri"/>
                <a:cs typeface="Calibri"/>
              </a:rPr>
              <a:t>w+b)=</a:t>
            </a:r>
            <a:r>
              <a:rPr sz="2800" spc="-10" dirty="0">
                <a:latin typeface="Symbol"/>
                <a:cs typeface="Symbol"/>
              </a:rPr>
              <a:t></a:t>
            </a:r>
            <a:r>
              <a:rPr sz="2800" spc="-10" dirty="0">
                <a:latin typeface="Calibri"/>
                <a:cs typeface="Calibri"/>
              </a:rPr>
              <a:t>(z)=</a:t>
            </a:r>
            <a:endParaRPr sz="2800">
              <a:latin typeface="Calibri"/>
              <a:cs typeface="Calibri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3747515" y="1489075"/>
            <a:ext cx="786765" cy="22860"/>
          </a:xfrm>
          <a:custGeom>
            <a:avLst/>
            <a:gdLst/>
            <a:ahLst/>
            <a:cxnLst/>
            <a:rect l="l" t="t" r="r" b="b"/>
            <a:pathLst>
              <a:path w="786764" h="22859">
                <a:moveTo>
                  <a:pt x="786384" y="0"/>
                </a:moveTo>
                <a:lnTo>
                  <a:pt x="0" y="0"/>
                </a:lnTo>
                <a:lnTo>
                  <a:pt x="0" y="22860"/>
                </a:lnTo>
                <a:lnTo>
                  <a:pt x="786384" y="22860"/>
                </a:lnTo>
                <a:lnTo>
                  <a:pt x="786384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/>
          <p:nvPr/>
        </p:nvSpPr>
        <p:spPr>
          <a:xfrm>
            <a:off x="4052442" y="1121410"/>
            <a:ext cx="175895" cy="33655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2050" spc="-50" dirty="0">
                <a:latin typeface="Cambria Math"/>
                <a:cs typeface="Cambria Math"/>
              </a:rPr>
              <a:t>1</a:t>
            </a:r>
            <a:endParaRPr sz="2050">
              <a:latin typeface="Cambria Math"/>
              <a:cs typeface="Cambria Math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3710051" y="1508886"/>
            <a:ext cx="853440" cy="33655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90"/>
              </a:spcBef>
            </a:pPr>
            <a:r>
              <a:rPr sz="2050" spc="45" dirty="0">
                <a:latin typeface="Cambria Math"/>
                <a:cs typeface="Cambria Math"/>
              </a:rPr>
              <a:t>1+𝑒</a:t>
            </a:r>
            <a:r>
              <a:rPr sz="2475" spc="67" baseline="20202" dirty="0">
                <a:latin typeface="Cambria Math"/>
                <a:cs typeface="Cambria Math"/>
              </a:rPr>
              <a:t>−𝑧</a:t>
            </a:r>
            <a:endParaRPr sz="2475" baseline="20202">
              <a:latin typeface="Cambria Math"/>
              <a:cs typeface="Cambria Math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1608074" y="1743582"/>
            <a:ext cx="8041640" cy="805815"/>
          </a:xfrm>
          <a:prstGeom prst="rect">
            <a:avLst/>
          </a:prstGeom>
        </p:spPr>
        <p:txBody>
          <a:bodyPr vert="horz" wrap="square" lIns="0" tIns="36830" rIns="0" bIns="0" rtlCol="0">
            <a:spAutoFit/>
          </a:bodyPr>
          <a:lstStyle/>
          <a:p>
            <a:pPr marL="265430" indent="-227329">
              <a:lnSpc>
                <a:spcPct val="100000"/>
              </a:lnSpc>
              <a:spcBef>
                <a:spcPts val="290"/>
              </a:spcBef>
              <a:buFont typeface="Arial"/>
              <a:buChar char="•"/>
              <a:tabLst>
                <a:tab pos="265430" algn="l"/>
              </a:tabLst>
            </a:pPr>
            <a:r>
              <a:rPr sz="2400" spc="-25" dirty="0">
                <a:latin typeface="Calibri"/>
                <a:cs typeface="Calibri"/>
              </a:rPr>
              <a:t>Now,</a:t>
            </a:r>
            <a:r>
              <a:rPr sz="2400" spc="-8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when</a:t>
            </a:r>
            <a:r>
              <a:rPr sz="2400" spc="14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we</a:t>
            </a:r>
            <a:r>
              <a:rPr sz="2400" spc="14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have</a:t>
            </a:r>
            <a:r>
              <a:rPr sz="2400" spc="15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</a:t>
            </a:r>
            <a:r>
              <a:rPr sz="2400" spc="135" dirty="0">
                <a:latin typeface="Calibri"/>
                <a:cs typeface="Calibri"/>
              </a:rPr>
              <a:t> </a:t>
            </a:r>
            <a:r>
              <a:rPr sz="2400" spc="80" dirty="0">
                <a:latin typeface="Calibri"/>
                <a:cs typeface="Calibri"/>
              </a:rPr>
              <a:t>small</a:t>
            </a:r>
            <a:r>
              <a:rPr sz="2400" spc="155" dirty="0">
                <a:latin typeface="Calibri"/>
                <a:cs typeface="Calibri"/>
              </a:rPr>
              <a:t> </a:t>
            </a:r>
            <a:r>
              <a:rPr sz="2400" spc="50" dirty="0">
                <a:latin typeface="Calibri"/>
                <a:cs typeface="Calibri"/>
              </a:rPr>
              <a:t>change</a:t>
            </a:r>
            <a:r>
              <a:rPr sz="2400" spc="165" dirty="0">
                <a:latin typeface="Calibri"/>
                <a:cs typeface="Calibri"/>
              </a:rPr>
              <a:t> </a:t>
            </a:r>
            <a:r>
              <a:rPr sz="2400" spc="60" dirty="0">
                <a:latin typeface="Calibri"/>
                <a:cs typeface="Calibri"/>
              </a:rPr>
              <a:t>in</a:t>
            </a:r>
            <a:r>
              <a:rPr sz="2400" spc="12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</a:t>
            </a:r>
            <a:r>
              <a:rPr sz="2400" spc="135" dirty="0">
                <a:latin typeface="Calibri"/>
                <a:cs typeface="Calibri"/>
              </a:rPr>
              <a:t> </a:t>
            </a:r>
            <a:r>
              <a:rPr sz="2400" spc="45" dirty="0">
                <a:latin typeface="Calibri"/>
                <a:cs typeface="Calibri"/>
              </a:rPr>
              <a:t>specific</a:t>
            </a:r>
            <a:r>
              <a:rPr sz="2400" spc="80" dirty="0">
                <a:latin typeface="Calibri"/>
                <a:cs typeface="Calibri"/>
              </a:rPr>
              <a:t> </a:t>
            </a:r>
            <a:r>
              <a:rPr sz="2400" spc="50" dirty="0">
                <a:latin typeface="Calibri"/>
                <a:cs typeface="Calibri"/>
              </a:rPr>
              <a:t>weight</a:t>
            </a:r>
            <a:r>
              <a:rPr sz="2400" spc="160" dirty="0">
                <a:latin typeface="Calibri"/>
                <a:cs typeface="Calibri"/>
              </a:rPr>
              <a:t> </a:t>
            </a:r>
            <a:r>
              <a:rPr sz="2400" spc="-25" dirty="0">
                <a:latin typeface="Symbol"/>
                <a:cs typeface="Symbol"/>
              </a:rPr>
              <a:t></a:t>
            </a:r>
            <a:r>
              <a:rPr sz="2400" spc="-25" dirty="0">
                <a:latin typeface="Calibri"/>
                <a:cs typeface="Calibri"/>
              </a:rPr>
              <a:t>w</a:t>
            </a:r>
            <a:r>
              <a:rPr sz="2400" spc="-37" baseline="-20833" dirty="0">
                <a:latin typeface="Calibri"/>
                <a:cs typeface="Calibri"/>
              </a:rPr>
              <a:t>i</a:t>
            </a:r>
            <a:endParaRPr sz="2400" baseline="-20833">
              <a:latin typeface="Calibri"/>
              <a:cs typeface="Calibri"/>
            </a:endParaRPr>
          </a:p>
          <a:p>
            <a:pPr marL="265430" indent="-227329">
              <a:lnSpc>
                <a:spcPct val="100000"/>
              </a:lnSpc>
              <a:spcBef>
                <a:spcPts val="195"/>
              </a:spcBef>
              <a:buFont typeface="Arial"/>
              <a:buChar char="•"/>
              <a:tabLst>
                <a:tab pos="265430" algn="l"/>
              </a:tabLst>
            </a:pPr>
            <a:r>
              <a:rPr sz="2400" spc="-35" dirty="0">
                <a:latin typeface="Calibri"/>
                <a:cs typeface="Calibri"/>
              </a:rPr>
              <a:t>We</a:t>
            </a:r>
            <a:r>
              <a:rPr sz="2400" spc="90" dirty="0">
                <a:latin typeface="Calibri"/>
                <a:cs typeface="Calibri"/>
              </a:rPr>
              <a:t> </a:t>
            </a:r>
            <a:r>
              <a:rPr sz="2400" spc="65" dirty="0">
                <a:latin typeface="Calibri"/>
                <a:cs typeface="Calibri"/>
              </a:rPr>
              <a:t>also</a:t>
            </a:r>
            <a:r>
              <a:rPr sz="2400" spc="10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have</a:t>
            </a:r>
            <a:r>
              <a:rPr sz="2400" spc="12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</a:t>
            </a:r>
            <a:r>
              <a:rPr sz="2400" spc="100" dirty="0">
                <a:latin typeface="Calibri"/>
                <a:cs typeface="Calibri"/>
              </a:rPr>
              <a:t> </a:t>
            </a:r>
            <a:r>
              <a:rPr sz="2400" spc="80" dirty="0">
                <a:latin typeface="Calibri"/>
                <a:cs typeface="Calibri"/>
              </a:rPr>
              <a:t>small</a:t>
            </a:r>
            <a:r>
              <a:rPr sz="2400" spc="100" dirty="0">
                <a:latin typeface="Calibri"/>
                <a:cs typeface="Calibri"/>
              </a:rPr>
              <a:t> </a:t>
            </a:r>
            <a:r>
              <a:rPr sz="2400" spc="55" dirty="0">
                <a:latin typeface="Calibri"/>
                <a:cs typeface="Calibri"/>
              </a:rPr>
              <a:t>change</a:t>
            </a:r>
            <a:r>
              <a:rPr sz="2400" spc="120" dirty="0">
                <a:latin typeface="Calibri"/>
                <a:cs typeface="Calibri"/>
              </a:rPr>
              <a:t> </a:t>
            </a:r>
            <a:r>
              <a:rPr sz="2400" spc="60" dirty="0">
                <a:latin typeface="Calibri"/>
                <a:cs typeface="Calibri"/>
              </a:rPr>
              <a:t>in</a:t>
            </a:r>
            <a:r>
              <a:rPr sz="2400" spc="10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105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output</a:t>
            </a:r>
            <a:endParaRPr sz="2400">
              <a:latin typeface="Calibri"/>
              <a:cs typeface="Calibri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6274689" y="3991736"/>
            <a:ext cx="80010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spc="-50" dirty="0">
                <a:latin typeface="Calibri"/>
                <a:cs typeface="Calibri"/>
              </a:rPr>
              <a:t>j</a:t>
            </a:r>
            <a:endParaRPr sz="1600">
              <a:latin typeface="Calibri"/>
              <a:cs typeface="Calibri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1633473" y="3814953"/>
            <a:ext cx="532828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40029" indent="-227329">
              <a:lnSpc>
                <a:spcPct val="100000"/>
              </a:lnSpc>
              <a:spcBef>
                <a:spcPts val="100"/>
              </a:spcBef>
              <a:buFont typeface="Arial"/>
              <a:buChar char="•"/>
              <a:tabLst>
                <a:tab pos="240029" algn="l"/>
              </a:tabLst>
            </a:pPr>
            <a:r>
              <a:rPr sz="2400" spc="70" dirty="0">
                <a:latin typeface="Calibri"/>
                <a:cs typeface="Calibri"/>
              </a:rPr>
              <a:t>The</a:t>
            </a:r>
            <a:r>
              <a:rPr sz="2400" spc="16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sum</a:t>
            </a:r>
            <a:r>
              <a:rPr sz="2400" spc="155" dirty="0">
                <a:latin typeface="Calibri"/>
                <a:cs typeface="Calibri"/>
              </a:rPr>
              <a:t> </a:t>
            </a:r>
            <a:r>
              <a:rPr sz="2400" spc="80" dirty="0">
                <a:latin typeface="Calibri"/>
                <a:cs typeface="Calibri"/>
              </a:rPr>
              <a:t>is</a:t>
            </a:r>
            <a:r>
              <a:rPr sz="2400" spc="16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over</a:t>
            </a:r>
            <a:r>
              <a:rPr sz="2400" spc="165" dirty="0">
                <a:latin typeface="Calibri"/>
                <a:cs typeface="Calibri"/>
              </a:rPr>
              <a:t> </a:t>
            </a:r>
            <a:r>
              <a:rPr sz="2400" spc="105" dirty="0">
                <a:latin typeface="Calibri"/>
                <a:cs typeface="Calibri"/>
              </a:rPr>
              <a:t>all</a:t>
            </a:r>
            <a:r>
              <a:rPr sz="2400" spc="16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16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weights,</a:t>
            </a:r>
            <a:r>
              <a:rPr sz="2400" spc="-40" dirty="0">
                <a:latin typeface="Calibri"/>
                <a:cs typeface="Calibri"/>
              </a:rPr>
              <a:t> </a:t>
            </a:r>
            <a:r>
              <a:rPr sz="2400" spc="50" dirty="0">
                <a:latin typeface="Calibri"/>
                <a:cs typeface="Calibri"/>
              </a:rPr>
              <a:t>w</a:t>
            </a:r>
            <a:r>
              <a:rPr sz="2400" spc="-70" dirty="0">
                <a:latin typeface="Calibri"/>
                <a:cs typeface="Calibri"/>
              </a:rPr>
              <a:t> </a:t>
            </a:r>
            <a:r>
              <a:rPr sz="2400" spc="-60" dirty="0">
                <a:latin typeface="Calibri"/>
                <a:cs typeface="Calibri"/>
              </a:rPr>
              <a:t>,</a:t>
            </a:r>
            <a:r>
              <a:rPr sz="2400" spc="-45" dirty="0">
                <a:latin typeface="Calibri"/>
                <a:cs typeface="Calibri"/>
              </a:rPr>
              <a:t> </a:t>
            </a:r>
            <a:r>
              <a:rPr sz="2400" spc="-25" dirty="0">
                <a:latin typeface="Calibri"/>
                <a:cs typeface="Calibri"/>
              </a:rPr>
              <a:t>and</a:t>
            </a:r>
            <a:endParaRPr sz="2400" dirty="0">
              <a:latin typeface="Calibri"/>
              <a:cs typeface="Calibri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7064120" y="4051172"/>
            <a:ext cx="351155" cy="2927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750" spc="120" dirty="0">
                <a:latin typeface="Cambria Math"/>
                <a:cs typeface="Cambria Math"/>
              </a:rPr>
              <a:t>𝜕𝑤</a:t>
            </a:r>
            <a:endParaRPr sz="1750">
              <a:latin typeface="Cambria Math"/>
              <a:cs typeface="Cambria Math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7388732" y="4138040"/>
            <a:ext cx="114935" cy="24511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1450" spc="125" dirty="0">
                <a:latin typeface="Cambria Math"/>
                <a:cs typeface="Cambria Math"/>
              </a:rPr>
              <a:t>𝑗</a:t>
            </a:r>
            <a:endParaRPr sz="1450">
              <a:latin typeface="Cambria Math"/>
              <a:cs typeface="Cambria Math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7016877" y="3718941"/>
            <a:ext cx="1179830" cy="2927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655320" algn="l"/>
              </a:tabLst>
            </a:pPr>
            <a:r>
              <a:rPr sz="1750" u="heavy" spc="75" dirty="0">
                <a:uFill>
                  <a:solidFill>
                    <a:srgbClr val="000000"/>
                  </a:solidFill>
                </a:uFill>
                <a:latin typeface="Cambria Math"/>
                <a:cs typeface="Cambria Math"/>
              </a:rPr>
              <a:t>𝜕𝑜𝑢𝑡</a:t>
            </a:r>
            <a:r>
              <a:rPr sz="1750" u="none" dirty="0">
                <a:latin typeface="Cambria Math"/>
                <a:cs typeface="Cambria Math"/>
              </a:rPr>
              <a:t>	</a:t>
            </a:r>
            <a:r>
              <a:rPr sz="1750" u="heavy" spc="70" dirty="0">
                <a:uFill>
                  <a:solidFill>
                    <a:srgbClr val="000000"/>
                  </a:solidFill>
                </a:uFill>
                <a:latin typeface="Cambria Math"/>
                <a:cs typeface="Cambria Math"/>
              </a:rPr>
              <a:t>𝜕𝑜𝑢𝑡</a:t>
            </a:r>
            <a:endParaRPr sz="1750">
              <a:latin typeface="Cambria Math"/>
              <a:cs typeface="Cambria Math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7780401" y="4051172"/>
            <a:ext cx="295910" cy="2927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750" spc="75" dirty="0">
                <a:latin typeface="Cambria Math"/>
                <a:cs typeface="Cambria Math"/>
              </a:rPr>
              <a:t>𝜕𝑏</a:t>
            </a:r>
            <a:endParaRPr sz="1750">
              <a:latin typeface="Cambria Math"/>
              <a:cs typeface="Cambria Math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7535036" y="3814953"/>
            <a:ext cx="342709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736600" algn="l"/>
              </a:tabLst>
            </a:pPr>
            <a:r>
              <a:rPr sz="2400" spc="-50" dirty="0">
                <a:latin typeface="Calibri"/>
                <a:cs typeface="Calibri"/>
              </a:rPr>
              <a:t>,</a:t>
            </a:r>
            <a:r>
              <a:rPr sz="2400" dirty="0">
                <a:latin typeface="Calibri"/>
                <a:cs typeface="Calibri"/>
              </a:rPr>
              <a:t>	represent</a:t>
            </a:r>
            <a:r>
              <a:rPr sz="2400" spc="19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190" dirty="0">
                <a:latin typeface="Calibri"/>
                <a:cs typeface="Calibri"/>
              </a:rPr>
              <a:t> </a:t>
            </a:r>
            <a:r>
              <a:rPr sz="2400" spc="40" dirty="0">
                <a:latin typeface="Calibri"/>
                <a:cs typeface="Calibri"/>
              </a:rPr>
              <a:t>partial</a:t>
            </a:r>
            <a:endParaRPr sz="2400">
              <a:latin typeface="Calibri"/>
              <a:cs typeface="Calibri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1633473" y="4260832"/>
            <a:ext cx="9204325" cy="1142365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241300">
              <a:lnSpc>
                <a:spcPct val="100000"/>
              </a:lnSpc>
              <a:spcBef>
                <a:spcPts val="320"/>
              </a:spcBef>
            </a:pPr>
            <a:r>
              <a:rPr sz="2400" dirty="0">
                <a:latin typeface="Calibri"/>
                <a:cs typeface="Calibri"/>
              </a:rPr>
              <a:t>derivatives</a:t>
            </a:r>
            <a:r>
              <a:rPr sz="2400" spc="18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of</a:t>
            </a:r>
            <a:r>
              <a:rPr sz="2400" spc="204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204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output</a:t>
            </a:r>
            <a:r>
              <a:rPr sz="2400" spc="18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with</a:t>
            </a:r>
            <a:r>
              <a:rPr sz="2400" spc="18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respect</a:t>
            </a:r>
            <a:r>
              <a:rPr sz="2400" spc="204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to</a:t>
            </a:r>
            <a:r>
              <a:rPr sz="2400" spc="19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200" dirty="0">
                <a:latin typeface="Calibri"/>
                <a:cs typeface="Calibri"/>
              </a:rPr>
              <a:t> </a:t>
            </a:r>
            <a:r>
              <a:rPr sz="2400" spc="50" dirty="0">
                <a:latin typeface="Calibri"/>
                <a:cs typeface="Calibri"/>
              </a:rPr>
              <a:t>weight</a:t>
            </a:r>
            <a:r>
              <a:rPr sz="2400" spc="19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or</a:t>
            </a:r>
            <a:r>
              <a:rPr sz="2400" spc="190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bias.</a:t>
            </a:r>
            <a:endParaRPr sz="2400" dirty="0">
              <a:latin typeface="Calibri"/>
              <a:cs typeface="Calibri"/>
            </a:endParaRPr>
          </a:p>
          <a:p>
            <a:pPr marL="240029" marR="5080" indent="-227329">
              <a:lnSpc>
                <a:spcPts val="2590"/>
              </a:lnSpc>
              <a:spcBef>
                <a:spcPts val="545"/>
              </a:spcBef>
              <a:buFont typeface="Arial"/>
              <a:buChar char="•"/>
              <a:tabLst>
                <a:tab pos="241300" algn="l"/>
              </a:tabLst>
            </a:pPr>
            <a:r>
              <a:rPr sz="2400" spc="90" dirty="0">
                <a:latin typeface="Calibri"/>
                <a:cs typeface="Calibri"/>
              </a:rPr>
              <a:t>So</a:t>
            </a:r>
            <a:r>
              <a:rPr sz="2400" spc="180" dirty="0">
                <a:latin typeface="Calibri"/>
                <a:cs typeface="Calibri"/>
              </a:rPr>
              <a:t> </a:t>
            </a:r>
            <a:r>
              <a:rPr sz="2400" spc="60" dirty="0">
                <a:latin typeface="Calibri"/>
                <a:cs typeface="Calibri"/>
              </a:rPr>
              <a:t>in</a:t>
            </a:r>
            <a:r>
              <a:rPr sz="2400" spc="165" dirty="0">
                <a:latin typeface="Calibri"/>
                <a:cs typeface="Calibri"/>
              </a:rPr>
              <a:t> </a:t>
            </a:r>
            <a:r>
              <a:rPr sz="2400" spc="50" dirty="0">
                <a:latin typeface="Calibri"/>
                <a:cs typeface="Calibri"/>
              </a:rPr>
              <a:t>this</a:t>
            </a:r>
            <a:r>
              <a:rPr sz="2400" spc="18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range,</a:t>
            </a:r>
            <a:r>
              <a:rPr sz="2400" spc="-2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we</a:t>
            </a:r>
            <a:r>
              <a:rPr sz="2400" spc="180" dirty="0">
                <a:latin typeface="Calibri"/>
                <a:cs typeface="Calibri"/>
              </a:rPr>
              <a:t> </a:t>
            </a:r>
            <a:r>
              <a:rPr sz="2400" spc="55" dirty="0">
                <a:latin typeface="Calibri"/>
                <a:cs typeface="Calibri"/>
              </a:rPr>
              <a:t>essentially</a:t>
            </a:r>
            <a:r>
              <a:rPr sz="2400" spc="8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have</a:t>
            </a:r>
            <a:r>
              <a:rPr sz="2400" spc="19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</a:t>
            </a:r>
            <a:r>
              <a:rPr sz="2400" spc="18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linear</a:t>
            </a:r>
            <a:r>
              <a:rPr sz="2400" spc="18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equation</a:t>
            </a:r>
            <a:r>
              <a:rPr sz="2400" spc="160" dirty="0">
                <a:latin typeface="Calibri"/>
                <a:cs typeface="Calibri"/>
              </a:rPr>
              <a:t> </a:t>
            </a:r>
            <a:r>
              <a:rPr sz="2400" spc="40" dirty="0">
                <a:latin typeface="Calibri"/>
                <a:cs typeface="Calibri"/>
              </a:rPr>
              <a:t>approximating 	</a:t>
            </a:r>
            <a:r>
              <a:rPr sz="2400" dirty="0">
                <a:latin typeface="Calibri"/>
                <a:cs typeface="Calibri"/>
              </a:rPr>
              <a:t>our</a:t>
            </a:r>
            <a:r>
              <a:rPr sz="2400" spc="80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output</a:t>
            </a:r>
            <a:endParaRPr sz="2400" dirty="0">
              <a:latin typeface="Calibri"/>
              <a:cs typeface="Calibri"/>
            </a:endParaRPr>
          </a:p>
        </p:txBody>
      </p:sp>
      <p:sp>
        <p:nvSpPr>
          <p:cNvPr id="16" name="object 16"/>
          <p:cNvSpPr txBox="1"/>
          <p:nvPr/>
        </p:nvSpPr>
        <p:spPr>
          <a:xfrm>
            <a:off x="3917762" y="3459860"/>
            <a:ext cx="147320" cy="337185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2050" spc="160" dirty="0">
                <a:latin typeface="Cambria Math"/>
                <a:cs typeface="Cambria Math"/>
              </a:rPr>
              <a:t>𝑗</a:t>
            </a:r>
            <a:endParaRPr sz="2050" dirty="0">
              <a:latin typeface="Cambria Math"/>
              <a:cs typeface="Cambria Math"/>
            </a:endParaRPr>
          </a:p>
        </p:txBody>
      </p:sp>
      <p:sp>
        <p:nvSpPr>
          <p:cNvPr id="17" name="object 17"/>
          <p:cNvSpPr/>
          <p:nvPr/>
        </p:nvSpPr>
        <p:spPr>
          <a:xfrm>
            <a:off x="4415790" y="3448430"/>
            <a:ext cx="741045" cy="22860"/>
          </a:xfrm>
          <a:custGeom>
            <a:avLst/>
            <a:gdLst/>
            <a:ahLst/>
            <a:cxnLst/>
            <a:rect l="l" t="t" r="r" b="b"/>
            <a:pathLst>
              <a:path w="741045" h="22860">
                <a:moveTo>
                  <a:pt x="740663" y="0"/>
                </a:moveTo>
                <a:lnTo>
                  <a:pt x="0" y="0"/>
                </a:lnTo>
                <a:lnTo>
                  <a:pt x="0" y="22860"/>
                </a:lnTo>
                <a:lnTo>
                  <a:pt x="740663" y="22860"/>
                </a:lnTo>
                <a:lnTo>
                  <a:pt x="740663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object 18"/>
          <p:cNvSpPr txBox="1"/>
          <p:nvPr/>
        </p:nvSpPr>
        <p:spPr>
          <a:xfrm>
            <a:off x="4912867" y="3600653"/>
            <a:ext cx="147320" cy="337185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2050" spc="160" dirty="0">
                <a:latin typeface="Cambria Math"/>
                <a:cs typeface="Cambria Math"/>
              </a:rPr>
              <a:t>𝑗</a:t>
            </a:r>
            <a:endParaRPr sz="2050">
              <a:latin typeface="Cambria Math"/>
              <a:cs typeface="Cambria Math"/>
            </a:endParaRPr>
          </a:p>
        </p:txBody>
      </p:sp>
      <p:sp>
        <p:nvSpPr>
          <p:cNvPr id="19" name="object 19"/>
          <p:cNvSpPr/>
          <p:nvPr/>
        </p:nvSpPr>
        <p:spPr>
          <a:xfrm>
            <a:off x="6214109" y="3448430"/>
            <a:ext cx="741045" cy="22860"/>
          </a:xfrm>
          <a:custGeom>
            <a:avLst/>
            <a:gdLst/>
            <a:ahLst/>
            <a:cxnLst/>
            <a:rect l="l" t="t" r="r" b="b"/>
            <a:pathLst>
              <a:path w="741045" h="22860">
                <a:moveTo>
                  <a:pt x="740663" y="0"/>
                </a:moveTo>
                <a:lnTo>
                  <a:pt x="0" y="0"/>
                </a:lnTo>
                <a:lnTo>
                  <a:pt x="0" y="22860"/>
                </a:lnTo>
                <a:lnTo>
                  <a:pt x="740663" y="22860"/>
                </a:lnTo>
                <a:lnTo>
                  <a:pt x="740663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0" name="object 20"/>
          <p:cNvSpPr txBox="1"/>
          <p:nvPr/>
        </p:nvSpPr>
        <p:spPr>
          <a:xfrm>
            <a:off x="4403852" y="2925825"/>
            <a:ext cx="2555240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  <a:tabLst>
                <a:tab pos="1810385" algn="l"/>
              </a:tabLst>
            </a:pPr>
            <a:r>
              <a:rPr sz="2800" spc="-20" dirty="0">
                <a:latin typeface="Cambria Math"/>
                <a:cs typeface="Cambria Math"/>
              </a:rPr>
              <a:t>𝜕𝑜𝑢𝑡</a:t>
            </a:r>
            <a:r>
              <a:rPr sz="2800" dirty="0">
                <a:latin typeface="Cambria Math"/>
                <a:cs typeface="Cambria Math"/>
              </a:rPr>
              <a:t>	</a:t>
            </a:r>
            <a:r>
              <a:rPr sz="2800" spc="-20" dirty="0">
                <a:latin typeface="Cambria Math"/>
                <a:cs typeface="Cambria Math"/>
              </a:rPr>
              <a:t>𝜕𝑜𝑢𝑡</a:t>
            </a:r>
            <a:endParaRPr sz="2800" dirty="0">
              <a:latin typeface="Cambria Math"/>
              <a:cs typeface="Cambria Math"/>
            </a:endParaRPr>
          </a:p>
        </p:txBody>
      </p:sp>
      <p:sp>
        <p:nvSpPr>
          <p:cNvPr id="21" name="object 21"/>
          <p:cNvSpPr txBox="1"/>
          <p:nvPr/>
        </p:nvSpPr>
        <p:spPr>
          <a:xfrm>
            <a:off x="2612898" y="3194049"/>
            <a:ext cx="4201160" cy="68961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50800">
              <a:lnSpc>
                <a:spcPts val="2615"/>
              </a:lnSpc>
              <a:spcBef>
                <a:spcPts val="95"/>
              </a:spcBef>
              <a:tabLst>
                <a:tab pos="1272540" algn="l"/>
                <a:tab pos="2603500" algn="l"/>
              </a:tabLst>
            </a:pPr>
            <a:r>
              <a:rPr sz="2800" dirty="0">
                <a:latin typeface="Cambria Math"/>
                <a:cs typeface="Cambria Math"/>
              </a:rPr>
              <a:t>∆𝑜𝑢𝑡</a:t>
            </a:r>
            <a:r>
              <a:rPr sz="2800" spc="35" dirty="0">
                <a:latin typeface="Cambria Math"/>
                <a:cs typeface="Cambria Math"/>
              </a:rPr>
              <a:t> </a:t>
            </a:r>
            <a:r>
              <a:rPr sz="2800" spc="-50" dirty="0">
                <a:latin typeface="Cambria Math"/>
                <a:cs typeface="Cambria Math"/>
              </a:rPr>
              <a:t>~</a:t>
            </a:r>
            <a:r>
              <a:rPr sz="2800" dirty="0">
                <a:latin typeface="Cambria Math"/>
                <a:cs typeface="Cambria Math"/>
              </a:rPr>
              <a:t>	</a:t>
            </a:r>
            <a:r>
              <a:rPr lang="el-GR" sz="1800" dirty="0"/>
              <a:t>Σ</a:t>
            </a:r>
            <a:r>
              <a:rPr sz="2800" dirty="0">
                <a:latin typeface="Cambria Math"/>
                <a:cs typeface="Cambria Math"/>
              </a:rPr>
              <a:t>	∆𝑤</a:t>
            </a:r>
            <a:r>
              <a:rPr sz="3075" baseline="-16260" dirty="0">
                <a:latin typeface="Cambria Math"/>
                <a:cs typeface="Cambria Math"/>
              </a:rPr>
              <a:t>𝑗</a:t>
            </a:r>
            <a:r>
              <a:rPr sz="3075" spc="307" baseline="-16260" dirty="0">
                <a:latin typeface="Cambria Math"/>
                <a:cs typeface="Cambria Math"/>
              </a:rPr>
              <a:t> </a:t>
            </a:r>
            <a:r>
              <a:rPr sz="2800" spc="-50" dirty="0">
                <a:latin typeface="Cambria Math"/>
                <a:cs typeface="Cambria Math"/>
              </a:rPr>
              <a:t>+</a:t>
            </a:r>
            <a:endParaRPr sz="2800" dirty="0">
              <a:latin typeface="Cambria Math"/>
              <a:cs typeface="Cambria Math"/>
            </a:endParaRPr>
          </a:p>
          <a:p>
            <a:pPr marL="1887220">
              <a:lnSpc>
                <a:spcPts val="2615"/>
              </a:lnSpc>
              <a:tabLst>
                <a:tab pos="3772535" algn="l"/>
              </a:tabLst>
            </a:pPr>
            <a:r>
              <a:rPr sz="2800" spc="-25" dirty="0">
                <a:latin typeface="Cambria Math"/>
                <a:cs typeface="Cambria Math"/>
              </a:rPr>
              <a:t>𝜕𝑤</a:t>
            </a:r>
            <a:r>
              <a:rPr sz="2800" dirty="0">
                <a:latin typeface="Cambria Math"/>
                <a:cs typeface="Cambria Math"/>
              </a:rPr>
              <a:t>	</a:t>
            </a:r>
            <a:r>
              <a:rPr sz="2800" spc="-25" dirty="0">
                <a:latin typeface="Cambria Math"/>
                <a:cs typeface="Cambria Math"/>
              </a:rPr>
              <a:t>𝜕𝑏</a:t>
            </a:r>
            <a:endParaRPr sz="2800" dirty="0">
              <a:latin typeface="Cambria Math"/>
              <a:cs typeface="Cambria Math"/>
            </a:endParaRPr>
          </a:p>
        </p:txBody>
      </p:sp>
      <p:sp>
        <p:nvSpPr>
          <p:cNvPr id="22" name="object 22"/>
          <p:cNvSpPr txBox="1"/>
          <p:nvPr/>
        </p:nvSpPr>
        <p:spPr>
          <a:xfrm>
            <a:off x="7002526" y="3194049"/>
            <a:ext cx="429259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2800" spc="-25" dirty="0">
                <a:latin typeface="Cambria Math"/>
                <a:cs typeface="Cambria Math"/>
              </a:rPr>
              <a:t>∆𝑏</a:t>
            </a:r>
            <a:endParaRPr sz="2800">
              <a:latin typeface="Cambria Math"/>
              <a:cs typeface="Cambria Math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105" dirty="0"/>
              <a:t>Sigmoid </a:t>
            </a:r>
            <a:r>
              <a:rPr spc="35" dirty="0"/>
              <a:t>Neurons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1176324" y="1220188"/>
            <a:ext cx="9418955" cy="1997710"/>
          </a:xfrm>
          <a:prstGeom prst="rect">
            <a:avLst/>
          </a:prstGeom>
        </p:spPr>
        <p:txBody>
          <a:bodyPr vert="horz" wrap="square" lIns="0" tIns="46355" rIns="0" bIns="0" rtlCol="0">
            <a:spAutoFit/>
          </a:bodyPr>
          <a:lstStyle/>
          <a:p>
            <a:pPr marL="240029" indent="-227329">
              <a:lnSpc>
                <a:spcPct val="100000"/>
              </a:lnSpc>
              <a:spcBef>
                <a:spcPts val="365"/>
              </a:spcBef>
              <a:buFont typeface="Arial"/>
              <a:buChar char="•"/>
              <a:tabLst>
                <a:tab pos="240029" algn="l"/>
              </a:tabLst>
            </a:pPr>
            <a:r>
              <a:rPr sz="2800" spc="75" dirty="0">
                <a:latin typeface="Calibri"/>
                <a:cs typeface="Calibri"/>
              </a:rPr>
              <a:t>In</a:t>
            </a:r>
            <a:r>
              <a:rPr sz="2800" spc="17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the</a:t>
            </a:r>
            <a:r>
              <a:rPr sz="2800" spc="204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end</a:t>
            </a:r>
            <a:r>
              <a:rPr sz="2800" spc="20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the</a:t>
            </a:r>
            <a:r>
              <a:rPr sz="2800" spc="200" dirty="0">
                <a:latin typeface="Calibri"/>
                <a:cs typeface="Calibri"/>
              </a:rPr>
              <a:t> </a:t>
            </a:r>
            <a:r>
              <a:rPr sz="2800" spc="60" dirty="0">
                <a:latin typeface="Calibri"/>
                <a:cs typeface="Calibri"/>
              </a:rPr>
              <a:t>actual</a:t>
            </a:r>
            <a:r>
              <a:rPr sz="2800" spc="17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neuron</a:t>
            </a:r>
            <a:r>
              <a:rPr sz="2800" spc="19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doesn’t</a:t>
            </a:r>
            <a:r>
              <a:rPr sz="2800" spc="22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matter</a:t>
            </a:r>
            <a:r>
              <a:rPr sz="2800" spc="18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that</a:t>
            </a:r>
            <a:r>
              <a:rPr sz="2800" spc="195" dirty="0">
                <a:latin typeface="Calibri"/>
                <a:cs typeface="Calibri"/>
              </a:rPr>
              <a:t> </a:t>
            </a:r>
            <a:r>
              <a:rPr sz="2800" spc="-20" dirty="0">
                <a:latin typeface="Calibri"/>
                <a:cs typeface="Calibri"/>
              </a:rPr>
              <a:t>much</a:t>
            </a:r>
            <a:endParaRPr sz="2800">
              <a:latin typeface="Calibri"/>
              <a:cs typeface="Calibri"/>
            </a:endParaRPr>
          </a:p>
          <a:p>
            <a:pPr marL="696595" lvl="1" indent="-227329">
              <a:lnSpc>
                <a:spcPct val="100000"/>
              </a:lnSpc>
              <a:spcBef>
                <a:spcPts val="234"/>
              </a:spcBef>
              <a:buFont typeface="Arial"/>
              <a:buChar char="•"/>
              <a:tabLst>
                <a:tab pos="696595" algn="l"/>
              </a:tabLst>
            </a:pPr>
            <a:r>
              <a:rPr sz="2400" dirty="0">
                <a:latin typeface="Calibri"/>
                <a:cs typeface="Calibri"/>
              </a:rPr>
              <a:t>Smoothness</a:t>
            </a:r>
            <a:r>
              <a:rPr sz="2400" spc="254" dirty="0">
                <a:latin typeface="Calibri"/>
                <a:cs typeface="Calibri"/>
              </a:rPr>
              <a:t> </a:t>
            </a:r>
            <a:r>
              <a:rPr sz="2400" spc="60" dirty="0">
                <a:latin typeface="Calibri"/>
                <a:cs typeface="Calibri"/>
              </a:rPr>
              <a:t>lets</a:t>
            </a:r>
            <a:r>
              <a:rPr sz="2400" spc="22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us</a:t>
            </a:r>
            <a:r>
              <a:rPr sz="2400" spc="21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use</a:t>
            </a:r>
            <a:r>
              <a:rPr sz="2400" spc="229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22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approximation</a:t>
            </a:r>
            <a:r>
              <a:rPr sz="2400" spc="229" dirty="0">
                <a:latin typeface="Calibri"/>
                <a:cs typeface="Calibri"/>
              </a:rPr>
              <a:t> </a:t>
            </a:r>
            <a:r>
              <a:rPr sz="2400" spc="65" dirty="0">
                <a:latin typeface="Calibri"/>
                <a:cs typeface="Calibri"/>
              </a:rPr>
              <a:t>given</a:t>
            </a:r>
            <a:r>
              <a:rPr sz="2400" spc="225" dirty="0">
                <a:latin typeface="Calibri"/>
                <a:cs typeface="Calibri"/>
              </a:rPr>
              <a:t> </a:t>
            </a:r>
            <a:r>
              <a:rPr sz="2400" spc="60" dirty="0">
                <a:latin typeface="Calibri"/>
                <a:cs typeface="Calibri"/>
              </a:rPr>
              <a:t>in</a:t>
            </a:r>
            <a:r>
              <a:rPr sz="2400" spc="21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225" dirty="0">
                <a:latin typeface="Calibri"/>
                <a:cs typeface="Calibri"/>
              </a:rPr>
              <a:t> </a:t>
            </a:r>
            <a:r>
              <a:rPr sz="2400" spc="60" dirty="0">
                <a:latin typeface="Calibri"/>
                <a:cs typeface="Calibri"/>
              </a:rPr>
              <a:t>last</a:t>
            </a:r>
            <a:r>
              <a:rPr sz="2400" spc="229" dirty="0">
                <a:latin typeface="Calibri"/>
                <a:cs typeface="Calibri"/>
              </a:rPr>
              <a:t> </a:t>
            </a:r>
            <a:r>
              <a:rPr sz="2400" spc="60" dirty="0">
                <a:latin typeface="Calibri"/>
                <a:cs typeface="Calibri"/>
              </a:rPr>
              <a:t>slide</a:t>
            </a:r>
            <a:endParaRPr sz="2400">
              <a:latin typeface="Calibri"/>
              <a:cs typeface="Calibri"/>
            </a:endParaRPr>
          </a:p>
          <a:p>
            <a:pPr lvl="1">
              <a:lnSpc>
                <a:spcPct val="100000"/>
              </a:lnSpc>
              <a:spcBef>
                <a:spcPts val="380"/>
              </a:spcBef>
              <a:buFont typeface="Arial"/>
              <a:buChar char="•"/>
            </a:pPr>
            <a:endParaRPr sz="2400">
              <a:latin typeface="Calibri"/>
              <a:cs typeface="Calibri"/>
            </a:endParaRPr>
          </a:p>
          <a:p>
            <a:pPr marL="696595" lvl="1" indent="-227329">
              <a:lnSpc>
                <a:spcPts val="2740"/>
              </a:lnSpc>
              <a:buFont typeface="Arial"/>
              <a:buChar char="•"/>
              <a:tabLst>
                <a:tab pos="696595" algn="l"/>
              </a:tabLst>
            </a:pPr>
            <a:r>
              <a:rPr sz="2400" dirty="0">
                <a:latin typeface="Calibri"/>
                <a:cs typeface="Calibri"/>
              </a:rPr>
              <a:t>It’s</a:t>
            </a:r>
            <a:r>
              <a:rPr sz="2400" spc="20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</a:t>
            </a:r>
            <a:r>
              <a:rPr sz="2400" spc="204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bonus</a:t>
            </a:r>
            <a:r>
              <a:rPr sz="2400" spc="220" dirty="0">
                <a:latin typeface="Calibri"/>
                <a:cs typeface="Calibri"/>
              </a:rPr>
              <a:t> </a:t>
            </a:r>
            <a:r>
              <a:rPr sz="2400" spc="60" dirty="0">
                <a:latin typeface="Calibri"/>
                <a:cs typeface="Calibri"/>
              </a:rPr>
              <a:t>if</a:t>
            </a:r>
            <a:r>
              <a:rPr sz="2400" spc="18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computing</a:t>
            </a:r>
            <a:r>
              <a:rPr sz="2400" spc="204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21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derivatives</a:t>
            </a:r>
            <a:r>
              <a:rPr sz="2400" spc="20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are</a:t>
            </a:r>
            <a:r>
              <a:rPr sz="2400" spc="21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easy</a:t>
            </a:r>
            <a:r>
              <a:rPr sz="2400" spc="114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to</a:t>
            </a:r>
            <a:r>
              <a:rPr sz="2400" spc="204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do,</a:t>
            </a:r>
            <a:r>
              <a:rPr sz="2400" spc="-3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because</a:t>
            </a:r>
            <a:r>
              <a:rPr sz="2400" spc="225" dirty="0">
                <a:latin typeface="Calibri"/>
                <a:cs typeface="Calibri"/>
              </a:rPr>
              <a:t> </a:t>
            </a:r>
            <a:r>
              <a:rPr sz="2400" spc="-25" dirty="0">
                <a:latin typeface="Calibri"/>
                <a:cs typeface="Calibri"/>
              </a:rPr>
              <a:t>we</a:t>
            </a:r>
            <a:endParaRPr sz="2400">
              <a:latin typeface="Calibri"/>
              <a:cs typeface="Calibri"/>
            </a:endParaRPr>
          </a:p>
          <a:p>
            <a:pPr marL="697865">
              <a:lnSpc>
                <a:spcPts val="2740"/>
              </a:lnSpc>
            </a:pPr>
            <a:r>
              <a:rPr sz="2400" spc="105" dirty="0">
                <a:latin typeface="Calibri"/>
                <a:cs typeface="Calibri"/>
              </a:rPr>
              <a:t>will</a:t>
            </a:r>
            <a:r>
              <a:rPr sz="2400" spc="12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be</a:t>
            </a:r>
            <a:r>
              <a:rPr sz="2400" spc="145" dirty="0">
                <a:latin typeface="Calibri"/>
                <a:cs typeface="Calibri"/>
              </a:rPr>
              <a:t> </a:t>
            </a:r>
            <a:r>
              <a:rPr sz="2400" spc="65" dirty="0">
                <a:latin typeface="Calibri"/>
                <a:cs typeface="Calibri"/>
              </a:rPr>
              <a:t>doing</a:t>
            </a:r>
            <a:r>
              <a:rPr sz="2400" spc="13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</a:t>
            </a:r>
            <a:r>
              <a:rPr sz="2400" spc="135" dirty="0">
                <a:latin typeface="Calibri"/>
                <a:cs typeface="Calibri"/>
              </a:rPr>
              <a:t> </a:t>
            </a:r>
            <a:r>
              <a:rPr sz="2400" spc="50" dirty="0">
                <a:latin typeface="Calibri"/>
                <a:cs typeface="Calibri"/>
              </a:rPr>
              <a:t>lot</a:t>
            </a:r>
            <a:r>
              <a:rPr sz="2400" spc="14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of</a:t>
            </a:r>
            <a:r>
              <a:rPr sz="2400" spc="14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that</a:t>
            </a:r>
            <a:r>
              <a:rPr sz="2400" spc="13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when</a:t>
            </a:r>
            <a:r>
              <a:rPr sz="2400" spc="140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training.</a:t>
            </a:r>
            <a:endParaRPr sz="240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105" dirty="0"/>
              <a:t>Sigmoid </a:t>
            </a:r>
            <a:r>
              <a:rPr spc="35" dirty="0"/>
              <a:t>Neurons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1176324" y="3889423"/>
            <a:ext cx="9102725" cy="2284095"/>
          </a:xfrm>
          <a:prstGeom prst="rect">
            <a:avLst/>
          </a:prstGeom>
        </p:spPr>
        <p:txBody>
          <a:bodyPr vert="horz" wrap="square" lIns="0" tIns="46990" rIns="0" bIns="0" rtlCol="0">
            <a:spAutoFit/>
          </a:bodyPr>
          <a:lstStyle/>
          <a:p>
            <a:pPr marL="240029" indent="-227329">
              <a:lnSpc>
                <a:spcPct val="100000"/>
              </a:lnSpc>
              <a:spcBef>
                <a:spcPts val="370"/>
              </a:spcBef>
              <a:buFont typeface="Arial"/>
              <a:buChar char="•"/>
              <a:tabLst>
                <a:tab pos="240029" algn="l"/>
              </a:tabLst>
            </a:pPr>
            <a:r>
              <a:rPr sz="2800" spc="-50" dirty="0">
                <a:latin typeface="Calibri"/>
                <a:cs typeface="Calibri"/>
              </a:rPr>
              <a:t>Now,</a:t>
            </a:r>
            <a:r>
              <a:rPr sz="2800" spc="-80" dirty="0">
                <a:latin typeface="Calibri"/>
                <a:cs typeface="Calibri"/>
              </a:rPr>
              <a:t> </a:t>
            </a:r>
            <a:r>
              <a:rPr sz="2800" spc="70" dirty="0">
                <a:latin typeface="Calibri"/>
                <a:cs typeface="Calibri"/>
              </a:rPr>
              <a:t>if</a:t>
            </a:r>
            <a:r>
              <a:rPr sz="2800" spc="14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we</a:t>
            </a:r>
            <a:r>
              <a:rPr sz="2800" spc="17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have</a:t>
            </a:r>
            <a:r>
              <a:rPr sz="2800" spc="18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our</a:t>
            </a:r>
            <a:r>
              <a:rPr sz="2800" spc="155" dirty="0">
                <a:latin typeface="Calibri"/>
                <a:cs typeface="Calibri"/>
              </a:rPr>
              <a:t> </a:t>
            </a:r>
            <a:r>
              <a:rPr sz="2800" spc="25" dirty="0">
                <a:latin typeface="Calibri"/>
                <a:cs typeface="Calibri"/>
              </a:rPr>
              <a:t>NN</a:t>
            </a:r>
            <a:endParaRPr sz="2800">
              <a:latin typeface="Calibri"/>
              <a:cs typeface="Calibri"/>
            </a:endParaRPr>
          </a:p>
          <a:p>
            <a:pPr marL="696595" lvl="1" indent="-227329">
              <a:lnSpc>
                <a:spcPct val="100000"/>
              </a:lnSpc>
              <a:spcBef>
                <a:spcPts val="235"/>
              </a:spcBef>
              <a:buFont typeface="Arial"/>
              <a:buChar char="•"/>
              <a:tabLst>
                <a:tab pos="696595" algn="l"/>
              </a:tabLst>
            </a:pPr>
            <a:r>
              <a:rPr sz="2400" dirty="0">
                <a:latin typeface="Calibri"/>
                <a:cs typeface="Calibri"/>
              </a:rPr>
              <a:t>Perceptron</a:t>
            </a:r>
            <a:r>
              <a:rPr sz="2400" spc="17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neurons</a:t>
            </a:r>
            <a:r>
              <a:rPr sz="2400" spc="17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are</a:t>
            </a:r>
            <a:r>
              <a:rPr sz="2400" spc="18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easy</a:t>
            </a:r>
            <a:r>
              <a:rPr sz="2400" spc="7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to</a:t>
            </a:r>
            <a:r>
              <a:rPr sz="2400" spc="170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evaluate</a:t>
            </a:r>
            <a:endParaRPr sz="2400">
              <a:latin typeface="Calibri"/>
              <a:cs typeface="Calibri"/>
            </a:endParaRPr>
          </a:p>
          <a:p>
            <a:pPr marL="1155065" lvl="2" indent="-228600">
              <a:lnSpc>
                <a:spcPct val="100000"/>
              </a:lnSpc>
              <a:spcBef>
                <a:spcPts val="290"/>
              </a:spcBef>
              <a:buFont typeface="Arial"/>
              <a:buChar char="•"/>
              <a:tabLst>
                <a:tab pos="1155065" algn="l"/>
              </a:tabLst>
            </a:pPr>
            <a:r>
              <a:rPr sz="2000" spc="70" dirty="0">
                <a:latin typeface="Calibri"/>
                <a:cs typeface="Calibri"/>
              </a:rPr>
              <a:t>0</a:t>
            </a:r>
            <a:r>
              <a:rPr sz="2000" spc="8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or</a:t>
            </a:r>
            <a:r>
              <a:rPr sz="2000" spc="9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1;</a:t>
            </a:r>
            <a:r>
              <a:rPr sz="2000" spc="6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yes,</a:t>
            </a:r>
            <a:r>
              <a:rPr sz="2000" spc="-7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or</a:t>
            </a:r>
            <a:r>
              <a:rPr sz="2000" spc="80" dirty="0">
                <a:latin typeface="Calibri"/>
                <a:cs typeface="Calibri"/>
              </a:rPr>
              <a:t> </a:t>
            </a:r>
            <a:r>
              <a:rPr sz="2000" spc="-25" dirty="0">
                <a:latin typeface="Calibri"/>
                <a:cs typeface="Calibri"/>
              </a:rPr>
              <a:t>no;</a:t>
            </a:r>
            <a:endParaRPr sz="2000">
              <a:latin typeface="Calibri"/>
              <a:cs typeface="Calibri"/>
            </a:endParaRPr>
          </a:p>
          <a:p>
            <a:pPr marL="696595" marR="5080" lvl="1" indent="-227329">
              <a:lnSpc>
                <a:spcPts val="2590"/>
              </a:lnSpc>
              <a:spcBef>
                <a:spcPts val="515"/>
              </a:spcBef>
              <a:buFont typeface="Arial"/>
              <a:buChar char="•"/>
              <a:tabLst>
                <a:tab pos="697865" algn="l"/>
              </a:tabLst>
            </a:pPr>
            <a:r>
              <a:rPr sz="2400" spc="60" dirty="0">
                <a:latin typeface="Calibri"/>
                <a:cs typeface="Calibri"/>
              </a:rPr>
              <a:t>Since</a:t>
            </a:r>
            <a:r>
              <a:rPr sz="2400" spc="204" dirty="0">
                <a:latin typeface="Calibri"/>
                <a:cs typeface="Calibri"/>
              </a:rPr>
              <a:t> </a:t>
            </a:r>
            <a:r>
              <a:rPr sz="2400" spc="65" dirty="0">
                <a:latin typeface="Calibri"/>
                <a:cs typeface="Calibri"/>
              </a:rPr>
              <a:t>sigmoids</a:t>
            </a:r>
            <a:r>
              <a:rPr sz="2400" spc="19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are</a:t>
            </a:r>
            <a:r>
              <a:rPr sz="2400" spc="17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continuous,</a:t>
            </a:r>
            <a:r>
              <a:rPr sz="2400" spc="-3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we</a:t>
            </a:r>
            <a:r>
              <a:rPr sz="2400" spc="19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have</a:t>
            </a:r>
            <a:r>
              <a:rPr sz="2400" spc="204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to</a:t>
            </a:r>
            <a:r>
              <a:rPr sz="2400" spc="18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setup</a:t>
            </a:r>
            <a:r>
              <a:rPr sz="2400" spc="19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some</a:t>
            </a:r>
            <a:r>
              <a:rPr sz="2400" spc="20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criteria</a:t>
            </a:r>
            <a:r>
              <a:rPr sz="2400" spc="155" dirty="0">
                <a:latin typeface="Calibri"/>
                <a:cs typeface="Calibri"/>
              </a:rPr>
              <a:t> </a:t>
            </a:r>
            <a:r>
              <a:rPr sz="2400" spc="-25" dirty="0">
                <a:latin typeface="Calibri"/>
                <a:cs typeface="Calibri"/>
              </a:rPr>
              <a:t>to 	</a:t>
            </a:r>
            <a:r>
              <a:rPr sz="2400" dirty="0">
                <a:latin typeface="Calibri"/>
                <a:cs typeface="Calibri"/>
              </a:rPr>
              <a:t>decide</a:t>
            </a:r>
            <a:r>
              <a:rPr sz="2400" spc="18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what</a:t>
            </a:r>
            <a:r>
              <a:rPr sz="2400" spc="21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that</a:t>
            </a:r>
            <a:r>
              <a:rPr sz="2400" spc="21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output</a:t>
            </a:r>
            <a:r>
              <a:rPr sz="2400" spc="20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neuron</a:t>
            </a:r>
            <a:r>
              <a:rPr sz="2400" spc="200" dirty="0">
                <a:latin typeface="Calibri"/>
                <a:cs typeface="Calibri"/>
              </a:rPr>
              <a:t> </a:t>
            </a:r>
            <a:r>
              <a:rPr sz="2400" spc="80" dirty="0">
                <a:latin typeface="Calibri"/>
                <a:cs typeface="Calibri"/>
              </a:rPr>
              <a:t>is</a:t>
            </a:r>
            <a:r>
              <a:rPr sz="2400" spc="200" dirty="0">
                <a:latin typeface="Calibri"/>
                <a:cs typeface="Calibri"/>
              </a:rPr>
              <a:t> </a:t>
            </a:r>
            <a:r>
              <a:rPr sz="2400" spc="55" dirty="0">
                <a:latin typeface="Calibri"/>
                <a:cs typeface="Calibri"/>
              </a:rPr>
              <a:t>saying</a:t>
            </a:r>
            <a:endParaRPr sz="2400">
              <a:latin typeface="Calibri"/>
              <a:cs typeface="Calibri"/>
            </a:endParaRPr>
          </a:p>
          <a:p>
            <a:pPr marL="1155065" lvl="2" indent="-228600">
              <a:lnSpc>
                <a:spcPct val="100000"/>
              </a:lnSpc>
              <a:spcBef>
                <a:spcPts val="250"/>
              </a:spcBef>
              <a:buFont typeface="Arial"/>
              <a:buChar char="•"/>
              <a:tabLst>
                <a:tab pos="1155065" algn="l"/>
              </a:tabLst>
            </a:pPr>
            <a:r>
              <a:rPr sz="2000" dirty="0">
                <a:latin typeface="Calibri"/>
                <a:cs typeface="Calibri"/>
              </a:rPr>
              <a:t>Maybe</a:t>
            </a:r>
            <a:r>
              <a:rPr sz="2000" spc="11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if</a:t>
            </a:r>
            <a:r>
              <a:rPr sz="2000" spc="13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a</a:t>
            </a:r>
            <a:r>
              <a:rPr sz="2000" spc="95" dirty="0">
                <a:latin typeface="Calibri"/>
                <a:cs typeface="Calibri"/>
              </a:rPr>
              <a:t> </a:t>
            </a:r>
            <a:r>
              <a:rPr sz="2000" spc="50" dirty="0">
                <a:latin typeface="Calibri"/>
                <a:cs typeface="Calibri"/>
              </a:rPr>
              <a:t>value</a:t>
            </a:r>
            <a:r>
              <a:rPr sz="2000" spc="110" dirty="0">
                <a:latin typeface="Calibri"/>
                <a:cs typeface="Calibri"/>
              </a:rPr>
              <a:t> </a:t>
            </a:r>
            <a:r>
              <a:rPr sz="2000" spc="60" dirty="0">
                <a:latin typeface="Calibri"/>
                <a:cs typeface="Calibri"/>
              </a:rPr>
              <a:t>is</a:t>
            </a:r>
            <a:r>
              <a:rPr sz="2000" spc="13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&gt;0.5,</a:t>
            </a:r>
            <a:r>
              <a:rPr sz="2000" spc="-5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then</a:t>
            </a:r>
            <a:r>
              <a:rPr sz="2000" spc="13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that</a:t>
            </a:r>
            <a:r>
              <a:rPr sz="2000" spc="114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input</a:t>
            </a:r>
            <a:r>
              <a:rPr sz="2000" spc="130" dirty="0">
                <a:latin typeface="Calibri"/>
                <a:cs typeface="Calibri"/>
              </a:rPr>
              <a:t> </a:t>
            </a:r>
            <a:r>
              <a:rPr sz="2000" spc="60" dirty="0">
                <a:latin typeface="Calibri"/>
                <a:cs typeface="Calibri"/>
              </a:rPr>
              <a:t>is</a:t>
            </a:r>
            <a:r>
              <a:rPr sz="2000" spc="12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a</a:t>
            </a:r>
            <a:r>
              <a:rPr sz="2000" spc="135" dirty="0">
                <a:latin typeface="Calibri"/>
                <a:cs typeface="Calibri"/>
              </a:rPr>
              <a:t> </a:t>
            </a:r>
            <a:r>
              <a:rPr sz="2000" spc="-25" dirty="0">
                <a:latin typeface="Calibri"/>
                <a:cs typeface="Calibri"/>
              </a:rPr>
              <a:t>9.</a:t>
            </a:r>
            <a:endParaRPr sz="2000">
              <a:latin typeface="Calibri"/>
              <a:cs typeface="Calibri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979295" y="788162"/>
            <a:ext cx="6988936" cy="3355086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60" dirty="0"/>
              <a:t>Neural</a:t>
            </a:r>
            <a:r>
              <a:rPr spc="235" dirty="0"/>
              <a:t> </a:t>
            </a:r>
            <a:r>
              <a:rPr dirty="0"/>
              <a:t>Network </a:t>
            </a:r>
            <a:r>
              <a:rPr spc="-10" dirty="0"/>
              <a:t>Architecture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3418713" y="1573911"/>
            <a:ext cx="6229350" cy="4039235"/>
            <a:chOff x="3418713" y="1573911"/>
            <a:chExt cx="6229350" cy="4039235"/>
          </a:xfrm>
        </p:grpSpPr>
        <p:pic>
          <p:nvPicPr>
            <p:cNvPr id="4" name="object 4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3418713" y="1573911"/>
              <a:ext cx="6229144" cy="3378835"/>
            </a:xfrm>
            <a:prstGeom prst="rect">
              <a:avLst/>
            </a:prstGeom>
          </p:spPr>
        </p:pic>
        <p:sp>
          <p:nvSpPr>
            <p:cNvPr id="5" name="object 5"/>
            <p:cNvSpPr/>
            <p:nvPr/>
          </p:nvSpPr>
          <p:spPr>
            <a:xfrm>
              <a:off x="4702555" y="4958714"/>
              <a:ext cx="1742439" cy="650875"/>
            </a:xfrm>
            <a:custGeom>
              <a:avLst/>
              <a:gdLst/>
              <a:ahLst/>
              <a:cxnLst/>
              <a:rect l="l" t="t" r="r" b="b"/>
              <a:pathLst>
                <a:path w="1742439" h="650875">
                  <a:moveTo>
                    <a:pt x="1742186" y="0"/>
                  </a:moveTo>
                  <a:lnTo>
                    <a:pt x="1738962" y="44152"/>
                  </a:lnTo>
                  <a:lnTo>
                    <a:pt x="1729570" y="86499"/>
                  </a:lnTo>
                  <a:lnTo>
                    <a:pt x="1714432" y="126652"/>
                  </a:lnTo>
                  <a:lnTo>
                    <a:pt x="1693968" y="164225"/>
                  </a:lnTo>
                  <a:lnTo>
                    <a:pt x="1668598" y="198828"/>
                  </a:lnTo>
                  <a:lnTo>
                    <a:pt x="1638744" y="230076"/>
                  </a:lnTo>
                  <a:lnTo>
                    <a:pt x="1604826" y="257580"/>
                  </a:lnTo>
                  <a:lnTo>
                    <a:pt x="1567264" y="280952"/>
                  </a:lnTo>
                  <a:lnTo>
                    <a:pt x="1526480" y="299805"/>
                  </a:lnTo>
                  <a:lnTo>
                    <a:pt x="1482894" y="313751"/>
                  </a:lnTo>
                  <a:lnTo>
                    <a:pt x="1436926" y="322403"/>
                  </a:lnTo>
                  <a:lnTo>
                    <a:pt x="1388999" y="325374"/>
                  </a:lnTo>
                  <a:lnTo>
                    <a:pt x="1224280" y="325374"/>
                  </a:lnTo>
                  <a:lnTo>
                    <a:pt x="1176352" y="328341"/>
                  </a:lnTo>
                  <a:lnTo>
                    <a:pt x="1130384" y="336986"/>
                  </a:lnTo>
                  <a:lnTo>
                    <a:pt x="1086798" y="350923"/>
                  </a:lnTo>
                  <a:lnTo>
                    <a:pt x="1046014" y="369763"/>
                  </a:lnTo>
                  <a:lnTo>
                    <a:pt x="1008452" y="393121"/>
                  </a:lnTo>
                  <a:lnTo>
                    <a:pt x="974534" y="420609"/>
                  </a:lnTo>
                  <a:lnTo>
                    <a:pt x="944680" y="451842"/>
                  </a:lnTo>
                  <a:lnTo>
                    <a:pt x="919310" y="486432"/>
                  </a:lnTo>
                  <a:lnTo>
                    <a:pt x="898846" y="523993"/>
                  </a:lnTo>
                  <a:lnTo>
                    <a:pt x="883708" y="564138"/>
                  </a:lnTo>
                  <a:lnTo>
                    <a:pt x="874316" y="606480"/>
                  </a:lnTo>
                  <a:lnTo>
                    <a:pt x="871093" y="650633"/>
                  </a:lnTo>
                  <a:lnTo>
                    <a:pt x="867869" y="606480"/>
                  </a:lnTo>
                  <a:lnTo>
                    <a:pt x="858477" y="564138"/>
                  </a:lnTo>
                  <a:lnTo>
                    <a:pt x="843339" y="523993"/>
                  </a:lnTo>
                  <a:lnTo>
                    <a:pt x="822875" y="486432"/>
                  </a:lnTo>
                  <a:lnTo>
                    <a:pt x="797505" y="451842"/>
                  </a:lnTo>
                  <a:lnTo>
                    <a:pt x="767651" y="420609"/>
                  </a:lnTo>
                  <a:lnTo>
                    <a:pt x="733733" y="393121"/>
                  </a:lnTo>
                  <a:lnTo>
                    <a:pt x="696171" y="369763"/>
                  </a:lnTo>
                  <a:lnTo>
                    <a:pt x="655387" y="350923"/>
                  </a:lnTo>
                  <a:lnTo>
                    <a:pt x="611801" y="336986"/>
                  </a:lnTo>
                  <a:lnTo>
                    <a:pt x="565833" y="328341"/>
                  </a:lnTo>
                  <a:lnTo>
                    <a:pt x="517906" y="325374"/>
                  </a:lnTo>
                  <a:lnTo>
                    <a:pt x="353060" y="325374"/>
                  </a:lnTo>
                  <a:lnTo>
                    <a:pt x="305134" y="322403"/>
                  </a:lnTo>
                  <a:lnTo>
                    <a:pt x="259174" y="313751"/>
                  </a:lnTo>
                  <a:lnTo>
                    <a:pt x="215598" y="299805"/>
                  </a:lnTo>
                  <a:lnTo>
                    <a:pt x="174827" y="280952"/>
                  </a:lnTo>
                  <a:lnTo>
                    <a:pt x="137280" y="257580"/>
                  </a:lnTo>
                  <a:lnTo>
                    <a:pt x="103378" y="230076"/>
                  </a:lnTo>
                  <a:lnTo>
                    <a:pt x="73539" y="198828"/>
                  </a:lnTo>
                  <a:lnTo>
                    <a:pt x="48184" y="164225"/>
                  </a:lnTo>
                  <a:lnTo>
                    <a:pt x="27733" y="126652"/>
                  </a:lnTo>
                  <a:lnTo>
                    <a:pt x="12605" y="86499"/>
                  </a:lnTo>
                  <a:lnTo>
                    <a:pt x="3221" y="44152"/>
                  </a:lnTo>
                  <a:lnTo>
                    <a:pt x="0" y="0"/>
                  </a:lnTo>
                </a:path>
              </a:pathLst>
            </a:custGeom>
            <a:ln w="6350">
              <a:solidFill>
                <a:srgbClr val="5B9BD4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741680" y="3073095"/>
            <a:ext cx="1415415" cy="3917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dirty="0">
                <a:latin typeface="Calibri"/>
                <a:cs typeface="Calibri"/>
              </a:rPr>
              <a:t>Input</a:t>
            </a:r>
            <a:r>
              <a:rPr sz="2400" spc="-20" dirty="0">
                <a:latin typeface="Calibri"/>
                <a:cs typeface="Calibri"/>
              </a:rPr>
              <a:t> Layer</a:t>
            </a:r>
            <a:endParaRPr sz="2400">
              <a:latin typeface="Calibri"/>
              <a:cs typeface="Calibri"/>
            </a:endParaRPr>
          </a:p>
        </p:txBody>
      </p:sp>
      <p:sp>
        <p:nvSpPr>
          <p:cNvPr id="7" name="object 7"/>
          <p:cNvSpPr/>
          <p:nvPr/>
        </p:nvSpPr>
        <p:spPr>
          <a:xfrm>
            <a:off x="2576195" y="1573911"/>
            <a:ext cx="650875" cy="3490595"/>
          </a:xfrm>
          <a:custGeom>
            <a:avLst/>
            <a:gdLst/>
            <a:ahLst/>
            <a:cxnLst/>
            <a:rect l="l" t="t" r="r" b="b"/>
            <a:pathLst>
              <a:path w="650875" h="3490595">
                <a:moveTo>
                  <a:pt x="650621" y="3490468"/>
                </a:moveTo>
                <a:lnTo>
                  <a:pt x="606468" y="3487244"/>
                </a:lnTo>
                <a:lnTo>
                  <a:pt x="564121" y="3477852"/>
                </a:lnTo>
                <a:lnTo>
                  <a:pt x="523968" y="3462714"/>
                </a:lnTo>
                <a:lnTo>
                  <a:pt x="486395" y="3442250"/>
                </a:lnTo>
                <a:lnTo>
                  <a:pt x="451792" y="3416880"/>
                </a:lnTo>
                <a:lnTo>
                  <a:pt x="420544" y="3387026"/>
                </a:lnTo>
                <a:lnTo>
                  <a:pt x="393040" y="3353108"/>
                </a:lnTo>
                <a:lnTo>
                  <a:pt x="369668" y="3315546"/>
                </a:lnTo>
                <a:lnTo>
                  <a:pt x="350815" y="3274762"/>
                </a:lnTo>
                <a:lnTo>
                  <a:pt x="336869" y="3231176"/>
                </a:lnTo>
                <a:lnTo>
                  <a:pt x="328217" y="3185208"/>
                </a:lnTo>
                <a:lnTo>
                  <a:pt x="325247" y="3137281"/>
                </a:lnTo>
                <a:lnTo>
                  <a:pt x="325247" y="2098421"/>
                </a:lnTo>
                <a:lnTo>
                  <a:pt x="322276" y="2050493"/>
                </a:lnTo>
                <a:lnTo>
                  <a:pt x="313625" y="2004525"/>
                </a:lnTo>
                <a:lnTo>
                  <a:pt x="299680" y="1960939"/>
                </a:lnTo>
                <a:lnTo>
                  <a:pt x="280829" y="1920155"/>
                </a:lnTo>
                <a:lnTo>
                  <a:pt x="257462" y="1882593"/>
                </a:lnTo>
                <a:lnTo>
                  <a:pt x="229965" y="1848675"/>
                </a:lnTo>
                <a:lnTo>
                  <a:pt x="198727" y="1818821"/>
                </a:lnTo>
                <a:lnTo>
                  <a:pt x="164135" y="1793451"/>
                </a:lnTo>
                <a:lnTo>
                  <a:pt x="126579" y="1772987"/>
                </a:lnTo>
                <a:lnTo>
                  <a:pt x="86445" y="1757849"/>
                </a:lnTo>
                <a:lnTo>
                  <a:pt x="44123" y="1748457"/>
                </a:lnTo>
                <a:lnTo>
                  <a:pt x="0" y="1745234"/>
                </a:lnTo>
                <a:lnTo>
                  <a:pt x="44123" y="1742010"/>
                </a:lnTo>
                <a:lnTo>
                  <a:pt x="86445" y="1732618"/>
                </a:lnTo>
                <a:lnTo>
                  <a:pt x="126579" y="1717480"/>
                </a:lnTo>
                <a:lnTo>
                  <a:pt x="164135" y="1697016"/>
                </a:lnTo>
                <a:lnTo>
                  <a:pt x="198727" y="1671646"/>
                </a:lnTo>
                <a:lnTo>
                  <a:pt x="229965" y="1641792"/>
                </a:lnTo>
                <a:lnTo>
                  <a:pt x="257462" y="1607874"/>
                </a:lnTo>
                <a:lnTo>
                  <a:pt x="280829" y="1570312"/>
                </a:lnTo>
                <a:lnTo>
                  <a:pt x="299680" y="1529528"/>
                </a:lnTo>
                <a:lnTo>
                  <a:pt x="313625" y="1485942"/>
                </a:lnTo>
                <a:lnTo>
                  <a:pt x="322276" y="1439974"/>
                </a:lnTo>
                <a:lnTo>
                  <a:pt x="325247" y="1392047"/>
                </a:lnTo>
                <a:lnTo>
                  <a:pt x="325247" y="353187"/>
                </a:lnTo>
                <a:lnTo>
                  <a:pt x="328217" y="305259"/>
                </a:lnTo>
                <a:lnTo>
                  <a:pt x="336869" y="259291"/>
                </a:lnTo>
                <a:lnTo>
                  <a:pt x="350815" y="215705"/>
                </a:lnTo>
                <a:lnTo>
                  <a:pt x="369668" y="174921"/>
                </a:lnTo>
                <a:lnTo>
                  <a:pt x="393040" y="137359"/>
                </a:lnTo>
                <a:lnTo>
                  <a:pt x="420544" y="103441"/>
                </a:lnTo>
                <a:lnTo>
                  <a:pt x="451792" y="73587"/>
                </a:lnTo>
                <a:lnTo>
                  <a:pt x="486395" y="48217"/>
                </a:lnTo>
                <a:lnTo>
                  <a:pt x="523968" y="27753"/>
                </a:lnTo>
                <a:lnTo>
                  <a:pt x="564121" y="12615"/>
                </a:lnTo>
                <a:lnTo>
                  <a:pt x="606468" y="3223"/>
                </a:lnTo>
                <a:lnTo>
                  <a:pt x="650621" y="0"/>
                </a:lnTo>
              </a:path>
            </a:pathLst>
          </a:custGeom>
          <a:ln w="6350">
            <a:solidFill>
              <a:srgbClr val="5B9BD4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 txBox="1"/>
          <p:nvPr/>
        </p:nvSpPr>
        <p:spPr>
          <a:xfrm>
            <a:off x="4861305" y="4616957"/>
            <a:ext cx="3776345" cy="14052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146300">
              <a:lnSpc>
                <a:spcPct val="100000"/>
              </a:lnSpc>
              <a:spcBef>
                <a:spcPts val="100"/>
              </a:spcBef>
            </a:pPr>
            <a:r>
              <a:rPr sz="2400" dirty="0">
                <a:latin typeface="Calibri"/>
                <a:cs typeface="Calibri"/>
              </a:rPr>
              <a:t>Output</a:t>
            </a:r>
            <a:r>
              <a:rPr sz="2400" spc="-10" dirty="0">
                <a:latin typeface="Calibri"/>
                <a:cs typeface="Calibri"/>
              </a:rPr>
              <a:t> Layer</a:t>
            </a:r>
            <a:endParaRPr sz="2400">
              <a:latin typeface="Calibri"/>
              <a:cs typeface="Calibri"/>
            </a:endParaRPr>
          </a:p>
          <a:p>
            <a:pPr>
              <a:lnSpc>
                <a:spcPct val="100000"/>
              </a:lnSpc>
              <a:spcBef>
                <a:spcPts val="2170"/>
              </a:spcBef>
            </a:pPr>
            <a:endParaRPr sz="240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  <a:spcBef>
                <a:spcPts val="5"/>
              </a:spcBef>
            </a:pPr>
            <a:r>
              <a:rPr sz="2400" dirty="0">
                <a:latin typeface="Calibri"/>
                <a:cs typeface="Calibri"/>
              </a:rPr>
              <a:t>Hidden</a:t>
            </a:r>
            <a:r>
              <a:rPr sz="2400" spc="-105" dirty="0">
                <a:latin typeface="Calibri"/>
                <a:cs typeface="Calibri"/>
              </a:rPr>
              <a:t> </a:t>
            </a:r>
            <a:r>
              <a:rPr sz="2400" spc="-20" dirty="0">
                <a:latin typeface="Calibri"/>
                <a:cs typeface="Calibri"/>
              </a:rPr>
              <a:t>Layer</a:t>
            </a:r>
            <a:endParaRPr sz="2400">
              <a:latin typeface="Calibri"/>
              <a:cs typeface="Calibri"/>
            </a:endParaRPr>
          </a:p>
        </p:txBody>
      </p:sp>
      <p:sp>
        <p:nvSpPr>
          <p:cNvPr id="9" name="object 9"/>
          <p:cNvSpPr/>
          <p:nvPr/>
        </p:nvSpPr>
        <p:spPr>
          <a:xfrm>
            <a:off x="6833107" y="3944746"/>
            <a:ext cx="1742439" cy="650875"/>
          </a:xfrm>
          <a:custGeom>
            <a:avLst/>
            <a:gdLst/>
            <a:ahLst/>
            <a:cxnLst/>
            <a:rect l="l" t="t" r="r" b="b"/>
            <a:pathLst>
              <a:path w="1742440" h="650875">
                <a:moveTo>
                  <a:pt x="1742313" y="0"/>
                </a:moveTo>
                <a:lnTo>
                  <a:pt x="1739089" y="44123"/>
                </a:lnTo>
                <a:lnTo>
                  <a:pt x="1729697" y="86445"/>
                </a:lnTo>
                <a:lnTo>
                  <a:pt x="1714559" y="126579"/>
                </a:lnTo>
                <a:lnTo>
                  <a:pt x="1694095" y="164135"/>
                </a:lnTo>
                <a:lnTo>
                  <a:pt x="1668725" y="198727"/>
                </a:lnTo>
                <a:lnTo>
                  <a:pt x="1638871" y="229965"/>
                </a:lnTo>
                <a:lnTo>
                  <a:pt x="1604953" y="257462"/>
                </a:lnTo>
                <a:lnTo>
                  <a:pt x="1567391" y="280829"/>
                </a:lnTo>
                <a:lnTo>
                  <a:pt x="1526607" y="299680"/>
                </a:lnTo>
                <a:lnTo>
                  <a:pt x="1483021" y="313625"/>
                </a:lnTo>
                <a:lnTo>
                  <a:pt x="1437053" y="322276"/>
                </a:lnTo>
                <a:lnTo>
                  <a:pt x="1389126" y="325246"/>
                </a:lnTo>
                <a:lnTo>
                  <a:pt x="1224407" y="325246"/>
                </a:lnTo>
                <a:lnTo>
                  <a:pt x="1176479" y="328217"/>
                </a:lnTo>
                <a:lnTo>
                  <a:pt x="1130511" y="336869"/>
                </a:lnTo>
                <a:lnTo>
                  <a:pt x="1086925" y="350815"/>
                </a:lnTo>
                <a:lnTo>
                  <a:pt x="1046141" y="369668"/>
                </a:lnTo>
                <a:lnTo>
                  <a:pt x="1008579" y="393040"/>
                </a:lnTo>
                <a:lnTo>
                  <a:pt x="974661" y="420544"/>
                </a:lnTo>
                <a:lnTo>
                  <a:pt x="944807" y="451792"/>
                </a:lnTo>
                <a:lnTo>
                  <a:pt x="919437" y="486395"/>
                </a:lnTo>
                <a:lnTo>
                  <a:pt x="898973" y="523968"/>
                </a:lnTo>
                <a:lnTo>
                  <a:pt x="883835" y="564121"/>
                </a:lnTo>
                <a:lnTo>
                  <a:pt x="874443" y="606468"/>
                </a:lnTo>
                <a:lnTo>
                  <a:pt x="871220" y="650620"/>
                </a:lnTo>
                <a:lnTo>
                  <a:pt x="867996" y="606468"/>
                </a:lnTo>
                <a:lnTo>
                  <a:pt x="858604" y="564121"/>
                </a:lnTo>
                <a:lnTo>
                  <a:pt x="843466" y="523968"/>
                </a:lnTo>
                <a:lnTo>
                  <a:pt x="823002" y="486395"/>
                </a:lnTo>
                <a:lnTo>
                  <a:pt x="797632" y="451792"/>
                </a:lnTo>
                <a:lnTo>
                  <a:pt x="767778" y="420544"/>
                </a:lnTo>
                <a:lnTo>
                  <a:pt x="733860" y="393040"/>
                </a:lnTo>
                <a:lnTo>
                  <a:pt x="696298" y="369668"/>
                </a:lnTo>
                <a:lnTo>
                  <a:pt x="655514" y="350815"/>
                </a:lnTo>
                <a:lnTo>
                  <a:pt x="611928" y="336869"/>
                </a:lnTo>
                <a:lnTo>
                  <a:pt x="565960" y="328217"/>
                </a:lnTo>
                <a:lnTo>
                  <a:pt x="518033" y="325246"/>
                </a:lnTo>
                <a:lnTo>
                  <a:pt x="353187" y="325246"/>
                </a:lnTo>
                <a:lnTo>
                  <a:pt x="305259" y="322276"/>
                </a:lnTo>
                <a:lnTo>
                  <a:pt x="259291" y="313625"/>
                </a:lnTo>
                <a:lnTo>
                  <a:pt x="215705" y="299680"/>
                </a:lnTo>
                <a:lnTo>
                  <a:pt x="174921" y="280829"/>
                </a:lnTo>
                <a:lnTo>
                  <a:pt x="137359" y="257462"/>
                </a:lnTo>
                <a:lnTo>
                  <a:pt x="103441" y="229965"/>
                </a:lnTo>
                <a:lnTo>
                  <a:pt x="73587" y="198727"/>
                </a:lnTo>
                <a:lnTo>
                  <a:pt x="48217" y="164135"/>
                </a:lnTo>
                <a:lnTo>
                  <a:pt x="27753" y="126579"/>
                </a:lnTo>
                <a:lnTo>
                  <a:pt x="12615" y="86445"/>
                </a:lnTo>
                <a:lnTo>
                  <a:pt x="3223" y="44123"/>
                </a:lnTo>
                <a:lnTo>
                  <a:pt x="0" y="0"/>
                </a:lnTo>
              </a:path>
            </a:pathLst>
          </a:custGeom>
          <a:ln w="6350">
            <a:solidFill>
              <a:srgbClr val="5B9BD4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 txBox="1"/>
          <p:nvPr/>
        </p:nvSpPr>
        <p:spPr>
          <a:xfrm>
            <a:off x="3354704" y="696595"/>
            <a:ext cx="4665345" cy="51371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3200" dirty="0">
                <a:latin typeface="Calibri"/>
                <a:cs typeface="Calibri"/>
              </a:rPr>
              <a:t>Three</a:t>
            </a:r>
            <a:r>
              <a:rPr sz="3200" spc="-125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Layer</a:t>
            </a:r>
            <a:r>
              <a:rPr sz="3200" spc="-110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Neural</a:t>
            </a:r>
            <a:r>
              <a:rPr sz="3200" spc="-110" dirty="0">
                <a:latin typeface="Calibri"/>
                <a:cs typeface="Calibri"/>
              </a:rPr>
              <a:t> </a:t>
            </a:r>
            <a:r>
              <a:rPr sz="3200" spc="-10" dirty="0">
                <a:latin typeface="Calibri"/>
                <a:cs typeface="Calibri"/>
              </a:rPr>
              <a:t>Network</a:t>
            </a:r>
            <a:endParaRPr sz="320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Four</a:t>
            </a:r>
            <a:r>
              <a:rPr spc="170" dirty="0"/>
              <a:t> </a:t>
            </a:r>
            <a:r>
              <a:rPr spc="55" dirty="0"/>
              <a:t>Layer</a:t>
            </a:r>
            <a:r>
              <a:rPr spc="195" dirty="0"/>
              <a:t> </a:t>
            </a:r>
            <a:r>
              <a:rPr spc="55" dirty="0"/>
              <a:t>Neural</a:t>
            </a:r>
            <a:r>
              <a:rPr spc="165" dirty="0"/>
              <a:t> </a:t>
            </a:r>
            <a:r>
              <a:rPr spc="-10" dirty="0"/>
              <a:t>Network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1176324" y="4441952"/>
            <a:ext cx="5965190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240029" indent="-227329">
              <a:lnSpc>
                <a:spcPct val="100000"/>
              </a:lnSpc>
              <a:spcBef>
                <a:spcPts val="95"/>
              </a:spcBef>
              <a:buFont typeface="Arial"/>
              <a:buChar char="•"/>
              <a:tabLst>
                <a:tab pos="240029" algn="l"/>
              </a:tabLst>
            </a:pPr>
            <a:r>
              <a:rPr sz="2800" spc="95" dirty="0">
                <a:latin typeface="Calibri"/>
                <a:cs typeface="Calibri"/>
              </a:rPr>
              <a:t>This</a:t>
            </a:r>
            <a:r>
              <a:rPr sz="2800" spc="200" dirty="0">
                <a:latin typeface="Calibri"/>
                <a:cs typeface="Calibri"/>
              </a:rPr>
              <a:t> </a:t>
            </a:r>
            <a:r>
              <a:rPr sz="2800" spc="85" dirty="0">
                <a:latin typeface="Calibri"/>
                <a:cs typeface="Calibri"/>
              </a:rPr>
              <a:t>is</a:t>
            </a:r>
            <a:r>
              <a:rPr sz="2800" spc="19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a</a:t>
            </a:r>
            <a:r>
              <a:rPr sz="2800" spc="190" dirty="0">
                <a:latin typeface="Calibri"/>
                <a:cs typeface="Calibri"/>
              </a:rPr>
              <a:t> </a:t>
            </a:r>
            <a:r>
              <a:rPr sz="2800" spc="80" dirty="0">
                <a:latin typeface="Calibri"/>
                <a:cs typeface="Calibri"/>
              </a:rPr>
              <a:t>multi-</a:t>
            </a:r>
            <a:r>
              <a:rPr sz="2800" dirty="0">
                <a:latin typeface="Calibri"/>
                <a:cs typeface="Calibri"/>
              </a:rPr>
              <a:t>layer</a:t>
            </a:r>
            <a:r>
              <a:rPr sz="2800" spc="204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perceptron</a:t>
            </a:r>
            <a:r>
              <a:rPr sz="2800" spc="220" dirty="0">
                <a:latin typeface="Calibri"/>
                <a:cs typeface="Calibri"/>
              </a:rPr>
              <a:t> </a:t>
            </a:r>
            <a:r>
              <a:rPr sz="2800" spc="-10" dirty="0">
                <a:latin typeface="Calibri"/>
                <a:cs typeface="Calibri"/>
              </a:rPr>
              <a:t>(MLP)</a:t>
            </a:r>
            <a:endParaRPr sz="2800">
              <a:latin typeface="Calibri"/>
              <a:cs typeface="Calibri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069844" y="1036319"/>
            <a:ext cx="5505450" cy="3086099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How</a:t>
            </a:r>
            <a:r>
              <a:rPr spc="110" dirty="0"/>
              <a:t> </a:t>
            </a:r>
            <a:r>
              <a:rPr dirty="0"/>
              <a:t>do</a:t>
            </a:r>
            <a:r>
              <a:rPr spc="190" dirty="0"/>
              <a:t> </a:t>
            </a:r>
            <a:r>
              <a:rPr dirty="0"/>
              <a:t>we</a:t>
            </a:r>
            <a:r>
              <a:rPr spc="210" dirty="0"/>
              <a:t> </a:t>
            </a:r>
            <a:r>
              <a:rPr spc="85" dirty="0"/>
              <a:t>design</a:t>
            </a:r>
            <a:r>
              <a:rPr spc="190" dirty="0"/>
              <a:t> </a:t>
            </a:r>
            <a:r>
              <a:rPr dirty="0"/>
              <a:t>our</a:t>
            </a:r>
            <a:r>
              <a:rPr spc="190" dirty="0"/>
              <a:t> </a:t>
            </a:r>
            <a:r>
              <a:rPr spc="60" dirty="0"/>
              <a:t>Neural</a:t>
            </a:r>
            <a:r>
              <a:rPr spc="175" dirty="0"/>
              <a:t> </a:t>
            </a:r>
            <a:r>
              <a:rPr dirty="0"/>
              <a:t>Network</a:t>
            </a:r>
            <a:r>
              <a:rPr spc="-40" dirty="0"/>
              <a:t> </a:t>
            </a:r>
            <a:r>
              <a:rPr spc="-10" dirty="0"/>
              <a:t>Topology?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1176324" y="4181602"/>
            <a:ext cx="9824085" cy="19278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240029" indent="-227329">
              <a:lnSpc>
                <a:spcPts val="3329"/>
              </a:lnSpc>
              <a:spcBef>
                <a:spcPts val="95"/>
              </a:spcBef>
              <a:buFont typeface="Arial"/>
              <a:buChar char="•"/>
              <a:tabLst>
                <a:tab pos="240029" algn="l"/>
              </a:tabLst>
            </a:pPr>
            <a:r>
              <a:rPr sz="2800" spc="-10" dirty="0">
                <a:latin typeface="Calibri"/>
                <a:cs typeface="Calibri"/>
              </a:rPr>
              <a:t>Inputs</a:t>
            </a:r>
            <a:endParaRPr sz="2800">
              <a:latin typeface="Calibri"/>
              <a:cs typeface="Calibri"/>
            </a:endParaRPr>
          </a:p>
          <a:p>
            <a:pPr marL="696595" lvl="1" indent="-227329">
              <a:lnSpc>
                <a:spcPts val="2850"/>
              </a:lnSpc>
              <a:buFont typeface="Arial"/>
              <a:buChar char="•"/>
              <a:tabLst>
                <a:tab pos="696595" algn="l"/>
              </a:tabLst>
            </a:pPr>
            <a:r>
              <a:rPr sz="2400" dirty="0">
                <a:latin typeface="Calibri"/>
                <a:cs typeface="Calibri"/>
              </a:rPr>
              <a:t>Depends</a:t>
            </a:r>
            <a:r>
              <a:rPr sz="2400" spc="19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on</a:t>
            </a:r>
            <a:r>
              <a:rPr sz="2400" spc="19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19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number</a:t>
            </a:r>
            <a:r>
              <a:rPr sz="2400" spc="19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and</a:t>
            </a:r>
            <a:r>
              <a:rPr sz="2400" spc="19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type</a:t>
            </a:r>
            <a:r>
              <a:rPr sz="2400" spc="19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of</a:t>
            </a:r>
            <a:r>
              <a:rPr sz="2400" spc="190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inputs</a:t>
            </a:r>
            <a:endParaRPr sz="2400">
              <a:latin typeface="Calibri"/>
              <a:cs typeface="Calibri"/>
            </a:endParaRPr>
          </a:p>
          <a:p>
            <a:pPr marL="240029" indent="-227329">
              <a:lnSpc>
                <a:spcPts val="3329"/>
              </a:lnSpc>
              <a:spcBef>
                <a:spcPts val="309"/>
              </a:spcBef>
              <a:buFont typeface="Arial"/>
              <a:buChar char="•"/>
              <a:tabLst>
                <a:tab pos="240029" algn="l"/>
              </a:tabLst>
            </a:pPr>
            <a:r>
              <a:rPr sz="2800" spc="-10" dirty="0">
                <a:latin typeface="Calibri"/>
                <a:cs typeface="Calibri"/>
              </a:rPr>
              <a:t>Outputs</a:t>
            </a:r>
            <a:endParaRPr sz="2800">
              <a:latin typeface="Calibri"/>
              <a:cs typeface="Calibri"/>
            </a:endParaRPr>
          </a:p>
          <a:p>
            <a:pPr marL="696595" lvl="1" indent="-227329">
              <a:lnSpc>
                <a:spcPts val="2565"/>
              </a:lnSpc>
              <a:buFont typeface="Arial"/>
              <a:buChar char="•"/>
              <a:tabLst>
                <a:tab pos="696595" algn="l"/>
              </a:tabLst>
            </a:pPr>
            <a:r>
              <a:rPr sz="2400" spc="60" dirty="0">
                <a:latin typeface="Calibri"/>
                <a:cs typeface="Calibri"/>
              </a:rPr>
              <a:t>If</a:t>
            </a:r>
            <a:r>
              <a:rPr sz="2400" spc="21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we</a:t>
            </a:r>
            <a:r>
              <a:rPr sz="2400" spc="22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are</a:t>
            </a:r>
            <a:r>
              <a:rPr sz="2400" spc="21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trying</a:t>
            </a:r>
            <a:r>
              <a:rPr sz="2400" spc="18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to</a:t>
            </a:r>
            <a:r>
              <a:rPr sz="2400" spc="21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do</a:t>
            </a:r>
            <a:r>
              <a:rPr sz="2400" spc="20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handwritten</a:t>
            </a:r>
            <a:r>
              <a:rPr sz="2400" spc="190" dirty="0">
                <a:latin typeface="Calibri"/>
                <a:cs typeface="Calibri"/>
              </a:rPr>
              <a:t> </a:t>
            </a:r>
            <a:r>
              <a:rPr sz="2400" spc="75" dirty="0">
                <a:latin typeface="Calibri"/>
                <a:cs typeface="Calibri"/>
              </a:rPr>
              <a:t>digit</a:t>
            </a:r>
            <a:r>
              <a:rPr sz="2400" spc="19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recognition,</a:t>
            </a:r>
            <a:r>
              <a:rPr sz="2400" spc="-2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then</a:t>
            </a:r>
            <a:r>
              <a:rPr sz="2400" spc="21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we</a:t>
            </a:r>
            <a:r>
              <a:rPr sz="2400" spc="22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could</a:t>
            </a:r>
            <a:r>
              <a:rPr sz="2400" spc="215" dirty="0">
                <a:latin typeface="Calibri"/>
                <a:cs typeface="Calibri"/>
              </a:rPr>
              <a:t> </a:t>
            </a:r>
            <a:r>
              <a:rPr sz="2400" spc="-25" dirty="0">
                <a:latin typeface="Calibri"/>
                <a:cs typeface="Calibri"/>
              </a:rPr>
              <a:t>use</a:t>
            </a:r>
            <a:endParaRPr sz="2400">
              <a:latin typeface="Calibri"/>
              <a:cs typeface="Calibri"/>
            </a:endParaRPr>
          </a:p>
          <a:p>
            <a:pPr marL="697865">
              <a:lnSpc>
                <a:spcPts val="2595"/>
              </a:lnSpc>
            </a:pPr>
            <a:r>
              <a:rPr sz="2400" spc="80" dirty="0">
                <a:latin typeface="Calibri"/>
                <a:cs typeface="Calibri"/>
              </a:rPr>
              <a:t>10</a:t>
            </a:r>
            <a:r>
              <a:rPr sz="2400" spc="13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outputs</a:t>
            </a:r>
            <a:r>
              <a:rPr sz="2400" spc="114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(0,</a:t>
            </a:r>
            <a:r>
              <a:rPr sz="2400" spc="-6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1,</a:t>
            </a:r>
            <a:r>
              <a:rPr sz="2400" spc="-105" dirty="0">
                <a:latin typeface="Calibri"/>
                <a:cs typeface="Calibri"/>
              </a:rPr>
              <a:t> </a:t>
            </a:r>
            <a:r>
              <a:rPr sz="2400" spc="145" dirty="0">
                <a:latin typeface="Calibri"/>
                <a:cs typeface="Calibri"/>
              </a:rPr>
              <a:t>…</a:t>
            </a:r>
            <a:r>
              <a:rPr sz="2400" spc="-100" dirty="0">
                <a:latin typeface="Calibri"/>
                <a:cs typeface="Calibri"/>
              </a:rPr>
              <a:t> </a:t>
            </a:r>
            <a:r>
              <a:rPr sz="2400" spc="-60" dirty="0">
                <a:latin typeface="Calibri"/>
                <a:cs typeface="Calibri"/>
              </a:rPr>
              <a:t>,</a:t>
            </a:r>
            <a:r>
              <a:rPr sz="2400" spc="-75" dirty="0">
                <a:latin typeface="Calibri"/>
                <a:cs typeface="Calibri"/>
              </a:rPr>
              <a:t> </a:t>
            </a:r>
            <a:r>
              <a:rPr sz="2400" spc="-25" dirty="0">
                <a:latin typeface="Calibri"/>
                <a:cs typeface="Calibri"/>
              </a:rPr>
              <a:t>9)</a:t>
            </a:r>
            <a:endParaRPr sz="2400">
              <a:latin typeface="Calibri"/>
              <a:cs typeface="Calibri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069844" y="1036319"/>
            <a:ext cx="5505450" cy="3086099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How</a:t>
            </a:r>
            <a:r>
              <a:rPr spc="110" dirty="0"/>
              <a:t> </a:t>
            </a:r>
            <a:r>
              <a:rPr dirty="0"/>
              <a:t>do</a:t>
            </a:r>
            <a:r>
              <a:rPr spc="190" dirty="0"/>
              <a:t> </a:t>
            </a:r>
            <a:r>
              <a:rPr dirty="0"/>
              <a:t>we</a:t>
            </a:r>
            <a:r>
              <a:rPr spc="210" dirty="0"/>
              <a:t> </a:t>
            </a:r>
            <a:r>
              <a:rPr spc="85" dirty="0"/>
              <a:t>design</a:t>
            </a:r>
            <a:r>
              <a:rPr spc="190" dirty="0"/>
              <a:t> </a:t>
            </a:r>
            <a:r>
              <a:rPr dirty="0"/>
              <a:t>our</a:t>
            </a:r>
            <a:r>
              <a:rPr spc="190" dirty="0"/>
              <a:t> </a:t>
            </a:r>
            <a:r>
              <a:rPr spc="60" dirty="0"/>
              <a:t>Neural</a:t>
            </a:r>
            <a:r>
              <a:rPr spc="175" dirty="0"/>
              <a:t> </a:t>
            </a:r>
            <a:r>
              <a:rPr dirty="0"/>
              <a:t>Network</a:t>
            </a:r>
            <a:r>
              <a:rPr spc="-40" dirty="0"/>
              <a:t> </a:t>
            </a:r>
            <a:r>
              <a:rPr spc="-10" dirty="0"/>
              <a:t>Topology?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1176324" y="4183734"/>
            <a:ext cx="9861550" cy="1604010"/>
          </a:xfrm>
          <a:prstGeom prst="rect">
            <a:avLst/>
          </a:prstGeom>
        </p:spPr>
        <p:txBody>
          <a:bodyPr vert="horz" wrap="square" lIns="0" tIns="46355" rIns="0" bIns="0" rtlCol="0">
            <a:spAutoFit/>
          </a:bodyPr>
          <a:lstStyle/>
          <a:p>
            <a:pPr marL="240029" indent="-227329">
              <a:lnSpc>
                <a:spcPct val="100000"/>
              </a:lnSpc>
              <a:spcBef>
                <a:spcPts val="365"/>
              </a:spcBef>
              <a:buFont typeface="Arial"/>
              <a:buChar char="•"/>
              <a:tabLst>
                <a:tab pos="240029" algn="l"/>
              </a:tabLst>
            </a:pPr>
            <a:r>
              <a:rPr sz="2800" dirty="0">
                <a:latin typeface="Calibri"/>
                <a:cs typeface="Calibri"/>
              </a:rPr>
              <a:t>Input:</a:t>
            </a:r>
            <a:r>
              <a:rPr sz="2800" spc="145" dirty="0">
                <a:latin typeface="Calibri"/>
                <a:cs typeface="Calibri"/>
              </a:rPr>
              <a:t> </a:t>
            </a:r>
            <a:r>
              <a:rPr sz="2800" spc="85" dirty="0">
                <a:latin typeface="Calibri"/>
                <a:cs typeface="Calibri"/>
              </a:rPr>
              <a:t>64</a:t>
            </a:r>
            <a:r>
              <a:rPr sz="2800" spc="130" dirty="0">
                <a:latin typeface="Calibri"/>
                <a:cs typeface="Calibri"/>
              </a:rPr>
              <a:t> </a:t>
            </a:r>
            <a:r>
              <a:rPr sz="2800" spc="215" dirty="0">
                <a:latin typeface="Calibri"/>
                <a:cs typeface="Calibri"/>
              </a:rPr>
              <a:t>x</a:t>
            </a:r>
            <a:r>
              <a:rPr sz="2800" spc="50" dirty="0">
                <a:latin typeface="Calibri"/>
                <a:cs typeface="Calibri"/>
              </a:rPr>
              <a:t> </a:t>
            </a:r>
            <a:r>
              <a:rPr sz="2800" spc="85" dirty="0">
                <a:latin typeface="Calibri"/>
                <a:cs typeface="Calibri"/>
              </a:rPr>
              <a:t>64</a:t>
            </a:r>
            <a:r>
              <a:rPr sz="2800" spc="130" dirty="0">
                <a:latin typeface="Calibri"/>
                <a:cs typeface="Calibri"/>
              </a:rPr>
              <a:t> </a:t>
            </a:r>
            <a:r>
              <a:rPr sz="2800" spc="95" dirty="0">
                <a:latin typeface="Calibri"/>
                <a:cs typeface="Calibri"/>
              </a:rPr>
              <a:t>pixel</a:t>
            </a:r>
            <a:r>
              <a:rPr sz="2800" spc="145" dirty="0">
                <a:latin typeface="Calibri"/>
                <a:cs typeface="Calibri"/>
              </a:rPr>
              <a:t> </a:t>
            </a:r>
            <a:r>
              <a:rPr sz="2800" spc="55" dirty="0">
                <a:latin typeface="Calibri"/>
                <a:cs typeface="Calibri"/>
              </a:rPr>
              <a:t>greyscale</a:t>
            </a:r>
            <a:r>
              <a:rPr sz="2800" spc="140" dirty="0">
                <a:latin typeface="Calibri"/>
                <a:cs typeface="Calibri"/>
              </a:rPr>
              <a:t> </a:t>
            </a:r>
            <a:r>
              <a:rPr sz="2800" spc="70" dirty="0">
                <a:latin typeface="Calibri"/>
                <a:cs typeface="Calibri"/>
              </a:rPr>
              <a:t>image</a:t>
            </a:r>
            <a:endParaRPr sz="2800">
              <a:latin typeface="Calibri"/>
              <a:cs typeface="Calibri"/>
            </a:endParaRPr>
          </a:p>
          <a:p>
            <a:pPr marL="696595" marR="5080" lvl="1" indent="-227329">
              <a:lnSpc>
                <a:spcPts val="2590"/>
              </a:lnSpc>
              <a:spcBef>
                <a:spcPts val="560"/>
              </a:spcBef>
              <a:buFont typeface="Arial"/>
              <a:buChar char="•"/>
              <a:tabLst>
                <a:tab pos="697865" algn="l"/>
              </a:tabLst>
            </a:pPr>
            <a:r>
              <a:rPr sz="2400" spc="-35" dirty="0">
                <a:latin typeface="Calibri"/>
                <a:cs typeface="Calibri"/>
              </a:rPr>
              <a:t>We</a:t>
            </a:r>
            <a:r>
              <a:rPr sz="2400" spc="17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could</a:t>
            </a:r>
            <a:r>
              <a:rPr sz="2400" spc="18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have</a:t>
            </a:r>
            <a:r>
              <a:rPr sz="2400" spc="200" dirty="0">
                <a:latin typeface="Calibri"/>
                <a:cs typeface="Calibri"/>
              </a:rPr>
              <a:t> </a:t>
            </a:r>
            <a:r>
              <a:rPr sz="2400" spc="80" dirty="0">
                <a:latin typeface="Calibri"/>
                <a:cs typeface="Calibri"/>
              </a:rPr>
              <a:t>4096</a:t>
            </a:r>
            <a:r>
              <a:rPr sz="2400" spc="204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input</a:t>
            </a:r>
            <a:r>
              <a:rPr sz="2400" spc="17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neurons,</a:t>
            </a:r>
            <a:r>
              <a:rPr sz="2400" spc="-3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each</a:t>
            </a:r>
            <a:r>
              <a:rPr sz="2400" spc="19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with</a:t>
            </a:r>
            <a:r>
              <a:rPr sz="2400" spc="125" dirty="0">
                <a:latin typeface="Calibri"/>
                <a:cs typeface="Calibri"/>
              </a:rPr>
              <a:t> </a:t>
            </a:r>
            <a:r>
              <a:rPr sz="2400" spc="55" dirty="0">
                <a:latin typeface="Calibri"/>
                <a:cs typeface="Calibri"/>
              </a:rPr>
              <a:t>values</a:t>
            </a:r>
            <a:r>
              <a:rPr sz="2400" spc="18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between</a:t>
            </a:r>
            <a:r>
              <a:rPr sz="2400" spc="185" dirty="0">
                <a:latin typeface="Calibri"/>
                <a:cs typeface="Calibri"/>
              </a:rPr>
              <a:t> </a:t>
            </a:r>
            <a:r>
              <a:rPr sz="2400" spc="80" dirty="0">
                <a:latin typeface="Calibri"/>
                <a:cs typeface="Calibri"/>
              </a:rPr>
              <a:t>0</a:t>
            </a:r>
            <a:r>
              <a:rPr sz="2400" spc="18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and</a:t>
            </a:r>
            <a:r>
              <a:rPr sz="2400" spc="185" dirty="0">
                <a:latin typeface="Calibri"/>
                <a:cs typeface="Calibri"/>
              </a:rPr>
              <a:t> </a:t>
            </a:r>
            <a:r>
              <a:rPr sz="2400" spc="-25" dirty="0">
                <a:latin typeface="Calibri"/>
                <a:cs typeface="Calibri"/>
              </a:rPr>
              <a:t>1, 	</a:t>
            </a:r>
            <a:r>
              <a:rPr sz="2400" spc="55" dirty="0">
                <a:latin typeface="Calibri"/>
                <a:cs typeface="Calibri"/>
              </a:rPr>
              <a:t>which</a:t>
            </a:r>
            <a:r>
              <a:rPr sz="2400" spc="18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represent</a:t>
            </a:r>
            <a:r>
              <a:rPr sz="2400" spc="20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190" dirty="0">
                <a:latin typeface="Calibri"/>
                <a:cs typeface="Calibri"/>
              </a:rPr>
              <a:t> </a:t>
            </a:r>
            <a:r>
              <a:rPr sz="2400" spc="45" dirty="0">
                <a:latin typeface="Calibri"/>
                <a:cs typeface="Calibri"/>
              </a:rPr>
              <a:t>greyscale</a:t>
            </a:r>
            <a:r>
              <a:rPr sz="2400" spc="18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intensity</a:t>
            </a:r>
            <a:r>
              <a:rPr sz="2400" spc="7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of</a:t>
            </a:r>
            <a:r>
              <a:rPr sz="2400" spc="17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190" dirty="0">
                <a:latin typeface="Calibri"/>
                <a:cs typeface="Calibri"/>
              </a:rPr>
              <a:t> </a:t>
            </a:r>
            <a:r>
              <a:rPr sz="2400" spc="70" dirty="0">
                <a:latin typeface="Calibri"/>
                <a:cs typeface="Calibri"/>
              </a:rPr>
              <a:t>pixel</a:t>
            </a:r>
            <a:endParaRPr sz="2400">
              <a:latin typeface="Calibri"/>
              <a:cs typeface="Calibri"/>
            </a:endParaRPr>
          </a:p>
          <a:p>
            <a:pPr marL="696595" lvl="1" indent="-227329">
              <a:lnSpc>
                <a:spcPct val="100000"/>
              </a:lnSpc>
              <a:spcBef>
                <a:spcPts val="180"/>
              </a:spcBef>
              <a:buFont typeface="Arial"/>
              <a:buChar char="•"/>
              <a:tabLst>
                <a:tab pos="696595" algn="l"/>
              </a:tabLst>
            </a:pPr>
            <a:r>
              <a:rPr sz="2400" dirty="0">
                <a:latin typeface="Calibri"/>
                <a:cs typeface="Calibri"/>
              </a:rPr>
              <a:t>Here</a:t>
            </a:r>
            <a:r>
              <a:rPr sz="2400" spc="229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each</a:t>
            </a:r>
            <a:r>
              <a:rPr sz="2400" spc="24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input</a:t>
            </a:r>
            <a:r>
              <a:rPr sz="2400" spc="21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represents</a:t>
            </a:r>
            <a:r>
              <a:rPr sz="2400" spc="22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</a:t>
            </a:r>
            <a:r>
              <a:rPr sz="2400" spc="235" dirty="0">
                <a:latin typeface="Calibri"/>
                <a:cs typeface="Calibri"/>
              </a:rPr>
              <a:t> </a:t>
            </a:r>
            <a:r>
              <a:rPr sz="2400" spc="70" dirty="0">
                <a:latin typeface="Calibri"/>
                <a:cs typeface="Calibri"/>
              </a:rPr>
              <a:t>pixel</a:t>
            </a:r>
            <a:endParaRPr sz="2400">
              <a:latin typeface="Calibri"/>
              <a:cs typeface="Calibri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069844" y="1036319"/>
            <a:ext cx="5505450" cy="3086099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How</a:t>
            </a:r>
            <a:r>
              <a:rPr spc="110" dirty="0"/>
              <a:t> </a:t>
            </a:r>
            <a:r>
              <a:rPr dirty="0"/>
              <a:t>do</a:t>
            </a:r>
            <a:r>
              <a:rPr spc="190" dirty="0"/>
              <a:t> </a:t>
            </a:r>
            <a:r>
              <a:rPr dirty="0"/>
              <a:t>we</a:t>
            </a:r>
            <a:r>
              <a:rPr spc="210" dirty="0"/>
              <a:t> </a:t>
            </a:r>
            <a:r>
              <a:rPr spc="85" dirty="0"/>
              <a:t>design</a:t>
            </a:r>
            <a:r>
              <a:rPr spc="190" dirty="0"/>
              <a:t> </a:t>
            </a:r>
            <a:r>
              <a:rPr dirty="0"/>
              <a:t>our</a:t>
            </a:r>
            <a:r>
              <a:rPr spc="190" dirty="0"/>
              <a:t> </a:t>
            </a:r>
            <a:r>
              <a:rPr spc="60" dirty="0"/>
              <a:t>Neural</a:t>
            </a:r>
            <a:r>
              <a:rPr spc="175" dirty="0"/>
              <a:t> </a:t>
            </a:r>
            <a:r>
              <a:rPr dirty="0"/>
              <a:t>Network</a:t>
            </a:r>
            <a:r>
              <a:rPr spc="-40" dirty="0"/>
              <a:t> </a:t>
            </a:r>
            <a:r>
              <a:rPr spc="-10" dirty="0"/>
              <a:t>Topology?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1176324" y="4183734"/>
            <a:ext cx="9716135" cy="1882139"/>
          </a:xfrm>
          <a:prstGeom prst="rect">
            <a:avLst/>
          </a:prstGeom>
        </p:spPr>
        <p:txBody>
          <a:bodyPr vert="horz" wrap="square" lIns="0" tIns="46355" rIns="0" bIns="0" rtlCol="0">
            <a:spAutoFit/>
          </a:bodyPr>
          <a:lstStyle/>
          <a:p>
            <a:pPr marL="240029" indent="-227329" algn="just">
              <a:lnSpc>
                <a:spcPct val="100000"/>
              </a:lnSpc>
              <a:spcBef>
                <a:spcPts val="365"/>
              </a:spcBef>
              <a:buFont typeface="Arial"/>
              <a:buChar char="•"/>
              <a:tabLst>
                <a:tab pos="240029" algn="l"/>
              </a:tabLst>
            </a:pPr>
            <a:r>
              <a:rPr sz="2800" dirty="0">
                <a:latin typeface="Calibri"/>
                <a:cs typeface="Calibri"/>
              </a:rPr>
              <a:t>Output:</a:t>
            </a:r>
            <a:r>
              <a:rPr sz="2800" spc="120" dirty="0">
                <a:latin typeface="Calibri"/>
                <a:cs typeface="Calibri"/>
              </a:rPr>
              <a:t> </a:t>
            </a:r>
            <a:r>
              <a:rPr sz="2800" spc="110" dirty="0">
                <a:latin typeface="Calibri"/>
                <a:cs typeface="Calibri"/>
              </a:rPr>
              <a:t>0-</a:t>
            </a:r>
            <a:r>
              <a:rPr sz="2800" spc="35" dirty="0">
                <a:latin typeface="Calibri"/>
                <a:cs typeface="Calibri"/>
              </a:rPr>
              <a:t>9</a:t>
            </a:r>
            <a:endParaRPr sz="2800">
              <a:latin typeface="Calibri"/>
              <a:cs typeface="Calibri"/>
            </a:endParaRPr>
          </a:p>
          <a:p>
            <a:pPr marL="696595" marR="281305" lvl="1" indent="-227329" algn="just">
              <a:lnSpc>
                <a:spcPts val="2590"/>
              </a:lnSpc>
              <a:spcBef>
                <a:spcPts val="560"/>
              </a:spcBef>
              <a:buFont typeface="Arial"/>
              <a:buChar char="•"/>
              <a:tabLst>
                <a:tab pos="697865" algn="l"/>
              </a:tabLst>
            </a:pPr>
            <a:r>
              <a:rPr sz="2400" dirty="0">
                <a:latin typeface="Calibri"/>
                <a:cs typeface="Calibri"/>
              </a:rPr>
              <a:t>With</a:t>
            </a:r>
            <a:r>
              <a:rPr sz="2400" spc="145" dirty="0">
                <a:latin typeface="Calibri"/>
                <a:cs typeface="Calibri"/>
              </a:rPr>
              <a:t> </a:t>
            </a:r>
            <a:r>
              <a:rPr sz="2400" spc="80" dirty="0">
                <a:latin typeface="Calibri"/>
                <a:cs typeface="Calibri"/>
              </a:rPr>
              <a:t>10</a:t>
            </a:r>
            <a:r>
              <a:rPr sz="2400" spc="17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output</a:t>
            </a:r>
            <a:r>
              <a:rPr sz="2400" spc="15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neurons,</a:t>
            </a:r>
            <a:r>
              <a:rPr sz="2400" spc="-4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we</a:t>
            </a:r>
            <a:r>
              <a:rPr sz="2400" spc="16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could</a:t>
            </a:r>
            <a:r>
              <a:rPr sz="2400" spc="170" dirty="0">
                <a:latin typeface="Calibri"/>
                <a:cs typeface="Calibri"/>
              </a:rPr>
              <a:t> </a:t>
            </a:r>
            <a:r>
              <a:rPr sz="2400" spc="75" dirty="0">
                <a:latin typeface="Calibri"/>
                <a:cs typeface="Calibri"/>
              </a:rPr>
              <a:t>assign</a:t>
            </a:r>
            <a:r>
              <a:rPr sz="2400" spc="16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each</a:t>
            </a:r>
            <a:r>
              <a:rPr sz="2400" spc="16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one</a:t>
            </a:r>
            <a:r>
              <a:rPr sz="2400" spc="17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</a:t>
            </a:r>
            <a:r>
              <a:rPr sz="2400" spc="165" dirty="0">
                <a:latin typeface="Calibri"/>
                <a:cs typeface="Calibri"/>
              </a:rPr>
              <a:t> </a:t>
            </a:r>
            <a:r>
              <a:rPr sz="2400" spc="55" dirty="0">
                <a:latin typeface="Calibri"/>
                <a:cs typeface="Calibri"/>
              </a:rPr>
              <a:t>digit,</a:t>
            </a:r>
            <a:r>
              <a:rPr sz="2400" spc="-6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and</a:t>
            </a:r>
            <a:r>
              <a:rPr sz="2400" spc="155" dirty="0">
                <a:latin typeface="Calibri"/>
                <a:cs typeface="Calibri"/>
              </a:rPr>
              <a:t> </a:t>
            </a:r>
            <a:r>
              <a:rPr sz="2400" spc="-20" dirty="0">
                <a:latin typeface="Calibri"/>
                <a:cs typeface="Calibri"/>
              </a:rPr>
              <a:t>then 	</a:t>
            </a:r>
            <a:r>
              <a:rPr sz="2400" dirty="0">
                <a:latin typeface="Calibri"/>
                <a:cs typeface="Calibri"/>
              </a:rPr>
              <a:t>depending</a:t>
            </a:r>
            <a:r>
              <a:rPr sz="2400" spc="17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on</a:t>
            </a:r>
            <a:r>
              <a:rPr sz="2400" spc="20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20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outputs,</a:t>
            </a:r>
            <a:r>
              <a:rPr sz="2400" spc="-20" dirty="0">
                <a:latin typeface="Calibri"/>
                <a:cs typeface="Calibri"/>
              </a:rPr>
              <a:t> </a:t>
            </a:r>
            <a:r>
              <a:rPr sz="2400" spc="50" dirty="0">
                <a:latin typeface="Calibri"/>
                <a:cs typeface="Calibri"/>
              </a:rPr>
              <a:t>only</a:t>
            </a:r>
            <a:r>
              <a:rPr sz="2400" spc="100" dirty="0">
                <a:latin typeface="Calibri"/>
                <a:cs typeface="Calibri"/>
              </a:rPr>
              <a:t> </a:t>
            </a:r>
            <a:r>
              <a:rPr sz="2400" spc="80" dirty="0">
                <a:latin typeface="Calibri"/>
                <a:cs typeface="Calibri"/>
              </a:rPr>
              <a:t>1</a:t>
            </a:r>
            <a:r>
              <a:rPr sz="2400" spc="20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of</a:t>
            </a:r>
            <a:r>
              <a:rPr sz="2400" spc="18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those</a:t>
            </a:r>
            <a:r>
              <a:rPr sz="2400" spc="21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neurons</a:t>
            </a:r>
            <a:r>
              <a:rPr sz="2400" spc="200" dirty="0">
                <a:latin typeface="Calibri"/>
                <a:cs typeface="Calibri"/>
              </a:rPr>
              <a:t> </a:t>
            </a:r>
            <a:r>
              <a:rPr sz="2400" spc="50" dirty="0">
                <a:latin typeface="Calibri"/>
                <a:cs typeface="Calibri"/>
              </a:rPr>
              <a:t>should</a:t>
            </a:r>
            <a:r>
              <a:rPr sz="2400" spc="20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output</a:t>
            </a:r>
            <a:r>
              <a:rPr sz="2400" spc="180" dirty="0">
                <a:latin typeface="Calibri"/>
                <a:cs typeface="Calibri"/>
              </a:rPr>
              <a:t> </a:t>
            </a:r>
            <a:r>
              <a:rPr sz="2400" spc="-50" dirty="0">
                <a:latin typeface="Calibri"/>
                <a:cs typeface="Calibri"/>
              </a:rPr>
              <a:t>a 	</a:t>
            </a:r>
            <a:r>
              <a:rPr sz="2400" spc="-10" dirty="0">
                <a:latin typeface="Calibri"/>
                <a:cs typeface="Calibri"/>
              </a:rPr>
              <a:t>‘yes’</a:t>
            </a:r>
            <a:endParaRPr sz="2400">
              <a:latin typeface="Calibri"/>
              <a:cs typeface="Calibri"/>
            </a:endParaRPr>
          </a:p>
          <a:p>
            <a:pPr marL="1153160" lvl="2" indent="-226695" algn="just">
              <a:lnSpc>
                <a:spcPct val="100000"/>
              </a:lnSpc>
              <a:spcBef>
                <a:spcPts val="260"/>
              </a:spcBef>
              <a:buFont typeface="Arial"/>
              <a:buChar char="•"/>
              <a:tabLst>
                <a:tab pos="1153160" algn="l"/>
              </a:tabLst>
            </a:pPr>
            <a:r>
              <a:rPr sz="2000" spc="50" dirty="0">
                <a:latin typeface="Calibri"/>
                <a:cs typeface="Calibri"/>
              </a:rPr>
              <a:t>Recall</a:t>
            </a:r>
            <a:r>
              <a:rPr sz="2000" spc="-15" dirty="0">
                <a:latin typeface="Calibri"/>
                <a:cs typeface="Calibri"/>
              </a:rPr>
              <a:t> </a:t>
            </a:r>
            <a:r>
              <a:rPr sz="2000" spc="-25" dirty="0">
                <a:latin typeface="Calibri"/>
                <a:cs typeface="Calibri"/>
              </a:rPr>
              <a:t>‘yes’</a:t>
            </a:r>
            <a:r>
              <a:rPr sz="2000" spc="-45" dirty="0">
                <a:latin typeface="Calibri"/>
                <a:cs typeface="Calibri"/>
              </a:rPr>
              <a:t> </a:t>
            </a:r>
            <a:r>
              <a:rPr sz="2000" spc="65" dirty="0">
                <a:latin typeface="Calibri"/>
                <a:cs typeface="Calibri"/>
              </a:rPr>
              <a:t>is</a:t>
            </a:r>
            <a:r>
              <a:rPr sz="2000" spc="15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defined</a:t>
            </a:r>
            <a:r>
              <a:rPr sz="2000" spc="13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as</a:t>
            </a:r>
            <a:r>
              <a:rPr sz="2000" spc="14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output</a:t>
            </a:r>
            <a:r>
              <a:rPr sz="2000" spc="130" dirty="0">
                <a:latin typeface="Calibri"/>
                <a:cs typeface="Calibri"/>
              </a:rPr>
              <a:t> </a:t>
            </a:r>
            <a:r>
              <a:rPr sz="2000" spc="50" dirty="0">
                <a:latin typeface="Calibri"/>
                <a:cs typeface="Calibri"/>
              </a:rPr>
              <a:t>being</a:t>
            </a:r>
            <a:r>
              <a:rPr sz="2000" spc="13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greater</a:t>
            </a:r>
            <a:r>
              <a:rPr sz="2000" spc="11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than</a:t>
            </a:r>
            <a:r>
              <a:rPr sz="2000" spc="14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some</a:t>
            </a:r>
            <a:r>
              <a:rPr sz="2000" spc="110" dirty="0">
                <a:latin typeface="Calibri"/>
                <a:cs typeface="Calibri"/>
              </a:rPr>
              <a:t> </a:t>
            </a:r>
            <a:r>
              <a:rPr sz="2000" spc="50" dirty="0">
                <a:latin typeface="Calibri"/>
                <a:cs typeface="Calibri"/>
              </a:rPr>
              <a:t>value</a:t>
            </a:r>
            <a:r>
              <a:rPr sz="2000" spc="130" dirty="0">
                <a:latin typeface="Calibri"/>
                <a:cs typeface="Calibri"/>
              </a:rPr>
              <a:t> </a:t>
            </a:r>
            <a:r>
              <a:rPr sz="2000" spc="-10" dirty="0">
                <a:latin typeface="Calibri"/>
                <a:cs typeface="Calibri"/>
              </a:rPr>
              <a:t>(e.g.</a:t>
            </a:r>
            <a:r>
              <a:rPr sz="2000" spc="-40" dirty="0">
                <a:latin typeface="Calibri"/>
                <a:cs typeface="Calibri"/>
              </a:rPr>
              <a:t> </a:t>
            </a:r>
            <a:r>
              <a:rPr sz="2000" spc="-10" dirty="0">
                <a:latin typeface="Calibri"/>
                <a:cs typeface="Calibri"/>
              </a:rPr>
              <a:t>output&gt;0.5)</a:t>
            </a:r>
            <a:endParaRPr sz="2000">
              <a:latin typeface="Calibri"/>
              <a:cs typeface="Calibri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069844" y="1036319"/>
            <a:ext cx="5505450" cy="3086099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How</a:t>
            </a:r>
            <a:r>
              <a:rPr spc="110" dirty="0"/>
              <a:t> </a:t>
            </a:r>
            <a:r>
              <a:rPr dirty="0"/>
              <a:t>do</a:t>
            </a:r>
            <a:r>
              <a:rPr spc="190" dirty="0"/>
              <a:t> </a:t>
            </a:r>
            <a:r>
              <a:rPr dirty="0"/>
              <a:t>we</a:t>
            </a:r>
            <a:r>
              <a:rPr spc="210" dirty="0"/>
              <a:t> </a:t>
            </a:r>
            <a:r>
              <a:rPr spc="85" dirty="0"/>
              <a:t>design</a:t>
            </a:r>
            <a:r>
              <a:rPr spc="190" dirty="0"/>
              <a:t> </a:t>
            </a:r>
            <a:r>
              <a:rPr dirty="0"/>
              <a:t>our</a:t>
            </a:r>
            <a:r>
              <a:rPr spc="190" dirty="0"/>
              <a:t> </a:t>
            </a:r>
            <a:r>
              <a:rPr spc="60" dirty="0"/>
              <a:t>Neural</a:t>
            </a:r>
            <a:r>
              <a:rPr spc="175" dirty="0"/>
              <a:t> </a:t>
            </a:r>
            <a:r>
              <a:rPr dirty="0"/>
              <a:t>Network</a:t>
            </a:r>
            <a:r>
              <a:rPr spc="-40" dirty="0"/>
              <a:t> </a:t>
            </a:r>
            <a:r>
              <a:rPr spc="-10" dirty="0"/>
              <a:t>Topology?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1176324" y="4183734"/>
            <a:ext cx="6304280" cy="1275080"/>
          </a:xfrm>
          <a:prstGeom prst="rect">
            <a:avLst/>
          </a:prstGeom>
        </p:spPr>
        <p:txBody>
          <a:bodyPr vert="horz" wrap="square" lIns="0" tIns="46355" rIns="0" bIns="0" rtlCol="0">
            <a:spAutoFit/>
          </a:bodyPr>
          <a:lstStyle/>
          <a:p>
            <a:pPr marL="240029" indent="-227329">
              <a:lnSpc>
                <a:spcPct val="100000"/>
              </a:lnSpc>
              <a:spcBef>
                <a:spcPts val="365"/>
              </a:spcBef>
              <a:buFont typeface="Arial"/>
              <a:buChar char="•"/>
              <a:tabLst>
                <a:tab pos="240029" algn="l"/>
              </a:tabLst>
            </a:pPr>
            <a:r>
              <a:rPr sz="2800" spc="55" dirty="0">
                <a:latin typeface="Calibri"/>
                <a:cs typeface="Calibri"/>
              </a:rPr>
              <a:t>Hidden</a:t>
            </a:r>
            <a:r>
              <a:rPr sz="2800" spc="170" dirty="0">
                <a:latin typeface="Calibri"/>
                <a:cs typeface="Calibri"/>
              </a:rPr>
              <a:t> </a:t>
            </a:r>
            <a:r>
              <a:rPr sz="2800" spc="-10" dirty="0">
                <a:latin typeface="Calibri"/>
                <a:cs typeface="Calibri"/>
              </a:rPr>
              <a:t>layers?</a:t>
            </a:r>
            <a:endParaRPr sz="2800">
              <a:latin typeface="Calibri"/>
              <a:cs typeface="Calibri"/>
            </a:endParaRPr>
          </a:p>
          <a:p>
            <a:pPr marL="696595" lvl="1" indent="-227329">
              <a:lnSpc>
                <a:spcPct val="100000"/>
              </a:lnSpc>
              <a:spcBef>
                <a:spcPts val="234"/>
              </a:spcBef>
              <a:buFont typeface="Arial"/>
              <a:buChar char="•"/>
              <a:tabLst>
                <a:tab pos="696595" algn="l"/>
              </a:tabLst>
            </a:pPr>
            <a:r>
              <a:rPr sz="2400" spc="85" dirty="0">
                <a:latin typeface="Calibri"/>
                <a:cs typeface="Calibri"/>
              </a:rPr>
              <a:t>This</a:t>
            </a:r>
            <a:r>
              <a:rPr sz="2400" spc="13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part</a:t>
            </a:r>
            <a:r>
              <a:rPr sz="2400" spc="140" dirty="0">
                <a:latin typeface="Calibri"/>
                <a:cs typeface="Calibri"/>
              </a:rPr>
              <a:t> </a:t>
            </a:r>
            <a:r>
              <a:rPr sz="2400" spc="80" dirty="0">
                <a:latin typeface="Calibri"/>
                <a:cs typeface="Calibri"/>
              </a:rPr>
              <a:t>is</a:t>
            </a:r>
            <a:r>
              <a:rPr sz="2400" spc="14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art,</a:t>
            </a:r>
            <a:r>
              <a:rPr sz="2400" spc="-6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not</a:t>
            </a:r>
            <a:r>
              <a:rPr sz="2400" spc="140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science</a:t>
            </a:r>
            <a:endParaRPr sz="2400">
              <a:latin typeface="Calibri"/>
              <a:cs typeface="Calibri"/>
            </a:endParaRPr>
          </a:p>
          <a:p>
            <a:pPr marL="696595" lvl="1" indent="-227329">
              <a:lnSpc>
                <a:spcPct val="100000"/>
              </a:lnSpc>
              <a:spcBef>
                <a:spcPts val="215"/>
              </a:spcBef>
              <a:buFont typeface="Arial"/>
              <a:buChar char="•"/>
              <a:tabLst>
                <a:tab pos="696595" algn="l"/>
              </a:tabLst>
            </a:pPr>
            <a:r>
              <a:rPr sz="2400" dirty="0">
                <a:latin typeface="Calibri"/>
                <a:cs typeface="Calibri"/>
              </a:rPr>
              <a:t>Driven</a:t>
            </a:r>
            <a:r>
              <a:rPr sz="2400" spc="34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by</a:t>
            </a:r>
            <a:r>
              <a:rPr sz="2400" spc="22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heuristics</a:t>
            </a:r>
            <a:r>
              <a:rPr sz="2400" spc="31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depending</a:t>
            </a:r>
            <a:r>
              <a:rPr sz="2400" spc="30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on</a:t>
            </a:r>
            <a:r>
              <a:rPr sz="2400" spc="340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problem</a:t>
            </a:r>
            <a:endParaRPr sz="2400">
              <a:latin typeface="Calibri"/>
              <a:cs typeface="Calibri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069844" y="1036319"/>
            <a:ext cx="5505450" cy="3086099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How</a:t>
            </a:r>
            <a:r>
              <a:rPr spc="110" dirty="0"/>
              <a:t> </a:t>
            </a:r>
            <a:r>
              <a:rPr dirty="0"/>
              <a:t>do</a:t>
            </a:r>
            <a:r>
              <a:rPr spc="190" dirty="0"/>
              <a:t> </a:t>
            </a:r>
            <a:r>
              <a:rPr dirty="0"/>
              <a:t>we</a:t>
            </a:r>
            <a:r>
              <a:rPr spc="210" dirty="0"/>
              <a:t> </a:t>
            </a:r>
            <a:r>
              <a:rPr spc="85" dirty="0"/>
              <a:t>design</a:t>
            </a:r>
            <a:r>
              <a:rPr spc="190" dirty="0"/>
              <a:t> </a:t>
            </a:r>
            <a:r>
              <a:rPr dirty="0"/>
              <a:t>our</a:t>
            </a:r>
            <a:r>
              <a:rPr spc="190" dirty="0"/>
              <a:t> </a:t>
            </a:r>
            <a:r>
              <a:rPr spc="60" dirty="0"/>
              <a:t>Neural</a:t>
            </a:r>
            <a:r>
              <a:rPr spc="175" dirty="0"/>
              <a:t> </a:t>
            </a:r>
            <a:r>
              <a:rPr dirty="0"/>
              <a:t>Network</a:t>
            </a:r>
            <a:r>
              <a:rPr spc="-40" dirty="0"/>
              <a:t> </a:t>
            </a:r>
            <a:r>
              <a:rPr spc="-10" dirty="0"/>
              <a:t>Topology?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1176324" y="4183734"/>
            <a:ext cx="8293100" cy="1275080"/>
          </a:xfrm>
          <a:prstGeom prst="rect">
            <a:avLst/>
          </a:prstGeom>
        </p:spPr>
        <p:txBody>
          <a:bodyPr vert="horz" wrap="square" lIns="0" tIns="46355" rIns="0" bIns="0" rtlCol="0">
            <a:spAutoFit/>
          </a:bodyPr>
          <a:lstStyle/>
          <a:p>
            <a:pPr marL="240029" indent="-227329">
              <a:lnSpc>
                <a:spcPct val="100000"/>
              </a:lnSpc>
              <a:spcBef>
                <a:spcPts val="365"/>
              </a:spcBef>
              <a:buFont typeface="Arial"/>
              <a:buChar char="•"/>
              <a:tabLst>
                <a:tab pos="240029" algn="l"/>
              </a:tabLst>
            </a:pPr>
            <a:r>
              <a:rPr sz="2800" spc="-10" dirty="0">
                <a:latin typeface="Calibri"/>
                <a:cs typeface="Calibri"/>
              </a:rPr>
              <a:t>Note:</a:t>
            </a:r>
            <a:endParaRPr sz="2800">
              <a:latin typeface="Calibri"/>
              <a:cs typeface="Calibri"/>
            </a:endParaRPr>
          </a:p>
          <a:p>
            <a:pPr marL="696595" lvl="1" indent="-227329">
              <a:lnSpc>
                <a:spcPct val="100000"/>
              </a:lnSpc>
              <a:spcBef>
                <a:spcPts val="234"/>
              </a:spcBef>
              <a:buFont typeface="Arial"/>
              <a:buChar char="•"/>
              <a:tabLst>
                <a:tab pos="696595" algn="l"/>
              </a:tabLst>
            </a:pPr>
            <a:r>
              <a:rPr sz="2400" spc="55" dirty="0">
                <a:latin typeface="Calibri"/>
                <a:cs typeface="Calibri"/>
              </a:rPr>
              <a:t>These</a:t>
            </a:r>
            <a:r>
              <a:rPr sz="2400" spc="23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are</a:t>
            </a:r>
            <a:r>
              <a:rPr sz="2400" spc="229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feed-forward</a:t>
            </a:r>
            <a:r>
              <a:rPr sz="2400" spc="17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neural</a:t>
            </a:r>
            <a:r>
              <a:rPr sz="2400" spc="215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networks</a:t>
            </a:r>
            <a:endParaRPr sz="2400">
              <a:latin typeface="Calibri"/>
              <a:cs typeface="Calibri"/>
            </a:endParaRPr>
          </a:p>
          <a:p>
            <a:pPr marL="696595" lvl="1" indent="-227329">
              <a:lnSpc>
                <a:spcPct val="100000"/>
              </a:lnSpc>
              <a:spcBef>
                <a:spcPts val="215"/>
              </a:spcBef>
              <a:buFont typeface="Arial"/>
              <a:buChar char="•"/>
              <a:tabLst>
                <a:tab pos="696595" algn="l"/>
              </a:tabLst>
            </a:pPr>
            <a:r>
              <a:rPr sz="2400" spc="95" dirty="0">
                <a:latin typeface="Calibri"/>
                <a:cs typeface="Calibri"/>
              </a:rPr>
              <a:t>All</a:t>
            </a:r>
            <a:r>
              <a:rPr sz="2400" spc="16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inputs</a:t>
            </a:r>
            <a:r>
              <a:rPr sz="2400" spc="17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move</a:t>
            </a:r>
            <a:r>
              <a:rPr sz="2400" spc="19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forward,</a:t>
            </a:r>
            <a:r>
              <a:rPr sz="2400" spc="-6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never</a:t>
            </a:r>
            <a:r>
              <a:rPr sz="2400" spc="17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backward,</a:t>
            </a:r>
            <a:r>
              <a:rPr sz="2400" spc="-40" dirty="0">
                <a:latin typeface="Calibri"/>
                <a:cs typeface="Calibri"/>
              </a:rPr>
              <a:t> </a:t>
            </a:r>
            <a:r>
              <a:rPr sz="2400" spc="50" dirty="0">
                <a:latin typeface="Calibri"/>
                <a:cs typeface="Calibri"/>
              </a:rPr>
              <a:t>during</a:t>
            </a:r>
            <a:r>
              <a:rPr sz="2400" spc="130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operation</a:t>
            </a:r>
            <a:endParaRPr sz="2400">
              <a:latin typeface="Calibri"/>
              <a:cs typeface="Calibri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069844" y="1036319"/>
            <a:ext cx="5505450" cy="3086099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Aside:</a:t>
            </a:r>
            <a:r>
              <a:rPr spc="245" dirty="0"/>
              <a:t> </a:t>
            </a:r>
            <a:r>
              <a:rPr dirty="0"/>
              <a:t>Recurrent</a:t>
            </a:r>
            <a:r>
              <a:rPr spc="215" dirty="0"/>
              <a:t> </a:t>
            </a:r>
            <a:r>
              <a:rPr spc="60" dirty="0"/>
              <a:t>Neural</a:t>
            </a:r>
            <a:r>
              <a:rPr spc="215" dirty="0"/>
              <a:t> </a:t>
            </a:r>
            <a:r>
              <a:rPr spc="-10" dirty="0"/>
              <a:t>Networks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1176324" y="4187697"/>
            <a:ext cx="9746615" cy="229857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41300" indent="-228600">
              <a:lnSpc>
                <a:spcPts val="3115"/>
              </a:lnSpc>
              <a:spcBef>
                <a:spcPts val="100"/>
              </a:spcBef>
              <a:buFont typeface="Arial"/>
              <a:buChar char="•"/>
              <a:tabLst>
                <a:tab pos="241300" algn="l"/>
              </a:tabLst>
            </a:pPr>
            <a:r>
              <a:rPr sz="2600" spc="-10" dirty="0">
                <a:latin typeface="Calibri"/>
                <a:cs typeface="Calibri"/>
              </a:rPr>
              <a:t>Note:</a:t>
            </a:r>
            <a:endParaRPr sz="2600" dirty="0">
              <a:latin typeface="Calibri"/>
              <a:cs typeface="Calibri"/>
            </a:endParaRPr>
          </a:p>
          <a:p>
            <a:pPr marL="697865" lvl="1" indent="-228600">
              <a:lnSpc>
                <a:spcPts val="2620"/>
              </a:lnSpc>
              <a:buFont typeface="Arial"/>
              <a:buChar char="•"/>
              <a:tabLst>
                <a:tab pos="697865" algn="l"/>
              </a:tabLst>
            </a:pPr>
            <a:r>
              <a:rPr sz="2200" spc="65" dirty="0">
                <a:latin typeface="Calibri"/>
                <a:cs typeface="Calibri"/>
              </a:rPr>
              <a:t>The</a:t>
            </a:r>
            <a:r>
              <a:rPr sz="2200" spc="135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output</a:t>
            </a:r>
            <a:r>
              <a:rPr sz="2200" spc="135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of</a:t>
            </a:r>
            <a:r>
              <a:rPr sz="2200" spc="150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a</a:t>
            </a:r>
            <a:r>
              <a:rPr sz="2200" spc="130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neuron</a:t>
            </a:r>
            <a:r>
              <a:rPr sz="2200" spc="140" dirty="0">
                <a:latin typeface="Calibri"/>
                <a:cs typeface="Calibri"/>
              </a:rPr>
              <a:t> </a:t>
            </a:r>
            <a:r>
              <a:rPr sz="2200" spc="55" dirty="0">
                <a:latin typeface="Calibri"/>
                <a:cs typeface="Calibri"/>
              </a:rPr>
              <a:t>actually</a:t>
            </a:r>
            <a:r>
              <a:rPr sz="2200" spc="45" dirty="0">
                <a:latin typeface="Calibri"/>
                <a:cs typeface="Calibri"/>
              </a:rPr>
              <a:t> </a:t>
            </a:r>
            <a:r>
              <a:rPr sz="2200" spc="70" dirty="0">
                <a:latin typeface="Calibri"/>
                <a:cs typeface="Calibri"/>
              </a:rPr>
              <a:t>is</a:t>
            </a:r>
            <a:r>
              <a:rPr sz="2200" spc="135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an</a:t>
            </a:r>
            <a:r>
              <a:rPr sz="2200" spc="135" dirty="0">
                <a:latin typeface="Calibri"/>
                <a:cs typeface="Calibri"/>
              </a:rPr>
              <a:t> </a:t>
            </a:r>
            <a:r>
              <a:rPr sz="2200" spc="-10" dirty="0">
                <a:latin typeface="Calibri"/>
                <a:cs typeface="Calibri"/>
              </a:rPr>
              <a:t>input</a:t>
            </a:r>
            <a:endParaRPr lang="en-US" sz="2200" spc="-10" dirty="0">
              <a:latin typeface="Calibri"/>
              <a:cs typeface="Calibri"/>
            </a:endParaRPr>
          </a:p>
          <a:p>
            <a:pPr marL="697865" lvl="1" indent="-228600">
              <a:lnSpc>
                <a:spcPts val="2620"/>
              </a:lnSpc>
              <a:buFont typeface="Arial"/>
              <a:buChar char="•"/>
              <a:tabLst>
                <a:tab pos="697865" algn="l"/>
              </a:tabLst>
            </a:pPr>
            <a:r>
              <a:rPr lang="en-US" sz="2200" spc="-10" dirty="0">
                <a:latin typeface="Calibri"/>
                <a:cs typeface="Calibri"/>
              </a:rPr>
              <a:t>RNN has memory</a:t>
            </a:r>
            <a:endParaRPr sz="2200" dirty="0">
              <a:latin typeface="Calibri"/>
              <a:cs typeface="Calibri"/>
            </a:endParaRPr>
          </a:p>
          <a:p>
            <a:pPr marL="697865" marR="5080" lvl="1" indent="-228600">
              <a:lnSpc>
                <a:spcPct val="80000"/>
              </a:lnSpc>
              <a:spcBef>
                <a:spcPts val="515"/>
              </a:spcBef>
              <a:buFont typeface="Arial"/>
              <a:buChar char="•"/>
              <a:tabLst>
                <a:tab pos="697865" algn="l"/>
              </a:tabLst>
            </a:pPr>
            <a:r>
              <a:rPr sz="2200" dirty="0">
                <a:latin typeface="Calibri"/>
                <a:cs typeface="Calibri"/>
              </a:rPr>
              <a:t>There</a:t>
            </a:r>
            <a:r>
              <a:rPr sz="2200" spc="210" dirty="0">
                <a:latin typeface="Calibri"/>
                <a:cs typeface="Calibri"/>
              </a:rPr>
              <a:t> </a:t>
            </a:r>
            <a:r>
              <a:rPr sz="2200" spc="70" dirty="0">
                <a:latin typeface="Calibri"/>
                <a:cs typeface="Calibri"/>
              </a:rPr>
              <a:t>is</a:t>
            </a:r>
            <a:r>
              <a:rPr sz="2200" spc="210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some</a:t>
            </a:r>
            <a:r>
              <a:rPr sz="2200" spc="215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kind</a:t>
            </a:r>
            <a:r>
              <a:rPr sz="2200" spc="210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of</a:t>
            </a:r>
            <a:r>
              <a:rPr sz="2200" spc="215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time</a:t>
            </a:r>
            <a:r>
              <a:rPr sz="2200" spc="210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dependence,</a:t>
            </a:r>
            <a:r>
              <a:rPr sz="2200" spc="5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where</a:t>
            </a:r>
            <a:r>
              <a:rPr sz="2200" spc="200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the</a:t>
            </a:r>
            <a:r>
              <a:rPr sz="2200" spc="225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behavior</a:t>
            </a:r>
            <a:r>
              <a:rPr sz="2200" spc="215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can</a:t>
            </a:r>
            <a:r>
              <a:rPr sz="2200" spc="200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evolve</a:t>
            </a:r>
            <a:r>
              <a:rPr sz="2200" spc="210" dirty="0">
                <a:latin typeface="Calibri"/>
                <a:cs typeface="Calibri"/>
              </a:rPr>
              <a:t> </a:t>
            </a:r>
            <a:r>
              <a:rPr sz="2200" spc="-20" dirty="0">
                <a:latin typeface="Calibri"/>
                <a:cs typeface="Calibri"/>
              </a:rPr>
              <a:t>over time</a:t>
            </a:r>
            <a:endParaRPr sz="2200" dirty="0">
              <a:latin typeface="Calibri"/>
              <a:cs typeface="Calibri"/>
            </a:endParaRPr>
          </a:p>
          <a:p>
            <a:pPr marL="697865" lvl="1" indent="-228600">
              <a:lnSpc>
                <a:spcPts val="2355"/>
              </a:lnSpc>
              <a:buFont typeface="Arial"/>
              <a:buChar char="•"/>
              <a:tabLst>
                <a:tab pos="697865" algn="l"/>
              </a:tabLst>
            </a:pPr>
            <a:r>
              <a:rPr sz="2200" spc="80" dirty="0">
                <a:latin typeface="Calibri"/>
                <a:cs typeface="Calibri"/>
              </a:rPr>
              <a:t>This</a:t>
            </a:r>
            <a:r>
              <a:rPr sz="2200" spc="150" dirty="0">
                <a:latin typeface="Calibri"/>
                <a:cs typeface="Calibri"/>
              </a:rPr>
              <a:t> </a:t>
            </a:r>
            <a:r>
              <a:rPr sz="2200" spc="70" dirty="0">
                <a:latin typeface="Calibri"/>
                <a:cs typeface="Calibri"/>
              </a:rPr>
              <a:t>is</a:t>
            </a:r>
            <a:r>
              <a:rPr sz="2200" spc="155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necessary</a:t>
            </a:r>
            <a:r>
              <a:rPr sz="2200" spc="55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as</a:t>
            </a:r>
            <a:r>
              <a:rPr sz="2200" spc="150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the</a:t>
            </a:r>
            <a:r>
              <a:rPr sz="2200" spc="165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output</a:t>
            </a:r>
            <a:r>
              <a:rPr sz="2200" spc="150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of</a:t>
            </a:r>
            <a:r>
              <a:rPr sz="2200" spc="155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a</a:t>
            </a:r>
            <a:r>
              <a:rPr sz="2200" spc="155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neuron</a:t>
            </a:r>
            <a:r>
              <a:rPr sz="2200" spc="155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cant</a:t>
            </a:r>
            <a:r>
              <a:rPr sz="2200" spc="140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be</a:t>
            </a:r>
            <a:r>
              <a:rPr sz="2200" spc="155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fed</a:t>
            </a:r>
            <a:r>
              <a:rPr sz="2200" spc="160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back</a:t>
            </a:r>
            <a:r>
              <a:rPr sz="2200" spc="70" dirty="0">
                <a:latin typeface="Calibri"/>
                <a:cs typeface="Calibri"/>
              </a:rPr>
              <a:t> </a:t>
            </a:r>
            <a:r>
              <a:rPr sz="2200" spc="65" dirty="0">
                <a:latin typeface="Calibri"/>
                <a:cs typeface="Calibri"/>
              </a:rPr>
              <a:t>in</a:t>
            </a:r>
            <a:r>
              <a:rPr sz="2200" spc="155" dirty="0">
                <a:latin typeface="Calibri"/>
                <a:cs typeface="Calibri"/>
              </a:rPr>
              <a:t> </a:t>
            </a:r>
            <a:r>
              <a:rPr sz="2200" spc="50" dirty="0">
                <a:latin typeface="Calibri"/>
                <a:cs typeface="Calibri"/>
              </a:rPr>
              <a:t>if</a:t>
            </a:r>
            <a:r>
              <a:rPr sz="2200" spc="150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it</a:t>
            </a:r>
            <a:r>
              <a:rPr sz="2200" spc="155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were</a:t>
            </a:r>
            <a:r>
              <a:rPr sz="2200" spc="150" dirty="0">
                <a:latin typeface="Calibri"/>
                <a:cs typeface="Calibri"/>
              </a:rPr>
              <a:t> </a:t>
            </a:r>
            <a:r>
              <a:rPr sz="2200" spc="-25" dirty="0">
                <a:latin typeface="Calibri"/>
                <a:cs typeface="Calibri"/>
              </a:rPr>
              <a:t>to</a:t>
            </a:r>
            <a:endParaRPr sz="2200" dirty="0">
              <a:latin typeface="Calibri"/>
              <a:cs typeface="Calibri"/>
            </a:endParaRPr>
          </a:p>
          <a:p>
            <a:pPr marL="697865">
              <a:lnSpc>
                <a:spcPts val="2375"/>
              </a:lnSpc>
            </a:pPr>
            <a:r>
              <a:rPr sz="2200" dirty="0">
                <a:latin typeface="Calibri"/>
                <a:cs typeface="Calibri"/>
              </a:rPr>
              <a:t>be</a:t>
            </a:r>
            <a:r>
              <a:rPr sz="2200" spc="260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evaluated</a:t>
            </a:r>
            <a:r>
              <a:rPr sz="2200" spc="265" dirty="0">
                <a:latin typeface="Calibri"/>
                <a:cs typeface="Calibri"/>
              </a:rPr>
              <a:t> </a:t>
            </a:r>
            <a:r>
              <a:rPr sz="2200" spc="-10" dirty="0">
                <a:latin typeface="Calibri"/>
                <a:cs typeface="Calibri"/>
              </a:rPr>
              <a:t>intantaneously</a:t>
            </a:r>
            <a:endParaRPr sz="2200" dirty="0">
              <a:latin typeface="Calibri"/>
              <a:cs typeface="Calibri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51871" y="1199807"/>
            <a:ext cx="8528939" cy="2261621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45" dirty="0"/>
              <a:t>Getting</a:t>
            </a:r>
            <a:r>
              <a:rPr spc="105" dirty="0"/>
              <a:t> </a:t>
            </a:r>
            <a:r>
              <a:rPr spc="60" dirty="0"/>
              <a:t>back</a:t>
            </a:r>
            <a:r>
              <a:rPr spc="40" dirty="0"/>
              <a:t> </a:t>
            </a:r>
            <a:r>
              <a:rPr dirty="0"/>
              <a:t>to</a:t>
            </a:r>
            <a:r>
              <a:rPr spc="135" dirty="0"/>
              <a:t> </a:t>
            </a:r>
            <a:r>
              <a:rPr spc="55" dirty="0"/>
              <a:t>handwriting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1176324" y="3053560"/>
            <a:ext cx="9770110" cy="2985135"/>
          </a:xfrm>
          <a:prstGeom prst="rect">
            <a:avLst/>
          </a:prstGeom>
        </p:spPr>
        <p:txBody>
          <a:bodyPr vert="horz" wrap="square" lIns="0" tIns="46355" rIns="0" bIns="0" rtlCol="0">
            <a:spAutoFit/>
          </a:bodyPr>
          <a:lstStyle/>
          <a:p>
            <a:pPr marL="240029" indent="-227329">
              <a:lnSpc>
                <a:spcPct val="100000"/>
              </a:lnSpc>
              <a:spcBef>
                <a:spcPts val="365"/>
              </a:spcBef>
              <a:buFont typeface="Arial"/>
              <a:buChar char="•"/>
              <a:tabLst>
                <a:tab pos="240029" algn="l"/>
              </a:tabLst>
            </a:pPr>
            <a:r>
              <a:rPr sz="2800" spc="95" dirty="0">
                <a:latin typeface="Calibri"/>
                <a:cs typeface="Calibri"/>
              </a:rPr>
              <a:t>This</a:t>
            </a:r>
            <a:r>
              <a:rPr sz="2800" spc="18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number</a:t>
            </a:r>
            <a:r>
              <a:rPr sz="2800" spc="200" dirty="0">
                <a:latin typeface="Calibri"/>
                <a:cs typeface="Calibri"/>
              </a:rPr>
              <a:t> </a:t>
            </a:r>
            <a:r>
              <a:rPr sz="2800" spc="85" dirty="0">
                <a:latin typeface="Calibri"/>
                <a:cs typeface="Calibri"/>
              </a:rPr>
              <a:t>is</a:t>
            </a:r>
            <a:r>
              <a:rPr sz="2800" spc="170" dirty="0">
                <a:latin typeface="Calibri"/>
                <a:cs typeface="Calibri"/>
              </a:rPr>
              <a:t> </a:t>
            </a:r>
            <a:r>
              <a:rPr sz="2800" spc="85" dirty="0">
                <a:latin typeface="Calibri"/>
                <a:cs typeface="Calibri"/>
              </a:rPr>
              <a:t>6</a:t>
            </a:r>
            <a:r>
              <a:rPr sz="2800" spc="18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different</a:t>
            </a:r>
            <a:r>
              <a:rPr sz="2800" spc="225" dirty="0">
                <a:latin typeface="Calibri"/>
                <a:cs typeface="Calibri"/>
              </a:rPr>
              <a:t> </a:t>
            </a:r>
            <a:r>
              <a:rPr sz="2800" spc="70" dirty="0">
                <a:latin typeface="Calibri"/>
                <a:cs typeface="Calibri"/>
              </a:rPr>
              <a:t>images</a:t>
            </a:r>
            <a:endParaRPr sz="2800">
              <a:latin typeface="Calibri"/>
              <a:cs typeface="Calibri"/>
            </a:endParaRPr>
          </a:p>
          <a:p>
            <a:pPr marL="696595" marR="5080" lvl="1" indent="-227329">
              <a:lnSpc>
                <a:spcPts val="2590"/>
              </a:lnSpc>
              <a:spcBef>
                <a:spcPts val="560"/>
              </a:spcBef>
              <a:buFont typeface="Arial"/>
              <a:buChar char="•"/>
              <a:tabLst>
                <a:tab pos="697865" algn="l"/>
              </a:tabLst>
            </a:pPr>
            <a:r>
              <a:rPr sz="2400" spc="85" dirty="0">
                <a:latin typeface="Calibri"/>
                <a:cs typeface="Calibri"/>
              </a:rPr>
              <a:t>Building</a:t>
            </a:r>
            <a:r>
              <a:rPr sz="2400" spc="14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an</a:t>
            </a:r>
            <a:r>
              <a:rPr sz="2400" spc="180" dirty="0">
                <a:latin typeface="Calibri"/>
                <a:cs typeface="Calibri"/>
              </a:rPr>
              <a:t> </a:t>
            </a:r>
            <a:r>
              <a:rPr sz="2400" spc="45" dirty="0">
                <a:latin typeface="Calibri"/>
                <a:cs typeface="Calibri"/>
              </a:rPr>
              <a:t>algorithm</a:t>
            </a:r>
            <a:r>
              <a:rPr sz="2400" spc="18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to</a:t>
            </a:r>
            <a:r>
              <a:rPr sz="2400" spc="160" dirty="0">
                <a:latin typeface="Calibri"/>
                <a:cs typeface="Calibri"/>
              </a:rPr>
              <a:t> </a:t>
            </a:r>
            <a:r>
              <a:rPr sz="2400" spc="45" dirty="0">
                <a:latin typeface="Calibri"/>
                <a:cs typeface="Calibri"/>
              </a:rPr>
              <a:t>automatically</a:t>
            </a:r>
            <a:r>
              <a:rPr sz="2400" spc="9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recognize</a:t>
            </a:r>
            <a:r>
              <a:rPr sz="2400" spc="19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and</a:t>
            </a:r>
            <a:r>
              <a:rPr sz="2400" spc="19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segment</a:t>
            </a:r>
            <a:r>
              <a:rPr sz="2400" spc="195" dirty="0">
                <a:latin typeface="Calibri"/>
                <a:cs typeface="Calibri"/>
              </a:rPr>
              <a:t> </a:t>
            </a:r>
            <a:r>
              <a:rPr sz="2400" spc="80" dirty="0">
                <a:latin typeface="Calibri"/>
                <a:cs typeface="Calibri"/>
              </a:rPr>
              <a:t>is</a:t>
            </a:r>
            <a:r>
              <a:rPr sz="2400" spc="18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</a:t>
            </a:r>
            <a:r>
              <a:rPr sz="2400" spc="175" dirty="0">
                <a:latin typeface="Calibri"/>
                <a:cs typeface="Calibri"/>
              </a:rPr>
              <a:t> </a:t>
            </a:r>
            <a:r>
              <a:rPr sz="2400" spc="-25" dirty="0">
                <a:latin typeface="Calibri"/>
                <a:cs typeface="Calibri"/>
              </a:rPr>
              <a:t>bit 	</a:t>
            </a:r>
            <a:r>
              <a:rPr sz="2400" dirty="0">
                <a:latin typeface="Calibri"/>
                <a:cs typeface="Calibri"/>
              </a:rPr>
              <a:t>outside</a:t>
            </a:r>
            <a:r>
              <a:rPr sz="2400" spc="14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17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scope</a:t>
            </a:r>
            <a:r>
              <a:rPr sz="2400" spc="19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of</a:t>
            </a:r>
            <a:r>
              <a:rPr sz="2400" spc="15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what</a:t>
            </a:r>
            <a:r>
              <a:rPr sz="2400" spc="16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we</a:t>
            </a:r>
            <a:r>
              <a:rPr sz="2400" spc="17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cover</a:t>
            </a:r>
            <a:r>
              <a:rPr sz="2400" spc="19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here</a:t>
            </a:r>
            <a:r>
              <a:rPr sz="2400" spc="17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and</a:t>
            </a:r>
            <a:r>
              <a:rPr sz="2400" spc="170" dirty="0">
                <a:latin typeface="Calibri"/>
                <a:cs typeface="Calibri"/>
              </a:rPr>
              <a:t> </a:t>
            </a:r>
            <a:r>
              <a:rPr sz="2400" spc="50" dirty="0">
                <a:latin typeface="Calibri"/>
                <a:cs typeface="Calibri"/>
              </a:rPr>
              <a:t>relatively</a:t>
            </a:r>
            <a:r>
              <a:rPr sz="2400" spc="75" dirty="0">
                <a:latin typeface="Calibri"/>
                <a:cs typeface="Calibri"/>
              </a:rPr>
              <a:t> </a:t>
            </a:r>
            <a:r>
              <a:rPr sz="2400" spc="55" dirty="0">
                <a:latin typeface="Calibri"/>
                <a:cs typeface="Calibri"/>
              </a:rPr>
              <a:t>do-</a:t>
            </a:r>
            <a:r>
              <a:rPr sz="2400" spc="-10" dirty="0">
                <a:latin typeface="Calibri"/>
                <a:cs typeface="Calibri"/>
              </a:rPr>
              <a:t>able.</a:t>
            </a:r>
            <a:endParaRPr sz="2400">
              <a:latin typeface="Calibri"/>
              <a:cs typeface="Calibri"/>
            </a:endParaRPr>
          </a:p>
          <a:p>
            <a:pPr marL="696595" lvl="1" indent="-227329">
              <a:lnSpc>
                <a:spcPct val="100000"/>
              </a:lnSpc>
              <a:spcBef>
                <a:spcPts val="185"/>
              </a:spcBef>
              <a:buFont typeface="Arial"/>
              <a:buChar char="•"/>
              <a:tabLst>
                <a:tab pos="696595" algn="l"/>
              </a:tabLst>
            </a:pPr>
            <a:r>
              <a:rPr sz="2400" spc="90" dirty="0">
                <a:latin typeface="Calibri"/>
                <a:cs typeface="Calibri"/>
              </a:rPr>
              <a:t>So</a:t>
            </a:r>
            <a:r>
              <a:rPr sz="2400" spc="14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we</a:t>
            </a:r>
            <a:r>
              <a:rPr sz="2400" spc="145" dirty="0">
                <a:latin typeface="Calibri"/>
                <a:cs typeface="Calibri"/>
              </a:rPr>
              <a:t> </a:t>
            </a:r>
            <a:r>
              <a:rPr sz="2400" spc="105" dirty="0">
                <a:latin typeface="Calibri"/>
                <a:cs typeface="Calibri"/>
              </a:rPr>
              <a:t>will</a:t>
            </a:r>
            <a:r>
              <a:rPr sz="2400" spc="12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focus</a:t>
            </a:r>
            <a:r>
              <a:rPr sz="2400" spc="13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on</a:t>
            </a:r>
            <a:r>
              <a:rPr sz="2400" spc="14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</a:t>
            </a:r>
            <a:r>
              <a:rPr sz="2400" spc="140" dirty="0">
                <a:latin typeface="Calibri"/>
                <a:cs typeface="Calibri"/>
              </a:rPr>
              <a:t> </a:t>
            </a:r>
            <a:r>
              <a:rPr sz="2400" spc="80" dirty="0">
                <a:latin typeface="Calibri"/>
                <a:cs typeface="Calibri"/>
              </a:rPr>
              <a:t>single</a:t>
            </a:r>
            <a:r>
              <a:rPr sz="2400" spc="145" dirty="0">
                <a:latin typeface="Calibri"/>
                <a:cs typeface="Calibri"/>
              </a:rPr>
              <a:t> </a:t>
            </a:r>
            <a:r>
              <a:rPr sz="2400" spc="65" dirty="0">
                <a:latin typeface="Calibri"/>
                <a:cs typeface="Calibri"/>
              </a:rPr>
              <a:t>digit</a:t>
            </a:r>
            <a:endParaRPr sz="2400">
              <a:latin typeface="Calibri"/>
              <a:cs typeface="Calibri"/>
            </a:endParaRPr>
          </a:p>
          <a:p>
            <a:pPr marL="696595" marR="6985" lvl="1" indent="-227329">
              <a:lnSpc>
                <a:spcPct val="90000"/>
              </a:lnSpc>
              <a:spcBef>
                <a:spcPts val="505"/>
              </a:spcBef>
              <a:buFont typeface="Arial"/>
              <a:buChar char="•"/>
              <a:tabLst>
                <a:tab pos="697865" algn="l"/>
              </a:tabLst>
            </a:pPr>
            <a:r>
              <a:rPr sz="2400" dirty="0">
                <a:latin typeface="Calibri"/>
                <a:cs typeface="Calibri"/>
              </a:rPr>
              <a:t>Once</a:t>
            </a:r>
            <a:r>
              <a:rPr sz="2400" spc="16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we</a:t>
            </a:r>
            <a:r>
              <a:rPr sz="2400" spc="15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have</a:t>
            </a:r>
            <a:r>
              <a:rPr sz="2400" spc="16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that,</a:t>
            </a:r>
            <a:r>
              <a:rPr sz="2400" spc="-55" dirty="0">
                <a:latin typeface="Calibri"/>
                <a:cs typeface="Calibri"/>
              </a:rPr>
              <a:t> </a:t>
            </a:r>
            <a:r>
              <a:rPr sz="2400" spc="55" dirty="0">
                <a:latin typeface="Calibri"/>
                <a:cs typeface="Calibri"/>
              </a:rPr>
              <a:t>segmenting</a:t>
            </a:r>
            <a:r>
              <a:rPr sz="2400" spc="17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can</a:t>
            </a:r>
            <a:r>
              <a:rPr sz="2400" spc="15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be</a:t>
            </a:r>
            <a:r>
              <a:rPr sz="2400" spc="15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done</a:t>
            </a:r>
            <a:r>
              <a:rPr sz="2400" spc="15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by</a:t>
            </a:r>
            <a:r>
              <a:rPr sz="2400" spc="60" dirty="0">
                <a:latin typeface="Calibri"/>
                <a:cs typeface="Calibri"/>
              </a:rPr>
              <a:t> </a:t>
            </a:r>
            <a:r>
              <a:rPr sz="2400" spc="65" dirty="0">
                <a:latin typeface="Calibri"/>
                <a:cs typeface="Calibri"/>
              </a:rPr>
              <a:t>taking</a:t>
            </a:r>
            <a:r>
              <a:rPr sz="2400" spc="13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</a:t>
            </a:r>
            <a:r>
              <a:rPr sz="2400" spc="150" dirty="0">
                <a:latin typeface="Calibri"/>
                <a:cs typeface="Calibri"/>
              </a:rPr>
              <a:t> </a:t>
            </a:r>
            <a:r>
              <a:rPr sz="2400" spc="80" dirty="0">
                <a:latin typeface="Calibri"/>
                <a:cs typeface="Calibri"/>
              </a:rPr>
              <a:t>single</a:t>
            </a:r>
            <a:r>
              <a:rPr sz="2400" spc="155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image, 	</a:t>
            </a:r>
            <a:r>
              <a:rPr sz="2400" dirty="0">
                <a:latin typeface="Calibri"/>
                <a:cs typeface="Calibri"/>
              </a:rPr>
              <a:t>and</a:t>
            </a:r>
            <a:r>
              <a:rPr sz="2400" spc="204" dirty="0">
                <a:latin typeface="Calibri"/>
                <a:cs typeface="Calibri"/>
              </a:rPr>
              <a:t> </a:t>
            </a:r>
            <a:r>
              <a:rPr sz="2400" spc="55" dirty="0">
                <a:latin typeface="Calibri"/>
                <a:cs typeface="Calibri"/>
              </a:rPr>
              <a:t>segmenting</a:t>
            </a:r>
            <a:r>
              <a:rPr sz="2400" spc="204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it</a:t>
            </a:r>
            <a:r>
              <a:rPr sz="2400" spc="20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into</a:t>
            </a:r>
            <a:r>
              <a:rPr sz="2400" spc="18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many</a:t>
            </a:r>
            <a:r>
              <a:rPr sz="2400" spc="114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different</a:t>
            </a:r>
            <a:r>
              <a:rPr sz="2400" spc="16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portions,</a:t>
            </a:r>
            <a:r>
              <a:rPr sz="2400" spc="-1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and</a:t>
            </a:r>
            <a:r>
              <a:rPr sz="2400" spc="19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then</a:t>
            </a:r>
            <a:r>
              <a:rPr sz="2400" spc="210" dirty="0">
                <a:latin typeface="Calibri"/>
                <a:cs typeface="Calibri"/>
              </a:rPr>
              <a:t> </a:t>
            </a:r>
            <a:r>
              <a:rPr sz="2400" spc="70" dirty="0">
                <a:latin typeface="Calibri"/>
                <a:cs typeface="Calibri"/>
              </a:rPr>
              <a:t>using</a:t>
            </a:r>
            <a:r>
              <a:rPr sz="2400" spc="204" dirty="0">
                <a:latin typeface="Calibri"/>
                <a:cs typeface="Calibri"/>
              </a:rPr>
              <a:t> </a:t>
            </a:r>
            <a:r>
              <a:rPr sz="2400" spc="-25" dirty="0">
                <a:latin typeface="Calibri"/>
                <a:cs typeface="Calibri"/>
              </a:rPr>
              <a:t>the 	</a:t>
            </a:r>
            <a:r>
              <a:rPr sz="2400" dirty="0">
                <a:latin typeface="Calibri"/>
                <a:cs typeface="Calibri"/>
              </a:rPr>
              <a:t>handwritten</a:t>
            </a:r>
            <a:r>
              <a:rPr sz="2400" spc="185" dirty="0">
                <a:latin typeface="Calibri"/>
                <a:cs typeface="Calibri"/>
              </a:rPr>
              <a:t> </a:t>
            </a:r>
            <a:r>
              <a:rPr sz="2400" spc="75" dirty="0">
                <a:latin typeface="Calibri"/>
                <a:cs typeface="Calibri"/>
              </a:rPr>
              <a:t>digit</a:t>
            </a:r>
            <a:r>
              <a:rPr sz="2400" spc="160" dirty="0">
                <a:latin typeface="Calibri"/>
                <a:cs typeface="Calibri"/>
              </a:rPr>
              <a:t> </a:t>
            </a:r>
            <a:r>
              <a:rPr sz="2400" spc="55" dirty="0">
                <a:latin typeface="Calibri"/>
                <a:cs typeface="Calibri"/>
              </a:rPr>
              <a:t>classifier</a:t>
            </a:r>
            <a:r>
              <a:rPr sz="2400" spc="21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to</a:t>
            </a:r>
            <a:r>
              <a:rPr sz="2400" spc="190" dirty="0">
                <a:latin typeface="Calibri"/>
                <a:cs typeface="Calibri"/>
              </a:rPr>
              <a:t> </a:t>
            </a:r>
            <a:r>
              <a:rPr sz="2400" spc="75" dirty="0">
                <a:latin typeface="Calibri"/>
                <a:cs typeface="Calibri"/>
              </a:rPr>
              <a:t>assign</a:t>
            </a:r>
            <a:r>
              <a:rPr sz="2400" spc="20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scores</a:t>
            </a:r>
            <a:r>
              <a:rPr sz="2400" spc="229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to</a:t>
            </a:r>
            <a:r>
              <a:rPr sz="2400" spc="19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21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segmentation</a:t>
            </a:r>
            <a:r>
              <a:rPr sz="2400" spc="200" dirty="0">
                <a:latin typeface="Calibri"/>
                <a:cs typeface="Calibri"/>
              </a:rPr>
              <a:t> </a:t>
            </a:r>
            <a:r>
              <a:rPr sz="2400" spc="-25" dirty="0">
                <a:latin typeface="Calibri"/>
                <a:cs typeface="Calibri"/>
              </a:rPr>
              <a:t>and 	</a:t>
            </a:r>
            <a:r>
              <a:rPr sz="2400" dirty="0">
                <a:latin typeface="Calibri"/>
                <a:cs typeface="Calibri"/>
              </a:rPr>
              <a:t>use</a:t>
            </a:r>
            <a:r>
              <a:rPr sz="2400" spc="17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17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most</a:t>
            </a:r>
            <a:r>
              <a:rPr sz="2400" spc="180" dirty="0">
                <a:latin typeface="Calibri"/>
                <a:cs typeface="Calibri"/>
              </a:rPr>
              <a:t> </a:t>
            </a:r>
            <a:r>
              <a:rPr sz="2400" spc="80" dirty="0">
                <a:latin typeface="Calibri"/>
                <a:cs typeface="Calibri"/>
              </a:rPr>
              <a:t>highly</a:t>
            </a:r>
            <a:r>
              <a:rPr sz="2400" spc="7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scored</a:t>
            </a:r>
            <a:r>
              <a:rPr sz="2400" spc="150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version</a:t>
            </a:r>
            <a:endParaRPr sz="2400">
              <a:latin typeface="Calibri"/>
              <a:cs typeface="Calibri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866339" y="1487627"/>
            <a:ext cx="3600123" cy="648258"/>
          </a:xfrm>
          <a:prstGeom prst="rect">
            <a:avLst/>
          </a:prstGeom>
        </p:spPr>
      </p:pic>
      <p:pic>
        <p:nvPicPr>
          <p:cNvPr id="5" name="object 5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6805294" y="1486772"/>
            <a:ext cx="4350385" cy="642208"/>
          </a:xfrm>
          <a:prstGeom prst="rect">
            <a:avLst/>
          </a:prstGeom>
        </p:spPr>
      </p:pic>
      <p:grpSp>
        <p:nvGrpSpPr>
          <p:cNvPr id="6" name="object 6"/>
          <p:cNvGrpSpPr/>
          <p:nvPr/>
        </p:nvGrpSpPr>
        <p:grpSpPr>
          <a:xfrm>
            <a:off x="5084445" y="1549908"/>
            <a:ext cx="1516380" cy="355600"/>
            <a:chOff x="5084445" y="1549908"/>
            <a:chExt cx="1516380" cy="355600"/>
          </a:xfrm>
        </p:grpSpPr>
        <p:sp>
          <p:nvSpPr>
            <p:cNvPr id="7" name="object 7"/>
            <p:cNvSpPr/>
            <p:nvPr/>
          </p:nvSpPr>
          <p:spPr>
            <a:xfrm>
              <a:off x="5090795" y="1556258"/>
              <a:ext cx="1503680" cy="342900"/>
            </a:xfrm>
            <a:custGeom>
              <a:avLst/>
              <a:gdLst/>
              <a:ahLst/>
              <a:cxnLst/>
              <a:rect l="l" t="t" r="r" b="b"/>
              <a:pathLst>
                <a:path w="1503679" h="342900">
                  <a:moveTo>
                    <a:pt x="1331976" y="0"/>
                  </a:moveTo>
                  <a:lnTo>
                    <a:pt x="1331976" y="85725"/>
                  </a:lnTo>
                  <a:lnTo>
                    <a:pt x="0" y="85725"/>
                  </a:lnTo>
                  <a:lnTo>
                    <a:pt x="0" y="257175"/>
                  </a:lnTo>
                  <a:lnTo>
                    <a:pt x="1331976" y="257175"/>
                  </a:lnTo>
                  <a:lnTo>
                    <a:pt x="1331976" y="342900"/>
                  </a:lnTo>
                  <a:lnTo>
                    <a:pt x="1503426" y="171450"/>
                  </a:lnTo>
                  <a:lnTo>
                    <a:pt x="1331976" y="0"/>
                  </a:lnTo>
                  <a:close/>
                </a:path>
              </a:pathLst>
            </a:custGeom>
            <a:solidFill>
              <a:srgbClr val="5B9BD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5090795" y="1556258"/>
              <a:ext cx="1503680" cy="342900"/>
            </a:xfrm>
            <a:custGeom>
              <a:avLst/>
              <a:gdLst/>
              <a:ahLst/>
              <a:cxnLst/>
              <a:rect l="l" t="t" r="r" b="b"/>
              <a:pathLst>
                <a:path w="1503679" h="342900">
                  <a:moveTo>
                    <a:pt x="0" y="85725"/>
                  </a:moveTo>
                  <a:lnTo>
                    <a:pt x="1331976" y="85725"/>
                  </a:lnTo>
                  <a:lnTo>
                    <a:pt x="1331976" y="0"/>
                  </a:lnTo>
                  <a:lnTo>
                    <a:pt x="1503426" y="171450"/>
                  </a:lnTo>
                  <a:lnTo>
                    <a:pt x="1331976" y="342900"/>
                  </a:lnTo>
                  <a:lnTo>
                    <a:pt x="1331976" y="257175"/>
                  </a:lnTo>
                  <a:lnTo>
                    <a:pt x="0" y="257175"/>
                  </a:lnTo>
                  <a:lnTo>
                    <a:pt x="0" y="85725"/>
                  </a:lnTo>
                  <a:close/>
                </a:path>
              </a:pathLst>
            </a:custGeom>
            <a:ln w="12700">
              <a:solidFill>
                <a:srgbClr val="41709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An</a:t>
            </a:r>
            <a:r>
              <a:rPr spc="40" dirty="0"/>
              <a:t> </a:t>
            </a:r>
            <a:r>
              <a:rPr spc="55" dirty="0"/>
              <a:t>ANN</a:t>
            </a:r>
            <a:r>
              <a:rPr spc="145" dirty="0"/>
              <a:t> </a:t>
            </a:r>
            <a:r>
              <a:rPr dirty="0"/>
              <a:t>for</a:t>
            </a:r>
            <a:r>
              <a:rPr spc="145" dirty="0"/>
              <a:t> </a:t>
            </a:r>
            <a:r>
              <a:rPr spc="65" dirty="0"/>
              <a:t>Handwriting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6489572" y="888092"/>
            <a:ext cx="4520565" cy="4547235"/>
          </a:xfrm>
          <a:prstGeom prst="rect">
            <a:avLst/>
          </a:prstGeom>
        </p:spPr>
        <p:txBody>
          <a:bodyPr vert="horz" wrap="square" lIns="0" tIns="46355" rIns="0" bIns="0" rtlCol="0">
            <a:spAutoFit/>
          </a:bodyPr>
          <a:lstStyle/>
          <a:p>
            <a:pPr marL="240029" indent="-227329" algn="just">
              <a:lnSpc>
                <a:spcPct val="100000"/>
              </a:lnSpc>
              <a:spcBef>
                <a:spcPts val="365"/>
              </a:spcBef>
              <a:buFont typeface="Arial"/>
              <a:buChar char="•"/>
              <a:tabLst>
                <a:tab pos="240029" algn="l"/>
              </a:tabLst>
            </a:pPr>
            <a:r>
              <a:rPr sz="2800" dirty="0">
                <a:latin typeface="Calibri"/>
                <a:cs typeface="Calibri"/>
              </a:rPr>
              <a:t>What</a:t>
            </a:r>
            <a:r>
              <a:rPr sz="2800" spc="13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are</a:t>
            </a:r>
            <a:r>
              <a:rPr sz="2800" spc="12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the</a:t>
            </a:r>
            <a:r>
              <a:rPr sz="2800" spc="160" dirty="0">
                <a:latin typeface="Calibri"/>
                <a:cs typeface="Calibri"/>
              </a:rPr>
              <a:t> </a:t>
            </a:r>
            <a:r>
              <a:rPr sz="2800" spc="-10" dirty="0">
                <a:latin typeface="Calibri"/>
                <a:cs typeface="Calibri"/>
              </a:rPr>
              <a:t>inputs?</a:t>
            </a:r>
            <a:endParaRPr sz="2800">
              <a:latin typeface="Calibri"/>
              <a:cs typeface="Calibri"/>
            </a:endParaRPr>
          </a:p>
          <a:p>
            <a:pPr marL="697230" lvl="1" indent="-227329" algn="just">
              <a:lnSpc>
                <a:spcPts val="2735"/>
              </a:lnSpc>
              <a:spcBef>
                <a:spcPts val="229"/>
              </a:spcBef>
              <a:buFont typeface="Arial"/>
              <a:buChar char="•"/>
              <a:tabLst>
                <a:tab pos="697230" algn="l"/>
              </a:tabLst>
            </a:pPr>
            <a:r>
              <a:rPr sz="2400" spc="80" dirty="0">
                <a:latin typeface="Calibri"/>
                <a:cs typeface="Calibri"/>
              </a:rPr>
              <a:t>28</a:t>
            </a:r>
            <a:r>
              <a:rPr sz="2400" spc="105" dirty="0">
                <a:latin typeface="Calibri"/>
                <a:cs typeface="Calibri"/>
              </a:rPr>
              <a:t> </a:t>
            </a:r>
            <a:r>
              <a:rPr sz="2400" spc="195" dirty="0">
                <a:latin typeface="Calibri"/>
                <a:cs typeface="Calibri"/>
              </a:rPr>
              <a:t>x</a:t>
            </a:r>
            <a:r>
              <a:rPr sz="2400" spc="30" dirty="0">
                <a:latin typeface="Calibri"/>
                <a:cs typeface="Calibri"/>
              </a:rPr>
              <a:t> </a:t>
            </a:r>
            <a:r>
              <a:rPr sz="2400" spc="80" dirty="0">
                <a:latin typeface="Calibri"/>
                <a:cs typeface="Calibri"/>
              </a:rPr>
              <a:t>28</a:t>
            </a:r>
            <a:r>
              <a:rPr sz="2400" spc="100" dirty="0">
                <a:latin typeface="Calibri"/>
                <a:cs typeface="Calibri"/>
              </a:rPr>
              <a:t> </a:t>
            </a:r>
            <a:r>
              <a:rPr sz="2400" spc="80" dirty="0">
                <a:latin typeface="Calibri"/>
                <a:cs typeface="Calibri"/>
              </a:rPr>
              <a:t>pixels</a:t>
            </a:r>
            <a:r>
              <a:rPr sz="2400" spc="105" dirty="0">
                <a:latin typeface="Calibri"/>
                <a:cs typeface="Calibri"/>
              </a:rPr>
              <a:t> </a:t>
            </a:r>
            <a:r>
              <a:rPr sz="2400" spc="65" dirty="0">
                <a:latin typeface="Calibri"/>
                <a:cs typeface="Calibri"/>
              </a:rPr>
              <a:t>images</a:t>
            </a:r>
            <a:r>
              <a:rPr sz="2400" spc="105" dirty="0">
                <a:latin typeface="Calibri"/>
                <a:cs typeface="Calibri"/>
              </a:rPr>
              <a:t> </a:t>
            </a:r>
            <a:r>
              <a:rPr sz="2400" spc="-25" dirty="0">
                <a:latin typeface="Calibri"/>
                <a:cs typeface="Calibri"/>
              </a:rPr>
              <a:t>of</a:t>
            </a:r>
            <a:endParaRPr sz="2400">
              <a:latin typeface="Calibri"/>
              <a:cs typeface="Calibri"/>
            </a:endParaRPr>
          </a:p>
          <a:p>
            <a:pPr marL="698500" algn="just">
              <a:lnSpc>
                <a:spcPts val="2735"/>
              </a:lnSpc>
            </a:pPr>
            <a:r>
              <a:rPr sz="2400" dirty="0">
                <a:latin typeface="Calibri"/>
                <a:cs typeface="Calibri"/>
              </a:rPr>
              <a:t>scanned</a:t>
            </a:r>
            <a:r>
              <a:rPr sz="2400" spc="39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handwritten</a:t>
            </a:r>
            <a:r>
              <a:rPr sz="2400" spc="345" dirty="0">
                <a:latin typeface="Calibri"/>
                <a:cs typeface="Calibri"/>
              </a:rPr>
              <a:t> </a:t>
            </a:r>
            <a:r>
              <a:rPr sz="2400" spc="65" dirty="0">
                <a:latin typeface="Calibri"/>
                <a:cs typeface="Calibri"/>
              </a:rPr>
              <a:t>digits</a:t>
            </a:r>
            <a:endParaRPr sz="2400">
              <a:latin typeface="Calibri"/>
              <a:cs typeface="Calibri"/>
            </a:endParaRPr>
          </a:p>
          <a:p>
            <a:pPr marL="697230" lvl="1" indent="-227329" algn="just">
              <a:lnSpc>
                <a:spcPct val="100000"/>
              </a:lnSpc>
              <a:spcBef>
                <a:spcPts val="215"/>
              </a:spcBef>
              <a:buFont typeface="Arial"/>
              <a:buChar char="•"/>
              <a:tabLst>
                <a:tab pos="697230" algn="l"/>
              </a:tabLst>
            </a:pPr>
            <a:r>
              <a:rPr sz="2400" dirty="0">
                <a:latin typeface="Calibri"/>
                <a:cs typeface="Calibri"/>
              </a:rPr>
              <a:t>Input</a:t>
            </a:r>
            <a:r>
              <a:rPr sz="2400" spc="21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layer</a:t>
            </a:r>
            <a:r>
              <a:rPr sz="2400" spc="21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has</a:t>
            </a:r>
            <a:r>
              <a:rPr sz="2400" spc="210" dirty="0">
                <a:latin typeface="Calibri"/>
                <a:cs typeface="Calibri"/>
              </a:rPr>
              <a:t> </a:t>
            </a:r>
            <a:r>
              <a:rPr sz="2400" spc="80" dirty="0">
                <a:latin typeface="Calibri"/>
                <a:cs typeface="Calibri"/>
              </a:rPr>
              <a:t>784</a:t>
            </a:r>
            <a:r>
              <a:rPr sz="2400" spc="220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neurons</a:t>
            </a:r>
            <a:endParaRPr sz="2400">
              <a:latin typeface="Calibri"/>
              <a:cs typeface="Calibri"/>
            </a:endParaRPr>
          </a:p>
          <a:p>
            <a:pPr marL="697230" marR="454659" lvl="1" indent="-227329" algn="just">
              <a:lnSpc>
                <a:spcPts val="2590"/>
              </a:lnSpc>
              <a:spcBef>
                <a:spcPts val="545"/>
              </a:spcBef>
              <a:buFont typeface="Arial"/>
              <a:buChar char="•"/>
              <a:tabLst>
                <a:tab pos="698500" algn="l"/>
              </a:tabLst>
            </a:pPr>
            <a:r>
              <a:rPr sz="2400" dirty="0">
                <a:latin typeface="Calibri"/>
                <a:cs typeface="Calibri"/>
              </a:rPr>
              <a:t>Input</a:t>
            </a:r>
            <a:r>
              <a:rPr sz="2400" spc="170" dirty="0">
                <a:latin typeface="Calibri"/>
                <a:cs typeface="Calibri"/>
              </a:rPr>
              <a:t> </a:t>
            </a:r>
            <a:r>
              <a:rPr sz="2400" spc="80" dirty="0">
                <a:latin typeface="Calibri"/>
                <a:cs typeface="Calibri"/>
              </a:rPr>
              <a:t>pixels</a:t>
            </a:r>
            <a:r>
              <a:rPr sz="2400" spc="17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are</a:t>
            </a:r>
            <a:r>
              <a:rPr sz="2400" spc="175" dirty="0">
                <a:latin typeface="Calibri"/>
                <a:cs typeface="Calibri"/>
              </a:rPr>
              <a:t> </a:t>
            </a:r>
            <a:r>
              <a:rPr sz="2400" spc="35" dirty="0">
                <a:latin typeface="Calibri"/>
                <a:cs typeface="Calibri"/>
              </a:rPr>
              <a:t>greyscale 	</a:t>
            </a:r>
            <a:r>
              <a:rPr sz="2400" dirty="0">
                <a:latin typeface="Calibri"/>
                <a:cs typeface="Calibri"/>
              </a:rPr>
              <a:t>with</a:t>
            </a:r>
            <a:r>
              <a:rPr sz="2400" spc="275" dirty="0">
                <a:latin typeface="Calibri"/>
                <a:cs typeface="Calibri"/>
              </a:rPr>
              <a:t> </a:t>
            </a:r>
            <a:r>
              <a:rPr sz="2400" spc="80" dirty="0">
                <a:latin typeface="Calibri"/>
                <a:cs typeface="Calibri"/>
              </a:rPr>
              <a:t>0</a:t>
            </a:r>
            <a:r>
              <a:rPr sz="2400" spc="31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representing</a:t>
            </a:r>
            <a:r>
              <a:rPr sz="2400" spc="290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white 	</a:t>
            </a:r>
            <a:r>
              <a:rPr sz="2400" dirty="0">
                <a:latin typeface="Calibri"/>
                <a:cs typeface="Calibri"/>
              </a:rPr>
              <a:t>and</a:t>
            </a:r>
            <a:r>
              <a:rPr sz="2400" spc="290" dirty="0">
                <a:latin typeface="Calibri"/>
                <a:cs typeface="Calibri"/>
              </a:rPr>
              <a:t> </a:t>
            </a:r>
            <a:r>
              <a:rPr sz="2400" spc="80" dirty="0">
                <a:latin typeface="Calibri"/>
                <a:cs typeface="Calibri"/>
              </a:rPr>
              <a:t>1</a:t>
            </a:r>
            <a:r>
              <a:rPr sz="2400" spc="28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representing</a:t>
            </a:r>
            <a:r>
              <a:rPr sz="2400" spc="280" dirty="0">
                <a:latin typeface="Calibri"/>
                <a:cs typeface="Calibri"/>
              </a:rPr>
              <a:t> </a:t>
            </a:r>
            <a:r>
              <a:rPr sz="2400" spc="50" dirty="0">
                <a:latin typeface="Calibri"/>
                <a:cs typeface="Calibri"/>
              </a:rPr>
              <a:t>black</a:t>
            </a:r>
            <a:endParaRPr sz="2400">
              <a:latin typeface="Calibri"/>
              <a:cs typeface="Calibri"/>
            </a:endParaRPr>
          </a:p>
          <a:p>
            <a:pPr marL="240029" indent="-227329" algn="just">
              <a:lnSpc>
                <a:spcPct val="100000"/>
              </a:lnSpc>
              <a:spcBef>
                <a:spcPts val="615"/>
              </a:spcBef>
              <a:buFont typeface="Arial"/>
              <a:buChar char="•"/>
              <a:tabLst>
                <a:tab pos="240029" algn="l"/>
              </a:tabLst>
            </a:pPr>
            <a:r>
              <a:rPr sz="2800" dirty="0">
                <a:latin typeface="Calibri"/>
                <a:cs typeface="Calibri"/>
              </a:rPr>
              <a:t>One</a:t>
            </a:r>
            <a:r>
              <a:rPr sz="2800" spc="30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hidden</a:t>
            </a:r>
            <a:r>
              <a:rPr sz="2800" spc="350" dirty="0">
                <a:latin typeface="Calibri"/>
                <a:cs typeface="Calibri"/>
              </a:rPr>
              <a:t> </a:t>
            </a:r>
            <a:r>
              <a:rPr sz="2800" spc="-20" dirty="0">
                <a:latin typeface="Calibri"/>
                <a:cs typeface="Calibri"/>
              </a:rPr>
              <a:t>layer</a:t>
            </a:r>
            <a:endParaRPr sz="2800">
              <a:latin typeface="Calibri"/>
              <a:cs typeface="Calibri"/>
            </a:endParaRPr>
          </a:p>
          <a:p>
            <a:pPr marL="697230" marR="5080" lvl="1" indent="-227329">
              <a:lnSpc>
                <a:spcPct val="90000"/>
              </a:lnSpc>
              <a:spcBef>
                <a:spcPts val="520"/>
              </a:spcBef>
              <a:buFont typeface="Arial"/>
              <a:buChar char="•"/>
              <a:tabLst>
                <a:tab pos="698500" algn="l"/>
              </a:tabLst>
            </a:pPr>
            <a:r>
              <a:rPr sz="2400" spc="85" dirty="0">
                <a:latin typeface="Calibri"/>
                <a:cs typeface="Calibri"/>
              </a:rPr>
              <a:t>This</a:t>
            </a:r>
            <a:r>
              <a:rPr sz="2400" spc="125" dirty="0">
                <a:latin typeface="Calibri"/>
                <a:cs typeface="Calibri"/>
              </a:rPr>
              <a:t> </a:t>
            </a:r>
            <a:r>
              <a:rPr sz="2400" spc="55" dirty="0">
                <a:latin typeface="Calibri"/>
                <a:cs typeface="Calibri"/>
              </a:rPr>
              <a:t>only</a:t>
            </a:r>
            <a:r>
              <a:rPr sz="2400" spc="4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has</a:t>
            </a:r>
            <a:r>
              <a:rPr sz="2400" spc="135" dirty="0">
                <a:latin typeface="Calibri"/>
                <a:cs typeface="Calibri"/>
              </a:rPr>
              <a:t> </a:t>
            </a:r>
            <a:r>
              <a:rPr sz="2400" spc="80" dirty="0">
                <a:latin typeface="Calibri"/>
                <a:cs typeface="Calibri"/>
              </a:rPr>
              <a:t>15</a:t>
            </a:r>
            <a:r>
              <a:rPr sz="2400" spc="145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neurons, 	</a:t>
            </a:r>
            <a:r>
              <a:rPr sz="2400" dirty="0">
                <a:latin typeface="Calibri"/>
                <a:cs typeface="Calibri"/>
              </a:rPr>
              <a:t>need</a:t>
            </a:r>
            <a:r>
              <a:rPr sz="2400" spc="17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to</a:t>
            </a:r>
            <a:r>
              <a:rPr sz="2400" spc="15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try</a:t>
            </a:r>
            <a:r>
              <a:rPr sz="2400" spc="5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different</a:t>
            </a:r>
            <a:r>
              <a:rPr sz="2400" spc="114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numbers 	</a:t>
            </a:r>
            <a:r>
              <a:rPr sz="2400" dirty="0">
                <a:latin typeface="Calibri"/>
                <a:cs typeface="Calibri"/>
              </a:rPr>
              <a:t>of</a:t>
            </a:r>
            <a:r>
              <a:rPr sz="2400" spc="20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neurons</a:t>
            </a:r>
            <a:r>
              <a:rPr sz="2400" spc="19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to</a:t>
            </a:r>
            <a:r>
              <a:rPr sz="2400" spc="19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figure</a:t>
            </a:r>
            <a:r>
              <a:rPr sz="2400" spc="17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out</a:t>
            </a:r>
            <a:r>
              <a:rPr sz="2400" spc="200" dirty="0">
                <a:latin typeface="Calibri"/>
                <a:cs typeface="Calibri"/>
              </a:rPr>
              <a:t> </a:t>
            </a:r>
            <a:r>
              <a:rPr sz="2400" spc="-25" dirty="0">
                <a:latin typeface="Calibri"/>
                <a:cs typeface="Calibri"/>
              </a:rPr>
              <a:t>how 	</a:t>
            </a:r>
            <a:r>
              <a:rPr sz="2400" dirty="0">
                <a:latin typeface="Calibri"/>
                <a:cs typeface="Calibri"/>
              </a:rPr>
              <a:t>many</a:t>
            </a:r>
            <a:r>
              <a:rPr sz="2400" spc="15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hidden</a:t>
            </a:r>
            <a:r>
              <a:rPr sz="2400" spc="235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layers</a:t>
            </a:r>
            <a:endParaRPr sz="2400">
              <a:latin typeface="Calibri"/>
              <a:cs typeface="Calibri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27608" y="1172336"/>
            <a:ext cx="5000625" cy="4210050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An</a:t>
            </a:r>
            <a:r>
              <a:rPr spc="40" dirty="0"/>
              <a:t> </a:t>
            </a:r>
            <a:r>
              <a:rPr spc="55" dirty="0"/>
              <a:t>ANN</a:t>
            </a:r>
            <a:r>
              <a:rPr spc="145" dirty="0"/>
              <a:t> </a:t>
            </a:r>
            <a:r>
              <a:rPr dirty="0"/>
              <a:t>for</a:t>
            </a:r>
            <a:r>
              <a:rPr spc="145" dirty="0"/>
              <a:t> </a:t>
            </a:r>
            <a:r>
              <a:rPr spc="65" dirty="0"/>
              <a:t>Handwriting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6489572" y="888092"/>
            <a:ext cx="4484370" cy="3643629"/>
          </a:xfrm>
          <a:prstGeom prst="rect">
            <a:avLst/>
          </a:prstGeom>
        </p:spPr>
        <p:txBody>
          <a:bodyPr vert="horz" wrap="square" lIns="0" tIns="46355" rIns="0" bIns="0" rtlCol="0">
            <a:spAutoFit/>
          </a:bodyPr>
          <a:lstStyle/>
          <a:p>
            <a:pPr marL="240029" indent="-227329" algn="just">
              <a:lnSpc>
                <a:spcPct val="100000"/>
              </a:lnSpc>
              <a:spcBef>
                <a:spcPts val="365"/>
              </a:spcBef>
              <a:buFont typeface="Arial"/>
              <a:buChar char="•"/>
              <a:tabLst>
                <a:tab pos="240029" algn="l"/>
              </a:tabLst>
            </a:pPr>
            <a:r>
              <a:rPr sz="2800" dirty="0">
                <a:latin typeface="Calibri"/>
                <a:cs typeface="Calibri"/>
              </a:rPr>
              <a:t>Output</a:t>
            </a:r>
            <a:r>
              <a:rPr sz="2800" spc="280" dirty="0">
                <a:latin typeface="Calibri"/>
                <a:cs typeface="Calibri"/>
              </a:rPr>
              <a:t> </a:t>
            </a:r>
            <a:r>
              <a:rPr sz="2800" spc="-20" dirty="0">
                <a:latin typeface="Calibri"/>
                <a:cs typeface="Calibri"/>
              </a:rPr>
              <a:t>layer</a:t>
            </a:r>
            <a:endParaRPr sz="2800">
              <a:latin typeface="Calibri"/>
              <a:cs typeface="Calibri"/>
            </a:endParaRPr>
          </a:p>
          <a:p>
            <a:pPr marL="697230" lvl="1" indent="-227329" algn="just">
              <a:lnSpc>
                <a:spcPts val="2735"/>
              </a:lnSpc>
              <a:spcBef>
                <a:spcPts val="229"/>
              </a:spcBef>
              <a:buFont typeface="Arial"/>
              <a:buChar char="•"/>
              <a:tabLst>
                <a:tab pos="697230" algn="l"/>
              </a:tabLst>
            </a:pPr>
            <a:r>
              <a:rPr sz="2400" spc="80" dirty="0">
                <a:latin typeface="Calibri"/>
                <a:cs typeface="Calibri"/>
              </a:rPr>
              <a:t>10</a:t>
            </a:r>
            <a:r>
              <a:rPr sz="2400" spc="17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neurons,</a:t>
            </a:r>
            <a:r>
              <a:rPr sz="2400" spc="-40" dirty="0">
                <a:latin typeface="Calibri"/>
                <a:cs typeface="Calibri"/>
              </a:rPr>
              <a:t> </a:t>
            </a:r>
            <a:r>
              <a:rPr sz="2400" spc="-20" dirty="0">
                <a:latin typeface="Calibri"/>
                <a:cs typeface="Calibri"/>
              </a:rPr>
              <a:t>each</a:t>
            </a:r>
            <a:endParaRPr sz="2400">
              <a:latin typeface="Calibri"/>
              <a:cs typeface="Calibri"/>
            </a:endParaRPr>
          </a:p>
          <a:p>
            <a:pPr marL="698500" algn="just">
              <a:lnSpc>
                <a:spcPts val="2735"/>
              </a:lnSpc>
            </a:pPr>
            <a:r>
              <a:rPr sz="2400" dirty="0">
                <a:latin typeface="Calibri"/>
                <a:cs typeface="Calibri"/>
              </a:rPr>
              <a:t>representing</a:t>
            </a:r>
            <a:r>
              <a:rPr sz="2400" spc="31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</a:t>
            </a:r>
            <a:r>
              <a:rPr sz="2400" spc="320" dirty="0">
                <a:latin typeface="Calibri"/>
                <a:cs typeface="Calibri"/>
              </a:rPr>
              <a:t> </a:t>
            </a:r>
            <a:r>
              <a:rPr sz="2400" spc="50" dirty="0">
                <a:latin typeface="Calibri"/>
                <a:cs typeface="Calibri"/>
              </a:rPr>
              <a:t>digit</a:t>
            </a:r>
            <a:endParaRPr sz="2400">
              <a:latin typeface="Calibri"/>
              <a:cs typeface="Calibri"/>
            </a:endParaRPr>
          </a:p>
          <a:p>
            <a:pPr marL="697230" marR="5080" lvl="1" indent="-227329" algn="just">
              <a:lnSpc>
                <a:spcPts val="2590"/>
              </a:lnSpc>
              <a:spcBef>
                <a:spcPts val="545"/>
              </a:spcBef>
              <a:buFont typeface="Arial"/>
              <a:buChar char="•"/>
              <a:tabLst>
                <a:tab pos="698500" algn="l"/>
              </a:tabLst>
            </a:pPr>
            <a:r>
              <a:rPr sz="2400" dirty="0">
                <a:latin typeface="Calibri"/>
                <a:cs typeface="Calibri"/>
              </a:rPr>
              <a:t>For</a:t>
            </a:r>
            <a:r>
              <a:rPr sz="2400" spc="14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</a:t>
            </a:r>
            <a:r>
              <a:rPr sz="2400" spc="130" dirty="0">
                <a:latin typeface="Calibri"/>
                <a:cs typeface="Calibri"/>
              </a:rPr>
              <a:t> </a:t>
            </a:r>
            <a:r>
              <a:rPr sz="2400" spc="60" dirty="0">
                <a:latin typeface="Calibri"/>
                <a:cs typeface="Calibri"/>
              </a:rPr>
              <a:t>given</a:t>
            </a:r>
            <a:r>
              <a:rPr sz="2400" spc="150" dirty="0">
                <a:latin typeface="Calibri"/>
                <a:cs typeface="Calibri"/>
              </a:rPr>
              <a:t> </a:t>
            </a:r>
            <a:r>
              <a:rPr sz="2400" spc="55" dirty="0">
                <a:latin typeface="Calibri"/>
                <a:cs typeface="Calibri"/>
              </a:rPr>
              <a:t>digit,</a:t>
            </a:r>
            <a:r>
              <a:rPr sz="2400" spc="-9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one</a:t>
            </a:r>
            <a:r>
              <a:rPr sz="2400" spc="155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neuron 	</a:t>
            </a:r>
            <a:r>
              <a:rPr sz="2400" spc="50" dirty="0">
                <a:latin typeface="Calibri"/>
                <a:cs typeface="Calibri"/>
              </a:rPr>
              <a:t>should</a:t>
            </a:r>
            <a:r>
              <a:rPr sz="2400" spc="12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be</a:t>
            </a:r>
            <a:r>
              <a:rPr sz="2400" spc="14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1,</a:t>
            </a:r>
            <a:r>
              <a:rPr sz="2400" spc="-75" dirty="0">
                <a:latin typeface="Calibri"/>
                <a:cs typeface="Calibri"/>
              </a:rPr>
              <a:t> </a:t>
            </a:r>
            <a:r>
              <a:rPr sz="2400" spc="65" dirty="0">
                <a:latin typeface="Calibri"/>
                <a:cs typeface="Calibri"/>
              </a:rPr>
              <a:t>while</a:t>
            </a:r>
            <a:r>
              <a:rPr sz="2400" spc="13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135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others 	</a:t>
            </a:r>
            <a:r>
              <a:rPr sz="2400" spc="50" dirty="0">
                <a:latin typeface="Calibri"/>
                <a:cs typeface="Calibri"/>
              </a:rPr>
              <a:t>should</a:t>
            </a:r>
            <a:r>
              <a:rPr sz="2400" spc="12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be</a:t>
            </a:r>
            <a:r>
              <a:rPr sz="2400" spc="135" dirty="0">
                <a:latin typeface="Calibri"/>
                <a:cs typeface="Calibri"/>
              </a:rPr>
              <a:t> </a:t>
            </a:r>
            <a:r>
              <a:rPr sz="2400" spc="-25" dirty="0">
                <a:latin typeface="Calibri"/>
                <a:cs typeface="Calibri"/>
              </a:rPr>
              <a:t>0.</a:t>
            </a:r>
            <a:endParaRPr sz="2400">
              <a:latin typeface="Calibri"/>
              <a:cs typeface="Calibri"/>
            </a:endParaRPr>
          </a:p>
          <a:p>
            <a:pPr marL="697230" marR="41910" lvl="1" indent="-227329">
              <a:lnSpc>
                <a:spcPct val="90000"/>
              </a:lnSpc>
              <a:spcBef>
                <a:spcPts val="470"/>
              </a:spcBef>
              <a:buFont typeface="Arial"/>
              <a:buChar char="•"/>
              <a:tabLst>
                <a:tab pos="698500" algn="l"/>
              </a:tabLst>
            </a:pPr>
            <a:r>
              <a:rPr sz="2400" spc="70" dirty="0">
                <a:latin typeface="Calibri"/>
                <a:cs typeface="Calibri"/>
              </a:rPr>
              <a:t>In</a:t>
            </a:r>
            <a:r>
              <a:rPr sz="2400" spc="16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reality,</a:t>
            </a:r>
            <a:r>
              <a:rPr sz="2400" spc="-7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we</a:t>
            </a:r>
            <a:r>
              <a:rPr sz="2400" spc="17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find</a:t>
            </a:r>
            <a:r>
              <a:rPr sz="2400" spc="15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170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neuron 	</a:t>
            </a:r>
            <a:r>
              <a:rPr sz="2400" dirty="0">
                <a:latin typeface="Calibri"/>
                <a:cs typeface="Calibri"/>
              </a:rPr>
              <a:t>with</a:t>
            </a:r>
            <a:r>
              <a:rPr sz="2400" spc="204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235" dirty="0">
                <a:latin typeface="Calibri"/>
                <a:cs typeface="Calibri"/>
              </a:rPr>
              <a:t> </a:t>
            </a:r>
            <a:r>
              <a:rPr sz="2400" spc="60" dirty="0">
                <a:latin typeface="Calibri"/>
                <a:cs typeface="Calibri"/>
              </a:rPr>
              <a:t>highest</a:t>
            </a:r>
            <a:r>
              <a:rPr sz="2400" spc="19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value,</a:t>
            </a:r>
            <a:r>
              <a:rPr sz="2400" spc="10" dirty="0">
                <a:latin typeface="Calibri"/>
                <a:cs typeface="Calibri"/>
              </a:rPr>
              <a:t> </a:t>
            </a:r>
            <a:r>
              <a:rPr sz="2400" spc="-25" dirty="0">
                <a:latin typeface="Calibri"/>
                <a:cs typeface="Calibri"/>
              </a:rPr>
              <a:t>and 	</a:t>
            </a:r>
            <a:r>
              <a:rPr sz="2400" dirty="0">
                <a:latin typeface="Calibri"/>
                <a:cs typeface="Calibri"/>
              </a:rPr>
              <a:t>say</a:t>
            </a:r>
            <a:r>
              <a:rPr sz="2400" spc="6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that</a:t>
            </a:r>
            <a:r>
              <a:rPr sz="2400" spc="165" dirty="0">
                <a:latin typeface="Calibri"/>
                <a:cs typeface="Calibri"/>
              </a:rPr>
              <a:t> </a:t>
            </a:r>
            <a:r>
              <a:rPr sz="2400" spc="80" dirty="0">
                <a:latin typeface="Calibri"/>
                <a:cs typeface="Calibri"/>
              </a:rPr>
              <a:t>is</a:t>
            </a:r>
            <a:r>
              <a:rPr sz="2400" spc="14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18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one</a:t>
            </a:r>
            <a:r>
              <a:rPr sz="2400" spc="175" dirty="0">
                <a:latin typeface="Calibri"/>
                <a:cs typeface="Calibri"/>
              </a:rPr>
              <a:t> </a:t>
            </a:r>
            <a:r>
              <a:rPr sz="2400" spc="45" dirty="0">
                <a:latin typeface="Calibri"/>
                <a:cs typeface="Calibri"/>
              </a:rPr>
              <a:t>which 	</a:t>
            </a:r>
            <a:r>
              <a:rPr sz="2400" spc="-10" dirty="0">
                <a:latin typeface="Calibri"/>
                <a:cs typeface="Calibri"/>
              </a:rPr>
              <a:t>activated</a:t>
            </a:r>
            <a:endParaRPr sz="2400">
              <a:latin typeface="Calibri"/>
              <a:cs typeface="Calibri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27608" y="1172336"/>
            <a:ext cx="5000625" cy="4210050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An</a:t>
            </a:r>
            <a:r>
              <a:rPr spc="40" dirty="0"/>
              <a:t> </a:t>
            </a:r>
            <a:r>
              <a:rPr spc="55" dirty="0"/>
              <a:t>ANN</a:t>
            </a:r>
            <a:r>
              <a:rPr spc="145" dirty="0"/>
              <a:t> </a:t>
            </a:r>
            <a:r>
              <a:rPr dirty="0"/>
              <a:t>for</a:t>
            </a:r>
            <a:r>
              <a:rPr spc="145" dirty="0"/>
              <a:t> </a:t>
            </a:r>
            <a:r>
              <a:rPr spc="65" dirty="0"/>
              <a:t>Handwriting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562457" y="888092"/>
            <a:ext cx="10240010" cy="2553335"/>
          </a:xfrm>
          <a:prstGeom prst="rect">
            <a:avLst/>
          </a:prstGeom>
        </p:spPr>
        <p:txBody>
          <a:bodyPr vert="horz" wrap="square" lIns="0" tIns="46355" rIns="0" bIns="0" rtlCol="0">
            <a:spAutoFit/>
          </a:bodyPr>
          <a:lstStyle/>
          <a:p>
            <a:pPr marL="240029" indent="-227329">
              <a:lnSpc>
                <a:spcPct val="100000"/>
              </a:lnSpc>
              <a:spcBef>
                <a:spcPts val="365"/>
              </a:spcBef>
              <a:buFont typeface="Arial"/>
              <a:buChar char="•"/>
              <a:tabLst>
                <a:tab pos="240029" algn="l"/>
              </a:tabLst>
            </a:pPr>
            <a:r>
              <a:rPr sz="2800" dirty="0">
                <a:latin typeface="Calibri"/>
                <a:cs typeface="Calibri"/>
              </a:rPr>
              <a:t>Why</a:t>
            </a:r>
            <a:r>
              <a:rPr sz="2800" spc="5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do</a:t>
            </a:r>
            <a:r>
              <a:rPr sz="2800" spc="170" dirty="0">
                <a:latin typeface="Calibri"/>
                <a:cs typeface="Calibri"/>
              </a:rPr>
              <a:t> </a:t>
            </a:r>
            <a:r>
              <a:rPr sz="2800" spc="85" dirty="0">
                <a:latin typeface="Calibri"/>
                <a:cs typeface="Calibri"/>
              </a:rPr>
              <a:t>10</a:t>
            </a:r>
            <a:r>
              <a:rPr sz="2800" spc="16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neurons</a:t>
            </a:r>
            <a:r>
              <a:rPr sz="2800" spc="20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work</a:t>
            </a:r>
            <a:r>
              <a:rPr sz="2800" spc="9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better</a:t>
            </a:r>
            <a:r>
              <a:rPr sz="2800" spc="16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than</a:t>
            </a:r>
            <a:r>
              <a:rPr sz="2800" spc="185" dirty="0">
                <a:latin typeface="Calibri"/>
                <a:cs typeface="Calibri"/>
              </a:rPr>
              <a:t> </a:t>
            </a:r>
            <a:r>
              <a:rPr sz="2800" spc="-25" dirty="0">
                <a:latin typeface="Calibri"/>
                <a:cs typeface="Calibri"/>
              </a:rPr>
              <a:t>4?</a:t>
            </a:r>
            <a:endParaRPr sz="2800">
              <a:latin typeface="Calibri"/>
              <a:cs typeface="Calibri"/>
            </a:endParaRPr>
          </a:p>
          <a:p>
            <a:pPr marL="697230" lvl="1" indent="-227329">
              <a:lnSpc>
                <a:spcPct val="100000"/>
              </a:lnSpc>
              <a:spcBef>
                <a:spcPts val="229"/>
              </a:spcBef>
              <a:buFont typeface="Arial"/>
              <a:buChar char="•"/>
              <a:tabLst>
                <a:tab pos="697230" algn="l"/>
              </a:tabLst>
            </a:pPr>
            <a:r>
              <a:rPr sz="2400" dirty="0">
                <a:latin typeface="Calibri"/>
                <a:cs typeface="Calibri"/>
              </a:rPr>
              <a:t>Need</a:t>
            </a:r>
            <a:r>
              <a:rPr sz="2400" spc="16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to</a:t>
            </a:r>
            <a:r>
              <a:rPr sz="2400" spc="16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consider</a:t>
            </a:r>
            <a:r>
              <a:rPr sz="2400" spc="18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how</a:t>
            </a:r>
            <a:r>
              <a:rPr sz="2400" spc="110" dirty="0">
                <a:latin typeface="Calibri"/>
                <a:cs typeface="Calibri"/>
              </a:rPr>
              <a:t> </a:t>
            </a:r>
            <a:r>
              <a:rPr sz="2400" spc="50" dirty="0">
                <a:latin typeface="Calibri"/>
                <a:cs typeface="Calibri"/>
              </a:rPr>
              <a:t>this</a:t>
            </a:r>
            <a:r>
              <a:rPr sz="2400" spc="15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network</a:t>
            </a:r>
            <a:r>
              <a:rPr sz="2400" spc="95" dirty="0">
                <a:latin typeface="Calibri"/>
                <a:cs typeface="Calibri"/>
              </a:rPr>
              <a:t> </a:t>
            </a:r>
            <a:r>
              <a:rPr sz="2400" spc="80" dirty="0">
                <a:latin typeface="Calibri"/>
                <a:cs typeface="Calibri"/>
              </a:rPr>
              <a:t>is</a:t>
            </a:r>
            <a:r>
              <a:rPr sz="2400" spc="165" dirty="0">
                <a:latin typeface="Calibri"/>
                <a:cs typeface="Calibri"/>
              </a:rPr>
              <a:t> </a:t>
            </a:r>
            <a:r>
              <a:rPr sz="2400" spc="45" dirty="0">
                <a:latin typeface="Calibri"/>
                <a:cs typeface="Calibri"/>
              </a:rPr>
              <a:t>working</a:t>
            </a:r>
            <a:endParaRPr sz="2400">
              <a:latin typeface="Calibri"/>
              <a:cs typeface="Calibri"/>
            </a:endParaRPr>
          </a:p>
          <a:p>
            <a:pPr marL="1155065" lvl="2" indent="-227965">
              <a:lnSpc>
                <a:spcPts val="2280"/>
              </a:lnSpc>
              <a:spcBef>
                <a:spcPts val="295"/>
              </a:spcBef>
              <a:buFont typeface="Arial"/>
              <a:buChar char="•"/>
              <a:tabLst>
                <a:tab pos="1155065" algn="l"/>
              </a:tabLst>
            </a:pPr>
            <a:r>
              <a:rPr sz="2000" spc="60" dirty="0">
                <a:latin typeface="Calibri"/>
                <a:cs typeface="Calibri"/>
              </a:rPr>
              <a:t>The</a:t>
            </a:r>
            <a:r>
              <a:rPr sz="2000" spc="10" dirty="0">
                <a:latin typeface="Calibri"/>
                <a:cs typeface="Calibri"/>
              </a:rPr>
              <a:t> </a:t>
            </a:r>
            <a:r>
              <a:rPr sz="2000" spc="-60" dirty="0">
                <a:latin typeface="Calibri"/>
                <a:cs typeface="Calibri"/>
              </a:rPr>
              <a:t>‘0’</a:t>
            </a:r>
            <a:r>
              <a:rPr sz="2000" spc="-1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output</a:t>
            </a:r>
            <a:r>
              <a:rPr sz="2000" spc="14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neuron</a:t>
            </a:r>
            <a:r>
              <a:rPr sz="2000" spc="170" dirty="0">
                <a:latin typeface="Calibri"/>
                <a:cs typeface="Calibri"/>
              </a:rPr>
              <a:t> </a:t>
            </a:r>
            <a:r>
              <a:rPr sz="2000" spc="60" dirty="0">
                <a:latin typeface="Calibri"/>
                <a:cs typeface="Calibri"/>
              </a:rPr>
              <a:t>is</a:t>
            </a:r>
            <a:r>
              <a:rPr sz="2000" spc="180" dirty="0">
                <a:latin typeface="Calibri"/>
                <a:cs typeface="Calibri"/>
              </a:rPr>
              <a:t> </a:t>
            </a:r>
            <a:r>
              <a:rPr sz="2000" spc="55" dirty="0">
                <a:latin typeface="Calibri"/>
                <a:cs typeface="Calibri"/>
              </a:rPr>
              <a:t>basically</a:t>
            </a:r>
            <a:r>
              <a:rPr sz="2000" spc="6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summing</a:t>
            </a:r>
            <a:r>
              <a:rPr sz="2000" spc="15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up</a:t>
            </a:r>
            <a:r>
              <a:rPr sz="2000" spc="185" dirty="0">
                <a:latin typeface="Calibri"/>
                <a:cs typeface="Calibri"/>
              </a:rPr>
              <a:t> </a:t>
            </a:r>
            <a:r>
              <a:rPr sz="2000" spc="85" dirty="0">
                <a:latin typeface="Calibri"/>
                <a:cs typeface="Calibri"/>
              </a:rPr>
              <a:t>all</a:t>
            </a:r>
            <a:r>
              <a:rPr sz="2000" spc="18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the</a:t>
            </a:r>
            <a:r>
              <a:rPr sz="2000" spc="18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inputs</a:t>
            </a:r>
            <a:r>
              <a:rPr sz="2000" spc="18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from</a:t>
            </a:r>
            <a:r>
              <a:rPr sz="2000" spc="16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the</a:t>
            </a:r>
            <a:r>
              <a:rPr sz="2000" spc="18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hidden</a:t>
            </a:r>
            <a:r>
              <a:rPr sz="2000" spc="170" dirty="0">
                <a:latin typeface="Calibri"/>
                <a:cs typeface="Calibri"/>
              </a:rPr>
              <a:t> </a:t>
            </a:r>
            <a:r>
              <a:rPr sz="2000" spc="-10" dirty="0">
                <a:latin typeface="Calibri"/>
                <a:cs typeface="Calibri"/>
              </a:rPr>
              <a:t>layer</a:t>
            </a:r>
            <a:endParaRPr sz="2000">
              <a:latin typeface="Calibri"/>
              <a:cs typeface="Calibri"/>
            </a:endParaRPr>
          </a:p>
          <a:p>
            <a:pPr marL="1155700">
              <a:lnSpc>
                <a:spcPts val="2280"/>
              </a:lnSpc>
            </a:pPr>
            <a:r>
              <a:rPr sz="2000" dirty="0">
                <a:latin typeface="Calibri"/>
                <a:cs typeface="Calibri"/>
              </a:rPr>
              <a:t>and</a:t>
            </a:r>
            <a:r>
              <a:rPr sz="2000" spc="15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trying</a:t>
            </a:r>
            <a:r>
              <a:rPr sz="2000" spc="16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to</a:t>
            </a:r>
            <a:r>
              <a:rPr sz="2000" spc="16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decide</a:t>
            </a:r>
            <a:r>
              <a:rPr sz="2000" spc="13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whether</a:t>
            </a:r>
            <a:r>
              <a:rPr sz="2000" spc="16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the</a:t>
            </a:r>
            <a:r>
              <a:rPr sz="2000" spc="170" dirty="0">
                <a:latin typeface="Calibri"/>
                <a:cs typeface="Calibri"/>
              </a:rPr>
              <a:t> </a:t>
            </a:r>
            <a:r>
              <a:rPr sz="2000" spc="55" dirty="0">
                <a:latin typeface="Calibri"/>
                <a:cs typeface="Calibri"/>
              </a:rPr>
              <a:t>digit</a:t>
            </a:r>
            <a:r>
              <a:rPr sz="2000" spc="135" dirty="0">
                <a:latin typeface="Calibri"/>
                <a:cs typeface="Calibri"/>
              </a:rPr>
              <a:t> </a:t>
            </a:r>
            <a:r>
              <a:rPr sz="2000" spc="60" dirty="0">
                <a:latin typeface="Calibri"/>
                <a:cs typeface="Calibri"/>
              </a:rPr>
              <a:t>is</a:t>
            </a:r>
            <a:r>
              <a:rPr sz="2000" spc="16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a</a:t>
            </a:r>
            <a:r>
              <a:rPr sz="2000" spc="160" dirty="0">
                <a:latin typeface="Calibri"/>
                <a:cs typeface="Calibri"/>
              </a:rPr>
              <a:t> </a:t>
            </a:r>
            <a:r>
              <a:rPr sz="2000" spc="-25" dirty="0">
                <a:latin typeface="Calibri"/>
                <a:cs typeface="Calibri"/>
              </a:rPr>
              <a:t>0.</a:t>
            </a:r>
            <a:endParaRPr sz="2000">
              <a:latin typeface="Calibri"/>
              <a:cs typeface="Calibri"/>
            </a:endParaRPr>
          </a:p>
          <a:p>
            <a:pPr marL="1155065" lvl="2" indent="-227965">
              <a:lnSpc>
                <a:spcPct val="100000"/>
              </a:lnSpc>
              <a:spcBef>
                <a:spcPts val="250"/>
              </a:spcBef>
              <a:buFont typeface="Arial"/>
              <a:buChar char="•"/>
              <a:tabLst>
                <a:tab pos="1155065" algn="l"/>
              </a:tabLst>
            </a:pPr>
            <a:r>
              <a:rPr sz="2000" spc="75" dirty="0">
                <a:latin typeface="Calibri"/>
                <a:cs typeface="Calibri"/>
              </a:rPr>
              <a:t>So</a:t>
            </a:r>
            <a:r>
              <a:rPr sz="2000" spc="18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then,</a:t>
            </a:r>
            <a:r>
              <a:rPr sz="2000" spc="-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what</a:t>
            </a:r>
            <a:r>
              <a:rPr sz="2000" spc="18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are</a:t>
            </a:r>
            <a:r>
              <a:rPr sz="2000" spc="17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the</a:t>
            </a:r>
            <a:r>
              <a:rPr sz="2000" spc="19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hidden</a:t>
            </a:r>
            <a:r>
              <a:rPr sz="2000" spc="17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layer</a:t>
            </a:r>
            <a:r>
              <a:rPr sz="2000" spc="17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neurons</a:t>
            </a:r>
            <a:r>
              <a:rPr sz="2000" spc="165" dirty="0">
                <a:latin typeface="Calibri"/>
                <a:cs typeface="Calibri"/>
              </a:rPr>
              <a:t> </a:t>
            </a:r>
            <a:r>
              <a:rPr sz="2000" spc="-10" dirty="0">
                <a:latin typeface="Calibri"/>
                <a:cs typeface="Calibri"/>
              </a:rPr>
              <a:t>doing?</a:t>
            </a:r>
            <a:endParaRPr sz="2000">
              <a:latin typeface="Calibri"/>
              <a:cs typeface="Calibri"/>
            </a:endParaRPr>
          </a:p>
          <a:p>
            <a:pPr marL="697230" lvl="1" indent="-227329">
              <a:lnSpc>
                <a:spcPts val="2735"/>
              </a:lnSpc>
              <a:spcBef>
                <a:spcPts val="190"/>
              </a:spcBef>
              <a:buFont typeface="Arial"/>
              <a:buChar char="•"/>
              <a:tabLst>
                <a:tab pos="697230" algn="l"/>
              </a:tabLst>
            </a:pPr>
            <a:r>
              <a:rPr sz="2400" dirty="0">
                <a:latin typeface="Calibri"/>
                <a:cs typeface="Calibri"/>
              </a:rPr>
              <a:t>As</a:t>
            </a:r>
            <a:r>
              <a:rPr sz="2400" spc="22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</a:t>
            </a:r>
            <a:r>
              <a:rPr sz="2400" spc="22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heuristic,</a:t>
            </a:r>
            <a:r>
              <a:rPr sz="2400" spc="-2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let’s</a:t>
            </a:r>
            <a:r>
              <a:rPr sz="2400" spc="22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assume</a:t>
            </a:r>
            <a:r>
              <a:rPr sz="2400" spc="229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that</a:t>
            </a:r>
            <a:r>
              <a:rPr sz="2400" spc="21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24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first</a:t>
            </a:r>
            <a:r>
              <a:rPr sz="2400" spc="19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hidden</a:t>
            </a:r>
            <a:r>
              <a:rPr sz="2400" spc="21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neuron</a:t>
            </a:r>
            <a:r>
              <a:rPr sz="2400" spc="21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detects</a:t>
            </a:r>
            <a:r>
              <a:rPr sz="2400" spc="229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whether</a:t>
            </a:r>
            <a:r>
              <a:rPr sz="2400" spc="229" dirty="0">
                <a:latin typeface="Calibri"/>
                <a:cs typeface="Calibri"/>
              </a:rPr>
              <a:t> </a:t>
            </a:r>
            <a:r>
              <a:rPr sz="2400" spc="-50" dirty="0">
                <a:latin typeface="Calibri"/>
                <a:cs typeface="Calibri"/>
              </a:rPr>
              <a:t>a</a:t>
            </a:r>
            <a:endParaRPr sz="2400">
              <a:latin typeface="Calibri"/>
              <a:cs typeface="Calibri"/>
            </a:endParaRPr>
          </a:p>
          <a:p>
            <a:pPr marL="698500">
              <a:lnSpc>
                <a:spcPts val="2735"/>
              </a:lnSpc>
            </a:pPr>
            <a:r>
              <a:rPr sz="2400" dirty="0">
                <a:latin typeface="Calibri"/>
                <a:cs typeface="Calibri"/>
              </a:rPr>
              <a:t>certain</a:t>
            </a:r>
            <a:r>
              <a:rPr sz="2400" spc="17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pattern</a:t>
            </a:r>
            <a:r>
              <a:rPr sz="2400" spc="175" dirty="0">
                <a:latin typeface="Calibri"/>
                <a:cs typeface="Calibri"/>
              </a:rPr>
              <a:t> </a:t>
            </a:r>
            <a:r>
              <a:rPr sz="2400" spc="80" dirty="0">
                <a:latin typeface="Calibri"/>
                <a:cs typeface="Calibri"/>
              </a:rPr>
              <a:t>is</a:t>
            </a:r>
            <a:r>
              <a:rPr sz="2400" spc="19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present</a:t>
            </a:r>
            <a:r>
              <a:rPr sz="2400" spc="185" dirty="0">
                <a:latin typeface="Calibri"/>
                <a:cs typeface="Calibri"/>
              </a:rPr>
              <a:t> </a:t>
            </a:r>
            <a:r>
              <a:rPr sz="2400" spc="70" dirty="0">
                <a:latin typeface="Calibri"/>
                <a:cs typeface="Calibri"/>
              </a:rPr>
              <a:t>in</a:t>
            </a:r>
            <a:r>
              <a:rPr sz="2400" spc="17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185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image:</a:t>
            </a:r>
            <a:endParaRPr sz="2400">
              <a:latin typeface="Calibri"/>
              <a:cs typeface="Calibri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414901" y="4082329"/>
            <a:ext cx="1606123" cy="1601793"/>
          </a:xfrm>
          <a:prstGeom prst="rect">
            <a:avLst/>
          </a:prstGeom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How</a:t>
            </a:r>
            <a:r>
              <a:rPr spc="130" dirty="0"/>
              <a:t> </a:t>
            </a:r>
            <a:r>
              <a:rPr dirty="0"/>
              <a:t>does</a:t>
            </a:r>
            <a:r>
              <a:rPr spc="220" dirty="0"/>
              <a:t> </a:t>
            </a:r>
            <a:r>
              <a:rPr dirty="0"/>
              <a:t>the</a:t>
            </a:r>
            <a:r>
              <a:rPr spc="220" dirty="0"/>
              <a:t> </a:t>
            </a:r>
            <a:r>
              <a:rPr spc="55" dirty="0"/>
              <a:t>hidden</a:t>
            </a:r>
            <a:r>
              <a:rPr spc="210" dirty="0"/>
              <a:t> </a:t>
            </a:r>
            <a:r>
              <a:rPr dirty="0"/>
              <a:t>layer</a:t>
            </a:r>
            <a:r>
              <a:rPr spc="235" dirty="0"/>
              <a:t> </a:t>
            </a:r>
            <a:r>
              <a:rPr dirty="0"/>
              <a:t>neuron</a:t>
            </a:r>
            <a:r>
              <a:rPr spc="200" dirty="0"/>
              <a:t> </a:t>
            </a:r>
            <a:r>
              <a:rPr spc="60" dirty="0"/>
              <a:t>find</a:t>
            </a:r>
            <a:r>
              <a:rPr spc="235" dirty="0"/>
              <a:t> </a:t>
            </a:r>
            <a:r>
              <a:rPr dirty="0"/>
              <a:t>a</a:t>
            </a:r>
            <a:r>
              <a:rPr spc="215" dirty="0"/>
              <a:t> </a:t>
            </a:r>
            <a:r>
              <a:rPr spc="75" dirty="0"/>
              <a:t>specific</a:t>
            </a:r>
            <a:r>
              <a:rPr spc="135" dirty="0"/>
              <a:t> </a:t>
            </a:r>
            <a:r>
              <a:rPr spc="-10" dirty="0"/>
              <a:t>image?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562457" y="4323763"/>
            <a:ext cx="10267315" cy="1211580"/>
          </a:xfrm>
          <a:prstGeom prst="rect">
            <a:avLst/>
          </a:prstGeom>
        </p:spPr>
        <p:txBody>
          <a:bodyPr vert="horz" wrap="square" lIns="0" tIns="46990" rIns="0" bIns="0" rtlCol="0">
            <a:spAutoFit/>
          </a:bodyPr>
          <a:lstStyle/>
          <a:p>
            <a:pPr marL="240029" indent="-227329">
              <a:lnSpc>
                <a:spcPct val="100000"/>
              </a:lnSpc>
              <a:spcBef>
                <a:spcPts val="370"/>
              </a:spcBef>
              <a:buFont typeface="Arial"/>
              <a:buChar char="•"/>
              <a:tabLst>
                <a:tab pos="240029" algn="l"/>
              </a:tabLst>
            </a:pPr>
            <a:r>
              <a:rPr sz="2800" spc="55" dirty="0">
                <a:latin typeface="Calibri"/>
                <a:cs typeface="Calibri"/>
              </a:rPr>
              <a:t>Recall,</a:t>
            </a:r>
            <a:r>
              <a:rPr sz="2800" spc="-5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every</a:t>
            </a:r>
            <a:r>
              <a:rPr sz="2800" spc="114" dirty="0">
                <a:latin typeface="Calibri"/>
                <a:cs typeface="Calibri"/>
              </a:rPr>
              <a:t> </a:t>
            </a:r>
            <a:r>
              <a:rPr sz="2800" spc="100" dirty="0">
                <a:latin typeface="Calibri"/>
                <a:cs typeface="Calibri"/>
              </a:rPr>
              <a:t>single</a:t>
            </a:r>
            <a:r>
              <a:rPr sz="2800" spc="22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input</a:t>
            </a:r>
            <a:r>
              <a:rPr sz="2800" spc="220" dirty="0">
                <a:latin typeface="Calibri"/>
                <a:cs typeface="Calibri"/>
              </a:rPr>
              <a:t> </a:t>
            </a:r>
            <a:r>
              <a:rPr sz="2800" spc="85" dirty="0">
                <a:latin typeface="Calibri"/>
                <a:cs typeface="Calibri"/>
              </a:rPr>
              <a:t>is</a:t>
            </a:r>
            <a:r>
              <a:rPr sz="2800" spc="20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connected</a:t>
            </a:r>
            <a:r>
              <a:rPr sz="2800" spc="26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to</a:t>
            </a:r>
            <a:r>
              <a:rPr sz="2800" spc="204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the</a:t>
            </a:r>
            <a:r>
              <a:rPr sz="2800" spc="22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hidden</a:t>
            </a:r>
            <a:r>
              <a:rPr sz="2800" spc="265" dirty="0">
                <a:latin typeface="Calibri"/>
                <a:cs typeface="Calibri"/>
              </a:rPr>
              <a:t> </a:t>
            </a:r>
            <a:r>
              <a:rPr sz="2800" spc="-10" dirty="0">
                <a:latin typeface="Calibri"/>
                <a:cs typeface="Calibri"/>
              </a:rPr>
              <a:t>layer</a:t>
            </a:r>
            <a:endParaRPr sz="2800">
              <a:latin typeface="Calibri"/>
              <a:cs typeface="Calibri"/>
            </a:endParaRPr>
          </a:p>
          <a:p>
            <a:pPr marL="697230" marR="5080" lvl="1" indent="-227329">
              <a:lnSpc>
                <a:spcPts val="2590"/>
              </a:lnSpc>
              <a:spcBef>
                <a:spcPts val="560"/>
              </a:spcBef>
              <a:buFont typeface="Arial"/>
              <a:buChar char="•"/>
              <a:tabLst>
                <a:tab pos="698500" algn="l"/>
              </a:tabLst>
            </a:pPr>
            <a:r>
              <a:rPr sz="2400" spc="90" dirty="0">
                <a:latin typeface="Calibri"/>
                <a:cs typeface="Calibri"/>
              </a:rPr>
              <a:t>So</a:t>
            </a:r>
            <a:r>
              <a:rPr sz="2400" spc="195" dirty="0">
                <a:latin typeface="Calibri"/>
                <a:cs typeface="Calibri"/>
              </a:rPr>
              <a:t> </a:t>
            </a:r>
            <a:r>
              <a:rPr sz="2400" spc="55" dirty="0">
                <a:latin typeface="Calibri"/>
                <a:cs typeface="Calibri"/>
              </a:rPr>
              <a:t>if</a:t>
            </a:r>
            <a:r>
              <a:rPr sz="2400" spc="175" dirty="0">
                <a:latin typeface="Calibri"/>
                <a:cs typeface="Calibri"/>
              </a:rPr>
              <a:t> </a:t>
            </a:r>
            <a:r>
              <a:rPr sz="2400" spc="95" dirty="0">
                <a:latin typeface="Calibri"/>
                <a:cs typeface="Calibri"/>
              </a:rPr>
              <a:t>I</a:t>
            </a:r>
            <a:r>
              <a:rPr sz="2400" spc="20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want</a:t>
            </a:r>
            <a:r>
              <a:rPr sz="2400" spc="19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19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first</a:t>
            </a:r>
            <a:r>
              <a:rPr sz="2400" spc="18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hidden</a:t>
            </a:r>
            <a:r>
              <a:rPr sz="2400" spc="18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layer</a:t>
            </a:r>
            <a:r>
              <a:rPr sz="2400" spc="18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neuron</a:t>
            </a:r>
            <a:r>
              <a:rPr sz="2400" spc="19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to</a:t>
            </a:r>
            <a:r>
              <a:rPr sz="2400" spc="19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find</a:t>
            </a:r>
            <a:r>
              <a:rPr sz="2400" spc="18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that</a:t>
            </a:r>
            <a:r>
              <a:rPr sz="2400" spc="20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pattern,</a:t>
            </a:r>
            <a:r>
              <a:rPr sz="2400" spc="-2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how</a:t>
            </a:r>
            <a:r>
              <a:rPr sz="2400" spc="13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would</a:t>
            </a:r>
            <a:r>
              <a:rPr sz="2400" spc="180" dirty="0">
                <a:latin typeface="Calibri"/>
                <a:cs typeface="Calibri"/>
              </a:rPr>
              <a:t> </a:t>
            </a:r>
            <a:r>
              <a:rPr sz="2400" spc="45" dirty="0">
                <a:latin typeface="Calibri"/>
                <a:cs typeface="Calibri"/>
              </a:rPr>
              <a:t>I 	</a:t>
            </a:r>
            <a:r>
              <a:rPr sz="2400" spc="55" dirty="0">
                <a:latin typeface="Calibri"/>
                <a:cs typeface="Calibri"/>
              </a:rPr>
              <a:t>bias</a:t>
            </a:r>
            <a:r>
              <a:rPr sz="2400" spc="105" dirty="0">
                <a:latin typeface="Calibri"/>
                <a:cs typeface="Calibri"/>
              </a:rPr>
              <a:t> </a:t>
            </a:r>
            <a:r>
              <a:rPr sz="2400" spc="-25" dirty="0">
                <a:latin typeface="Calibri"/>
                <a:cs typeface="Calibri"/>
              </a:rPr>
              <a:t>it?</a:t>
            </a:r>
            <a:endParaRPr sz="2400">
              <a:latin typeface="Calibri"/>
              <a:cs typeface="Calibri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718245" y="1076124"/>
            <a:ext cx="3098677" cy="3098693"/>
          </a:xfrm>
          <a:prstGeom prst="rect">
            <a:avLst/>
          </a:prstGeom>
        </p:spPr>
      </p:pic>
      <p:pic>
        <p:nvPicPr>
          <p:cNvPr id="5" name="object 5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6312915" y="731393"/>
            <a:ext cx="4478274" cy="3727577"/>
          </a:xfrm>
          <a:prstGeom prst="rect">
            <a:avLst/>
          </a:prstGeom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Let’s</a:t>
            </a:r>
            <a:r>
              <a:rPr spc="110" dirty="0"/>
              <a:t> </a:t>
            </a:r>
            <a:r>
              <a:rPr dirty="0"/>
              <a:t>do</a:t>
            </a:r>
            <a:r>
              <a:rPr spc="85" dirty="0"/>
              <a:t> </a:t>
            </a:r>
            <a:r>
              <a:rPr dirty="0"/>
              <a:t>a</a:t>
            </a:r>
            <a:r>
              <a:rPr spc="114" dirty="0"/>
              <a:t> </a:t>
            </a:r>
            <a:r>
              <a:rPr spc="85" dirty="0"/>
              <a:t>simple</a:t>
            </a:r>
            <a:r>
              <a:rPr spc="110" dirty="0"/>
              <a:t> </a:t>
            </a:r>
            <a:r>
              <a:rPr spc="60" dirty="0"/>
              <a:t>example</a:t>
            </a:r>
          </a:p>
        </p:txBody>
      </p:sp>
      <p:graphicFrame>
        <p:nvGraphicFramePr>
          <p:cNvPr id="3" name="object 3"/>
          <p:cNvGraphicFramePr>
            <a:graphicFrameLocks noGrp="1"/>
          </p:cNvGraphicFramePr>
          <p:nvPr/>
        </p:nvGraphicFramePr>
        <p:xfrm>
          <a:off x="1312544" y="1198206"/>
          <a:ext cx="2286000" cy="22326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14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11633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1125"/>
                        </a:spcBef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5"/>
                        </a:spcBef>
                      </a:pPr>
                      <a:r>
                        <a:rPr sz="1800" spc="-25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x1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142875" marB="0">
                    <a:lnL w="12700">
                      <a:solidFill>
                        <a:srgbClr val="41709C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41709C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5B9B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1125"/>
                        </a:spcBef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5"/>
                        </a:spcBef>
                      </a:pPr>
                      <a:r>
                        <a:rPr sz="1800" spc="-25" dirty="0">
                          <a:latin typeface="Calibri"/>
                          <a:cs typeface="Calibri"/>
                        </a:rPr>
                        <a:t>x2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14287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1633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1130"/>
                        </a:spcBef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800" spc="-25" dirty="0">
                          <a:latin typeface="Calibri"/>
                          <a:cs typeface="Calibri"/>
                        </a:rPr>
                        <a:t>x3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14351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1130"/>
                        </a:spcBef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800" spc="-25" dirty="0">
                          <a:latin typeface="Calibri"/>
                          <a:cs typeface="Calibri"/>
                        </a:rPr>
                        <a:t>x4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14351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object 4"/>
          <p:cNvSpPr/>
          <p:nvPr/>
        </p:nvSpPr>
        <p:spPr>
          <a:xfrm>
            <a:off x="6295263" y="1299844"/>
            <a:ext cx="1670685" cy="1670685"/>
          </a:xfrm>
          <a:custGeom>
            <a:avLst/>
            <a:gdLst/>
            <a:ahLst/>
            <a:cxnLst/>
            <a:rect l="l" t="t" r="r" b="b"/>
            <a:pathLst>
              <a:path w="1670684" h="1670685">
                <a:moveTo>
                  <a:pt x="0" y="835278"/>
                </a:moveTo>
                <a:lnTo>
                  <a:pt x="1322" y="787872"/>
                </a:lnTo>
                <a:lnTo>
                  <a:pt x="5242" y="741161"/>
                </a:lnTo>
                <a:lnTo>
                  <a:pt x="11690" y="695214"/>
                </a:lnTo>
                <a:lnTo>
                  <a:pt x="20594" y="650104"/>
                </a:lnTo>
                <a:lnTo>
                  <a:pt x="31884" y="605899"/>
                </a:lnTo>
                <a:lnTo>
                  <a:pt x="45490" y="562671"/>
                </a:lnTo>
                <a:lnTo>
                  <a:pt x="61341" y="520490"/>
                </a:lnTo>
                <a:lnTo>
                  <a:pt x="79367" y="479427"/>
                </a:lnTo>
                <a:lnTo>
                  <a:pt x="99496" y="439551"/>
                </a:lnTo>
                <a:lnTo>
                  <a:pt x="121659" y="400934"/>
                </a:lnTo>
                <a:lnTo>
                  <a:pt x="145785" y="363645"/>
                </a:lnTo>
                <a:lnTo>
                  <a:pt x="171804" y="327756"/>
                </a:lnTo>
                <a:lnTo>
                  <a:pt x="199644" y="293337"/>
                </a:lnTo>
                <a:lnTo>
                  <a:pt x="229235" y="260457"/>
                </a:lnTo>
                <a:lnTo>
                  <a:pt x="260507" y="229189"/>
                </a:lnTo>
                <a:lnTo>
                  <a:pt x="293389" y="199601"/>
                </a:lnTo>
                <a:lnTo>
                  <a:pt x="327810" y="171765"/>
                </a:lnTo>
                <a:lnTo>
                  <a:pt x="363701" y="145751"/>
                </a:lnTo>
                <a:lnTo>
                  <a:pt x="400990" y="121630"/>
                </a:lnTo>
                <a:lnTo>
                  <a:pt x="439607" y="99471"/>
                </a:lnTo>
                <a:lnTo>
                  <a:pt x="479482" y="79346"/>
                </a:lnTo>
                <a:lnTo>
                  <a:pt x="520543" y="61324"/>
                </a:lnTo>
                <a:lnTo>
                  <a:pt x="562721" y="45477"/>
                </a:lnTo>
                <a:lnTo>
                  <a:pt x="605944" y="31875"/>
                </a:lnTo>
                <a:lnTo>
                  <a:pt x="650143" y="20588"/>
                </a:lnTo>
                <a:lnTo>
                  <a:pt x="695246" y="11686"/>
                </a:lnTo>
                <a:lnTo>
                  <a:pt x="741184" y="5240"/>
                </a:lnTo>
                <a:lnTo>
                  <a:pt x="787885" y="1321"/>
                </a:lnTo>
                <a:lnTo>
                  <a:pt x="835279" y="0"/>
                </a:lnTo>
                <a:lnTo>
                  <a:pt x="882672" y="1321"/>
                </a:lnTo>
                <a:lnTo>
                  <a:pt x="929373" y="5240"/>
                </a:lnTo>
                <a:lnTo>
                  <a:pt x="975311" y="11686"/>
                </a:lnTo>
                <a:lnTo>
                  <a:pt x="1020414" y="20588"/>
                </a:lnTo>
                <a:lnTo>
                  <a:pt x="1064613" y="31875"/>
                </a:lnTo>
                <a:lnTo>
                  <a:pt x="1107836" y="45477"/>
                </a:lnTo>
                <a:lnTo>
                  <a:pt x="1150014" y="61324"/>
                </a:lnTo>
                <a:lnTo>
                  <a:pt x="1191075" y="79346"/>
                </a:lnTo>
                <a:lnTo>
                  <a:pt x="1230950" y="99471"/>
                </a:lnTo>
                <a:lnTo>
                  <a:pt x="1269567" y="121630"/>
                </a:lnTo>
                <a:lnTo>
                  <a:pt x="1306856" y="145751"/>
                </a:lnTo>
                <a:lnTo>
                  <a:pt x="1342747" y="171765"/>
                </a:lnTo>
                <a:lnTo>
                  <a:pt x="1377168" y="199601"/>
                </a:lnTo>
                <a:lnTo>
                  <a:pt x="1410050" y="229189"/>
                </a:lnTo>
                <a:lnTo>
                  <a:pt x="1441322" y="260457"/>
                </a:lnTo>
                <a:lnTo>
                  <a:pt x="1470913" y="293337"/>
                </a:lnTo>
                <a:lnTo>
                  <a:pt x="1498753" y="327756"/>
                </a:lnTo>
                <a:lnTo>
                  <a:pt x="1524772" y="363645"/>
                </a:lnTo>
                <a:lnTo>
                  <a:pt x="1548898" y="400934"/>
                </a:lnTo>
                <a:lnTo>
                  <a:pt x="1571061" y="439551"/>
                </a:lnTo>
                <a:lnTo>
                  <a:pt x="1591190" y="479427"/>
                </a:lnTo>
                <a:lnTo>
                  <a:pt x="1609216" y="520490"/>
                </a:lnTo>
                <a:lnTo>
                  <a:pt x="1625067" y="562671"/>
                </a:lnTo>
                <a:lnTo>
                  <a:pt x="1638673" y="605899"/>
                </a:lnTo>
                <a:lnTo>
                  <a:pt x="1649963" y="650104"/>
                </a:lnTo>
                <a:lnTo>
                  <a:pt x="1658867" y="695214"/>
                </a:lnTo>
                <a:lnTo>
                  <a:pt x="1665315" y="741161"/>
                </a:lnTo>
                <a:lnTo>
                  <a:pt x="1669235" y="787872"/>
                </a:lnTo>
                <a:lnTo>
                  <a:pt x="1670558" y="835278"/>
                </a:lnTo>
                <a:lnTo>
                  <a:pt x="1669235" y="882672"/>
                </a:lnTo>
                <a:lnTo>
                  <a:pt x="1665315" y="929372"/>
                </a:lnTo>
                <a:lnTo>
                  <a:pt x="1658867" y="975307"/>
                </a:lnTo>
                <a:lnTo>
                  <a:pt x="1649963" y="1020408"/>
                </a:lnTo>
                <a:lnTo>
                  <a:pt x="1638673" y="1064603"/>
                </a:lnTo>
                <a:lnTo>
                  <a:pt x="1625067" y="1107822"/>
                </a:lnTo>
                <a:lnTo>
                  <a:pt x="1609216" y="1149995"/>
                </a:lnTo>
                <a:lnTo>
                  <a:pt x="1591190" y="1191052"/>
                </a:lnTo>
                <a:lnTo>
                  <a:pt x="1571061" y="1230921"/>
                </a:lnTo>
                <a:lnTo>
                  <a:pt x="1548898" y="1269532"/>
                </a:lnTo>
                <a:lnTo>
                  <a:pt x="1524772" y="1306815"/>
                </a:lnTo>
                <a:lnTo>
                  <a:pt x="1498753" y="1342699"/>
                </a:lnTo>
                <a:lnTo>
                  <a:pt x="1470913" y="1377115"/>
                </a:lnTo>
                <a:lnTo>
                  <a:pt x="1441322" y="1409990"/>
                </a:lnTo>
                <a:lnTo>
                  <a:pt x="1410050" y="1441255"/>
                </a:lnTo>
                <a:lnTo>
                  <a:pt x="1377168" y="1470840"/>
                </a:lnTo>
                <a:lnTo>
                  <a:pt x="1342747" y="1498674"/>
                </a:lnTo>
                <a:lnTo>
                  <a:pt x="1306856" y="1524686"/>
                </a:lnTo>
                <a:lnTo>
                  <a:pt x="1269567" y="1548805"/>
                </a:lnTo>
                <a:lnTo>
                  <a:pt x="1230950" y="1570963"/>
                </a:lnTo>
                <a:lnTo>
                  <a:pt x="1191075" y="1591087"/>
                </a:lnTo>
                <a:lnTo>
                  <a:pt x="1150014" y="1609107"/>
                </a:lnTo>
                <a:lnTo>
                  <a:pt x="1107836" y="1624954"/>
                </a:lnTo>
                <a:lnTo>
                  <a:pt x="1064613" y="1638556"/>
                </a:lnTo>
                <a:lnTo>
                  <a:pt x="1020414" y="1649843"/>
                </a:lnTo>
                <a:lnTo>
                  <a:pt x="975311" y="1658744"/>
                </a:lnTo>
                <a:lnTo>
                  <a:pt x="929373" y="1665190"/>
                </a:lnTo>
                <a:lnTo>
                  <a:pt x="882672" y="1669109"/>
                </a:lnTo>
                <a:lnTo>
                  <a:pt x="835279" y="1670430"/>
                </a:lnTo>
                <a:lnTo>
                  <a:pt x="787885" y="1669109"/>
                </a:lnTo>
                <a:lnTo>
                  <a:pt x="741184" y="1665190"/>
                </a:lnTo>
                <a:lnTo>
                  <a:pt x="695246" y="1658744"/>
                </a:lnTo>
                <a:lnTo>
                  <a:pt x="650143" y="1649843"/>
                </a:lnTo>
                <a:lnTo>
                  <a:pt x="605944" y="1638556"/>
                </a:lnTo>
                <a:lnTo>
                  <a:pt x="562721" y="1624954"/>
                </a:lnTo>
                <a:lnTo>
                  <a:pt x="520543" y="1609107"/>
                </a:lnTo>
                <a:lnTo>
                  <a:pt x="479482" y="1591087"/>
                </a:lnTo>
                <a:lnTo>
                  <a:pt x="439607" y="1570963"/>
                </a:lnTo>
                <a:lnTo>
                  <a:pt x="400990" y="1548805"/>
                </a:lnTo>
                <a:lnTo>
                  <a:pt x="363701" y="1524686"/>
                </a:lnTo>
                <a:lnTo>
                  <a:pt x="327810" y="1498674"/>
                </a:lnTo>
                <a:lnTo>
                  <a:pt x="293389" y="1470840"/>
                </a:lnTo>
                <a:lnTo>
                  <a:pt x="260507" y="1441255"/>
                </a:lnTo>
                <a:lnTo>
                  <a:pt x="229235" y="1409990"/>
                </a:lnTo>
                <a:lnTo>
                  <a:pt x="199644" y="1377115"/>
                </a:lnTo>
                <a:lnTo>
                  <a:pt x="171804" y="1342699"/>
                </a:lnTo>
                <a:lnTo>
                  <a:pt x="145785" y="1306815"/>
                </a:lnTo>
                <a:lnTo>
                  <a:pt x="121659" y="1269532"/>
                </a:lnTo>
                <a:lnTo>
                  <a:pt x="99496" y="1230921"/>
                </a:lnTo>
                <a:lnTo>
                  <a:pt x="79367" y="1191052"/>
                </a:lnTo>
                <a:lnTo>
                  <a:pt x="61341" y="1149995"/>
                </a:lnTo>
                <a:lnTo>
                  <a:pt x="45490" y="1107822"/>
                </a:lnTo>
                <a:lnTo>
                  <a:pt x="31884" y="1064603"/>
                </a:lnTo>
                <a:lnTo>
                  <a:pt x="20594" y="1020408"/>
                </a:lnTo>
                <a:lnTo>
                  <a:pt x="11690" y="975307"/>
                </a:lnTo>
                <a:lnTo>
                  <a:pt x="5242" y="929372"/>
                </a:lnTo>
                <a:lnTo>
                  <a:pt x="1322" y="882672"/>
                </a:lnTo>
                <a:lnTo>
                  <a:pt x="0" y="835278"/>
                </a:lnTo>
                <a:close/>
              </a:path>
            </a:pathLst>
          </a:custGeom>
          <a:ln w="1270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/>
          <p:nvPr/>
        </p:nvSpPr>
        <p:spPr>
          <a:xfrm>
            <a:off x="6768210" y="1970278"/>
            <a:ext cx="72390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10" dirty="0">
                <a:latin typeface="Calibri"/>
                <a:cs typeface="Calibri"/>
              </a:rPr>
              <a:t>Neuron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6" name="object 6"/>
          <p:cNvSpPr/>
          <p:nvPr/>
        </p:nvSpPr>
        <p:spPr>
          <a:xfrm>
            <a:off x="4686300" y="1121028"/>
            <a:ext cx="4897755" cy="1757680"/>
          </a:xfrm>
          <a:custGeom>
            <a:avLst/>
            <a:gdLst/>
            <a:ahLst/>
            <a:cxnLst/>
            <a:rect l="l" t="t" r="r" b="b"/>
            <a:pathLst>
              <a:path w="4897755" h="1757680">
                <a:moveTo>
                  <a:pt x="1608963" y="1014095"/>
                </a:moveTo>
                <a:lnTo>
                  <a:pt x="1602613" y="1010920"/>
                </a:lnTo>
                <a:lnTo>
                  <a:pt x="1532763" y="975995"/>
                </a:lnTo>
                <a:lnTo>
                  <a:pt x="1532763" y="1010920"/>
                </a:lnTo>
                <a:lnTo>
                  <a:pt x="0" y="1010920"/>
                </a:lnTo>
                <a:lnTo>
                  <a:pt x="0" y="1017270"/>
                </a:lnTo>
                <a:lnTo>
                  <a:pt x="1532763" y="1017270"/>
                </a:lnTo>
                <a:lnTo>
                  <a:pt x="1532763" y="1052195"/>
                </a:lnTo>
                <a:lnTo>
                  <a:pt x="1602613" y="1017270"/>
                </a:lnTo>
                <a:lnTo>
                  <a:pt x="1608963" y="1014095"/>
                </a:lnTo>
                <a:close/>
              </a:path>
              <a:path w="4897755" h="1757680">
                <a:moveTo>
                  <a:pt x="1737995" y="524637"/>
                </a:moveTo>
                <a:lnTo>
                  <a:pt x="1720227" y="505841"/>
                </a:lnTo>
                <a:lnTo>
                  <a:pt x="1679448" y="462661"/>
                </a:lnTo>
                <a:lnTo>
                  <a:pt x="1667433" y="495541"/>
                </a:lnTo>
                <a:lnTo>
                  <a:pt x="308864" y="0"/>
                </a:lnTo>
                <a:lnTo>
                  <a:pt x="306705" y="5842"/>
                </a:lnTo>
                <a:lnTo>
                  <a:pt x="1665262" y="501510"/>
                </a:lnTo>
                <a:lnTo>
                  <a:pt x="1653286" y="534289"/>
                </a:lnTo>
                <a:lnTo>
                  <a:pt x="1737995" y="524637"/>
                </a:lnTo>
                <a:close/>
              </a:path>
              <a:path w="4897755" h="1757680">
                <a:moveTo>
                  <a:pt x="1749679" y="1540129"/>
                </a:moveTo>
                <a:lnTo>
                  <a:pt x="1668907" y="1512951"/>
                </a:lnTo>
                <a:lnTo>
                  <a:pt x="1673720" y="1547482"/>
                </a:lnTo>
                <a:lnTo>
                  <a:pt x="219329" y="1750822"/>
                </a:lnTo>
                <a:lnTo>
                  <a:pt x="220218" y="1757172"/>
                </a:lnTo>
                <a:lnTo>
                  <a:pt x="1674609" y="1553832"/>
                </a:lnTo>
                <a:lnTo>
                  <a:pt x="1679448" y="1588389"/>
                </a:lnTo>
                <a:lnTo>
                  <a:pt x="1741538" y="1545717"/>
                </a:lnTo>
                <a:lnTo>
                  <a:pt x="1749679" y="1540129"/>
                </a:lnTo>
                <a:close/>
              </a:path>
              <a:path w="4897755" h="1757680">
                <a:moveTo>
                  <a:pt x="4897628" y="1014095"/>
                </a:moveTo>
                <a:lnTo>
                  <a:pt x="4891278" y="1010920"/>
                </a:lnTo>
                <a:lnTo>
                  <a:pt x="4821428" y="975995"/>
                </a:lnTo>
                <a:lnTo>
                  <a:pt x="4821428" y="1010920"/>
                </a:lnTo>
                <a:lnTo>
                  <a:pt x="3288665" y="1010920"/>
                </a:lnTo>
                <a:lnTo>
                  <a:pt x="3288665" y="1017270"/>
                </a:lnTo>
                <a:lnTo>
                  <a:pt x="4821428" y="1017270"/>
                </a:lnTo>
                <a:lnTo>
                  <a:pt x="4821428" y="1052195"/>
                </a:lnTo>
                <a:lnTo>
                  <a:pt x="4891278" y="1017270"/>
                </a:lnTo>
                <a:lnTo>
                  <a:pt x="4897628" y="1014095"/>
                </a:lnTo>
                <a:close/>
              </a:path>
            </a:pathLst>
          </a:custGeom>
          <a:solidFill>
            <a:srgbClr val="5B9BD4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 txBox="1"/>
          <p:nvPr/>
        </p:nvSpPr>
        <p:spPr>
          <a:xfrm>
            <a:off x="4346194" y="1915490"/>
            <a:ext cx="240665" cy="3003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25" dirty="0">
                <a:latin typeface="Calibri"/>
                <a:cs typeface="Calibri"/>
              </a:rPr>
              <a:t>x2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4527041" y="2808478"/>
            <a:ext cx="24066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25" dirty="0">
                <a:latin typeface="Calibri"/>
                <a:cs typeface="Calibri"/>
              </a:rPr>
              <a:t>x3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4667250" y="874521"/>
            <a:ext cx="24066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25" dirty="0">
                <a:latin typeface="Calibri"/>
                <a:cs typeface="Calibri"/>
              </a:rPr>
              <a:t>x1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9352026" y="1808479"/>
            <a:ext cx="12890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50" dirty="0">
                <a:latin typeface="Calibri"/>
                <a:cs typeface="Calibri"/>
              </a:rPr>
              <a:t>y</a:t>
            </a:r>
            <a:endParaRPr sz="1800">
              <a:latin typeface="Calibri"/>
              <a:cs typeface="Calibri"/>
            </a:endParaRPr>
          </a:p>
        </p:txBody>
      </p:sp>
      <p:grpSp>
        <p:nvGrpSpPr>
          <p:cNvPr id="11" name="object 11"/>
          <p:cNvGrpSpPr/>
          <p:nvPr/>
        </p:nvGrpSpPr>
        <p:grpSpPr>
          <a:xfrm>
            <a:off x="5365750" y="1059433"/>
            <a:ext cx="540385" cy="534670"/>
            <a:chOff x="5365750" y="1059433"/>
            <a:chExt cx="540385" cy="534670"/>
          </a:xfrm>
        </p:grpSpPr>
        <p:sp>
          <p:nvSpPr>
            <p:cNvPr id="12" name="object 12"/>
            <p:cNvSpPr/>
            <p:nvPr/>
          </p:nvSpPr>
          <p:spPr>
            <a:xfrm>
              <a:off x="5372100" y="1065783"/>
              <a:ext cx="527685" cy="521970"/>
            </a:xfrm>
            <a:custGeom>
              <a:avLst/>
              <a:gdLst/>
              <a:ahLst/>
              <a:cxnLst/>
              <a:rect l="l" t="t" r="r" b="b"/>
              <a:pathLst>
                <a:path w="527685" h="521969">
                  <a:moveTo>
                    <a:pt x="263778" y="0"/>
                  </a:moveTo>
                  <a:lnTo>
                    <a:pt x="216367" y="4200"/>
                  </a:lnTo>
                  <a:lnTo>
                    <a:pt x="171742" y="16311"/>
                  </a:lnTo>
                  <a:lnTo>
                    <a:pt x="130650" y="35597"/>
                  </a:lnTo>
                  <a:lnTo>
                    <a:pt x="93834" y="61325"/>
                  </a:lnTo>
                  <a:lnTo>
                    <a:pt x="62041" y="92758"/>
                  </a:lnTo>
                  <a:lnTo>
                    <a:pt x="36016" y="129163"/>
                  </a:lnTo>
                  <a:lnTo>
                    <a:pt x="16504" y="169805"/>
                  </a:lnTo>
                  <a:lnTo>
                    <a:pt x="4250" y="213948"/>
                  </a:lnTo>
                  <a:lnTo>
                    <a:pt x="0" y="260857"/>
                  </a:lnTo>
                  <a:lnTo>
                    <a:pt x="4250" y="307734"/>
                  </a:lnTo>
                  <a:lnTo>
                    <a:pt x="16504" y="351859"/>
                  </a:lnTo>
                  <a:lnTo>
                    <a:pt x="36016" y="392495"/>
                  </a:lnTo>
                  <a:lnTo>
                    <a:pt x="62041" y="428904"/>
                  </a:lnTo>
                  <a:lnTo>
                    <a:pt x="93834" y="460349"/>
                  </a:lnTo>
                  <a:lnTo>
                    <a:pt x="130650" y="486090"/>
                  </a:lnTo>
                  <a:lnTo>
                    <a:pt x="171742" y="505390"/>
                  </a:lnTo>
                  <a:lnTo>
                    <a:pt x="216367" y="517511"/>
                  </a:lnTo>
                  <a:lnTo>
                    <a:pt x="263778" y="521715"/>
                  </a:lnTo>
                  <a:lnTo>
                    <a:pt x="311190" y="517511"/>
                  </a:lnTo>
                  <a:lnTo>
                    <a:pt x="355815" y="505390"/>
                  </a:lnTo>
                  <a:lnTo>
                    <a:pt x="396907" y="486090"/>
                  </a:lnTo>
                  <a:lnTo>
                    <a:pt x="433723" y="460349"/>
                  </a:lnTo>
                  <a:lnTo>
                    <a:pt x="465516" y="428904"/>
                  </a:lnTo>
                  <a:lnTo>
                    <a:pt x="491541" y="392495"/>
                  </a:lnTo>
                  <a:lnTo>
                    <a:pt x="511053" y="351859"/>
                  </a:lnTo>
                  <a:lnTo>
                    <a:pt x="523307" y="307734"/>
                  </a:lnTo>
                  <a:lnTo>
                    <a:pt x="527558" y="260857"/>
                  </a:lnTo>
                  <a:lnTo>
                    <a:pt x="523307" y="213948"/>
                  </a:lnTo>
                  <a:lnTo>
                    <a:pt x="511053" y="169805"/>
                  </a:lnTo>
                  <a:lnTo>
                    <a:pt x="491541" y="129163"/>
                  </a:lnTo>
                  <a:lnTo>
                    <a:pt x="465516" y="92758"/>
                  </a:lnTo>
                  <a:lnTo>
                    <a:pt x="433723" y="61325"/>
                  </a:lnTo>
                  <a:lnTo>
                    <a:pt x="396907" y="35597"/>
                  </a:lnTo>
                  <a:lnTo>
                    <a:pt x="355815" y="16311"/>
                  </a:lnTo>
                  <a:lnTo>
                    <a:pt x="311190" y="4200"/>
                  </a:lnTo>
                  <a:lnTo>
                    <a:pt x="263778" y="0"/>
                  </a:lnTo>
                  <a:close/>
                </a:path>
              </a:pathLst>
            </a:custGeom>
            <a:solidFill>
              <a:srgbClr val="5B9BD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/>
            <p:cNvSpPr/>
            <p:nvPr/>
          </p:nvSpPr>
          <p:spPr>
            <a:xfrm>
              <a:off x="5372100" y="1065783"/>
              <a:ext cx="527685" cy="521970"/>
            </a:xfrm>
            <a:custGeom>
              <a:avLst/>
              <a:gdLst/>
              <a:ahLst/>
              <a:cxnLst/>
              <a:rect l="l" t="t" r="r" b="b"/>
              <a:pathLst>
                <a:path w="527685" h="521969">
                  <a:moveTo>
                    <a:pt x="0" y="260857"/>
                  </a:moveTo>
                  <a:lnTo>
                    <a:pt x="4250" y="213948"/>
                  </a:lnTo>
                  <a:lnTo>
                    <a:pt x="16504" y="169805"/>
                  </a:lnTo>
                  <a:lnTo>
                    <a:pt x="36016" y="129163"/>
                  </a:lnTo>
                  <a:lnTo>
                    <a:pt x="62041" y="92758"/>
                  </a:lnTo>
                  <a:lnTo>
                    <a:pt x="93834" y="61325"/>
                  </a:lnTo>
                  <a:lnTo>
                    <a:pt x="130650" y="35597"/>
                  </a:lnTo>
                  <a:lnTo>
                    <a:pt x="171742" y="16311"/>
                  </a:lnTo>
                  <a:lnTo>
                    <a:pt x="216367" y="4200"/>
                  </a:lnTo>
                  <a:lnTo>
                    <a:pt x="263778" y="0"/>
                  </a:lnTo>
                  <a:lnTo>
                    <a:pt x="311190" y="4200"/>
                  </a:lnTo>
                  <a:lnTo>
                    <a:pt x="355815" y="16311"/>
                  </a:lnTo>
                  <a:lnTo>
                    <a:pt x="396907" y="35597"/>
                  </a:lnTo>
                  <a:lnTo>
                    <a:pt x="433723" y="61325"/>
                  </a:lnTo>
                  <a:lnTo>
                    <a:pt x="465516" y="92758"/>
                  </a:lnTo>
                  <a:lnTo>
                    <a:pt x="491541" y="129163"/>
                  </a:lnTo>
                  <a:lnTo>
                    <a:pt x="511053" y="169805"/>
                  </a:lnTo>
                  <a:lnTo>
                    <a:pt x="523307" y="213948"/>
                  </a:lnTo>
                  <a:lnTo>
                    <a:pt x="527558" y="260857"/>
                  </a:lnTo>
                  <a:lnTo>
                    <a:pt x="523307" y="307734"/>
                  </a:lnTo>
                  <a:lnTo>
                    <a:pt x="511053" y="351859"/>
                  </a:lnTo>
                  <a:lnTo>
                    <a:pt x="491541" y="392495"/>
                  </a:lnTo>
                  <a:lnTo>
                    <a:pt x="465516" y="428904"/>
                  </a:lnTo>
                  <a:lnTo>
                    <a:pt x="433723" y="460349"/>
                  </a:lnTo>
                  <a:lnTo>
                    <a:pt x="396907" y="486090"/>
                  </a:lnTo>
                  <a:lnTo>
                    <a:pt x="355815" y="505390"/>
                  </a:lnTo>
                  <a:lnTo>
                    <a:pt x="311190" y="517511"/>
                  </a:lnTo>
                  <a:lnTo>
                    <a:pt x="263778" y="521715"/>
                  </a:lnTo>
                  <a:lnTo>
                    <a:pt x="216367" y="517511"/>
                  </a:lnTo>
                  <a:lnTo>
                    <a:pt x="171742" y="505390"/>
                  </a:lnTo>
                  <a:lnTo>
                    <a:pt x="130650" y="486090"/>
                  </a:lnTo>
                  <a:lnTo>
                    <a:pt x="93834" y="460349"/>
                  </a:lnTo>
                  <a:lnTo>
                    <a:pt x="62041" y="428904"/>
                  </a:lnTo>
                  <a:lnTo>
                    <a:pt x="36016" y="392495"/>
                  </a:lnTo>
                  <a:lnTo>
                    <a:pt x="16504" y="351859"/>
                  </a:lnTo>
                  <a:lnTo>
                    <a:pt x="4250" y="307734"/>
                  </a:lnTo>
                  <a:lnTo>
                    <a:pt x="0" y="260857"/>
                  </a:lnTo>
                  <a:close/>
                </a:path>
              </a:pathLst>
            </a:custGeom>
            <a:ln w="12700">
              <a:solidFill>
                <a:srgbClr val="41709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4" name="object 14"/>
          <p:cNvSpPr txBox="1"/>
          <p:nvPr/>
        </p:nvSpPr>
        <p:spPr>
          <a:xfrm>
            <a:off x="5530977" y="1213484"/>
            <a:ext cx="21018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25" dirty="0">
                <a:solidFill>
                  <a:srgbClr val="FFFFFF"/>
                </a:solidFill>
                <a:latin typeface="Calibri"/>
                <a:cs typeface="Calibri"/>
              </a:rPr>
              <a:t>w1</a:t>
            </a:r>
            <a:endParaRPr sz="1200">
              <a:latin typeface="Calibri"/>
              <a:cs typeface="Calibri"/>
            </a:endParaRPr>
          </a:p>
        </p:txBody>
      </p:sp>
      <p:grpSp>
        <p:nvGrpSpPr>
          <p:cNvPr id="15" name="object 15"/>
          <p:cNvGrpSpPr/>
          <p:nvPr/>
        </p:nvGrpSpPr>
        <p:grpSpPr>
          <a:xfrm>
            <a:off x="5331840" y="1844675"/>
            <a:ext cx="540385" cy="534670"/>
            <a:chOff x="5331840" y="1844675"/>
            <a:chExt cx="540385" cy="534670"/>
          </a:xfrm>
        </p:grpSpPr>
        <p:sp>
          <p:nvSpPr>
            <p:cNvPr id="16" name="object 16"/>
            <p:cNvSpPr/>
            <p:nvPr/>
          </p:nvSpPr>
          <p:spPr>
            <a:xfrm>
              <a:off x="5338190" y="1851025"/>
              <a:ext cx="527685" cy="521970"/>
            </a:xfrm>
            <a:custGeom>
              <a:avLst/>
              <a:gdLst/>
              <a:ahLst/>
              <a:cxnLst/>
              <a:rect l="l" t="t" r="r" b="b"/>
              <a:pathLst>
                <a:path w="527685" h="521969">
                  <a:moveTo>
                    <a:pt x="263779" y="0"/>
                  </a:moveTo>
                  <a:lnTo>
                    <a:pt x="216367" y="4204"/>
                  </a:lnTo>
                  <a:lnTo>
                    <a:pt x="171742" y="16325"/>
                  </a:lnTo>
                  <a:lnTo>
                    <a:pt x="130650" y="35625"/>
                  </a:lnTo>
                  <a:lnTo>
                    <a:pt x="93834" y="61366"/>
                  </a:lnTo>
                  <a:lnTo>
                    <a:pt x="62041" y="92811"/>
                  </a:lnTo>
                  <a:lnTo>
                    <a:pt x="36016" y="129220"/>
                  </a:lnTo>
                  <a:lnTo>
                    <a:pt x="16504" y="169856"/>
                  </a:lnTo>
                  <a:lnTo>
                    <a:pt x="4250" y="213981"/>
                  </a:lnTo>
                  <a:lnTo>
                    <a:pt x="0" y="260858"/>
                  </a:lnTo>
                  <a:lnTo>
                    <a:pt x="4250" y="307734"/>
                  </a:lnTo>
                  <a:lnTo>
                    <a:pt x="16504" y="351859"/>
                  </a:lnTo>
                  <a:lnTo>
                    <a:pt x="36016" y="392495"/>
                  </a:lnTo>
                  <a:lnTo>
                    <a:pt x="62041" y="428904"/>
                  </a:lnTo>
                  <a:lnTo>
                    <a:pt x="93834" y="460349"/>
                  </a:lnTo>
                  <a:lnTo>
                    <a:pt x="130650" y="486090"/>
                  </a:lnTo>
                  <a:lnTo>
                    <a:pt x="171742" y="505390"/>
                  </a:lnTo>
                  <a:lnTo>
                    <a:pt x="216367" y="517511"/>
                  </a:lnTo>
                  <a:lnTo>
                    <a:pt x="263779" y="521715"/>
                  </a:lnTo>
                  <a:lnTo>
                    <a:pt x="311190" y="517511"/>
                  </a:lnTo>
                  <a:lnTo>
                    <a:pt x="355815" y="505390"/>
                  </a:lnTo>
                  <a:lnTo>
                    <a:pt x="396907" y="486090"/>
                  </a:lnTo>
                  <a:lnTo>
                    <a:pt x="433723" y="460349"/>
                  </a:lnTo>
                  <a:lnTo>
                    <a:pt x="465516" y="428904"/>
                  </a:lnTo>
                  <a:lnTo>
                    <a:pt x="491541" y="392495"/>
                  </a:lnTo>
                  <a:lnTo>
                    <a:pt x="511053" y="351859"/>
                  </a:lnTo>
                  <a:lnTo>
                    <a:pt x="523307" y="307734"/>
                  </a:lnTo>
                  <a:lnTo>
                    <a:pt x="527558" y="260858"/>
                  </a:lnTo>
                  <a:lnTo>
                    <a:pt x="523307" y="213981"/>
                  </a:lnTo>
                  <a:lnTo>
                    <a:pt x="511053" y="169856"/>
                  </a:lnTo>
                  <a:lnTo>
                    <a:pt x="491541" y="129220"/>
                  </a:lnTo>
                  <a:lnTo>
                    <a:pt x="465516" y="92811"/>
                  </a:lnTo>
                  <a:lnTo>
                    <a:pt x="433723" y="61366"/>
                  </a:lnTo>
                  <a:lnTo>
                    <a:pt x="396907" y="35625"/>
                  </a:lnTo>
                  <a:lnTo>
                    <a:pt x="355815" y="16325"/>
                  </a:lnTo>
                  <a:lnTo>
                    <a:pt x="311190" y="4204"/>
                  </a:lnTo>
                  <a:lnTo>
                    <a:pt x="263779" y="0"/>
                  </a:lnTo>
                  <a:close/>
                </a:path>
              </a:pathLst>
            </a:custGeom>
            <a:solidFill>
              <a:srgbClr val="5B9BD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7"/>
            <p:cNvSpPr/>
            <p:nvPr/>
          </p:nvSpPr>
          <p:spPr>
            <a:xfrm>
              <a:off x="5338190" y="1851025"/>
              <a:ext cx="527685" cy="521970"/>
            </a:xfrm>
            <a:custGeom>
              <a:avLst/>
              <a:gdLst/>
              <a:ahLst/>
              <a:cxnLst/>
              <a:rect l="l" t="t" r="r" b="b"/>
              <a:pathLst>
                <a:path w="527685" h="521969">
                  <a:moveTo>
                    <a:pt x="0" y="260858"/>
                  </a:moveTo>
                  <a:lnTo>
                    <a:pt x="4250" y="213981"/>
                  </a:lnTo>
                  <a:lnTo>
                    <a:pt x="16504" y="169856"/>
                  </a:lnTo>
                  <a:lnTo>
                    <a:pt x="36016" y="129220"/>
                  </a:lnTo>
                  <a:lnTo>
                    <a:pt x="62041" y="92811"/>
                  </a:lnTo>
                  <a:lnTo>
                    <a:pt x="93834" y="61366"/>
                  </a:lnTo>
                  <a:lnTo>
                    <a:pt x="130650" y="35625"/>
                  </a:lnTo>
                  <a:lnTo>
                    <a:pt x="171742" y="16325"/>
                  </a:lnTo>
                  <a:lnTo>
                    <a:pt x="216367" y="4204"/>
                  </a:lnTo>
                  <a:lnTo>
                    <a:pt x="263779" y="0"/>
                  </a:lnTo>
                  <a:lnTo>
                    <a:pt x="311190" y="4204"/>
                  </a:lnTo>
                  <a:lnTo>
                    <a:pt x="355815" y="16325"/>
                  </a:lnTo>
                  <a:lnTo>
                    <a:pt x="396907" y="35625"/>
                  </a:lnTo>
                  <a:lnTo>
                    <a:pt x="433723" y="61366"/>
                  </a:lnTo>
                  <a:lnTo>
                    <a:pt x="465516" y="92811"/>
                  </a:lnTo>
                  <a:lnTo>
                    <a:pt x="491541" y="129220"/>
                  </a:lnTo>
                  <a:lnTo>
                    <a:pt x="511053" y="169856"/>
                  </a:lnTo>
                  <a:lnTo>
                    <a:pt x="523307" y="213981"/>
                  </a:lnTo>
                  <a:lnTo>
                    <a:pt x="527558" y="260858"/>
                  </a:lnTo>
                  <a:lnTo>
                    <a:pt x="523307" y="307734"/>
                  </a:lnTo>
                  <a:lnTo>
                    <a:pt x="511053" y="351859"/>
                  </a:lnTo>
                  <a:lnTo>
                    <a:pt x="491541" y="392495"/>
                  </a:lnTo>
                  <a:lnTo>
                    <a:pt x="465516" y="428904"/>
                  </a:lnTo>
                  <a:lnTo>
                    <a:pt x="433723" y="460349"/>
                  </a:lnTo>
                  <a:lnTo>
                    <a:pt x="396907" y="486090"/>
                  </a:lnTo>
                  <a:lnTo>
                    <a:pt x="355815" y="505390"/>
                  </a:lnTo>
                  <a:lnTo>
                    <a:pt x="311190" y="517511"/>
                  </a:lnTo>
                  <a:lnTo>
                    <a:pt x="263779" y="521715"/>
                  </a:lnTo>
                  <a:lnTo>
                    <a:pt x="216367" y="517511"/>
                  </a:lnTo>
                  <a:lnTo>
                    <a:pt x="171742" y="505390"/>
                  </a:lnTo>
                  <a:lnTo>
                    <a:pt x="130650" y="486090"/>
                  </a:lnTo>
                  <a:lnTo>
                    <a:pt x="93834" y="460349"/>
                  </a:lnTo>
                  <a:lnTo>
                    <a:pt x="62041" y="428904"/>
                  </a:lnTo>
                  <a:lnTo>
                    <a:pt x="36016" y="392495"/>
                  </a:lnTo>
                  <a:lnTo>
                    <a:pt x="16504" y="351859"/>
                  </a:lnTo>
                  <a:lnTo>
                    <a:pt x="4250" y="307734"/>
                  </a:lnTo>
                  <a:lnTo>
                    <a:pt x="0" y="260858"/>
                  </a:lnTo>
                  <a:close/>
                </a:path>
              </a:pathLst>
            </a:custGeom>
            <a:ln w="12700">
              <a:solidFill>
                <a:srgbClr val="41709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8" name="object 18"/>
          <p:cNvSpPr txBox="1"/>
          <p:nvPr/>
        </p:nvSpPr>
        <p:spPr>
          <a:xfrm>
            <a:off x="5497195" y="1998979"/>
            <a:ext cx="21018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25" dirty="0">
                <a:solidFill>
                  <a:srgbClr val="FFFFFF"/>
                </a:solidFill>
                <a:latin typeface="Calibri"/>
                <a:cs typeface="Calibri"/>
              </a:rPr>
              <a:t>w2</a:t>
            </a:r>
            <a:endParaRPr sz="1200">
              <a:latin typeface="Calibri"/>
              <a:cs typeface="Calibri"/>
            </a:endParaRPr>
          </a:p>
        </p:txBody>
      </p:sp>
      <p:grpSp>
        <p:nvGrpSpPr>
          <p:cNvPr id="19" name="object 19"/>
          <p:cNvGrpSpPr/>
          <p:nvPr/>
        </p:nvGrpSpPr>
        <p:grpSpPr>
          <a:xfrm>
            <a:off x="5370321" y="2525141"/>
            <a:ext cx="540385" cy="534670"/>
            <a:chOff x="5370321" y="2525141"/>
            <a:chExt cx="540385" cy="534670"/>
          </a:xfrm>
        </p:grpSpPr>
        <p:sp>
          <p:nvSpPr>
            <p:cNvPr id="20" name="object 20"/>
            <p:cNvSpPr/>
            <p:nvPr/>
          </p:nvSpPr>
          <p:spPr>
            <a:xfrm>
              <a:off x="5376671" y="2531491"/>
              <a:ext cx="527685" cy="521970"/>
            </a:xfrm>
            <a:custGeom>
              <a:avLst/>
              <a:gdLst/>
              <a:ahLst/>
              <a:cxnLst/>
              <a:rect l="l" t="t" r="r" b="b"/>
              <a:pathLst>
                <a:path w="527685" h="521969">
                  <a:moveTo>
                    <a:pt x="263778" y="0"/>
                  </a:moveTo>
                  <a:lnTo>
                    <a:pt x="216367" y="4200"/>
                  </a:lnTo>
                  <a:lnTo>
                    <a:pt x="171742" y="16311"/>
                  </a:lnTo>
                  <a:lnTo>
                    <a:pt x="130650" y="35597"/>
                  </a:lnTo>
                  <a:lnTo>
                    <a:pt x="93834" y="61325"/>
                  </a:lnTo>
                  <a:lnTo>
                    <a:pt x="62041" y="92758"/>
                  </a:lnTo>
                  <a:lnTo>
                    <a:pt x="36016" y="129163"/>
                  </a:lnTo>
                  <a:lnTo>
                    <a:pt x="16504" y="169805"/>
                  </a:lnTo>
                  <a:lnTo>
                    <a:pt x="4250" y="213948"/>
                  </a:lnTo>
                  <a:lnTo>
                    <a:pt x="0" y="260858"/>
                  </a:lnTo>
                  <a:lnTo>
                    <a:pt x="4250" y="307730"/>
                  </a:lnTo>
                  <a:lnTo>
                    <a:pt x="16504" y="351843"/>
                  </a:lnTo>
                  <a:lnTo>
                    <a:pt x="36016" y="392462"/>
                  </a:lnTo>
                  <a:lnTo>
                    <a:pt x="62041" y="428851"/>
                  </a:lnTo>
                  <a:lnTo>
                    <a:pt x="93834" y="460275"/>
                  </a:lnTo>
                  <a:lnTo>
                    <a:pt x="130650" y="485996"/>
                  </a:lnTo>
                  <a:lnTo>
                    <a:pt x="171742" y="505279"/>
                  </a:lnTo>
                  <a:lnTo>
                    <a:pt x="216367" y="517388"/>
                  </a:lnTo>
                  <a:lnTo>
                    <a:pt x="263778" y="521588"/>
                  </a:lnTo>
                  <a:lnTo>
                    <a:pt x="311190" y="517388"/>
                  </a:lnTo>
                  <a:lnTo>
                    <a:pt x="355815" y="505279"/>
                  </a:lnTo>
                  <a:lnTo>
                    <a:pt x="396907" y="485996"/>
                  </a:lnTo>
                  <a:lnTo>
                    <a:pt x="433723" y="460275"/>
                  </a:lnTo>
                  <a:lnTo>
                    <a:pt x="465516" y="428851"/>
                  </a:lnTo>
                  <a:lnTo>
                    <a:pt x="491541" y="392462"/>
                  </a:lnTo>
                  <a:lnTo>
                    <a:pt x="511053" y="351843"/>
                  </a:lnTo>
                  <a:lnTo>
                    <a:pt x="523307" y="307730"/>
                  </a:lnTo>
                  <a:lnTo>
                    <a:pt x="527557" y="260858"/>
                  </a:lnTo>
                  <a:lnTo>
                    <a:pt x="523307" y="213948"/>
                  </a:lnTo>
                  <a:lnTo>
                    <a:pt x="511053" y="169805"/>
                  </a:lnTo>
                  <a:lnTo>
                    <a:pt x="491541" y="129163"/>
                  </a:lnTo>
                  <a:lnTo>
                    <a:pt x="465516" y="92758"/>
                  </a:lnTo>
                  <a:lnTo>
                    <a:pt x="433723" y="61325"/>
                  </a:lnTo>
                  <a:lnTo>
                    <a:pt x="396907" y="35597"/>
                  </a:lnTo>
                  <a:lnTo>
                    <a:pt x="355815" y="16311"/>
                  </a:lnTo>
                  <a:lnTo>
                    <a:pt x="311190" y="4200"/>
                  </a:lnTo>
                  <a:lnTo>
                    <a:pt x="263778" y="0"/>
                  </a:lnTo>
                  <a:close/>
                </a:path>
              </a:pathLst>
            </a:custGeom>
            <a:solidFill>
              <a:srgbClr val="5B9BD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5376671" y="2531491"/>
              <a:ext cx="527685" cy="521970"/>
            </a:xfrm>
            <a:custGeom>
              <a:avLst/>
              <a:gdLst/>
              <a:ahLst/>
              <a:cxnLst/>
              <a:rect l="l" t="t" r="r" b="b"/>
              <a:pathLst>
                <a:path w="527685" h="521969">
                  <a:moveTo>
                    <a:pt x="0" y="260858"/>
                  </a:moveTo>
                  <a:lnTo>
                    <a:pt x="4250" y="213948"/>
                  </a:lnTo>
                  <a:lnTo>
                    <a:pt x="16504" y="169805"/>
                  </a:lnTo>
                  <a:lnTo>
                    <a:pt x="36016" y="129163"/>
                  </a:lnTo>
                  <a:lnTo>
                    <a:pt x="62041" y="92758"/>
                  </a:lnTo>
                  <a:lnTo>
                    <a:pt x="93834" y="61325"/>
                  </a:lnTo>
                  <a:lnTo>
                    <a:pt x="130650" y="35597"/>
                  </a:lnTo>
                  <a:lnTo>
                    <a:pt x="171742" y="16311"/>
                  </a:lnTo>
                  <a:lnTo>
                    <a:pt x="216367" y="4200"/>
                  </a:lnTo>
                  <a:lnTo>
                    <a:pt x="263778" y="0"/>
                  </a:lnTo>
                  <a:lnTo>
                    <a:pt x="311190" y="4200"/>
                  </a:lnTo>
                  <a:lnTo>
                    <a:pt x="355815" y="16311"/>
                  </a:lnTo>
                  <a:lnTo>
                    <a:pt x="396907" y="35597"/>
                  </a:lnTo>
                  <a:lnTo>
                    <a:pt x="433723" y="61325"/>
                  </a:lnTo>
                  <a:lnTo>
                    <a:pt x="465516" y="92758"/>
                  </a:lnTo>
                  <a:lnTo>
                    <a:pt x="491541" y="129163"/>
                  </a:lnTo>
                  <a:lnTo>
                    <a:pt x="511053" y="169805"/>
                  </a:lnTo>
                  <a:lnTo>
                    <a:pt x="523307" y="213948"/>
                  </a:lnTo>
                  <a:lnTo>
                    <a:pt x="527557" y="260858"/>
                  </a:lnTo>
                  <a:lnTo>
                    <a:pt x="523307" y="307730"/>
                  </a:lnTo>
                  <a:lnTo>
                    <a:pt x="511053" y="351843"/>
                  </a:lnTo>
                  <a:lnTo>
                    <a:pt x="491541" y="392462"/>
                  </a:lnTo>
                  <a:lnTo>
                    <a:pt x="465516" y="428851"/>
                  </a:lnTo>
                  <a:lnTo>
                    <a:pt x="433723" y="460275"/>
                  </a:lnTo>
                  <a:lnTo>
                    <a:pt x="396907" y="485996"/>
                  </a:lnTo>
                  <a:lnTo>
                    <a:pt x="355815" y="505279"/>
                  </a:lnTo>
                  <a:lnTo>
                    <a:pt x="311190" y="517388"/>
                  </a:lnTo>
                  <a:lnTo>
                    <a:pt x="263778" y="521588"/>
                  </a:lnTo>
                  <a:lnTo>
                    <a:pt x="216367" y="517388"/>
                  </a:lnTo>
                  <a:lnTo>
                    <a:pt x="171742" y="505279"/>
                  </a:lnTo>
                  <a:lnTo>
                    <a:pt x="130650" y="485996"/>
                  </a:lnTo>
                  <a:lnTo>
                    <a:pt x="93834" y="460275"/>
                  </a:lnTo>
                  <a:lnTo>
                    <a:pt x="62041" y="428851"/>
                  </a:lnTo>
                  <a:lnTo>
                    <a:pt x="36016" y="392462"/>
                  </a:lnTo>
                  <a:lnTo>
                    <a:pt x="16504" y="351843"/>
                  </a:lnTo>
                  <a:lnTo>
                    <a:pt x="4250" y="307730"/>
                  </a:lnTo>
                  <a:lnTo>
                    <a:pt x="0" y="260858"/>
                  </a:lnTo>
                  <a:close/>
                </a:path>
              </a:pathLst>
            </a:custGeom>
            <a:ln w="12700">
              <a:solidFill>
                <a:srgbClr val="41709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2" name="object 22"/>
          <p:cNvSpPr txBox="1"/>
          <p:nvPr/>
        </p:nvSpPr>
        <p:spPr>
          <a:xfrm>
            <a:off x="5535548" y="2679572"/>
            <a:ext cx="21018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25" dirty="0">
                <a:solidFill>
                  <a:srgbClr val="FFFFFF"/>
                </a:solidFill>
                <a:latin typeface="Calibri"/>
                <a:cs typeface="Calibri"/>
              </a:rPr>
              <a:t>w3</a:t>
            </a:r>
            <a:endParaRPr sz="1200">
              <a:latin typeface="Calibri"/>
              <a:cs typeface="Calibri"/>
            </a:endParaRPr>
          </a:p>
        </p:txBody>
      </p:sp>
      <p:sp>
        <p:nvSpPr>
          <p:cNvPr id="23" name="object 23"/>
          <p:cNvSpPr/>
          <p:nvPr/>
        </p:nvSpPr>
        <p:spPr>
          <a:xfrm>
            <a:off x="5619496" y="2891535"/>
            <a:ext cx="1137920" cy="738505"/>
          </a:xfrm>
          <a:custGeom>
            <a:avLst/>
            <a:gdLst/>
            <a:ahLst/>
            <a:cxnLst/>
            <a:rect l="l" t="t" r="r" b="b"/>
            <a:pathLst>
              <a:path w="1137920" h="738504">
                <a:moveTo>
                  <a:pt x="1071722" y="38803"/>
                </a:moveTo>
                <a:lnTo>
                  <a:pt x="0" y="732663"/>
                </a:lnTo>
                <a:lnTo>
                  <a:pt x="3428" y="737996"/>
                </a:lnTo>
                <a:lnTo>
                  <a:pt x="1075166" y="44127"/>
                </a:lnTo>
                <a:lnTo>
                  <a:pt x="1071722" y="38803"/>
                </a:lnTo>
                <a:close/>
              </a:path>
              <a:path w="1137920" h="738504">
                <a:moveTo>
                  <a:pt x="1118605" y="31876"/>
                </a:moveTo>
                <a:lnTo>
                  <a:pt x="1082421" y="31876"/>
                </a:lnTo>
                <a:lnTo>
                  <a:pt x="1085850" y="37211"/>
                </a:lnTo>
                <a:lnTo>
                  <a:pt x="1075166" y="44127"/>
                </a:lnTo>
                <a:lnTo>
                  <a:pt x="1094104" y="73405"/>
                </a:lnTo>
                <a:lnTo>
                  <a:pt x="1118605" y="31876"/>
                </a:lnTo>
                <a:close/>
              </a:path>
              <a:path w="1137920" h="738504">
                <a:moveTo>
                  <a:pt x="1082421" y="31876"/>
                </a:moveTo>
                <a:lnTo>
                  <a:pt x="1071722" y="38803"/>
                </a:lnTo>
                <a:lnTo>
                  <a:pt x="1075166" y="44127"/>
                </a:lnTo>
                <a:lnTo>
                  <a:pt x="1085850" y="37211"/>
                </a:lnTo>
                <a:lnTo>
                  <a:pt x="1082421" y="31876"/>
                </a:lnTo>
                <a:close/>
              </a:path>
              <a:path w="1137920" h="738504">
                <a:moveTo>
                  <a:pt x="1137411" y="0"/>
                </a:moveTo>
                <a:lnTo>
                  <a:pt x="1052702" y="9398"/>
                </a:lnTo>
                <a:lnTo>
                  <a:pt x="1071722" y="38803"/>
                </a:lnTo>
                <a:lnTo>
                  <a:pt x="1082421" y="31876"/>
                </a:lnTo>
                <a:lnTo>
                  <a:pt x="1118605" y="31876"/>
                </a:lnTo>
                <a:lnTo>
                  <a:pt x="1137411" y="0"/>
                </a:lnTo>
                <a:close/>
              </a:path>
            </a:pathLst>
          </a:custGeom>
          <a:solidFill>
            <a:srgbClr val="5B9BD4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4" name="object 24"/>
          <p:cNvSpPr txBox="1"/>
          <p:nvPr/>
        </p:nvSpPr>
        <p:spPr>
          <a:xfrm>
            <a:off x="608482" y="3420115"/>
            <a:ext cx="9935845" cy="2002789"/>
          </a:xfrm>
          <a:prstGeom prst="rect">
            <a:avLst/>
          </a:prstGeom>
        </p:spPr>
        <p:txBody>
          <a:bodyPr vert="horz" wrap="square" lIns="0" tIns="53340" rIns="0" bIns="0" rtlCol="0">
            <a:spAutoFit/>
          </a:bodyPr>
          <a:lstStyle/>
          <a:p>
            <a:pPr marR="229870" algn="ctr">
              <a:lnSpc>
                <a:spcPct val="100000"/>
              </a:lnSpc>
              <a:spcBef>
                <a:spcPts val="420"/>
              </a:spcBef>
            </a:pPr>
            <a:r>
              <a:rPr sz="1800" spc="-25" dirty="0">
                <a:latin typeface="Calibri"/>
                <a:cs typeface="Calibri"/>
              </a:rPr>
              <a:t>x4</a:t>
            </a:r>
            <a:endParaRPr sz="1800">
              <a:latin typeface="Calibri"/>
              <a:cs typeface="Calibri"/>
            </a:endParaRPr>
          </a:p>
          <a:p>
            <a:pPr marL="240029" marR="5080" indent="-227329">
              <a:lnSpc>
                <a:spcPts val="3020"/>
              </a:lnSpc>
              <a:spcBef>
                <a:spcPts val="875"/>
              </a:spcBef>
              <a:buFont typeface="Arial"/>
              <a:buChar char="•"/>
              <a:tabLst>
                <a:tab pos="241300" algn="l"/>
              </a:tabLst>
            </a:pPr>
            <a:r>
              <a:rPr sz="2800" spc="110" dirty="0">
                <a:latin typeface="Calibri"/>
                <a:cs typeface="Calibri"/>
              </a:rPr>
              <a:t>I</a:t>
            </a:r>
            <a:r>
              <a:rPr sz="2800" spc="17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want</a:t>
            </a:r>
            <a:r>
              <a:rPr sz="2800" spc="19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to</a:t>
            </a:r>
            <a:r>
              <a:rPr sz="2800" spc="200" dirty="0">
                <a:latin typeface="Calibri"/>
                <a:cs typeface="Calibri"/>
              </a:rPr>
              <a:t> </a:t>
            </a:r>
            <a:r>
              <a:rPr sz="2800" spc="75" dirty="0">
                <a:latin typeface="Calibri"/>
                <a:cs typeface="Calibri"/>
              </a:rPr>
              <a:t>design</a:t>
            </a:r>
            <a:r>
              <a:rPr sz="2800" spc="20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a</a:t>
            </a:r>
            <a:r>
              <a:rPr sz="2800" spc="18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hidden</a:t>
            </a:r>
            <a:r>
              <a:rPr sz="2800" spc="24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layer</a:t>
            </a:r>
            <a:r>
              <a:rPr sz="2800" spc="17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neuron</a:t>
            </a:r>
            <a:r>
              <a:rPr sz="2800" spc="225" dirty="0">
                <a:latin typeface="Calibri"/>
                <a:cs typeface="Calibri"/>
              </a:rPr>
              <a:t> </a:t>
            </a:r>
            <a:r>
              <a:rPr sz="2800" spc="65" dirty="0">
                <a:latin typeface="Calibri"/>
                <a:cs typeface="Calibri"/>
              </a:rPr>
              <a:t>which</a:t>
            </a:r>
            <a:r>
              <a:rPr sz="2800" spc="210" dirty="0">
                <a:latin typeface="Calibri"/>
                <a:cs typeface="Calibri"/>
              </a:rPr>
              <a:t> </a:t>
            </a:r>
            <a:r>
              <a:rPr sz="2800" spc="80" dirty="0">
                <a:latin typeface="Calibri"/>
                <a:cs typeface="Calibri"/>
              </a:rPr>
              <a:t>tells</a:t>
            </a:r>
            <a:r>
              <a:rPr sz="2800" spc="17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me</a:t>
            </a:r>
            <a:r>
              <a:rPr sz="2800" spc="190" dirty="0">
                <a:latin typeface="Calibri"/>
                <a:cs typeface="Calibri"/>
              </a:rPr>
              <a:t> </a:t>
            </a:r>
            <a:r>
              <a:rPr sz="2800" spc="70" dirty="0">
                <a:latin typeface="Calibri"/>
                <a:cs typeface="Calibri"/>
              </a:rPr>
              <a:t>if</a:t>
            </a:r>
            <a:r>
              <a:rPr sz="2800" spc="18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the</a:t>
            </a:r>
            <a:r>
              <a:rPr sz="2800" spc="204" dirty="0">
                <a:latin typeface="Calibri"/>
                <a:cs typeface="Calibri"/>
              </a:rPr>
              <a:t> </a:t>
            </a:r>
            <a:r>
              <a:rPr sz="2800" spc="-25" dirty="0">
                <a:latin typeface="Calibri"/>
                <a:cs typeface="Calibri"/>
              </a:rPr>
              <a:t>top 	</a:t>
            </a:r>
            <a:r>
              <a:rPr sz="2800" dirty="0">
                <a:latin typeface="Calibri"/>
                <a:cs typeface="Calibri"/>
              </a:rPr>
              <a:t>left</a:t>
            </a:r>
            <a:r>
              <a:rPr sz="2800" spc="180" dirty="0">
                <a:latin typeface="Calibri"/>
                <a:cs typeface="Calibri"/>
              </a:rPr>
              <a:t> </a:t>
            </a:r>
            <a:r>
              <a:rPr sz="2800" spc="55" dirty="0">
                <a:latin typeface="Calibri"/>
                <a:cs typeface="Calibri"/>
              </a:rPr>
              <a:t>box</a:t>
            </a:r>
            <a:r>
              <a:rPr sz="2800" spc="95" dirty="0">
                <a:latin typeface="Calibri"/>
                <a:cs typeface="Calibri"/>
              </a:rPr>
              <a:t> </a:t>
            </a:r>
            <a:r>
              <a:rPr sz="2800" spc="85" dirty="0">
                <a:latin typeface="Calibri"/>
                <a:cs typeface="Calibri"/>
              </a:rPr>
              <a:t>is</a:t>
            </a:r>
            <a:r>
              <a:rPr sz="2800" spc="180" dirty="0">
                <a:latin typeface="Calibri"/>
                <a:cs typeface="Calibri"/>
              </a:rPr>
              <a:t> </a:t>
            </a:r>
            <a:r>
              <a:rPr sz="2800" spc="75" dirty="0">
                <a:latin typeface="Calibri"/>
                <a:cs typeface="Calibri"/>
              </a:rPr>
              <a:t>filled</a:t>
            </a:r>
            <a:endParaRPr sz="2800">
              <a:latin typeface="Calibri"/>
              <a:cs typeface="Calibri"/>
            </a:endParaRPr>
          </a:p>
          <a:p>
            <a:pPr marL="697865" lvl="1" indent="-227965">
              <a:lnSpc>
                <a:spcPct val="100000"/>
              </a:lnSpc>
              <a:spcBef>
                <a:spcPts val="190"/>
              </a:spcBef>
              <a:buFont typeface="Arial"/>
              <a:buChar char="•"/>
              <a:tabLst>
                <a:tab pos="697865" algn="l"/>
              </a:tabLst>
            </a:pPr>
            <a:r>
              <a:rPr sz="2400" dirty="0">
                <a:latin typeface="Calibri"/>
                <a:cs typeface="Calibri"/>
              </a:rPr>
              <a:t>So,</a:t>
            </a:r>
            <a:r>
              <a:rPr sz="2400" spc="-5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we</a:t>
            </a:r>
            <a:r>
              <a:rPr sz="2400" spc="16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have</a:t>
            </a:r>
            <a:r>
              <a:rPr sz="2400" spc="18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four</a:t>
            </a:r>
            <a:r>
              <a:rPr sz="2400" spc="125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inputs</a:t>
            </a:r>
            <a:endParaRPr sz="2400">
              <a:latin typeface="Calibri"/>
              <a:cs typeface="Calibri"/>
            </a:endParaRPr>
          </a:p>
          <a:p>
            <a:pPr marL="697230" lvl="1" indent="-227329">
              <a:lnSpc>
                <a:spcPct val="100000"/>
              </a:lnSpc>
              <a:spcBef>
                <a:spcPts val="219"/>
              </a:spcBef>
              <a:buFont typeface="Arial"/>
              <a:buChar char="•"/>
              <a:tabLst>
                <a:tab pos="697230" algn="l"/>
                <a:tab pos="5300980" algn="l"/>
              </a:tabLst>
            </a:pPr>
            <a:r>
              <a:rPr sz="2400" spc="-20" dirty="0">
                <a:latin typeface="Calibri"/>
                <a:cs typeface="Calibri"/>
              </a:rPr>
              <a:t>We</a:t>
            </a:r>
            <a:r>
              <a:rPr sz="2400" spc="10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want</a:t>
            </a:r>
            <a:r>
              <a:rPr sz="2400" spc="12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13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output</a:t>
            </a:r>
            <a:r>
              <a:rPr sz="2400" spc="6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y</a:t>
            </a:r>
            <a:r>
              <a:rPr sz="2400" spc="1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to</a:t>
            </a:r>
            <a:r>
              <a:rPr sz="2400" spc="11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be</a:t>
            </a:r>
            <a:r>
              <a:rPr sz="2400" spc="135" dirty="0">
                <a:latin typeface="Calibri"/>
                <a:cs typeface="Calibri"/>
              </a:rPr>
              <a:t> </a:t>
            </a:r>
            <a:r>
              <a:rPr sz="2400" spc="80" dirty="0">
                <a:latin typeface="Calibri"/>
                <a:cs typeface="Calibri"/>
              </a:rPr>
              <a:t>high</a:t>
            </a:r>
            <a:r>
              <a:rPr sz="2400" spc="110" dirty="0">
                <a:latin typeface="Calibri"/>
                <a:cs typeface="Calibri"/>
              </a:rPr>
              <a:t> </a:t>
            </a:r>
            <a:r>
              <a:rPr sz="2400" spc="30" dirty="0">
                <a:latin typeface="Calibri"/>
                <a:cs typeface="Calibri"/>
              </a:rPr>
              <a:t>if</a:t>
            </a:r>
            <a:r>
              <a:rPr sz="2400" dirty="0">
                <a:latin typeface="Calibri"/>
                <a:cs typeface="Calibri"/>
              </a:rPr>
              <a:t>	</a:t>
            </a:r>
            <a:r>
              <a:rPr sz="2400" spc="145" dirty="0">
                <a:latin typeface="Calibri"/>
                <a:cs typeface="Calibri"/>
              </a:rPr>
              <a:t>x1</a:t>
            </a:r>
            <a:r>
              <a:rPr sz="2400" spc="125" dirty="0">
                <a:latin typeface="Calibri"/>
                <a:cs typeface="Calibri"/>
              </a:rPr>
              <a:t> </a:t>
            </a:r>
            <a:r>
              <a:rPr sz="2400" spc="80" dirty="0">
                <a:latin typeface="Calibri"/>
                <a:cs typeface="Calibri"/>
              </a:rPr>
              <a:t>is</a:t>
            </a:r>
            <a:r>
              <a:rPr sz="2400" spc="114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dark</a:t>
            </a:r>
            <a:r>
              <a:rPr sz="2400" spc="4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and</a:t>
            </a:r>
            <a:r>
              <a:rPr sz="2400" spc="135" dirty="0">
                <a:latin typeface="Calibri"/>
                <a:cs typeface="Calibri"/>
              </a:rPr>
              <a:t> x2-</a:t>
            </a:r>
            <a:r>
              <a:rPr sz="2400" spc="80" dirty="0">
                <a:latin typeface="Calibri"/>
                <a:cs typeface="Calibri"/>
              </a:rPr>
              <a:t>4</a:t>
            </a:r>
            <a:r>
              <a:rPr sz="2400" spc="14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are</a:t>
            </a:r>
            <a:r>
              <a:rPr sz="2400" spc="135" dirty="0">
                <a:latin typeface="Calibri"/>
                <a:cs typeface="Calibri"/>
              </a:rPr>
              <a:t> </a:t>
            </a:r>
            <a:r>
              <a:rPr sz="2400" spc="80" dirty="0">
                <a:latin typeface="Calibri"/>
                <a:cs typeface="Calibri"/>
              </a:rPr>
              <a:t>light</a:t>
            </a:r>
            <a:endParaRPr sz="2400">
              <a:latin typeface="Calibri"/>
              <a:cs typeface="Calibri"/>
            </a:endParaRPr>
          </a:p>
        </p:txBody>
      </p:sp>
      <p:grpSp>
        <p:nvGrpSpPr>
          <p:cNvPr id="25" name="object 25"/>
          <p:cNvGrpSpPr/>
          <p:nvPr/>
        </p:nvGrpSpPr>
        <p:grpSpPr>
          <a:xfrm>
            <a:off x="5874130" y="3058541"/>
            <a:ext cx="540385" cy="534670"/>
            <a:chOff x="5874130" y="3058541"/>
            <a:chExt cx="540385" cy="534670"/>
          </a:xfrm>
        </p:grpSpPr>
        <p:sp>
          <p:nvSpPr>
            <p:cNvPr id="26" name="object 26"/>
            <p:cNvSpPr/>
            <p:nvPr/>
          </p:nvSpPr>
          <p:spPr>
            <a:xfrm>
              <a:off x="5880480" y="3064891"/>
              <a:ext cx="527685" cy="521970"/>
            </a:xfrm>
            <a:custGeom>
              <a:avLst/>
              <a:gdLst/>
              <a:ahLst/>
              <a:cxnLst/>
              <a:rect l="l" t="t" r="r" b="b"/>
              <a:pathLst>
                <a:path w="527685" h="521970">
                  <a:moveTo>
                    <a:pt x="263779" y="0"/>
                  </a:moveTo>
                  <a:lnTo>
                    <a:pt x="216367" y="4200"/>
                  </a:lnTo>
                  <a:lnTo>
                    <a:pt x="171742" y="16311"/>
                  </a:lnTo>
                  <a:lnTo>
                    <a:pt x="130650" y="35597"/>
                  </a:lnTo>
                  <a:lnTo>
                    <a:pt x="93834" y="61325"/>
                  </a:lnTo>
                  <a:lnTo>
                    <a:pt x="62041" y="92758"/>
                  </a:lnTo>
                  <a:lnTo>
                    <a:pt x="36016" y="129163"/>
                  </a:lnTo>
                  <a:lnTo>
                    <a:pt x="16504" y="169805"/>
                  </a:lnTo>
                  <a:lnTo>
                    <a:pt x="4250" y="213948"/>
                  </a:lnTo>
                  <a:lnTo>
                    <a:pt x="0" y="260858"/>
                  </a:lnTo>
                  <a:lnTo>
                    <a:pt x="4250" y="307730"/>
                  </a:lnTo>
                  <a:lnTo>
                    <a:pt x="16504" y="351843"/>
                  </a:lnTo>
                  <a:lnTo>
                    <a:pt x="36016" y="392462"/>
                  </a:lnTo>
                  <a:lnTo>
                    <a:pt x="62041" y="428851"/>
                  </a:lnTo>
                  <a:lnTo>
                    <a:pt x="93834" y="460275"/>
                  </a:lnTo>
                  <a:lnTo>
                    <a:pt x="130650" y="485996"/>
                  </a:lnTo>
                  <a:lnTo>
                    <a:pt x="171742" y="505279"/>
                  </a:lnTo>
                  <a:lnTo>
                    <a:pt x="216367" y="517388"/>
                  </a:lnTo>
                  <a:lnTo>
                    <a:pt x="263779" y="521588"/>
                  </a:lnTo>
                  <a:lnTo>
                    <a:pt x="311190" y="517388"/>
                  </a:lnTo>
                  <a:lnTo>
                    <a:pt x="355815" y="505279"/>
                  </a:lnTo>
                  <a:lnTo>
                    <a:pt x="396907" y="485996"/>
                  </a:lnTo>
                  <a:lnTo>
                    <a:pt x="433723" y="460275"/>
                  </a:lnTo>
                  <a:lnTo>
                    <a:pt x="465516" y="428851"/>
                  </a:lnTo>
                  <a:lnTo>
                    <a:pt x="491541" y="392462"/>
                  </a:lnTo>
                  <a:lnTo>
                    <a:pt x="511053" y="351843"/>
                  </a:lnTo>
                  <a:lnTo>
                    <a:pt x="523307" y="307730"/>
                  </a:lnTo>
                  <a:lnTo>
                    <a:pt x="527558" y="260858"/>
                  </a:lnTo>
                  <a:lnTo>
                    <a:pt x="523307" y="213948"/>
                  </a:lnTo>
                  <a:lnTo>
                    <a:pt x="511053" y="169805"/>
                  </a:lnTo>
                  <a:lnTo>
                    <a:pt x="491541" y="129163"/>
                  </a:lnTo>
                  <a:lnTo>
                    <a:pt x="465516" y="92758"/>
                  </a:lnTo>
                  <a:lnTo>
                    <a:pt x="433723" y="61325"/>
                  </a:lnTo>
                  <a:lnTo>
                    <a:pt x="396907" y="35597"/>
                  </a:lnTo>
                  <a:lnTo>
                    <a:pt x="355815" y="16311"/>
                  </a:lnTo>
                  <a:lnTo>
                    <a:pt x="311190" y="4200"/>
                  </a:lnTo>
                  <a:lnTo>
                    <a:pt x="263779" y="0"/>
                  </a:lnTo>
                  <a:close/>
                </a:path>
              </a:pathLst>
            </a:custGeom>
            <a:solidFill>
              <a:srgbClr val="5B9BD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7" name="object 27"/>
            <p:cNvSpPr/>
            <p:nvPr/>
          </p:nvSpPr>
          <p:spPr>
            <a:xfrm>
              <a:off x="5880480" y="3064891"/>
              <a:ext cx="527685" cy="521970"/>
            </a:xfrm>
            <a:custGeom>
              <a:avLst/>
              <a:gdLst/>
              <a:ahLst/>
              <a:cxnLst/>
              <a:rect l="l" t="t" r="r" b="b"/>
              <a:pathLst>
                <a:path w="527685" h="521970">
                  <a:moveTo>
                    <a:pt x="0" y="260858"/>
                  </a:moveTo>
                  <a:lnTo>
                    <a:pt x="4250" y="213948"/>
                  </a:lnTo>
                  <a:lnTo>
                    <a:pt x="16504" y="169805"/>
                  </a:lnTo>
                  <a:lnTo>
                    <a:pt x="36016" y="129163"/>
                  </a:lnTo>
                  <a:lnTo>
                    <a:pt x="62041" y="92758"/>
                  </a:lnTo>
                  <a:lnTo>
                    <a:pt x="93834" y="61325"/>
                  </a:lnTo>
                  <a:lnTo>
                    <a:pt x="130650" y="35597"/>
                  </a:lnTo>
                  <a:lnTo>
                    <a:pt x="171742" y="16311"/>
                  </a:lnTo>
                  <a:lnTo>
                    <a:pt x="216367" y="4200"/>
                  </a:lnTo>
                  <a:lnTo>
                    <a:pt x="263779" y="0"/>
                  </a:lnTo>
                  <a:lnTo>
                    <a:pt x="311190" y="4200"/>
                  </a:lnTo>
                  <a:lnTo>
                    <a:pt x="355815" y="16311"/>
                  </a:lnTo>
                  <a:lnTo>
                    <a:pt x="396907" y="35597"/>
                  </a:lnTo>
                  <a:lnTo>
                    <a:pt x="433723" y="61325"/>
                  </a:lnTo>
                  <a:lnTo>
                    <a:pt x="465516" y="92758"/>
                  </a:lnTo>
                  <a:lnTo>
                    <a:pt x="491541" y="129163"/>
                  </a:lnTo>
                  <a:lnTo>
                    <a:pt x="511053" y="169805"/>
                  </a:lnTo>
                  <a:lnTo>
                    <a:pt x="523307" y="213948"/>
                  </a:lnTo>
                  <a:lnTo>
                    <a:pt x="527558" y="260858"/>
                  </a:lnTo>
                  <a:lnTo>
                    <a:pt x="523307" y="307730"/>
                  </a:lnTo>
                  <a:lnTo>
                    <a:pt x="511053" y="351843"/>
                  </a:lnTo>
                  <a:lnTo>
                    <a:pt x="491541" y="392462"/>
                  </a:lnTo>
                  <a:lnTo>
                    <a:pt x="465516" y="428851"/>
                  </a:lnTo>
                  <a:lnTo>
                    <a:pt x="433723" y="460275"/>
                  </a:lnTo>
                  <a:lnTo>
                    <a:pt x="396907" y="485996"/>
                  </a:lnTo>
                  <a:lnTo>
                    <a:pt x="355815" y="505279"/>
                  </a:lnTo>
                  <a:lnTo>
                    <a:pt x="311190" y="517388"/>
                  </a:lnTo>
                  <a:lnTo>
                    <a:pt x="263779" y="521588"/>
                  </a:lnTo>
                  <a:lnTo>
                    <a:pt x="216367" y="517388"/>
                  </a:lnTo>
                  <a:lnTo>
                    <a:pt x="171742" y="505279"/>
                  </a:lnTo>
                  <a:lnTo>
                    <a:pt x="130650" y="485996"/>
                  </a:lnTo>
                  <a:lnTo>
                    <a:pt x="93834" y="460275"/>
                  </a:lnTo>
                  <a:lnTo>
                    <a:pt x="62041" y="428851"/>
                  </a:lnTo>
                  <a:lnTo>
                    <a:pt x="36016" y="392462"/>
                  </a:lnTo>
                  <a:lnTo>
                    <a:pt x="16504" y="351843"/>
                  </a:lnTo>
                  <a:lnTo>
                    <a:pt x="4250" y="307730"/>
                  </a:lnTo>
                  <a:lnTo>
                    <a:pt x="0" y="260858"/>
                  </a:lnTo>
                  <a:close/>
                </a:path>
              </a:pathLst>
            </a:custGeom>
            <a:ln w="12700">
              <a:solidFill>
                <a:srgbClr val="41709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8" name="object 28"/>
          <p:cNvSpPr txBox="1"/>
          <p:nvPr/>
        </p:nvSpPr>
        <p:spPr>
          <a:xfrm>
            <a:off x="6039358" y="3212972"/>
            <a:ext cx="21018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25" dirty="0">
                <a:solidFill>
                  <a:srgbClr val="FFFFFF"/>
                </a:solidFill>
                <a:latin typeface="Calibri"/>
                <a:cs typeface="Calibri"/>
              </a:rPr>
              <a:t>w4</a:t>
            </a:r>
            <a:endParaRPr sz="120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Let’s</a:t>
            </a:r>
            <a:r>
              <a:rPr spc="110" dirty="0"/>
              <a:t> </a:t>
            </a:r>
            <a:r>
              <a:rPr dirty="0"/>
              <a:t>do</a:t>
            </a:r>
            <a:r>
              <a:rPr spc="85" dirty="0"/>
              <a:t> </a:t>
            </a:r>
            <a:r>
              <a:rPr dirty="0"/>
              <a:t>a</a:t>
            </a:r>
            <a:r>
              <a:rPr spc="114" dirty="0"/>
              <a:t> </a:t>
            </a:r>
            <a:r>
              <a:rPr spc="85" dirty="0"/>
              <a:t>simple</a:t>
            </a:r>
            <a:r>
              <a:rPr spc="110" dirty="0"/>
              <a:t> </a:t>
            </a:r>
            <a:r>
              <a:rPr spc="60" dirty="0"/>
              <a:t>example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501091" y="3915536"/>
            <a:ext cx="3646170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265430" indent="-227329">
              <a:lnSpc>
                <a:spcPct val="100000"/>
              </a:lnSpc>
              <a:spcBef>
                <a:spcPts val="95"/>
              </a:spcBef>
              <a:buFont typeface="Arial"/>
              <a:buChar char="•"/>
              <a:tabLst>
                <a:tab pos="265430" algn="l"/>
              </a:tabLst>
            </a:pPr>
            <a:r>
              <a:rPr sz="2800" dirty="0">
                <a:latin typeface="Calibri"/>
                <a:cs typeface="Calibri"/>
              </a:rPr>
              <a:t>Recall:</a:t>
            </a:r>
            <a:r>
              <a:rPr sz="2800" spc="375" dirty="0">
                <a:latin typeface="Calibri"/>
                <a:cs typeface="Calibri"/>
              </a:rPr>
              <a:t> </a:t>
            </a:r>
            <a:r>
              <a:rPr sz="2800" spc="-10" dirty="0">
                <a:latin typeface="Symbol"/>
                <a:cs typeface="Symbol"/>
              </a:rPr>
              <a:t></a:t>
            </a:r>
            <a:r>
              <a:rPr sz="2800" spc="-10" dirty="0">
                <a:latin typeface="Calibri"/>
                <a:cs typeface="Calibri"/>
              </a:rPr>
              <a:t>(x</a:t>
            </a:r>
            <a:r>
              <a:rPr sz="1950" spc="-15" baseline="25641" dirty="0">
                <a:latin typeface="Arial"/>
                <a:cs typeface="Arial"/>
              </a:rPr>
              <a:t>●</a:t>
            </a:r>
            <a:r>
              <a:rPr sz="2800" spc="-10" dirty="0">
                <a:latin typeface="Calibri"/>
                <a:cs typeface="Calibri"/>
              </a:rPr>
              <a:t>w+b)=</a:t>
            </a:r>
            <a:r>
              <a:rPr sz="2800" spc="-10" dirty="0">
                <a:latin typeface="Symbol"/>
                <a:cs typeface="Symbol"/>
              </a:rPr>
              <a:t></a:t>
            </a:r>
            <a:r>
              <a:rPr sz="2800" spc="-10" dirty="0">
                <a:latin typeface="Calibri"/>
                <a:cs typeface="Calibri"/>
              </a:rPr>
              <a:t>(z)=</a:t>
            </a:r>
            <a:endParaRPr sz="2800">
              <a:latin typeface="Calibri"/>
              <a:cs typeface="Calibri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4169283" y="4169664"/>
            <a:ext cx="786765" cy="22860"/>
          </a:xfrm>
          <a:custGeom>
            <a:avLst/>
            <a:gdLst/>
            <a:ahLst/>
            <a:cxnLst/>
            <a:rect l="l" t="t" r="r" b="b"/>
            <a:pathLst>
              <a:path w="786764" h="22860">
                <a:moveTo>
                  <a:pt x="786384" y="0"/>
                </a:moveTo>
                <a:lnTo>
                  <a:pt x="0" y="0"/>
                </a:lnTo>
                <a:lnTo>
                  <a:pt x="0" y="22860"/>
                </a:lnTo>
                <a:lnTo>
                  <a:pt x="786384" y="22860"/>
                </a:lnTo>
                <a:lnTo>
                  <a:pt x="786384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/>
          <p:nvPr/>
        </p:nvSpPr>
        <p:spPr>
          <a:xfrm>
            <a:off x="4474209" y="3802760"/>
            <a:ext cx="175895" cy="33655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2050" spc="-50" dirty="0">
                <a:latin typeface="Cambria Math"/>
                <a:cs typeface="Cambria Math"/>
              </a:rPr>
              <a:t>1</a:t>
            </a:r>
            <a:endParaRPr sz="2050">
              <a:latin typeface="Cambria Math"/>
              <a:cs typeface="Cambria Math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4157217" y="4189857"/>
            <a:ext cx="506095" cy="33655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2050" spc="-25" dirty="0">
                <a:latin typeface="Cambria Math"/>
                <a:cs typeface="Cambria Math"/>
              </a:rPr>
              <a:t>1+𝑒</a:t>
            </a:r>
            <a:endParaRPr sz="2050">
              <a:latin typeface="Cambria Math"/>
              <a:cs typeface="Cambria Math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4654041" y="4157853"/>
            <a:ext cx="305435" cy="28194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sz="1650" spc="45" dirty="0">
                <a:latin typeface="Cambria Math"/>
                <a:cs typeface="Cambria Math"/>
              </a:rPr>
              <a:t>−𝑧</a:t>
            </a:r>
            <a:endParaRPr sz="1650">
              <a:latin typeface="Cambria Math"/>
              <a:cs typeface="Cambria Math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983691" y="4447413"/>
            <a:ext cx="5015865" cy="1771014"/>
          </a:xfrm>
          <a:prstGeom prst="rect">
            <a:avLst/>
          </a:prstGeom>
        </p:spPr>
        <p:txBody>
          <a:bodyPr vert="horz" wrap="square" lIns="0" tIns="53975" rIns="0" bIns="0" rtlCol="0">
            <a:spAutoFit/>
          </a:bodyPr>
          <a:lstStyle/>
          <a:p>
            <a:pPr marL="240029" marR="5080" indent="-227329" algn="just">
              <a:lnSpc>
                <a:spcPts val="2590"/>
              </a:lnSpc>
              <a:spcBef>
                <a:spcPts val="425"/>
              </a:spcBef>
              <a:buFont typeface="Arial"/>
              <a:buChar char="•"/>
              <a:tabLst>
                <a:tab pos="241300" algn="l"/>
              </a:tabLst>
            </a:pPr>
            <a:r>
              <a:rPr sz="2400" dirty="0">
                <a:latin typeface="Calibri"/>
                <a:cs typeface="Calibri"/>
              </a:rPr>
              <a:t>So,</a:t>
            </a:r>
            <a:r>
              <a:rPr sz="2400" spc="-4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want</a:t>
            </a:r>
            <a:r>
              <a:rPr sz="2400" spc="17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to</a:t>
            </a:r>
            <a:r>
              <a:rPr sz="2400" spc="170" dirty="0">
                <a:latin typeface="Calibri"/>
                <a:cs typeface="Calibri"/>
              </a:rPr>
              <a:t> </a:t>
            </a:r>
            <a:r>
              <a:rPr sz="2400" spc="50" dirty="0">
                <a:latin typeface="Calibri"/>
                <a:cs typeface="Calibri"/>
              </a:rPr>
              <a:t>weight</a:t>
            </a:r>
            <a:r>
              <a:rPr sz="2400" spc="175" dirty="0">
                <a:latin typeface="Calibri"/>
                <a:cs typeface="Calibri"/>
              </a:rPr>
              <a:t> </a:t>
            </a:r>
            <a:r>
              <a:rPr sz="2400" spc="70" dirty="0">
                <a:latin typeface="Calibri"/>
                <a:cs typeface="Calibri"/>
              </a:rPr>
              <a:t>w1</a:t>
            </a:r>
            <a:r>
              <a:rPr sz="2400" spc="17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heavily,</a:t>
            </a:r>
            <a:r>
              <a:rPr sz="2400" spc="-30" dirty="0">
                <a:latin typeface="Calibri"/>
                <a:cs typeface="Calibri"/>
              </a:rPr>
              <a:t> </a:t>
            </a:r>
            <a:r>
              <a:rPr sz="2400" spc="50" dirty="0">
                <a:latin typeface="Calibri"/>
                <a:cs typeface="Calibri"/>
              </a:rPr>
              <a:t>while 	</a:t>
            </a:r>
            <a:r>
              <a:rPr sz="2400" spc="10" dirty="0">
                <a:latin typeface="Calibri"/>
                <a:cs typeface="Calibri"/>
              </a:rPr>
              <a:t>dramatically</a:t>
            </a:r>
            <a:r>
              <a:rPr sz="2400" spc="110" dirty="0">
                <a:latin typeface="Calibri"/>
                <a:cs typeface="Calibri"/>
              </a:rPr>
              <a:t> </a:t>
            </a:r>
            <a:r>
              <a:rPr sz="2400" spc="50" dirty="0">
                <a:latin typeface="Calibri"/>
                <a:cs typeface="Calibri"/>
              </a:rPr>
              <a:t>lowering</a:t>
            </a:r>
            <a:r>
              <a:rPr sz="2400" spc="225" dirty="0">
                <a:latin typeface="Calibri"/>
                <a:cs typeface="Calibri"/>
              </a:rPr>
              <a:t> </a:t>
            </a:r>
            <a:r>
              <a:rPr sz="2400" spc="10" dirty="0">
                <a:latin typeface="Calibri"/>
                <a:cs typeface="Calibri"/>
              </a:rPr>
              <a:t>the</a:t>
            </a:r>
            <a:r>
              <a:rPr sz="2400" spc="240" dirty="0">
                <a:latin typeface="Calibri"/>
                <a:cs typeface="Calibri"/>
              </a:rPr>
              <a:t> </a:t>
            </a:r>
            <a:r>
              <a:rPr sz="2400" spc="50" dirty="0">
                <a:latin typeface="Calibri"/>
                <a:cs typeface="Calibri"/>
              </a:rPr>
              <a:t>weights</a:t>
            </a:r>
            <a:r>
              <a:rPr sz="2400" spc="245" dirty="0">
                <a:latin typeface="Calibri"/>
                <a:cs typeface="Calibri"/>
              </a:rPr>
              <a:t> </a:t>
            </a:r>
            <a:r>
              <a:rPr sz="2400" spc="-25" dirty="0">
                <a:latin typeface="Calibri"/>
                <a:cs typeface="Calibri"/>
              </a:rPr>
              <a:t>of 	</a:t>
            </a:r>
            <a:r>
              <a:rPr sz="2400" spc="130" dirty="0">
                <a:latin typeface="Calibri"/>
                <a:cs typeface="Calibri"/>
              </a:rPr>
              <a:t>x2-</a:t>
            </a:r>
            <a:r>
              <a:rPr sz="2400" spc="120" dirty="0">
                <a:latin typeface="Calibri"/>
                <a:cs typeface="Calibri"/>
              </a:rPr>
              <a:t>x4</a:t>
            </a:r>
            <a:endParaRPr sz="2400">
              <a:latin typeface="Calibri"/>
              <a:cs typeface="Calibri"/>
            </a:endParaRPr>
          </a:p>
          <a:p>
            <a:pPr marL="240029" marR="325120" indent="-227329" algn="just">
              <a:lnSpc>
                <a:spcPts val="2590"/>
              </a:lnSpc>
              <a:spcBef>
                <a:spcPts val="500"/>
              </a:spcBef>
              <a:buFont typeface="Arial"/>
              <a:buChar char="•"/>
              <a:tabLst>
                <a:tab pos="241300" algn="l"/>
              </a:tabLst>
            </a:pPr>
            <a:r>
              <a:rPr sz="2400" spc="-35" dirty="0">
                <a:latin typeface="Calibri"/>
                <a:cs typeface="Calibri"/>
              </a:rPr>
              <a:t>We</a:t>
            </a:r>
            <a:r>
              <a:rPr sz="2400" spc="114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want</a:t>
            </a:r>
            <a:r>
              <a:rPr sz="2400" spc="114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13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output</a:t>
            </a:r>
            <a:r>
              <a:rPr sz="2400" spc="8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y</a:t>
            </a:r>
            <a:r>
              <a:rPr sz="2400" spc="2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to</a:t>
            </a:r>
            <a:r>
              <a:rPr sz="2400" spc="12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be</a:t>
            </a:r>
            <a:r>
              <a:rPr sz="2400" spc="135" dirty="0">
                <a:latin typeface="Calibri"/>
                <a:cs typeface="Calibri"/>
              </a:rPr>
              <a:t> </a:t>
            </a:r>
            <a:r>
              <a:rPr sz="2400" spc="80" dirty="0">
                <a:latin typeface="Calibri"/>
                <a:cs typeface="Calibri"/>
              </a:rPr>
              <a:t>high</a:t>
            </a:r>
            <a:r>
              <a:rPr sz="2400" spc="114" dirty="0">
                <a:latin typeface="Calibri"/>
                <a:cs typeface="Calibri"/>
              </a:rPr>
              <a:t> </a:t>
            </a:r>
            <a:r>
              <a:rPr sz="2400" spc="30" dirty="0">
                <a:latin typeface="Calibri"/>
                <a:cs typeface="Calibri"/>
              </a:rPr>
              <a:t>if 	</a:t>
            </a:r>
            <a:r>
              <a:rPr sz="2400" spc="145" dirty="0">
                <a:latin typeface="Calibri"/>
                <a:cs typeface="Calibri"/>
              </a:rPr>
              <a:t>x1</a:t>
            </a:r>
            <a:r>
              <a:rPr sz="2400" spc="135" dirty="0">
                <a:latin typeface="Calibri"/>
                <a:cs typeface="Calibri"/>
              </a:rPr>
              <a:t> </a:t>
            </a:r>
            <a:r>
              <a:rPr sz="2400" spc="80" dirty="0">
                <a:latin typeface="Calibri"/>
                <a:cs typeface="Calibri"/>
              </a:rPr>
              <a:t>is</a:t>
            </a:r>
            <a:r>
              <a:rPr sz="2400" spc="12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dark</a:t>
            </a:r>
            <a:r>
              <a:rPr sz="2400" spc="4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and</a:t>
            </a:r>
            <a:r>
              <a:rPr sz="2400" spc="135" dirty="0">
                <a:latin typeface="Calibri"/>
                <a:cs typeface="Calibri"/>
              </a:rPr>
              <a:t> x2-</a:t>
            </a:r>
            <a:r>
              <a:rPr sz="2400" spc="80" dirty="0">
                <a:latin typeface="Calibri"/>
                <a:cs typeface="Calibri"/>
              </a:rPr>
              <a:t>4</a:t>
            </a:r>
            <a:r>
              <a:rPr sz="2400" spc="14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are</a:t>
            </a:r>
            <a:r>
              <a:rPr sz="2400" spc="135" dirty="0">
                <a:latin typeface="Calibri"/>
                <a:cs typeface="Calibri"/>
              </a:rPr>
              <a:t> </a:t>
            </a:r>
            <a:r>
              <a:rPr sz="2400" spc="80" dirty="0">
                <a:latin typeface="Calibri"/>
                <a:cs typeface="Calibri"/>
              </a:rPr>
              <a:t>light</a:t>
            </a:r>
            <a:endParaRPr sz="2400">
              <a:latin typeface="Calibri"/>
              <a:cs typeface="Calibri"/>
            </a:endParaRPr>
          </a:p>
        </p:txBody>
      </p:sp>
      <p:graphicFrame>
        <p:nvGraphicFramePr>
          <p:cNvPr id="9" name="object 9"/>
          <p:cNvGraphicFramePr>
            <a:graphicFrameLocks noGrp="1"/>
          </p:cNvGraphicFramePr>
          <p:nvPr/>
        </p:nvGraphicFramePr>
        <p:xfrm>
          <a:off x="1312544" y="1198206"/>
          <a:ext cx="2286000" cy="22326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14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11633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1125"/>
                        </a:spcBef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5"/>
                        </a:spcBef>
                      </a:pPr>
                      <a:r>
                        <a:rPr sz="1800" spc="-25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x1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142875" marB="0">
                    <a:lnL w="12700">
                      <a:solidFill>
                        <a:srgbClr val="41709C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41709C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5B9B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1125"/>
                        </a:spcBef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5"/>
                        </a:spcBef>
                      </a:pPr>
                      <a:r>
                        <a:rPr sz="1800" spc="-25" dirty="0">
                          <a:latin typeface="Calibri"/>
                          <a:cs typeface="Calibri"/>
                        </a:rPr>
                        <a:t>x2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14287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1633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1130"/>
                        </a:spcBef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800" spc="-25" dirty="0">
                          <a:latin typeface="Calibri"/>
                          <a:cs typeface="Calibri"/>
                        </a:rPr>
                        <a:t>x3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14351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1130"/>
                        </a:spcBef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800" spc="-25" dirty="0">
                          <a:latin typeface="Calibri"/>
                          <a:cs typeface="Calibri"/>
                        </a:rPr>
                        <a:t>x4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14351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0" name="object 10"/>
          <p:cNvSpPr/>
          <p:nvPr/>
        </p:nvSpPr>
        <p:spPr>
          <a:xfrm>
            <a:off x="6295263" y="1299844"/>
            <a:ext cx="1670685" cy="1670685"/>
          </a:xfrm>
          <a:custGeom>
            <a:avLst/>
            <a:gdLst/>
            <a:ahLst/>
            <a:cxnLst/>
            <a:rect l="l" t="t" r="r" b="b"/>
            <a:pathLst>
              <a:path w="1670684" h="1670685">
                <a:moveTo>
                  <a:pt x="0" y="835278"/>
                </a:moveTo>
                <a:lnTo>
                  <a:pt x="1322" y="787872"/>
                </a:lnTo>
                <a:lnTo>
                  <a:pt x="5242" y="741161"/>
                </a:lnTo>
                <a:lnTo>
                  <a:pt x="11690" y="695214"/>
                </a:lnTo>
                <a:lnTo>
                  <a:pt x="20594" y="650104"/>
                </a:lnTo>
                <a:lnTo>
                  <a:pt x="31884" y="605899"/>
                </a:lnTo>
                <a:lnTo>
                  <a:pt x="45490" y="562671"/>
                </a:lnTo>
                <a:lnTo>
                  <a:pt x="61341" y="520490"/>
                </a:lnTo>
                <a:lnTo>
                  <a:pt x="79367" y="479427"/>
                </a:lnTo>
                <a:lnTo>
                  <a:pt x="99496" y="439551"/>
                </a:lnTo>
                <a:lnTo>
                  <a:pt x="121659" y="400934"/>
                </a:lnTo>
                <a:lnTo>
                  <a:pt x="145785" y="363645"/>
                </a:lnTo>
                <a:lnTo>
                  <a:pt x="171804" y="327756"/>
                </a:lnTo>
                <a:lnTo>
                  <a:pt x="199644" y="293337"/>
                </a:lnTo>
                <a:lnTo>
                  <a:pt x="229235" y="260457"/>
                </a:lnTo>
                <a:lnTo>
                  <a:pt x="260507" y="229189"/>
                </a:lnTo>
                <a:lnTo>
                  <a:pt x="293389" y="199601"/>
                </a:lnTo>
                <a:lnTo>
                  <a:pt x="327810" y="171765"/>
                </a:lnTo>
                <a:lnTo>
                  <a:pt x="363701" y="145751"/>
                </a:lnTo>
                <a:lnTo>
                  <a:pt x="400990" y="121630"/>
                </a:lnTo>
                <a:lnTo>
                  <a:pt x="439607" y="99471"/>
                </a:lnTo>
                <a:lnTo>
                  <a:pt x="479482" y="79346"/>
                </a:lnTo>
                <a:lnTo>
                  <a:pt x="520543" y="61324"/>
                </a:lnTo>
                <a:lnTo>
                  <a:pt x="562721" y="45477"/>
                </a:lnTo>
                <a:lnTo>
                  <a:pt x="605944" y="31875"/>
                </a:lnTo>
                <a:lnTo>
                  <a:pt x="650143" y="20588"/>
                </a:lnTo>
                <a:lnTo>
                  <a:pt x="695246" y="11686"/>
                </a:lnTo>
                <a:lnTo>
                  <a:pt x="741184" y="5240"/>
                </a:lnTo>
                <a:lnTo>
                  <a:pt x="787885" y="1321"/>
                </a:lnTo>
                <a:lnTo>
                  <a:pt x="835279" y="0"/>
                </a:lnTo>
                <a:lnTo>
                  <a:pt x="882672" y="1321"/>
                </a:lnTo>
                <a:lnTo>
                  <a:pt x="929373" y="5240"/>
                </a:lnTo>
                <a:lnTo>
                  <a:pt x="975311" y="11686"/>
                </a:lnTo>
                <a:lnTo>
                  <a:pt x="1020414" y="20588"/>
                </a:lnTo>
                <a:lnTo>
                  <a:pt x="1064613" y="31875"/>
                </a:lnTo>
                <a:lnTo>
                  <a:pt x="1107836" y="45477"/>
                </a:lnTo>
                <a:lnTo>
                  <a:pt x="1150014" y="61324"/>
                </a:lnTo>
                <a:lnTo>
                  <a:pt x="1191075" y="79346"/>
                </a:lnTo>
                <a:lnTo>
                  <a:pt x="1230950" y="99471"/>
                </a:lnTo>
                <a:lnTo>
                  <a:pt x="1269567" y="121630"/>
                </a:lnTo>
                <a:lnTo>
                  <a:pt x="1306856" y="145751"/>
                </a:lnTo>
                <a:lnTo>
                  <a:pt x="1342747" y="171765"/>
                </a:lnTo>
                <a:lnTo>
                  <a:pt x="1377168" y="199601"/>
                </a:lnTo>
                <a:lnTo>
                  <a:pt x="1410050" y="229189"/>
                </a:lnTo>
                <a:lnTo>
                  <a:pt x="1441322" y="260457"/>
                </a:lnTo>
                <a:lnTo>
                  <a:pt x="1470913" y="293337"/>
                </a:lnTo>
                <a:lnTo>
                  <a:pt x="1498753" y="327756"/>
                </a:lnTo>
                <a:lnTo>
                  <a:pt x="1524772" y="363645"/>
                </a:lnTo>
                <a:lnTo>
                  <a:pt x="1548898" y="400934"/>
                </a:lnTo>
                <a:lnTo>
                  <a:pt x="1571061" y="439551"/>
                </a:lnTo>
                <a:lnTo>
                  <a:pt x="1591190" y="479427"/>
                </a:lnTo>
                <a:lnTo>
                  <a:pt x="1609216" y="520490"/>
                </a:lnTo>
                <a:lnTo>
                  <a:pt x="1625067" y="562671"/>
                </a:lnTo>
                <a:lnTo>
                  <a:pt x="1638673" y="605899"/>
                </a:lnTo>
                <a:lnTo>
                  <a:pt x="1649963" y="650104"/>
                </a:lnTo>
                <a:lnTo>
                  <a:pt x="1658867" y="695214"/>
                </a:lnTo>
                <a:lnTo>
                  <a:pt x="1665315" y="741161"/>
                </a:lnTo>
                <a:lnTo>
                  <a:pt x="1669235" y="787872"/>
                </a:lnTo>
                <a:lnTo>
                  <a:pt x="1670558" y="835278"/>
                </a:lnTo>
                <a:lnTo>
                  <a:pt x="1669235" y="882672"/>
                </a:lnTo>
                <a:lnTo>
                  <a:pt x="1665315" y="929372"/>
                </a:lnTo>
                <a:lnTo>
                  <a:pt x="1658867" y="975307"/>
                </a:lnTo>
                <a:lnTo>
                  <a:pt x="1649963" y="1020408"/>
                </a:lnTo>
                <a:lnTo>
                  <a:pt x="1638673" y="1064603"/>
                </a:lnTo>
                <a:lnTo>
                  <a:pt x="1625067" y="1107822"/>
                </a:lnTo>
                <a:lnTo>
                  <a:pt x="1609216" y="1149995"/>
                </a:lnTo>
                <a:lnTo>
                  <a:pt x="1591190" y="1191052"/>
                </a:lnTo>
                <a:lnTo>
                  <a:pt x="1571061" y="1230921"/>
                </a:lnTo>
                <a:lnTo>
                  <a:pt x="1548898" y="1269532"/>
                </a:lnTo>
                <a:lnTo>
                  <a:pt x="1524772" y="1306815"/>
                </a:lnTo>
                <a:lnTo>
                  <a:pt x="1498753" y="1342699"/>
                </a:lnTo>
                <a:lnTo>
                  <a:pt x="1470913" y="1377115"/>
                </a:lnTo>
                <a:lnTo>
                  <a:pt x="1441322" y="1409990"/>
                </a:lnTo>
                <a:lnTo>
                  <a:pt x="1410050" y="1441255"/>
                </a:lnTo>
                <a:lnTo>
                  <a:pt x="1377168" y="1470840"/>
                </a:lnTo>
                <a:lnTo>
                  <a:pt x="1342747" y="1498674"/>
                </a:lnTo>
                <a:lnTo>
                  <a:pt x="1306856" y="1524686"/>
                </a:lnTo>
                <a:lnTo>
                  <a:pt x="1269567" y="1548805"/>
                </a:lnTo>
                <a:lnTo>
                  <a:pt x="1230950" y="1570963"/>
                </a:lnTo>
                <a:lnTo>
                  <a:pt x="1191075" y="1591087"/>
                </a:lnTo>
                <a:lnTo>
                  <a:pt x="1150014" y="1609107"/>
                </a:lnTo>
                <a:lnTo>
                  <a:pt x="1107836" y="1624954"/>
                </a:lnTo>
                <a:lnTo>
                  <a:pt x="1064613" y="1638556"/>
                </a:lnTo>
                <a:lnTo>
                  <a:pt x="1020414" y="1649843"/>
                </a:lnTo>
                <a:lnTo>
                  <a:pt x="975311" y="1658744"/>
                </a:lnTo>
                <a:lnTo>
                  <a:pt x="929373" y="1665190"/>
                </a:lnTo>
                <a:lnTo>
                  <a:pt x="882672" y="1669109"/>
                </a:lnTo>
                <a:lnTo>
                  <a:pt x="835279" y="1670430"/>
                </a:lnTo>
                <a:lnTo>
                  <a:pt x="787885" y="1669109"/>
                </a:lnTo>
                <a:lnTo>
                  <a:pt x="741184" y="1665190"/>
                </a:lnTo>
                <a:lnTo>
                  <a:pt x="695246" y="1658744"/>
                </a:lnTo>
                <a:lnTo>
                  <a:pt x="650143" y="1649843"/>
                </a:lnTo>
                <a:lnTo>
                  <a:pt x="605944" y="1638556"/>
                </a:lnTo>
                <a:lnTo>
                  <a:pt x="562721" y="1624954"/>
                </a:lnTo>
                <a:lnTo>
                  <a:pt x="520543" y="1609107"/>
                </a:lnTo>
                <a:lnTo>
                  <a:pt x="479482" y="1591087"/>
                </a:lnTo>
                <a:lnTo>
                  <a:pt x="439607" y="1570963"/>
                </a:lnTo>
                <a:lnTo>
                  <a:pt x="400990" y="1548805"/>
                </a:lnTo>
                <a:lnTo>
                  <a:pt x="363701" y="1524686"/>
                </a:lnTo>
                <a:lnTo>
                  <a:pt x="327810" y="1498674"/>
                </a:lnTo>
                <a:lnTo>
                  <a:pt x="293389" y="1470840"/>
                </a:lnTo>
                <a:lnTo>
                  <a:pt x="260507" y="1441255"/>
                </a:lnTo>
                <a:lnTo>
                  <a:pt x="229235" y="1409990"/>
                </a:lnTo>
                <a:lnTo>
                  <a:pt x="199644" y="1377115"/>
                </a:lnTo>
                <a:lnTo>
                  <a:pt x="171804" y="1342699"/>
                </a:lnTo>
                <a:lnTo>
                  <a:pt x="145785" y="1306815"/>
                </a:lnTo>
                <a:lnTo>
                  <a:pt x="121659" y="1269532"/>
                </a:lnTo>
                <a:lnTo>
                  <a:pt x="99496" y="1230921"/>
                </a:lnTo>
                <a:lnTo>
                  <a:pt x="79367" y="1191052"/>
                </a:lnTo>
                <a:lnTo>
                  <a:pt x="61341" y="1149995"/>
                </a:lnTo>
                <a:lnTo>
                  <a:pt x="45490" y="1107822"/>
                </a:lnTo>
                <a:lnTo>
                  <a:pt x="31884" y="1064603"/>
                </a:lnTo>
                <a:lnTo>
                  <a:pt x="20594" y="1020408"/>
                </a:lnTo>
                <a:lnTo>
                  <a:pt x="11690" y="975307"/>
                </a:lnTo>
                <a:lnTo>
                  <a:pt x="5242" y="929372"/>
                </a:lnTo>
                <a:lnTo>
                  <a:pt x="1322" y="882672"/>
                </a:lnTo>
                <a:lnTo>
                  <a:pt x="0" y="835278"/>
                </a:lnTo>
                <a:close/>
              </a:path>
            </a:pathLst>
          </a:custGeom>
          <a:ln w="1270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 txBox="1"/>
          <p:nvPr/>
        </p:nvSpPr>
        <p:spPr>
          <a:xfrm>
            <a:off x="6768210" y="1970278"/>
            <a:ext cx="72390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10" dirty="0">
                <a:latin typeface="Calibri"/>
                <a:cs typeface="Calibri"/>
              </a:rPr>
              <a:t>Neuron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12" name="object 12"/>
          <p:cNvSpPr/>
          <p:nvPr/>
        </p:nvSpPr>
        <p:spPr>
          <a:xfrm>
            <a:off x="4686300" y="1121028"/>
            <a:ext cx="4897755" cy="1757680"/>
          </a:xfrm>
          <a:custGeom>
            <a:avLst/>
            <a:gdLst/>
            <a:ahLst/>
            <a:cxnLst/>
            <a:rect l="l" t="t" r="r" b="b"/>
            <a:pathLst>
              <a:path w="4897755" h="1757680">
                <a:moveTo>
                  <a:pt x="1608963" y="1014095"/>
                </a:moveTo>
                <a:lnTo>
                  <a:pt x="1602613" y="1010920"/>
                </a:lnTo>
                <a:lnTo>
                  <a:pt x="1532763" y="975995"/>
                </a:lnTo>
                <a:lnTo>
                  <a:pt x="1532763" y="1010920"/>
                </a:lnTo>
                <a:lnTo>
                  <a:pt x="0" y="1010920"/>
                </a:lnTo>
                <a:lnTo>
                  <a:pt x="0" y="1017270"/>
                </a:lnTo>
                <a:lnTo>
                  <a:pt x="1532763" y="1017270"/>
                </a:lnTo>
                <a:lnTo>
                  <a:pt x="1532763" y="1052195"/>
                </a:lnTo>
                <a:lnTo>
                  <a:pt x="1602613" y="1017270"/>
                </a:lnTo>
                <a:lnTo>
                  <a:pt x="1608963" y="1014095"/>
                </a:lnTo>
                <a:close/>
              </a:path>
              <a:path w="4897755" h="1757680">
                <a:moveTo>
                  <a:pt x="1737995" y="524637"/>
                </a:moveTo>
                <a:lnTo>
                  <a:pt x="1720227" y="505841"/>
                </a:lnTo>
                <a:lnTo>
                  <a:pt x="1679448" y="462661"/>
                </a:lnTo>
                <a:lnTo>
                  <a:pt x="1667433" y="495541"/>
                </a:lnTo>
                <a:lnTo>
                  <a:pt x="308864" y="0"/>
                </a:lnTo>
                <a:lnTo>
                  <a:pt x="306705" y="5842"/>
                </a:lnTo>
                <a:lnTo>
                  <a:pt x="1665262" y="501510"/>
                </a:lnTo>
                <a:lnTo>
                  <a:pt x="1653286" y="534289"/>
                </a:lnTo>
                <a:lnTo>
                  <a:pt x="1737995" y="524637"/>
                </a:lnTo>
                <a:close/>
              </a:path>
              <a:path w="4897755" h="1757680">
                <a:moveTo>
                  <a:pt x="1749679" y="1540129"/>
                </a:moveTo>
                <a:lnTo>
                  <a:pt x="1668907" y="1512951"/>
                </a:lnTo>
                <a:lnTo>
                  <a:pt x="1673720" y="1547482"/>
                </a:lnTo>
                <a:lnTo>
                  <a:pt x="219329" y="1750822"/>
                </a:lnTo>
                <a:lnTo>
                  <a:pt x="220218" y="1757172"/>
                </a:lnTo>
                <a:lnTo>
                  <a:pt x="1674609" y="1553832"/>
                </a:lnTo>
                <a:lnTo>
                  <a:pt x="1679448" y="1588389"/>
                </a:lnTo>
                <a:lnTo>
                  <a:pt x="1741538" y="1545717"/>
                </a:lnTo>
                <a:lnTo>
                  <a:pt x="1749679" y="1540129"/>
                </a:lnTo>
                <a:close/>
              </a:path>
              <a:path w="4897755" h="1757680">
                <a:moveTo>
                  <a:pt x="4897628" y="1014095"/>
                </a:moveTo>
                <a:lnTo>
                  <a:pt x="4891278" y="1010920"/>
                </a:lnTo>
                <a:lnTo>
                  <a:pt x="4821428" y="975995"/>
                </a:lnTo>
                <a:lnTo>
                  <a:pt x="4821428" y="1010920"/>
                </a:lnTo>
                <a:lnTo>
                  <a:pt x="3288665" y="1010920"/>
                </a:lnTo>
                <a:lnTo>
                  <a:pt x="3288665" y="1017270"/>
                </a:lnTo>
                <a:lnTo>
                  <a:pt x="4821428" y="1017270"/>
                </a:lnTo>
                <a:lnTo>
                  <a:pt x="4821428" y="1052195"/>
                </a:lnTo>
                <a:lnTo>
                  <a:pt x="4891278" y="1017270"/>
                </a:lnTo>
                <a:lnTo>
                  <a:pt x="4897628" y="1014095"/>
                </a:lnTo>
                <a:close/>
              </a:path>
            </a:pathLst>
          </a:custGeom>
          <a:solidFill>
            <a:srgbClr val="5B9BD4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3"/>
          <p:cNvSpPr txBox="1"/>
          <p:nvPr/>
        </p:nvSpPr>
        <p:spPr>
          <a:xfrm>
            <a:off x="4346194" y="1915490"/>
            <a:ext cx="240665" cy="3003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25" dirty="0">
                <a:latin typeface="Calibri"/>
                <a:cs typeface="Calibri"/>
              </a:rPr>
              <a:t>x2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4527041" y="2808478"/>
            <a:ext cx="24066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25" dirty="0">
                <a:latin typeface="Calibri"/>
                <a:cs typeface="Calibri"/>
              </a:rPr>
              <a:t>x3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4667250" y="874521"/>
            <a:ext cx="24066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25" dirty="0">
                <a:latin typeface="Calibri"/>
                <a:cs typeface="Calibri"/>
              </a:rPr>
              <a:t>x1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16" name="object 16"/>
          <p:cNvSpPr txBox="1"/>
          <p:nvPr/>
        </p:nvSpPr>
        <p:spPr>
          <a:xfrm>
            <a:off x="9352026" y="1808479"/>
            <a:ext cx="12890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50" dirty="0">
                <a:latin typeface="Calibri"/>
                <a:cs typeface="Calibri"/>
              </a:rPr>
              <a:t>y</a:t>
            </a:r>
            <a:endParaRPr sz="1800">
              <a:latin typeface="Calibri"/>
              <a:cs typeface="Calibri"/>
            </a:endParaRPr>
          </a:p>
        </p:txBody>
      </p:sp>
      <p:grpSp>
        <p:nvGrpSpPr>
          <p:cNvPr id="17" name="object 17"/>
          <p:cNvGrpSpPr/>
          <p:nvPr/>
        </p:nvGrpSpPr>
        <p:grpSpPr>
          <a:xfrm>
            <a:off x="5365750" y="1059433"/>
            <a:ext cx="540385" cy="534670"/>
            <a:chOff x="5365750" y="1059433"/>
            <a:chExt cx="540385" cy="534670"/>
          </a:xfrm>
        </p:grpSpPr>
        <p:sp>
          <p:nvSpPr>
            <p:cNvPr id="18" name="object 18"/>
            <p:cNvSpPr/>
            <p:nvPr/>
          </p:nvSpPr>
          <p:spPr>
            <a:xfrm>
              <a:off x="5372100" y="1065783"/>
              <a:ext cx="527685" cy="521970"/>
            </a:xfrm>
            <a:custGeom>
              <a:avLst/>
              <a:gdLst/>
              <a:ahLst/>
              <a:cxnLst/>
              <a:rect l="l" t="t" r="r" b="b"/>
              <a:pathLst>
                <a:path w="527685" h="521969">
                  <a:moveTo>
                    <a:pt x="263778" y="0"/>
                  </a:moveTo>
                  <a:lnTo>
                    <a:pt x="216367" y="4200"/>
                  </a:lnTo>
                  <a:lnTo>
                    <a:pt x="171742" y="16311"/>
                  </a:lnTo>
                  <a:lnTo>
                    <a:pt x="130650" y="35597"/>
                  </a:lnTo>
                  <a:lnTo>
                    <a:pt x="93834" y="61325"/>
                  </a:lnTo>
                  <a:lnTo>
                    <a:pt x="62041" y="92758"/>
                  </a:lnTo>
                  <a:lnTo>
                    <a:pt x="36016" y="129163"/>
                  </a:lnTo>
                  <a:lnTo>
                    <a:pt x="16504" y="169805"/>
                  </a:lnTo>
                  <a:lnTo>
                    <a:pt x="4250" y="213948"/>
                  </a:lnTo>
                  <a:lnTo>
                    <a:pt x="0" y="260857"/>
                  </a:lnTo>
                  <a:lnTo>
                    <a:pt x="4250" y="307734"/>
                  </a:lnTo>
                  <a:lnTo>
                    <a:pt x="16504" y="351859"/>
                  </a:lnTo>
                  <a:lnTo>
                    <a:pt x="36016" y="392495"/>
                  </a:lnTo>
                  <a:lnTo>
                    <a:pt x="62041" y="428904"/>
                  </a:lnTo>
                  <a:lnTo>
                    <a:pt x="93834" y="460349"/>
                  </a:lnTo>
                  <a:lnTo>
                    <a:pt x="130650" y="486090"/>
                  </a:lnTo>
                  <a:lnTo>
                    <a:pt x="171742" y="505390"/>
                  </a:lnTo>
                  <a:lnTo>
                    <a:pt x="216367" y="517511"/>
                  </a:lnTo>
                  <a:lnTo>
                    <a:pt x="263778" y="521715"/>
                  </a:lnTo>
                  <a:lnTo>
                    <a:pt x="311190" y="517511"/>
                  </a:lnTo>
                  <a:lnTo>
                    <a:pt x="355815" y="505390"/>
                  </a:lnTo>
                  <a:lnTo>
                    <a:pt x="396907" y="486090"/>
                  </a:lnTo>
                  <a:lnTo>
                    <a:pt x="433723" y="460349"/>
                  </a:lnTo>
                  <a:lnTo>
                    <a:pt x="465516" y="428904"/>
                  </a:lnTo>
                  <a:lnTo>
                    <a:pt x="491541" y="392495"/>
                  </a:lnTo>
                  <a:lnTo>
                    <a:pt x="511053" y="351859"/>
                  </a:lnTo>
                  <a:lnTo>
                    <a:pt x="523307" y="307734"/>
                  </a:lnTo>
                  <a:lnTo>
                    <a:pt x="527558" y="260857"/>
                  </a:lnTo>
                  <a:lnTo>
                    <a:pt x="523307" y="213948"/>
                  </a:lnTo>
                  <a:lnTo>
                    <a:pt x="511053" y="169805"/>
                  </a:lnTo>
                  <a:lnTo>
                    <a:pt x="491541" y="129163"/>
                  </a:lnTo>
                  <a:lnTo>
                    <a:pt x="465516" y="92758"/>
                  </a:lnTo>
                  <a:lnTo>
                    <a:pt x="433723" y="61325"/>
                  </a:lnTo>
                  <a:lnTo>
                    <a:pt x="396907" y="35597"/>
                  </a:lnTo>
                  <a:lnTo>
                    <a:pt x="355815" y="16311"/>
                  </a:lnTo>
                  <a:lnTo>
                    <a:pt x="311190" y="4200"/>
                  </a:lnTo>
                  <a:lnTo>
                    <a:pt x="263778" y="0"/>
                  </a:lnTo>
                  <a:close/>
                </a:path>
              </a:pathLst>
            </a:custGeom>
            <a:solidFill>
              <a:srgbClr val="5B9BD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9" name="object 19"/>
            <p:cNvSpPr/>
            <p:nvPr/>
          </p:nvSpPr>
          <p:spPr>
            <a:xfrm>
              <a:off x="5372100" y="1065783"/>
              <a:ext cx="527685" cy="521970"/>
            </a:xfrm>
            <a:custGeom>
              <a:avLst/>
              <a:gdLst/>
              <a:ahLst/>
              <a:cxnLst/>
              <a:rect l="l" t="t" r="r" b="b"/>
              <a:pathLst>
                <a:path w="527685" h="521969">
                  <a:moveTo>
                    <a:pt x="0" y="260857"/>
                  </a:moveTo>
                  <a:lnTo>
                    <a:pt x="4250" y="213948"/>
                  </a:lnTo>
                  <a:lnTo>
                    <a:pt x="16504" y="169805"/>
                  </a:lnTo>
                  <a:lnTo>
                    <a:pt x="36016" y="129163"/>
                  </a:lnTo>
                  <a:lnTo>
                    <a:pt x="62041" y="92758"/>
                  </a:lnTo>
                  <a:lnTo>
                    <a:pt x="93834" y="61325"/>
                  </a:lnTo>
                  <a:lnTo>
                    <a:pt x="130650" y="35597"/>
                  </a:lnTo>
                  <a:lnTo>
                    <a:pt x="171742" y="16311"/>
                  </a:lnTo>
                  <a:lnTo>
                    <a:pt x="216367" y="4200"/>
                  </a:lnTo>
                  <a:lnTo>
                    <a:pt x="263778" y="0"/>
                  </a:lnTo>
                  <a:lnTo>
                    <a:pt x="311190" y="4200"/>
                  </a:lnTo>
                  <a:lnTo>
                    <a:pt x="355815" y="16311"/>
                  </a:lnTo>
                  <a:lnTo>
                    <a:pt x="396907" y="35597"/>
                  </a:lnTo>
                  <a:lnTo>
                    <a:pt x="433723" y="61325"/>
                  </a:lnTo>
                  <a:lnTo>
                    <a:pt x="465516" y="92758"/>
                  </a:lnTo>
                  <a:lnTo>
                    <a:pt x="491541" y="129163"/>
                  </a:lnTo>
                  <a:lnTo>
                    <a:pt x="511053" y="169805"/>
                  </a:lnTo>
                  <a:lnTo>
                    <a:pt x="523307" y="213948"/>
                  </a:lnTo>
                  <a:lnTo>
                    <a:pt x="527558" y="260857"/>
                  </a:lnTo>
                  <a:lnTo>
                    <a:pt x="523307" y="307734"/>
                  </a:lnTo>
                  <a:lnTo>
                    <a:pt x="511053" y="351859"/>
                  </a:lnTo>
                  <a:lnTo>
                    <a:pt x="491541" y="392495"/>
                  </a:lnTo>
                  <a:lnTo>
                    <a:pt x="465516" y="428904"/>
                  </a:lnTo>
                  <a:lnTo>
                    <a:pt x="433723" y="460349"/>
                  </a:lnTo>
                  <a:lnTo>
                    <a:pt x="396907" y="486090"/>
                  </a:lnTo>
                  <a:lnTo>
                    <a:pt x="355815" y="505390"/>
                  </a:lnTo>
                  <a:lnTo>
                    <a:pt x="311190" y="517511"/>
                  </a:lnTo>
                  <a:lnTo>
                    <a:pt x="263778" y="521715"/>
                  </a:lnTo>
                  <a:lnTo>
                    <a:pt x="216367" y="517511"/>
                  </a:lnTo>
                  <a:lnTo>
                    <a:pt x="171742" y="505390"/>
                  </a:lnTo>
                  <a:lnTo>
                    <a:pt x="130650" y="486090"/>
                  </a:lnTo>
                  <a:lnTo>
                    <a:pt x="93834" y="460349"/>
                  </a:lnTo>
                  <a:lnTo>
                    <a:pt x="62041" y="428904"/>
                  </a:lnTo>
                  <a:lnTo>
                    <a:pt x="36016" y="392495"/>
                  </a:lnTo>
                  <a:lnTo>
                    <a:pt x="16504" y="351859"/>
                  </a:lnTo>
                  <a:lnTo>
                    <a:pt x="4250" y="307734"/>
                  </a:lnTo>
                  <a:lnTo>
                    <a:pt x="0" y="260857"/>
                  </a:lnTo>
                  <a:close/>
                </a:path>
              </a:pathLst>
            </a:custGeom>
            <a:ln w="12700">
              <a:solidFill>
                <a:srgbClr val="41709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0" name="object 20"/>
          <p:cNvSpPr txBox="1"/>
          <p:nvPr/>
        </p:nvSpPr>
        <p:spPr>
          <a:xfrm>
            <a:off x="5530977" y="1213484"/>
            <a:ext cx="21018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25" dirty="0">
                <a:solidFill>
                  <a:srgbClr val="FFFFFF"/>
                </a:solidFill>
                <a:latin typeface="Calibri"/>
                <a:cs typeface="Calibri"/>
              </a:rPr>
              <a:t>w1</a:t>
            </a:r>
            <a:endParaRPr sz="1200">
              <a:latin typeface="Calibri"/>
              <a:cs typeface="Calibri"/>
            </a:endParaRPr>
          </a:p>
        </p:txBody>
      </p:sp>
      <p:grpSp>
        <p:nvGrpSpPr>
          <p:cNvPr id="21" name="object 21"/>
          <p:cNvGrpSpPr/>
          <p:nvPr/>
        </p:nvGrpSpPr>
        <p:grpSpPr>
          <a:xfrm>
            <a:off x="5331840" y="1844675"/>
            <a:ext cx="540385" cy="534670"/>
            <a:chOff x="5331840" y="1844675"/>
            <a:chExt cx="540385" cy="534670"/>
          </a:xfrm>
        </p:grpSpPr>
        <p:sp>
          <p:nvSpPr>
            <p:cNvPr id="22" name="object 22"/>
            <p:cNvSpPr/>
            <p:nvPr/>
          </p:nvSpPr>
          <p:spPr>
            <a:xfrm>
              <a:off x="5338190" y="1851025"/>
              <a:ext cx="527685" cy="521970"/>
            </a:xfrm>
            <a:custGeom>
              <a:avLst/>
              <a:gdLst/>
              <a:ahLst/>
              <a:cxnLst/>
              <a:rect l="l" t="t" r="r" b="b"/>
              <a:pathLst>
                <a:path w="527685" h="521969">
                  <a:moveTo>
                    <a:pt x="263779" y="0"/>
                  </a:moveTo>
                  <a:lnTo>
                    <a:pt x="216367" y="4204"/>
                  </a:lnTo>
                  <a:lnTo>
                    <a:pt x="171742" y="16325"/>
                  </a:lnTo>
                  <a:lnTo>
                    <a:pt x="130650" y="35625"/>
                  </a:lnTo>
                  <a:lnTo>
                    <a:pt x="93834" y="61366"/>
                  </a:lnTo>
                  <a:lnTo>
                    <a:pt x="62041" y="92811"/>
                  </a:lnTo>
                  <a:lnTo>
                    <a:pt x="36016" y="129220"/>
                  </a:lnTo>
                  <a:lnTo>
                    <a:pt x="16504" y="169856"/>
                  </a:lnTo>
                  <a:lnTo>
                    <a:pt x="4250" y="213981"/>
                  </a:lnTo>
                  <a:lnTo>
                    <a:pt x="0" y="260858"/>
                  </a:lnTo>
                  <a:lnTo>
                    <a:pt x="4250" y="307734"/>
                  </a:lnTo>
                  <a:lnTo>
                    <a:pt x="16504" y="351859"/>
                  </a:lnTo>
                  <a:lnTo>
                    <a:pt x="36016" y="392495"/>
                  </a:lnTo>
                  <a:lnTo>
                    <a:pt x="62041" y="428904"/>
                  </a:lnTo>
                  <a:lnTo>
                    <a:pt x="93834" y="460349"/>
                  </a:lnTo>
                  <a:lnTo>
                    <a:pt x="130650" y="486090"/>
                  </a:lnTo>
                  <a:lnTo>
                    <a:pt x="171742" y="505390"/>
                  </a:lnTo>
                  <a:lnTo>
                    <a:pt x="216367" y="517511"/>
                  </a:lnTo>
                  <a:lnTo>
                    <a:pt x="263779" y="521715"/>
                  </a:lnTo>
                  <a:lnTo>
                    <a:pt x="311190" y="517511"/>
                  </a:lnTo>
                  <a:lnTo>
                    <a:pt x="355815" y="505390"/>
                  </a:lnTo>
                  <a:lnTo>
                    <a:pt x="396907" y="486090"/>
                  </a:lnTo>
                  <a:lnTo>
                    <a:pt x="433723" y="460349"/>
                  </a:lnTo>
                  <a:lnTo>
                    <a:pt x="465516" y="428904"/>
                  </a:lnTo>
                  <a:lnTo>
                    <a:pt x="491541" y="392495"/>
                  </a:lnTo>
                  <a:lnTo>
                    <a:pt x="511053" y="351859"/>
                  </a:lnTo>
                  <a:lnTo>
                    <a:pt x="523307" y="307734"/>
                  </a:lnTo>
                  <a:lnTo>
                    <a:pt x="527558" y="260858"/>
                  </a:lnTo>
                  <a:lnTo>
                    <a:pt x="523307" y="213981"/>
                  </a:lnTo>
                  <a:lnTo>
                    <a:pt x="511053" y="169856"/>
                  </a:lnTo>
                  <a:lnTo>
                    <a:pt x="491541" y="129220"/>
                  </a:lnTo>
                  <a:lnTo>
                    <a:pt x="465516" y="92811"/>
                  </a:lnTo>
                  <a:lnTo>
                    <a:pt x="433723" y="61366"/>
                  </a:lnTo>
                  <a:lnTo>
                    <a:pt x="396907" y="35625"/>
                  </a:lnTo>
                  <a:lnTo>
                    <a:pt x="355815" y="16325"/>
                  </a:lnTo>
                  <a:lnTo>
                    <a:pt x="311190" y="4204"/>
                  </a:lnTo>
                  <a:lnTo>
                    <a:pt x="263779" y="0"/>
                  </a:lnTo>
                  <a:close/>
                </a:path>
              </a:pathLst>
            </a:custGeom>
            <a:solidFill>
              <a:srgbClr val="5B9BD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3" name="object 23"/>
            <p:cNvSpPr/>
            <p:nvPr/>
          </p:nvSpPr>
          <p:spPr>
            <a:xfrm>
              <a:off x="5338190" y="1851025"/>
              <a:ext cx="527685" cy="521970"/>
            </a:xfrm>
            <a:custGeom>
              <a:avLst/>
              <a:gdLst/>
              <a:ahLst/>
              <a:cxnLst/>
              <a:rect l="l" t="t" r="r" b="b"/>
              <a:pathLst>
                <a:path w="527685" h="521969">
                  <a:moveTo>
                    <a:pt x="0" y="260858"/>
                  </a:moveTo>
                  <a:lnTo>
                    <a:pt x="4250" y="213981"/>
                  </a:lnTo>
                  <a:lnTo>
                    <a:pt x="16504" y="169856"/>
                  </a:lnTo>
                  <a:lnTo>
                    <a:pt x="36016" y="129220"/>
                  </a:lnTo>
                  <a:lnTo>
                    <a:pt x="62041" y="92811"/>
                  </a:lnTo>
                  <a:lnTo>
                    <a:pt x="93834" y="61366"/>
                  </a:lnTo>
                  <a:lnTo>
                    <a:pt x="130650" y="35625"/>
                  </a:lnTo>
                  <a:lnTo>
                    <a:pt x="171742" y="16325"/>
                  </a:lnTo>
                  <a:lnTo>
                    <a:pt x="216367" y="4204"/>
                  </a:lnTo>
                  <a:lnTo>
                    <a:pt x="263779" y="0"/>
                  </a:lnTo>
                  <a:lnTo>
                    <a:pt x="311190" y="4204"/>
                  </a:lnTo>
                  <a:lnTo>
                    <a:pt x="355815" y="16325"/>
                  </a:lnTo>
                  <a:lnTo>
                    <a:pt x="396907" y="35625"/>
                  </a:lnTo>
                  <a:lnTo>
                    <a:pt x="433723" y="61366"/>
                  </a:lnTo>
                  <a:lnTo>
                    <a:pt x="465516" y="92811"/>
                  </a:lnTo>
                  <a:lnTo>
                    <a:pt x="491541" y="129220"/>
                  </a:lnTo>
                  <a:lnTo>
                    <a:pt x="511053" y="169856"/>
                  </a:lnTo>
                  <a:lnTo>
                    <a:pt x="523307" y="213981"/>
                  </a:lnTo>
                  <a:lnTo>
                    <a:pt x="527558" y="260858"/>
                  </a:lnTo>
                  <a:lnTo>
                    <a:pt x="523307" y="307734"/>
                  </a:lnTo>
                  <a:lnTo>
                    <a:pt x="511053" y="351859"/>
                  </a:lnTo>
                  <a:lnTo>
                    <a:pt x="491541" y="392495"/>
                  </a:lnTo>
                  <a:lnTo>
                    <a:pt x="465516" y="428904"/>
                  </a:lnTo>
                  <a:lnTo>
                    <a:pt x="433723" y="460349"/>
                  </a:lnTo>
                  <a:lnTo>
                    <a:pt x="396907" y="486090"/>
                  </a:lnTo>
                  <a:lnTo>
                    <a:pt x="355815" y="505390"/>
                  </a:lnTo>
                  <a:lnTo>
                    <a:pt x="311190" y="517511"/>
                  </a:lnTo>
                  <a:lnTo>
                    <a:pt x="263779" y="521715"/>
                  </a:lnTo>
                  <a:lnTo>
                    <a:pt x="216367" y="517511"/>
                  </a:lnTo>
                  <a:lnTo>
                    <a:pt x="171742" y="505390"/>
                  </a:lnTo>
                  <a:lnTo>
                    <a:pt x="130650" y="486090"/>
                  </a:lnTo>
                  <a:lnTo>
                    <a:pt x="93834" y="460349"/>
                  </a:lnTo>
                  <a:lnTo>
                    <a:pt x="62041" y="428904"/>
                  </a:lnTo>
                  <a:lnTo>
                    <a:pt x="36016" y="392495"/>
                  </a:lnTo>
                  <a:lnTo>
                    <a:pt x="16504" y="351859"/>
                  </a:lnTo>
                  <a:lnTo>
                    <a:pt x="4250" y="307734"/>
                  </a:lnTo>
                  <a:lnTo>
                    <a:pt x="0" y="260858"/>
                  </a:lnTo>
                  <a:close/>
                </a:path>
              </a:pathLst>
            </a:custGeom>
            <a:ln w="12700">
              <a:solidFill>
                <a:srgbClr val="41709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4" name="object 24"/>
          <p:cNvSpPr txBox="1"/>
          <p:nvPr/>
        </p:nvSpPr>
        <p:spPr>
          <a:xfrm>
            <a:off x="5497195" y="1998979"/>
            <a:ext cx="21018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25" dirty="0">
                <a:solidFill>
                  <a:srgbClr val="FFFFFF"/>
                </a:solidFill>
                <a:latin typeface="Calibri"/>
                <a:cs typeface="Calibri"/>
              </a:rPr>
              <a:t>w2</a:t>
            </a:r>
            <a:endParaRPr sz="1200">
              <a:latin typeface="Calibri"/>
              <a:cs typeface="Calibri"/>
            </a:endParaRPr>
          </a:p>
        </p:txBody>
      </p:sp>
      <p:grpSp>
        <p:nvGrpSpPr>
          <p:cNvPr id="25" name="object 25"/>
          <p:cNvGrpSpPr/>
          <p:nvPr/>
        </p:nvGrpSpPr>
        <p:grpSpPr>
          <a:xfrm>
            <a:off x="5370321" y="2525141"/>
            <a:ext cx="540385" cy="534670"/>
            <a:chOff x="5370321" y="2525141"/>
            <a:chExt cx="540385" cy="534670"/>
          </a:xfrm>
        </p:grpSpPr>
        <p:sp>
          <p:nvSpPr>
            <p:cNvPr id="26" name="object 26"/>
            <p:cNvSpPr/>
            <p:nvPr/>
          </p:nvSpPr>
          <p:spPr>
            <a:xfrm>
              <a:off x="5376671" y="2531491"/>
              <a:ext cx="527685" cy="521970"/>
            </a:xfrm>
            <a:custGeom>
              <a:avLst/>
              <a:gdLst/>
              <a:ahLst/>
              <a:cxnLst/>
              <a:rect l="l" t="t" r="r" b="b"/>
              <a:pathLst>
                <a:path w="527685" h="521969">
                  <a:moveTo>
                    <a:pt x="263778" y="0"/>
                  </a:moveTo>
                  <a:lnTo>
                    <a:pt x="216367" y="4200"/>
                  </a:lnTo>
                  <a:lnTo>
                    <a:pt x="171742" y="16311"/>
                  </a:lnTo>
                  <a:lnTo>
                    <a:pt x="130650" y="35597"/>
                  </a:lnTo>
                  <a:lnTo>
                    <a:pt x="93834" y="61325"/>
                  </a:lnTo>
                  <a:lnTo>
                    <a:pt x="62041" y="92758"/>
                  </a:lnTo>
                  <a:lnTo>
                    <a:pt x="36016" y="129163"/>
                  </a:lnTo>
                  <a:lnTo>
                    <a:pt x="16504" y="169805"/>
                  </a:lnTo>
                  <a:lnTo>
                    <a:pt x="4250" y="213948"/>
                  </a:lnTo>
                  <a:lnTo>
                    <a:pt x="0" y="260858"/>
                  </a:lnTo>
                  <a:lnTo>
                    <a:pt x="4250" y="307730"/>
                  </a:lnTo>
                  <a:lnTo>
                    <a:pt x="16504" y="351843"/>
                  </a:lnTo>
                  <a:lnTo>
                    <a:pt x="36016" y="392462"/>
                  </a:lnTo>
                  <a:lnTo>
                    <a:pt x="62041" y="428851"/>
                  </a:lnTo>
                  <a:lnTo>
                    <a:pt x="93834" y="460275"/>
                  </a:lnTo>
                  <a:lnTo>
                    <a:pt x="130650" y="485996"/>
                  </a:lnTo>
                  <a:lnTo>
                    <a:pt x="171742" y="505279"/>
                  </a:lnTo>
                  <a:lnTo>
                    <a:pt x="216367" y="517388"/>
                  </a:lnTo>
                  <a:lnTo>
                    <a:pt x="263778" y="521588"/>
                  </a:lnTo>
                  <a:lnTo>
                    <a:pt x="311190" y="517388"/>
                  </a:lnTo>
                  <a:lnTo>
                    <a:pt x="355815" y="505279"/>
                  </a:lnTo>
                  <a:lnTo>
                    <a:pt x="396907" y="485996"/>
                  </a:lnTo>
                  <a:lnTo>
                    <a:pt x="433723" y="460275"/>
                  </a:lnTo>
                  <a:lnTo>
                    <a:pt x="465516" y="428851"/>
                  </a:lnTo>
                  <a:lnTo>
                    <a:pt x="491541" y="392462"/>
                  </a:lnTo>
                  <a:lnTo>
                    <a:pt x="511053" y="351843"/>
                  </a:lnTo>
                  <a:lnTo>
                    <a:pt x="523307" y="307730"/>
                  </a:lnTo>
                  <a:lnTo>
                    <a:pt x="527557" y="260858"/>
                  </a:lnTo>
                  <a:lnTo>
                    <a:pt x="523307" y="213948"/>
                  </a:lnTo>
                  <a:lnTo>
                    <a:pt x="511053" y="169805"/>
                  </a:lnTo>
                  <a:lnTo>
                    <a:pt x="491541" y="129163"/>
                  </a:lnTo>
                  <a:lnTo>
                    <a:pt x="465516" y="92758"/>
                  </a:lnTo>
                  <a:lnTo>
                    <a:pt x="433723" y="61325"/>
                  </a:lnTo>
                  <a:lnTo>
                    <a:pt x="396907" y="35597"/>
                  </a:lnTo>
                  <a:lnTo>
                    <a:pt x="355815" y="16311"/>
                  </a:lnTo>
                  <a:lnTo>
                    <a:pt x="311190" y="4200"/>
                  </a:lnTo>
                  <a:lnTo>
                    <a:pt x="263778" y="0"/>
                  </a:lnTo>
                  <a:close/>
                </a:path>
              </a:pathLst>
            </a:custGeom>
            <a:solidFill>
              <a:srgbClr val="5B9BD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7" name="object 27"/>
            <p:cNvSpPr/>
            <p:nvPr/>
          </p:nvSpPr>
          <p:spPr>
            <a:xfrm>
              <a:off x="5376671" y="2531491"/>
              <a:ext cx="527685" cy="521970"/>
            </a:xfrm>
            <a:custGeom>
              <a:avLst/>
              <a:gdLst/>
              <a:ahLst/>
              <a:cxnLst/>
              <a:rect l="l" t="t" r="r" b="b"/>
              <a:pathLst>
                <a:path w="527685" h="521969">
                  <a:moveTo>
                    <a:pt x="0" y="260858"/>
                  </a:moveTo>
                  <a:lnTo>
                    <a:pt x="4250" y="213948"/>
                  </a:lnTo>
                  <a:lnTo>
                    <a:pt x="16504" y="169805"/>
                  </a:lnTo>
                  <a:lnTo>
                    <a:pt x="36016" y="129163"/>
                  </a:lnTo>
                  <a:lnTo>
                    <a:pt x="62041" y="92758"/>
                  </a:lnTo>
                  <a:lnTo>
                    <a:pt x="93834" y="61325"/>
                  </a:lnTo>
                  <a:lnTo>
                    <a:pt x="130650" y="35597"/>
                  </a:lnTo>
                  <a:lnTo>
                    <a:pt x="171742" y="16311"/>
                  </a:lnTo>
                  <a:lnTo>
                    <a:pt x="216367" y="4200"/>
                  </a:lnTo>
                  <a:lnTo>
                    <a:pt x="263778" y="0"/>
                  </a:lnTo>
                  <a:lnTo>
                    <a:pt x="311190" y="4200"/>
                  </a:lnTo>
                  <a:lnTo>
                    <a:pt x="355815" y="16311"/>
                  </a:lnTo>
                  <a:lnTo>
                    <a:pt x="396907" y="35597"/>
                  </a:lnTo>
                  <a:lnTo>
                    <a:pt x="433723" y="61325"/>
                  </a:lnTo>
                  <a:lnTo>
                    <a:pt x="465516" y="92758"/>
                  </a:lnTo>
                  <a:lnTo>
                    <a:pt x="491541" y="129163"/>
                  </a:lnTo>
                  <a:lnTo>
                    <a:pt x="511053" y="169805"/>
                  </a:lnTo>
                  <a:lnTo>
                    <a:pt x="523307" y="213948"/>
                  </a:lnTo>
                  <a:lnTo>
                    <a:pt x="527557" y="260858"/>
                  </a:lnTo>
                  <a:lnTo>
                    <a:pt x="523307" y="307730"/>
                  </a:lnTo>
                  <a:lnTo>
                    <a:pt x="511053" y="351843"/>
                  </a:lnTo>
                  <a:lnTo>
                    <a:pt x="491541" y="392462"/>
                  </a:lnTo>
                  <a:lnTo>
                    <a:pt x="465516" y="428851"/>
                  </a:lnTo>
                  <a:lnTo>
                    <a:pt x="433723" y="460275"/>
                  </a:lnTo>
                  <a:lnTo>
                    <a:pt x="396907" y="485996"/>
                  </a:lnTo>
                  <a:lnTo>
                    <a:pt x="355815" y="505279"/>
                  </a:lnTo>
                  <a:lnTo>
                    <a:pt x="311190" y="517388"/>
                  </a:lnTo>
                  <a:lnTo>
                    <a:pt x="263778" y="521588"/>
                  </a:lnTo>
                  <a:lnTo>
                    <a:pt x="216367" y="517388"/>
                  </a:lnTo>
                  <a:lnTo>
                    <a:pt x="171742" y="505279"/>
                  </a:lnTo>
                  <a:lnTo>
                    <a:pt x="130650" y="485996"/>
                  </a:lnTo>
                  <a:lnTo>
                    <a:pt x="93834" y="460275"/>
                  </a:lnTo>
                  <a:lnTo>
                    <a:pt x="62041" y="428851"/>
                  </a:lnTo>
                  <a:lnTo>
                    <a:pt x="36016" y="392462"/>
                  </a:lnTo>
                  <a:lnTo>
                    <a:pt x="16504" y="351843"/>
                  </a:lnTo>
                  <a:lnTo>
                    <a:pt x="4250" y="307730"/>
                  </a:lnTo>
                  <a:lnTo>
                    <a:pt x="0" y="260858"/>
                  </a:lnTo>
                  <a:close/>
                </a:path>
              </a:pathLst>
            </a:custGeom>
            <a:ln w="12700">
              <a:solidFill>
                <a:srgbClr val="41709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8" name="object 28"/>
          <p:cNvSpPr txBox="1"/>
          <p:nvPr/>
        </p:nvSpPr>
        <p:spPr>
          <a:xfrm>
            <a:off x="5535548" y="2679572"/>
            <a:ext cx="21018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25" dirty="0">
                <a:solidFill>
                  <a:srgbClr val="FFFFFF"/>
                </a:solidFill>
                <a:latin typeface="Calibri"/>
                <a:cs typeface="Calibri"/>
              </a:rPr>
              <a:t>w3</a:t>
            </a:r>
            <a:endParaRPr sz="1200">
              <a:latin typeface="Calibri"/>
              <a:cs typeface="Calibri"/>
            </a:endParaRPr>
          </a:p>
        </p:txBody>
      </p:sp>
      <p:grpSp>
        <p:nvGrpSpPr>
          <p:cNvPr id="29" name="object 29"/>
          <p:cNvGrpSpPr/>
          <p:nvPr/>
        </p:nvGrpSpPr>
        <p:grpSpPr>
          <a:xfrm>
            <a:off x="5619496" y="2891535"/>
            <a:ext cx="1137920" cy="738505"/>
            <a:chOff x="5619496" y="2891535"/>
            <a:chExt cx="1137920" cy="738505"/>
          </a:xfrm>
        </p:grpSpPr>
        <p:sp>
          <p:nvSpPr>
            <p:cNvPr id="30" name="object 30"/>
            <p:cNvSpPr/>
            <p:nvPr/>
          </p:nvSpPr>
          <p:spPr>
            <a:xfrm>
              <a:off x="5619496" y="2891535"/>
              <a:ext cx="1137920" cy="738505"/>
            </a:xfrm>
            <a:custGeom>
              <a:avLst/>
              <a:gdLst/>
              <a:ahLst/>
              <a:cxnLst/>
              <a:rect l="l" t="t" r="r" b="b"/>
              <a:pathLst>
                <a:path w="1137920" h="738504">
                  <a:moveTo>
                    <a:pt x="1137412" y="0"/>
                  </a:moveTo>
                  <a:lnTo>
                    <a:pt x="1052703" y="9398"/>
                  </a:lnTo>
                  <a:lnTo>
                    <a:pt x="1071714" y="38811"/>
                  </a:lnTo>
                  <a:lnTo>
                    <a:pt x="724166" y="263829"/>
                  </a:lnTo>
                  <a:lnTo>
                    <a:pt x="694702" y="234683"/>
                  </a:lnTo>
                  <a:lnTo>
                    <a:pt x="657885" y="208953"/>
                  </a:lnTo>
                  <a:lnTo>
                    <a:pt x="616788" y="189674"/>
                  </a:lnTo>
                  <a:lnTo>
                    <a:pt x="572173" y="177558"/>
                  </a:lnTo>
                  <a:lnTo>
                    <a:pt x="524764" y="173355"/>
                  </a:lnTo>
                  <a:lnTo>
                    <a:pt x="477342" y="177558"/>
                  </a:lnTo>
                  <a:lnTo>
                    <a:pt x="432727" y="189674"/>
                  </a:lnTo>
                  <a:lnTo>
                    <a:pt x="391629" y="208953"/>
                  </a:lnTo>
                  <a:lnTo>
                    <a:pt x="354812" y="234683"/>
                  </a:lnTo>
                  <a:lnTo>
                    <a:pt x="323024" y="266115"/>
                  </a:lnTo>
                  <a:lnTo>
                    <a:pt x="296989" y="302526"/>
                  </a:lnTo>
                  <a:lnTo>
                    <a:pt x="277482" y="343166"/>
                  </a:lnTo>
                  <a:lnTo>
                    <a:pt x="265226" y="387311"/>
                  </a:lnTo>
                  <a:lnTo>
                    <a:pt x="260985" y="434213"/>
                  </a:lnTo>
                  <a:lnTo>
                    <a:pt x="265226" y="481088"/>
                  </a:lnTo>
                  <a:lnTo>
                    <a:pt x="277482" y="525208"/>
                  </a:lnTo>
                  <a:lnTo>
                    <a:pt x="287667" y="546430"/>
                  </a:lnTo>
                  <a:lnTo>
                    <a:pt x="0" y="732663"/>
                  </a:lnTo>
                  <a:lnTo>
                    <a:pt x="3429" y="737997"/>
                  </a:lnTo>
                  <a:lnTo>
                    <a:pt x="290436" y="552183"/>
                  </a:lnTo>
                  <a:lnTo>
                    <a:pt x="296989" y="565823"/>
                  </a:lnTo>
                  <a:lnTo>
                    <a:pt x="323024" y="602208"/>
                  </a:lnTo>
                  <a:lnTo>
                    <a:pt x="354812" y="633641"/>
                  </a:lnTo>
                  <a:lnTo>
                    <a:pt x="391629" y="659358"/>
                  </a:lnTo>
                  <a:lnTo>
                    <a:pt x="432727" y="678637"/>
                  </a:lnTo>
                  <a:lnTo>
                    <a:pt x="477342" y="690753"/>
                  </a:lnTo>
                  <a:lnTo>
                    <a:pt x="524764" y="694944"/>
                  </a:lnTo>
                  <a:lnTo>
                    <a:pt x="572173" y="690753"/>
                  </a:lnTo>
                  <a:lnTo>
                    <a:pt x="616788" y="678637"/>
                  </a:lnTo>
                  <a:lnTo>
                    <a:pt x="657885" y="659358"/>
                  </a:lnTo>
                  <a:lnTo>
                    <a:pt x="694702" y="633641"/>
                  </a:lnTo>
                  <a:lnTo>
                    <a:pt x="726490" y="602208"/>
                  </a:lnTo>
                  <a:lnTo>
                    <a:pt x="752525" y="565823"/>
                  </a:lnTo>
                  <a:lnTo>
                    <a:pt x="772033" y="525208"/>
                  </a:lnTo>
                  <a:lnTo>
                    <a:pt x="784288" y="481088"/>
                  </a:lnTo>
                  <a:lnTo>
                    <a:pt x="788543" y="434213"/>
                  </a:lnTo>
                  <a:lnTo>
                    <a:pt x="784288" y="387311"/>
                  </a:lnTo>
                  <a:lnTo>
                    <a:pt x="772033" y="343166"/>
                  </a:lnTo>
                  <a:lnTo>
                    <a:pt x="752525" y="302526"/>
                  </a:lnTo>
                  <a:lnTo>
                    <a:pt x="728319" y="268681"/>
                  </a:lnTo>
                  <a:lnTo>
                    <a:pt x="1075156" y="44132"/>
                  </a:lnTo>
                  <a:lnTo>
                    <a:pt x="1094105" y="73406"/>
                  </a:lnTo>
                  <a:lnTo>
                    <a:pt x="1118603" y="31877"/>
                  </a:lnTo>
                  <a:lnTo>
                    <a:pt x="1137412" y="0"/>
                  </a:lnTo>
                  <a:close/>
                </a:path>
              </a:pathLst>
            </a:custGeom>
            <a:solidFill>
              <a:srgbClr val="5B9BD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1" name="object 31"/>
            <p:cNvSpPr/>
            <p:nvPr/>
          </p:nvSpPr>
          <p:spPr>
            <a:xfrm>
              <a:off x="5880481" y="3064890"/>
              <a:ext cx="527685" cy="521970"/>
            </a:xfrm>
            <a:custGeom>
              <a:avLst/>
              <a:gdLst/>
              <a:ahLst/>
              <a:cxnLst/>
              <a:rect l="l" t="t" r="r" b="b"/>
              <a:pathLst>
                <a:path w="527685" h="521970">
                  <a:moveTo>
                    <a:pt x="0" y="260858"/>
                  </a:moveTo>
                  <a:lnTo>
                    <a:pt x="4250" y="213948"/>
                  </a:lnTo>
                  <a:lnTo>
                    <a:pt x="16504" y="169805"/>
                  </a:lnTo>
                  <a:lnTo>
                    <a:pt x="36016" y="129163"/>
                  </a:lnTo>
                  <a:lnTo>
                    <a:pt x="62041" y="92758"/>
                  </a:lnTo>
                  <a:lnTo>
                    <a:pt x="93834" y="61325"/>
                  </a:lnTo>
                  <a:lnTo>
                    <a:pt x="130650" y="35597"/>
                  </a:lnTo>
                  <a:lnTo>
                    <a:pt x="171742" y="16311"/>
                  </a:lnTo>
                  <a:lnTo>
                    <a:pt x="216367" y="4200"/>
                  </a:lnTo>
                  <a:lnTo>
                    <a:pt x="263779" y="0"/>
                  </a:lnTo>
                  <a:lnTo>
                    <a:pt x="311190" y="4200"/>
                  </a:lnTo>
                  <a:lnTo>
                    <a:pt x="355815" y="16311"/>
                  </a:lnTo>
                  <a:lnTo>
                    <a:pt x="396907" y="35597"/>
                  </a:lnTo>
                  <a:lnTo>
                    <a:pt x="433723" y="61325"/>
                  </a:lnTo>
                  <a:lnTo>
                    <a:pt x="465516" y="92758"/>
                  </a:lnTo>
                  <a:lnTo>
                    <a:pt x="491541" y="129163"/>
                  </a:lnTo>
                  <a:lnTo>
                    <a:pt x="511053" y="169805"/>
                  </a:lnTo>
                  <a:lnTo>
                    <a:pt x="523307" y="213948"/>
                  </a:lnTo>
                  <a:lnTo>
                    <a:pt x="527558" y="260858"/>
                  </a:lnTo>
                  <a:lnTo>
                    <a:pt x="523307" y="307730"/>
                  </a:lnTo>
                  <a:lnTo>
                    <a:pt x="511053" y="351843"/>
                  </a:lnTo>
                  <a:lnTo>
                    <a:pt x="491541" y="392462"/>
                  </a:lnTo>
                  <a:lnTo>
                    <a:pt x="465516" y="428851"/>
                  </a:lnTo>
                  <a:lnTo>
                    <a:pt x="433723" y="460275"/>
                  </a:lnTo>
                  <a:lnTo>
                    <a:pt x="396907" y="485996"/>
                  </a:lnTo>
                  <a:lnTo>
                    <a:pt x="355815" y="505279"/>
                  </a:lnTo>
                  <a:lnTo>
                    <a:pt x="311190" y="517388"/>
                  </a:lnTo>
                  <a:lnTo>
                    <a:pt x="263779" y="521588"/>
                  </a:lnTo>
                  <a:lnTo>
                    <a:pt x="216367" y="517388"/>
                  </a:lnTo>
                  <a:lnTo>
                    <a:pt x="171742" y="505279"/>
                  </a:lnTo>
                  <a:lnTo>
                    <a:pt x="130650" y="485996"/>
                  </a:lnTo>
                  <a:lnTo>
                    <a:pt x="93834" y="460275"/>
                  </a:lnTo>
                  <a:lnTo>
                    <a:pt x="62041" y="428851"/>
                  </a:lnTo>
                  <a:lnTo>
                    <a:pt x="36016" y="392462"/>
                  </a:lnTo>
                  <a:lnTo>
                    <a:pt x="16504" y="351843"/>
                  </a:lnTo>
                  <a:lnTo>
                    <a:pt x="4250" y="307730"/>
                  </a:lnTo>
                  <a:lnTo>
                    <a:pt x="0" y="260858"/>
                  </a:lnTo>
                  <a:close/>
                </a:path>
              </a:pathLst>
            </a:custGeom>
            <a:ln w="12700">
              <a:solidFill>
                <a:srgbClr val="41709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2" name="object 32"/>
          <p:cNvSpPr txBox="1"/>
          <p:nvPr/>
        </p:nvSpPr>
        <p:spPr>
          <a:xfrm>
            <a:off x="5337175" y="3460750"/>
            <a:ext cx="24066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25" dirty="0">
                <a:latin typeface="Calibri"/>
                <a:cs typeface="Calibri"/>
              </a:rPr>
              <a:t>x4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33" name="object 33"/>
          <p:cNvSpPr txBox="1"/>
          <p:nvPr/>
        </p:nvSpPr>
        <p:spPr>
          <a:xfrm>
            <a:off x="6039358" y="3212972"/>
            <a:ext cx="21018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25" dirty="0">
                <a:solidFill>
                  <a:srgbClr val="FFFFFF"/>
                </a:solidFill>
                <a:latin typeface="Calibri"/>
                <a:cs typeface="Calibri"/>
              </a:rPr>
              <a:t>w4</a:t>
            </a:r>
            <a:endParaRPr sz="1200">
              <a:latin typeface="Calibri"/>
              <a:cs typeface="Calibri"/>
            </a:endParaRPr>
          </a:p>
        </p:txBody>
      </p:sp>
      <p:pic>
        <p:nvPicPr>
          <p:cNvPr id="34" name="object 3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491572" y="4241090"/>
            <a:ext cx="2878734" cy="1902147"/>
          </a:xfrm>
          <a:prstGeom prst="rect">
            <a:avLst/>
          </a:prstGeom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90" dirty="0"/>
              <a:t>Back</a:t>
            </a:r>
            <a:r>
              <a:rPr spc="50" dirty="0"/>
              <a:t> </a:t>
            </a:r>
            <a:r>
              <a:rPr dirty="0"/>
              <a:t>to</a:t>
            </a:r>
            <a:r>
              <a:rPr spc="160" dirty="0"/>
              <a:t> </a:t>
            </a:r>
            <a:r>
              <a:rPr dirty="0"/>
              <a:t>the</a:t>
            </a:r>
            <a:r>
              <a:rPr spc="135" dirty="0"/>
              <a:t> </a:t>
            </a:r>
            <a:r>
              <a:rPr spc="50" dirty="0"/>
              <a:t>task</a:t>
            </a:r>
            <a:r>
              <a:rPr spc="60" dirty="0"/>
              <a:t> </a:t>
            </a:r>
            <a:r>
              <a:rPr dirty="0"/>
              <a:t>at</a:t>
            </a:r>
            <a:r>
              <a:rPr spc="160" dirty="0"/>
              <a:t> </a:t>
            </a:r>
            <a:r>
              <a:rPr spc="-20" dirty="0"/>
              <a:t>hand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983691" y="4566666"/>
            <a:ext cx="4874895" cy="1379220"/>
          </a:xfrm>
          <a:prstGeom prst="rect">
            <a:avLst/>
          </a:prstGeom>
        </p:spPr>
        <p:txBody>
          <a:bodyPr vert="horz" wrap="square" lIns="0" tIns="48895" rIns="0" bIns="0" rtlCol="0">
            <a:spAutoFit/>
          </a:bodyPr>
          <a:lstStyle/>
          <a:p>
            <a:pPr marL="240029" marR="5080" indent="-227329">
              <a:lnSpc>
                <a:spcPct val="90000"/>
              </a:lnSpc>
              <a:spcBef>
                <a:spcPts val="385"/>
              </a:spcBef>
              <a:buFont typeface="Arial"/>
              <a:buChar char="•"/>
              <a:tabLst>
                <a:tab pos="241300" algn="l"/>
              </a:tabLst>
            </a:pPr>
            <a:r>
              <a:rPr sz="2400" dirty="0">
                <a:latin typeface="Calibri"/>
                <a:cs typeface="Calibri"/>
              </a:rPr>
              <a:t>So,</a:t>
            </a:r>
            <a:r>
              <a:rPr sz="2400" spc="-5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want</a:t>
            </a:r>
            <a:r>
              <a:rPr sz="2400" spc="14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to</a:t>
            </a:r>
            <a:r>
              <a:rPr sz="2400" spc="145" dirty="0">
                <a:latin typeface="Calibri"/>
                <a:cs typeface="Calibri"/>
              </a:rPr>
              <a:t> </a:t>
            </a:r>
            <a:r>
              <a:rPr sz="2400" spc="50" dirty="0">
                <a:latin typeface="Calibri"/>
                <a:cs typeface="Calibri"/>
              </a:rPr>
              <a:t>weight</a:t>
            </a:r>
            <a:r>
              <a:rPr sz="2400" spc="15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150" dirty="0">
                <a:latin typeface="Calibri"/>
                <a:cs typeface="Calibri"/>
              </a:rPr>
              <a:t> </a:t>
            </a:r>
            <a:r>
              <a:rPr sz="2400" spc="80" dirty="0">
                <a:latin typeface="Calibri"/>
                <a:cs typeface="Calibri"/>
              </a:rPr>
              <a:t>pixels</a:t>
            </a:r>
            <a:r>
              <a:rPr sz="2400" spc="155" dirty="0">
                <a:latin typeface="Calibri"/>
                <a:cs typeface="Calibri"/>
              </a:rPr>
              <a:t> </a:t>
            </a:r>
            <a:r>
              <a:rPr sz="2400" spc="45" dirty="0">
                <a:latin typeface="Calibri"/>
                <a:cs typeface="Calibri"/>
              </a:rPr>
              <a:t>which 	</a:t>
            </a:r>
            <a:r>
              <a:rPr sz="2400" dirty="0">
                <a:latin typeface="Calibri"/>
                <a:cs typeface="Calibri"/>
              </a:rPr>
              <a:t>make</a:t>
            </a:r>
            <a:r>
              <a:rPr sz="2400" spc="18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up</a:t>
            </a:r>
            <a:r>
              <a:rPr sz="2400" spc="185" dirty="0">
                <a:latin typeface="Calibri"/>
                <a:cs typeface="Calibri"/>
              </a:rPr>
              <a:t> </a:t>
            </a:r>
            <a:r>
              <a:rPr sz="2400" spc="50" dirty="0">
                <a:latin typeface="Calibri"/>
                <a:cs typeface="Calibri"/>
              </a:rPr>
              <a:t>this</a:t>
            </a:r>
            <a:r>
              <a:rPr sz="2400" spc="18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pattern</a:t>
            </a:r>
            <a:r>
              <a:rPr sz="2400" spc="16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heavily,</a:t>
            </a:r>
            <a:r>
              <a:rPr sz="2400" spc="-25" dirty="0">
                <a:latin typeface="Calibri"/>
                <a:cs typeface="Calibri"/>
              </a:rPr>
              <a:t> </a:t>
            </a:r>
            <a:r>
              <a:rPr sz="2400" spc="50" dirty="0">
                <a:latin typeface="Calibri"/>
                <a:cs typeface="Calibri"/>
              </a:rPr>
              <a:t>while 	</a:t>
            </a:r>
            <a:r>
              <a:rPr sz="2400" dirty="0">
                <a:latin typeface="Calibri"/>
                <a:cs typeface="Calibri"/>
              </a:rPr>
              <a:t>reduce</a:t>
            </a:r>
            <a:r>
              <a:rPr sz="2400" spc="13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135" dirty="0">
                <a:latin typeface="Calibri"/>
                <a:cs typeface="Calibri"/>
              </a:rPr>
              <a:t> </a:t>
            </a:r>
            <a:r>
              <a:rPr sz="2400" spc="50" dirty="0">
                <a:latin typeface="Calibri"/>
                <a:cs typeface="Calibri"/>
              </a:rPr>
              <a:t>weights</a:t>
            </a:r>
            <a:r>
              <a:rPr sz="2400" spc="14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of</a:t>
            </a:r>
            <a:r>
              <a:rPr sz="2400" spc="12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150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other 	</a:t>
            </a:r>
            <a:r>
              <a:rPr sz="2400" spc="70" dirty="0">
                <a:latin typeface="Calibri"/>
                <a:cs typeface="Calibri"/>
              </a:rPr>
              <a:t>pixels</a:t>
            </a:r>
            <a:endParaRPr sz="2400">
              <a:latin typeface="Calibri"/>
              <a:cs typeface="Calibri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6295263" y="1299844"/>
            <a:ext cx="1670685" cy="1670685"/>
          </a:xfrm>
          <a:custGeom>
            <a:avLst/>
            <a:gdLst/>
            <a:ahLst/>
            <a:cxnLst/>
            <a:rect l="l" t="t" r="r" b="b"/>
            <a:pathLst>
              <a:path w="1670684" h="1670685">
                <a:moveTo>
                  <a:pt x="0" y="835278"/>
                </a:moveTo>
                <a:lnTo>
                  <a:pt x="1322" y="787872"/>
                </a:lnTo>
                <a:lnTo>
                  <a:pt x="5242" y="741161"/>
                </a:lnTo>
                <a:lnTo>
                  <a:pt x="11690" y="695214"/>
                </a:lnTo>
                <a:lnTo>
                  <a:pt x="20594" y="650104"/>
                </a:lnTo>
                <a:lnTo>
                  <a:pt x="31884" y="605899"/>
                </a:lnTo>
                <a:lnTo>
                  <a:pt x="45490" y="562671"/>
                </a:lnTo>
                <a:lnTo>
                  <a:pt x="61341" y="520490"/>
                </a:lnTo>
                <a:lnTo>
                  <a:pt x="79367" y="479427"/>
                </a:lnTo>
                <a:lnTo>
                  <a:pt x="99496" y="439551"/>
                </a:lnTo>
                <a:lnTo>
                  <a:pt x="121659" y="400934"/>
                </a:lnTo>
                <a:lnTo>
                  <a:pt x="145785" y="363645"/>
                </a:lnTo>
                <a:lnTo>
                  <a:pt x="171804" y="327756"/>
                </a:lnTo>
                <a:lnTo>
                  <a:pt x="199644" y="293337"/>
                </a:lnTo>
                <a:lnTo>
                  <a:pt x="229235" y="260457"/>
                </a:lnTo>
                <a:lnTo>
                  <a:pt x="260507" y="229189"/>
                </a:lnTo>
                <a:lnTo>
                  <a:pt x="293389" y="199601"/>
                </a:lnTo>
                <a:lnTo>
                  <a:pt x="327810" y="171765"/>
                </a:lnTo>
                <a:lnTo>
                  <a:pt x="363701" y="145751"/>
                </a:lnTo>
                <a:lnTo>
                  <a:pt x="400990" y="121630"/>
                </a:lnTo>
                <a:lnTo>
                  <a:pt x="439607" y="99471"/>
                </a:lnTo>
                <a:lnTo>
                  <a:pt x="479482" y="79346"/>
                </a:lnTo>
                <a:lnTo>
                  <a:pt x="520543" y="61324"/>
                </a:lnTo>
                <a:lnTo>
                  <a:pt x="562721" y="45477"/>
                </a:lnTo>
                <a:lnTo>
                  <a:pt x="605944" y="31875"/>
                </a:lnTo>
                <a:lnTo>
                  <a:pt x="650143" y="20588"/>
                </a:lnTo>
                <a:lnTo>
                  <a:pt x="695246" y="11686"/>
                </a:lnTo>
                <a:lnTo>
                  <a:pt x="741184" y="5240"/>
                </a:lnTo>
                <a:lnTo>
                  <a:pt x="787885" y="1321"/>
                </a:lnTo>
                <a:lnTo>
                  <a:pt x="835279" y="0"/>
                </a:lnTo>
                <a:lnTo>
                  <a:pt x="882672" y="1321"/>
                </a:lnTo>
                <a:lnTo>
                  <a:pt x="929373" y="5240"/>
                </a:lnTo>
                <a:lnTo>
                  <a:pt x="975311" y="11686"/>
                </a:lnTo>
                <a:lnTo>
                  <a:pt x="1020414" y="20588"/>
                </a:lnTo>
                <a:lnTo>
                  <a:pt x="1064613" y="31875"/>
                </a:lnTo>
                <a:lnTo>
                  <a:pt x="1107836" y="45477"/>
                </a:lnTo>
                <a:lnTo>
                  <a:pt x="1150014" y="61324"/>
                </a:lnTo>
                <a:lnTo>
                  <a:pt x="1191075" y="79346"/>
                </a:lnTo>
                <a:lnTo>
                  <a:pt x="1230950" y="99471"/>
                </a:lnTo>
                <a:lnTo>
                  <a:pt x="1269567" y="121630"/>
                </a:lnTo>
                <a:lnTo>
                  <a:pt x="1306856" y="145751"/>
                </a:lnTo>
                <a:lnTo>
                  <a:pt x="1342747" y="171765"/>
                </a:lnTo>
                <a:lnTo>
                  <a:pt x="1377168" y="199601"/>
                </a:lnTo>
                <a:lnTo>
                  <a:pt x="1410050" y="229189"/>
                </a:lnTo>
                <a:lnTo>
                  <a:pt x="1441322" y="260457"/>
                </a:lnTo>
                <a:lnTo>
                  <a:pt x="1470913" y="293337"/>
                </a:lnTo>
                <a:lnTo>
                  <a:pt x="1498753" y="327756"/>
                </a:lnTo>
                <a:lnTo>
                  <a:pt x="1524772" y="363645"/>
                </a:lnTo>
                <a:lnTo>
                  <a:pt x="1548898" y="400934"/>
                </a:lnTo>
                <a:lnTo>
                  <a:pt x="1571061" y="439551"/>
                </a:lnTo>
                <a:lnTo>
                  <a:pt x="1591190" y="479427"/>
                </a:lnTo>
                <a:lnTo>
                  <a:pt x="1609216" y="520490"/>
                </a:lnTo>
                <a:lnTo>
                  <a:pt x="1625067" y="562671"/>
                </a:lnTo>
                <a:lnTo>
                  <a:pt x="1638673" y="605899"/>
                </a:lnTo>
                <a:lnTo>
                  <a:pt x="1649963" y="650104"/>
                </a:lnTo>
                <a:lnTo>
                  <a:pt x="1658867" y="695214"/>
                </a:lnTo>
                <a:lnTo>
                  <a:pt x="1665315" y="741161"/>
                </a:lnTo>
                <a:lnTo>
                  <a:pt x="1669235" y="787872"/>
                </a:lnTo>
                <a:lnTo>
                  <a:pt x="1670558" y="835278"/>
                </a:lnTo>
                <a:lnTo>
                  <a:pt x="1669235" y="882672"/>
                </a:lnTo>
                <a:lnTo>
                  <a:pt x="1665315" y="929372"/>
                </a:lnTo>
                <a:lnTo>
                  <a:pt x="1658867" y="975307"/>
                </a:lnTo>
                <a:lnTo>
                  <a:pt x="1649963" y="1020408"/>
                </a:lnTo>
                <a:lnTo>
                  <a:pt x="1638673" y="1064603"/>
                </a:lnTo>
                <a:lnTo>
                  <a:pt x="1625067" y="1107822"/>
                </a:lnTo>
                <a:lnTo>
                  <a:pt x="1609216" y="1149995"/>
                </a:lnTo>
                <a:lnTo>
                  <a:pt x="1591190" y="1191052"/>
                </a:lnTo>
                <a:lnTo>
                  <a:pt x="1571061" y="1230921"/>
                </a:lnTo>
                <a:lnTo>
                  <a:pt x="1548898" y="1269532"/>
                </a:lnTo>
                <a:lnTo>
                  <a:pt x="1524772" y="1306815"/>
                </a:lnTo>
                <a:lnTo>
                  <a:pt x="1498753" y="1342699"/>
                </a:lnTo>
                <a:lnTo>
                  <a:pt x="1470913" y="1377115"/>
                </a:lnTo>
                <a:lnTo>
                  <a:pt x="1441322" y="1409990"/>
                </a:lnTo>
                <a:lnTo>
                  <a:pt x="1410050" y="1441255"/>
                </a:lnTo>
                <a:lnTo>
                  <a:pt x="1377168" y="1470840"/>
                </a:lnTo>
                <a:lnTo>
                  <a:pt x="1342747" y="1498674"/>
                </a:lnTo>
                <a:lnTo>
                  <a:pt x="1306856" y="1524686"/>
                </a:lnTo>
                <a:lnTo>
                  <a:pt x="1269567" y="1548805"/>
                </a:lnTo>
                <a:lnTo>
                  <a:pt x="1230950" y="1570963"/>
                </a:lnTo>
                <a:lnTo>
                  <a:pt x="1191075" y="1591087"/>
                </a:lnTo>
                <a:lnTo>
                  <a:pt x="1150014" y="1609107"/>
                </a:lnTo>
                <a:lnTo>
                  <a:pt x="1107836" y="1624954"/>
                </a:lnTo>
                <a:lnTo>
                  <a:pt x="1064613" y="1638556"/>
                </a:lnTo>
                <a:lnTo>
                  <a:pt x="1020414" y="1649843"/>
                </a:lnTo>
                <a:lnTo>
                  <a:pt x="975311" y="1658744"/>
                </a:lnTo>
                <a:lnTo>
                  <a:pt x="929373" y="1665190"/>
                </a:lnTo>
                <a:lnTo>
                  <a:pt x="882672" y="1669109"/>
                </a:lnTo>
                <a:lnTo>
                  <a:pt x="835279" y="1670430"/>
                </a:lnTo>
                <a:lnTo>
                  <a:pt x="787885" y="1669109"/>
                </a:lnTo>
                <a:lnTo>
                  <a:pt x="741184" y="1665190"/>
                </a:lnTo>
                <a:lnTo>
                  <a:pt x="695246" y="1658744"/>
                </a:lnTo>
                <a:lnTo>
                  <a:pt x="650143" y="1649843"/>
                </a:lnTo>
                <a:lnTo>
                  <a:pt x="605944" y="1638556"/>
                </a:lnTo>
                <a:lnTo>
                  <a:pt x="562721" y="1624954"/>
                </a:lnTo>
                <a:lnTo>
                  <a:pt x="520543" y="1609107"/>
                </a:lnTo>
                <a:lnTo>
                  <a:pt x="479482" y="1591087"/>
                </a:lnTo>
                <a:lnTo>
                  <a:pt x="439607" y="1570963"/>
                </a:lnTo>
                <a:lnTo>
                  <a:pt x="400990" y="1548805"/>
                </a:lnTo>
                <a:lnTo>
                  <a:pt x="363701" y="1524686"/>
                </a:lnTo>
                <a:lnTo>
                  <a:pt x="327810" y="1498674"/>
                </a:lnTo>
                <a:lnTo>
                  <a:pt x="293389" y="1470840"/>
                </a:lnTo>
                <a:lnTo>
                  <a:pt x="260507" y="1441255"/>
                </a:lnTo>
                <a:lnTo>
                  <a:pt x="229235" y="1409990"/>
                </a:lnTo>
                <a:lnTo>
                  <a:pt x="199644" y="1377115"/>
                </a:lnTo>
                <a:lnTo>
                  <a:pt x="171804" y="1342699"/>
                </a:lnTo>
                <a:lnTo>
                  <a:pt x="145785" y="1306815"/>
                </a:lnTo>
                <a:lnTo>
                  <a:pt x="121659" y="1269532"/>
                </a:lnTo>
                <a:lnTo>
                  <a:pt x="99496" y="1230921"/>
                </a:lnTo>
                <a:lnTo>
                  <a:pt x="79367" y="1191052"/>
                </a:lnTo>
                <a:lnTo>
                  <a:pt x="61341" y="1149995"/>
                </a:lnTo>
                <a:lnTo>
                  <a:pt x="45490" y="1107822"/>
                </a:lnTo>
                <a:lnTo>
                  <a:pt x="31884" y="1064603"/>
                </a:lnTo>
                <a:lnTo>
                  <a:pt x="20594" y="1020408"/>
                </a:lnTo>
                <a:lnTo>
                  <a:pt x="11690" y="975307"/>
                </a:lnTo>
                <a:lnTo>
                  <a:pt x="5242" y="929372"/>
                </a:lnTo>
                <a:lnTo>
                  <a:pt x="1322" y="882672"/>
                </a:lnTo>
                <a:lnTo>
                  <a:pt x="0" y="835278"/>
                </a:lnTo>
                <a:close/>
              </a:path>
            </a:pathLst>
          </a:custGeom>
          <a:ln w="1270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/>
          <p:nvPr/>
        </p:nvSpPr>
        <p:spPr>
          <a:xfrm>
            <a:off x="6768210" y="1970278"/>
            <a:ext cx="72390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10" dirty="0">
                <a:latin typeface="Calibri"/>
                <a:cs typeface="Calibri"/>
              </a:rPr>
              <a:t>Neuron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6" name="object 6"/>
          <p:cNvSpPr/>
          <p:nvPr/>
        </p:nvSpPr>
        <p:spPr>
          <a:xfrm>
            <a:off x="4686300" y="1121028"/>
            <a:ext cx="4897755" cy="1757680"/>
          </a:xfrm>
          <a:custGeom>
            <a:avLst/>
            <a:gdLst/>
            <a:ahLst/>
            <a:cxnLst/>
            <a:rect l="l" t="t" r="r" b="b"/>
            <a:pathLst>
              <a:path w="4897755" h="1757680">
                <a:moveTo>
                  <a:pt x="1608963" y="1014095"/>
                </a:moveTo>
                <a:lnTo>
                  <a:pt x="1602613" y="1010920"/>
                </a:lnTo>
                <a:lnTo>
                  <a:pt x="1532763" y="975995"/>
                </a:lnTo>
                <a:lnTo>
                  <a:pt x="1532763" y="1010920"/>
                </a:lnTo>
                <a:lnTo>
                  <a:pt x="0" y="1010920"/>
                </a:lnTo>
                <a:lnTo>
                  <a:pt x="0" y="1017270"/>
                </a:lnTo>
                <a:lnTo>
                  <a:pt x="1532763" y="1017270"/>
                </a:lnTo>
                <a:lnTo>
                  <a:pt x="1532763" y="1052195"/>
                </a:lnTo>
                <a:lnTo>
                  <a:pt x="1602613" y="1017270"/>
                </a:lnTo>
                <a:lnTo>
                  <a:pt x="1608963" y="1014095"/>
                </a:lnTo>
                <a:close/>
              </a:path>
              <a:path w="4897755" h="1757680">
                <a:moveTo>
                  <a:pt x="1737995" y="524637"/>
                </a:moveTo>
                <a:lnTo>
                  <a:pt x="1720227" y="505841"/>
                </a:lnTo>
                <a:lnTo>
                  <a:pt x="1679448" y="462661"/>
                </a:lnTo>
                <a:lnTo>
                  <a:pt x="1667433" y="495541"/>
                </a:lnTo>
                <a:lnTo>
                  <a:pt x="308864" y="0"/>
                </a:lnTo>
                <a:lnTo>
                  <a:pt x="306705" y="5842"/>
                </a:lnTo>
                <a:lnTo>
                  <a:pt x="1665262" y="501510"/>
                </a:lnTo>
                <a:lnTo>
                  <a:pt x="1653286" y="534289"/>
                </a:lnTo>
                <a:lnTo>
                  <a:pt x="1737995" y="524637"/>
                </a:lnTo>
                <a:close/>
              </a:path>
              <a:path w="4897755" h="1757680">
                <a:moveTo>
                  <a:pt x="1749679" y="1540129"/>
                </a:moveTo>
                <a:lnTo>
                  <a:pt x="1668907" y="1512951"/>
                </a:lnTo>
                <a:lnTo>
                  <a:pt x="1673720" y="1547482"/>
                </a:lnTo>
                <a:lnTo>
                  <a:pt x="219329" y="1750822"/>
                </a:lnTo>
                <a:lnTo>
                  <a:pt x="220218" y="1757172"/>
                </a:lnTo>
                <a:lnTo>
                  <a:pt x="1674609" y="1553832"/>
                </a:lnTo>
                <a:lnTo>
                  <a:pt x="1679448" y="1588389"/>
                </a:lnTo>
                <a:lnTo>
                  <a:pt x="1741538" y="1545717"/>
                </a:lnTo>
                <a:lnTo>
                  <a:pt x="1749679" y="1540129"/>
                </a:lnTo>
                <a:close/>
              </a:path>
              <a:path w="4897755" h="1757680">
                <a:moveTo>
                  <a:pt x="4897628" y="1014095"/>
                </a:moveTo>
                <a:lnTo>
                  <a:pt x="4891278" y="1010920"/>
                </a:lnTo>
                <a:lnTo>
                  <a:pt x="4821428" y="975995"/>
                </a:lnTo>
                <a:lnTo>
                  <a:pt x="4821428" y="1010920"/>
                </a:lnTo>
                <a:lnTo>
                  <a:pt x="3288665" y="1010920"/>
                </a:lnTo>
                <a:lnTo>
                  <a:pt x="3288665" y="1017270"/>
                </a:lnTo>
                <a:lnTo>
                  <a:pt x="4821428" y="1017270"/>
                </a:lnTo>
                <a:lnTo>
                  <a:pt x="4821428" y="1052195"/>
                </a:lnTo>
                <a:lnTo>
                  <a:pt x="4891278" y="1017270"/>
                </a:lnTo>
                <a:lnTo>
                  <a:pt x="4897628" y="1014095"/>
                </a:lnTo>
                <a:close/>
              </a:path>
            </a:pathLst>
          </a:custGeom>
          <a:solidFill>
            <a:srgbClr val="5B9BD4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 txBox="1"/>
          <p:nvPr/>
        </p:nvSpPr>
        <p:spPr>
          <a:xfrm>
            <a:off x="4346194" y="1915490"/>
            <a:ext cx="240665" cy="3003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25" dirty="0">
                <a:latin typeface="Calibri"/>
                <a:cs typeface="Calibri"/>
              </a:rPr>
              <a:t>x2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4527041" y="2808478"/>
            <a:ext cx="24066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25" dirty="0">
                <a:latin typeface="Calibri"/>
                <a:cs typeface="Calibri"/>
              </a:rPr>
              <a:t>x3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4667250" y="874521"/>
            <a:ext cx="24066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25" dirty="0">
                <a:latin typeface="Calibri"/>
                <a:cs typeface="Calibri"/>
              </a:rPr>
              <a:t>x1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9352026" y="1808479"/>
            <a:ext cx="12890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50" dirty="0">
                <a:latin typeface="Calibri"/>
                <a:cs typeface="Calibri"/>
              </a:rPr>
              <a:t>y</a:t>
            </a:r>
            <a:endParaRPr sz="1800">
              <a:latin typeface="Calibri"/>
              <a:cs typeface="Calibri"/>
            </a:endParaRPr>
          </a:p>
        </p:txBody>
      </p:sp>
      <p:grpSp>
        <p:nvGrpSpPr>
          <p:cNvPr id="11" name="object 11"/>
          <p:cNvGrpSpPr/>
          <p:nvPr/>
        </p:nvGrpSpPr>
        <p:grpSpPr>
          <a:xfrm>
            <a:off x="5365750" y="1059433"/>
            <a:ext cx="540385" cy="534670"/>
            <a:chOff x="5365750" y="1059433"/>
            <a:chExt cx="540385" cy="534670"/>
          </a:xfrm>
        </p:grpSpPr>
        <p:sp>
          <p:nvSpPr>
            <p:cNvPr id="12" name="object 12"/>
            <p:cNvSpPr/>
            <p:nvPr/>
          </p:nvSpPr>
          <p:spPr>
            <a:xfrm>
              <a:off x="5372100" y="1065783"/>
              <a:ext cx="527685" cy="521970"/>
            </a:xfrm>
            <a:custGeom>
              <a:avLst/>
              <a:gdLst/>
              <a:ahLst/>
              <a:cxnLst/>
              <a:rect l="l" t="t" r="r" b="b"/>
              <a:pathLst>
                <a:path w="527685" h="521969">
                  <a:moveTo>
                    <a:pt x="263778" y="0"/>
                  </a:moveTo>
                  <a:lnTo>
                    <a:pt x="216367" y="4200"/>
                  </a:lnTo>
                  <a:lnTo>
                    <a:pt x="171742" y="16311"/>
                  </a:lnTo>
                  <a:lnTo>
                    <a:pt x="130650" y="35597"/>
                  </a:lnTo>
                  <a:lnTo>
                    <a:pt x="93834" y="61325"/>
                  </a:lnTo>
                  <a:lnTo>
                    <a:pt x="62041" y="92758"/>
                  </a:lnTo>
                  <a:lnTo>
                    <a:pt x="36016" y="129163"/>
                  </a:lnTo>
                  <a:lnTo>
                    <a:pt x="16504" y="169805"/>
                  </a:lnTo>
                  <a:lnTo>
                    <a:pt x="4250" y="213948"/>
                  </a:lnTo>
                  <a:lnTo>
                    <a:pt x="0" y="260857"/>
                  </a:lnTo>
                  <a:lnTo>
                    <a:pt x="4250" y="307734"/>
                  </a:lnTo>
                  <a:lnTo>
                    <a:pt x="16504" y="351859"/>
                  </a:lnTo>
                  <a:lnTo>
                    <a:pt x="36016" y="392495"/>
                  </a:lnTo>
                  <a:lnTo>
                    <a:pt x="62041" y="428904"/>
                  </a:lnTo>
                  <a:lnTo>
                    <a:pt x="93834" y="460349"/>
                  </a:lnTo>
                  <a:lnTo>
                    <a:pt x="130650" y="486090"/>
                  </a:lnTo>
                  <a:lnTo>
                    <a:pt x="171742" y="505390"/>
                  </a:lnTo>
                  <a:lnTo>
                    <a:pt x="216367" y="517511"/>
                  </a:lnTo>
                  <a:lnTo>
                    <a:pt x="263778" y="521715"/>
                  </a:lnTo>
                  <a:lnTo>
                    <a:pt x="311190" y="517511"/>
                  </a:lnTo>
                  <a:lnTo>
                    <a:pt x="355815" y="505390"/>
                  </a:lnTo>
                  <a:lnTo>
                    <a:pt x="396907" y="486090"/>
                  </a:lnTo>
                  <a:lnTo>
                    <a:pt x="433723" y="460349"/>
                  </a:lnTo>
                  <a:lnTo>
                    <a:pt x="465516" y="428904"/>
                  </a:lnTo>
                  <a:lnTo>
                    <a:pt x="491541" y="392495"/>
                  </a:lnTo>
                  <a:lnTo>
                    <a:pt x="511053" y="351859"/>
                  </a:lnTo>
                  <a:lnTo>
                    <a:pt x="523307" y="307734"/>
                  </a:lnTo>
                  <a:lnTo>
                    <a:pt x="527558" y="260857"/>
                  </a:lnTo>
                  <a:lnTo>
                    <a:pt x="523307" y="213948"/>
                  </a:lnTo>
                  <a:lnTo>
                    <a:pt x="511053" y="169805"/>
                  </a:lnTo>
                  <a:lnTo>
                    <a:pt x="491541" y="129163"/>
                  </a:lnTo>
                  <a:lnTo>
                    <a:pt x="465516" y="92758"/>
                  </a:lnTo>
                  <a:lnTo>
                    <a:pt x="433723" y="61325"/>
                  </a:lnTo>
                  <a:lnTo>
                    <a:pt x="396907" y="35597"/>
                  </a:lnTo>
                  <a:lnTo>
                    <a:pt x="355815" y="16311"/>
                  </a:lnTo>
                  <a:lnTo>
                    <a:pt x="311190" y="4200"/>
                  </a:lnTo>
                  <a:lnTo>
                    <a:pt x="263778" y="0"/>
                  </a:lnTo>
                  <a:close/>
                </a:path>
              </a:pathLst>
            </a:custGeom>
            <a:solidFill>
              <a:srgbClr val="5B9BD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/>
            <p:cNvSpPr/>
            <p:nvPr/>
          </p:nvSpPr>
          <p:spPr>
            <a:xfrm>
              <a:off x="5372100" y="1065783"/>
              <a:ext cx="527685" cy="521970"/>
            </a:xfrm>
            <a:custGeom>
              <a:avLst/>
              <a:gdLst/>
              <a:ahLst/>
              <a:cxnLst/>
              <a:rect l="l" t="t" r="r" b="b"/>
              <a:pathLst>
                <a:path w="527685" h="521969">
                  <a:moveTo>
                    <a:pt x="0" y="260857"/>
                  </a:moveTo>
                  <a:lnTo>
                    <a:pt x="4250" y="213948"/>
                  </a:lnTo>
                  <a:lnTo>
                    <a:pt x="16504" y="169805"/>
                  </a:lnTo>
                  <a:lnTo>
                    <a:pt x="36016" y="129163"/>
                  </a:lnTo>
                  <a:lnTo>
                    <a:pt x="62041" y="92758"/>
                  </a:lnTo>
                  <a:lnTo>
                    <a:pt x="93834" y="61325"/>
                  </a:lnTo>
                  <a:lnTo>
                    <a:pt x="130650" y="35597"/>
                  </a:lnTo>
                  <a:lnTo>
                    <a:pt x="171742" y="16311"/>
                  </a:lnTo>
                  <a:lnTo>
                    <a:pt x="216367" y="4200"/>
                  </a:lnTo>
                  <a:lnTo>
                    <a:pt x="263778" y="0"/>
                  </a:lnTo>
                  <a:lnTo>
                    <a:pt x="311190" y="4200"/>
                  </a:lnTo>
                  <a:lnTo>
                    <a:pt x="355815" y="16311"/>
                  </a:lnTo>
                  <a:lnTo>
                    <a:pt x="396907" y="35597"/>
                  </a:lnTo>
                  <a:lnTo>
                    <a:pt x="433723" y="61325"/>
                  </a:lnTo>
                  <a:lnTo>
                    <a:pt x="465516" y="92758"/>
                  </a:lnTo>
                  <a:lnTo>
                    <a:pt x="491541" y="129163"/>
                  </a:lnTo>
                  <a:lnTo>
                    <a:pt x="511053" y="169805"/>
                  </a:lnTo>
                  <a:lnTo>
                    <a:pt x="523307" y="213948"/>
                  </a:lnTo>
                  <a:lnTo>
                    <a:pt x="527558" y="260857"/>
                  </a:lnTo>
                  <a:lnTo>
                    <a:pt x="523307" y="307734"/>
                  </a:lnTo>
                  <a:lnTo>
                    <a:pt x="511053" y="351859"/>
                  </a:lnTo>
                  <a:lnTo>
                    <a:pt x="491541" y="392495"/>
                  </a:lnTo>
                  <a:lnTo>
                    <a:pt x="465516" y="428904"/>
                  </a:lnTo>
                  <a:lnTo>
                    <a:pt x="433723" y="460349"/>
                  </a:lnTo>
                  <a:lnTo>
                    <a:pt x="396907" y="486090"/>
                  </a:lnTo>
                  <a:lnTo>
                    <a:pt x="355815" y="505390"/>
                  </a:lnTo>
                  <a:lnTo>
                    <a:pt x="311190" y="517511"/>
                  </a:lnTo>
                  <a:lnTo>
                    <a:pt x="263778" y="521715"/>
                  </a:lnTo>
                  <a:lnTo>
                    <a:pt x="216367" y="517511"/>
                  </a:lnTo>
                  <a:lnTo>
                    <a:pt x="171742" y="505390"/>
                  </a:lnTo>
                  <a:lnTo>
                    <a:pt x="130650" y="486090"/>
                  </a:lnTo>
                  <a:lnTo>
                    <a:pt x="93834" y="460349"/>
                  </a:lnTo>
                  <a:lnTo>
                    <a:pt x="62041" y="428904"/>
                  </a:lnTo>
                  <a:lnTo>
                    <a:pt x="36016" y="392495"/>
                  </a:lnTo>
                  <a:lnTo>
                    <a:pt x="16504" y="351859"/>
                  </a:lnTo>
                  <a:lnTo>
                    <a:pt x="4250" y="307734"/>
                  </a:lnTo>
                  <a:lnTo>
                    <a:pt x="0" y="260857"/>
                  </a:lnTo>
                  <a:close/>
                </a:path>
              </a:pathLst>
            </a:custGeom>
            <a:ln w="12700">
              <a:solidFill>
                <a:srgbClr val="41709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4" name="object 14"/>
          <p:cNvSpPr txBox="1"/>
          <p:nvPr/>
        </p:nvSpPr>
        <p:spPr>
          <a:xfrm>
            <a:off x="5530977" y="1213484"/>
            <a:ext cx="21018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25" dirty="0">
                <a:solidFill>
                  <a:srgbClr val="FFFFFF"/>
                </a:solidFill>
                <a:latin typeface="Calibri"/>
                <a:cs typeface="Calibri"/>
              </a:rPr>
              <a:t>w1</a:t>
            </a:r>
            <a:endParaRPr sz="1200">
              <a:latin typeface="Calibri"/>
              <a:cs typeface="Calibri"/>
            </a:endParaRPr>
          </a:p>
        </p:txBody>
      </p:sp>
      <p:grpSp>
        <p:nvGrpSpPr>
          <p:cNvPr id="15" name="object 15"/>
          <p:cNvGrpSpPr/>
          <p:nvPr/>
        </p:nvGrpSpPr>
        <p:grpSpPr>
          <a:xfrm>
            <a:off x="5331840" y="1844675"/>
            <a:ext cx="540385" cy="534670"/>
            <a:chOff x="5331840" y="1844675"/>
            <a:chExt cx="540385" cy="534670"/>
          </a:xfrm>
        </p:grpSpPr>
        <p:sp>
          <p:nvSpPr>
            <p:cNvPr id="16" name="object 16"/>
            <p:cNvSpPr/>
            <p:nvPr/>
          </p:nvSpPr>
          <p:spPr>
            <a:xfrm>
              <a:off x="5338190" y="1851025"/>
              <a:ext cx="527685" cy="521970"/>
            </a:xfrm>
            <a:custGeom>
              <a:avLst/>
              <a:gdLst/>
              <a:ahLst/>
              <a:cxnLst/>
              <a:rect l="l" t="t" r="r" b="b"/>
              <a:pathLst>
                <a:path w="527685" h="521969">
                  <a:moveTo>
                    <a:pt x="263779" y="0"/>
                  </a:moveTo>
                  <a:lnTo>
                    <a:pt x="216367" y="4204"/>
                  </a:lnTo>
                  <a:lnTo>
                    <a:pt x="171742" y="16325"/>
                  </a:lnTo>
                  <a:lnTo>
                    <a:pt x="130650" y="35625"/>
                  </a:lnTo>
                  <a:lnTo>
                    <a:pt x="93834" y="61366"/>
                  </a:lnTo>
                  <a:lnTo>
                    <a:pt x="62041" y="92811"/>
                  </a:lnTo>
                  <a:lnTo>
                    <a:pt x="36016" y="129220"/>
                  </a:lnTo>
                  <a:lnTo>
                    <a:pt x="16504" y="169856"/>
                  </a:lnTo>
                  <a:lnTo>
                    <a:pt x="4250" y="213981"/>
                  </a:lnTo>
                  <a:lnTo>
                    <a:pt x="0" y="260858"/>
                  </a:lnTo>
                  <a:lnTo>
                    <a:pt x="4250" y="307734"/>
                  </a:lnTo>
                  <a:lnTo>
                    <a:pt x="16504" y="351859"/>
                  </a:lnTo>
                  <a:lnTo>
                    <a:pt x="36016" y="392495"/>
                  </a:lnTo>
                  <a:lnTo>
                    <a:pt x="62041" y="428904"/>
                  </a:lnTo>
                  <a:lnTo>
                    <a:pt x="93834" y="460349"/>
                  </a:lnTo>
                  <a:lnTo>
                    <a:pt x="130650" y="486090"/>
                  </a:lnTo>
                  <a:lnTo>
                    <a:pt x="171742" y="505390"/>
                  </a:lnTo>
                  <a:lnTo>
                    <a:pt x="216367" y="517511"/>
                  </a:lnTo>
                  <a:lnTo>
                    <a:pt x="263779" y="521715"/>
                  </a:lnTo>
                  <a:lnTo>
                    <a:pt x="311190" y="517511"/>
                  </a:lnTo>
                  <a:lnTo>
                    <a:pt x="355815" y="505390"/>
                  </a:lnTo>
                  <a:lnTo>
                    <a:pt x="396907" y="486090"/>
                  </a:lnTo>
                  <a:lnTo>
                    <a:pt x="433723" y="460349"/>
                  </a:lnTo>
                  <a:lnTo>
                    <a:pt x="465516" y="428904"/>
                  </a:lnTo>
                  <a:lnTo>
                    <a:pt x="491541" y="392495"/>
                  </a:lnTo>
                  <a:lnTo>
                    <a:pt x="511053" y="351859"/>
                  </a:lnTo>
                  <a:lnTo>
                    <a:pt x="523307" y="307734"/>
                  </a:lnTo>
                  <a:lnTo>
                    <a:pt x="527558" y="260858"/>
                  </a:lnTo>
                  <a:lnTo>
                    <a:pt x="523307" y="213981"/>
                  </a:lnTo>
                  <a:lnTo>
                    <a:pt x="511053" y="169856"/>
                  </a:lnTo>
                  <a:lnTo>
                    <a:pt x="491541" y="129220"/>
                  </a:lnTo>
                  <a:lnTo>
                    <a:pt x="465516" y="92811"/>
                  </a:lnTo>
                  <a:lnTo>
                    <a:pt x="433723" y="61366"/>
                  </a:lnTo>
                  <a:lnTo>
                    <a:pt x="396907" y="35625"/>
                  </a:lnTo>
                  <a:lnTo>
                    <a:pt x="355815" y="16325"/>
                  </a:lnTo>
                  <a:lnTo>
                    <a:pt x="311190" y="4204"/>
                  </a:lnTo>
                  <a:lnTo>
                    <a:pt x="263779" y="0"/>
                  </a:lnTo>
                  <a:close/>
                </a:path>
              </a:pathLst>
            </a:custGeom>
            <a:solidFill>
              <a:srgbClr val="5B9BD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7"/>
            <p:cNvSpPr/>
            <p:nvPr/>
          </p:nvSpPr>
          <p:spPr>
            <a:xfrm>
              <a:off x="5338190" y="1851025"/>
              <a:ext cx="527685" cy="521970"/>
            </a:xfrm>
            <a:custGeom>
              <a:avLst/>
              <a:gdLst/>
              <a:ahLst/>
              <a:cxnLst/>
              <a:rect l="l" t="t" r="r" b="b"/>
              <a:pathLst>
                <a:path w="527685" h="521969">
                  <a:moveTo>
                    <a:pt x="0" y="260858"/>
                  </a:moveTo>
                  <a:lnTo>
                    <a:pt x="4250" y="213981"/>
                  </a:lnTo>
                  <a:lnTo>
                    <a:pt x="16504" y="169856"/>
                  </a:lnTo>
                  <a:lnTo>
                    <a:pt x="36016" y="129220"/>
                  </a:lnTo>
                  <a:lnTo>
                    <a:pt x="62041" y="92811"/>
                  </a:lnTo>
                  <a:lnTo>
                    <a:pt x="93834" y="61366"/>
                  </a:lnTo>
                  <a:lnTo>
                    <a:pt x="130650" y="35625"/>
                  </a:lnTo>
                  <a:lnTo>
                    <a:pt x="171742" y="16325"/>
                  </a:lnTo>
                  <a:lnTo>
                    <a:pt x="216367" y="4204"/>
                  </a:lnTo>
                  <a:lnTo>
                    <a:pt x="263779" y="0"/>
                  </a:lnTo>
                  <a:lnTo>
                    <a:pt x="311190" y="4204"/>
                  </a:lnTo>
                  <a:lnTo>
                    <a:pt x="355815" y="16325"/>
                  </a:lnTo>
                  <a:lnTo>
                    <a:pt x="396907" y="35625"/>
                  </a:lnTo>
                  <a:lnTo>
                    <a:pt x="433723" y="61366"/>
                  </a:lnTo>
                  <a:lnTo>
                    <a:pt x="465516" y="92811"/>
                  </a:lnTo>
                  <a:lnTo>
                    <a:pt x="491541" y="129220"/>
                  </a:lnTo>
                  <a:lnTo>
                    <a:pt x="511053" y="169856"/>
                  </a:lnTo>
                  <a:lnTo>
                    <a:pt x="523307" y="213981"/>
                  </a:lnTo>
                  <a:lnTo>
                    <a:pt x="527558" y="260858"/>
                  </a:lnTo>
                  <a:lnTo>
                    <a:pt x="523307" y="307734"/>
                  </a:lnTo>
                  <a:lnTo>
                    <a:pt x="511053" y="351859"/>
                  </a:lnTo>
                  <a:lnTo>
                    <a:pt x="491541" y="392495"/>
                  </a:lnTo>
                  <a:lnTo>
                    <a:pt x="465516" y="428904"/>
                  </a:lnTo>
                  <a:lnTo>
                    <a:pt x="433723" y="460349"/>
                  </a:lnTo>
                  <a:lnTo>
                    <a:pt x="396907" y="486090"/>
                  </a:lnTo>
                  <a:lnTo>
                    <a:pt x="355815" y="505390"/>
                  </a:lnTo>
                  <a:lnTo>
                    <a:pt x="311190" y="517511"/>
                  </a:lnTo>
                  <a:lnTo>
                    <a:pt x="263779" y="521715"/>
                  </a:lnTo>
                  <a:lnTo>
                    <a:pt x="216367" y="517511"/>
                  </a:lnTo>
                  <a:lnTo>
                    <a:pt x="171742" y="505390"/>
                  </a:lnTo>
                  <a:lnTo>
                    <a:pt x="130650" y="486090"/>
                  </a:lnTo>
                  <a:lnTo>
                    <a:pt x="93834" y="460349"/>
                  </a:lnTo>
                  <a:lnTo>
                    <a:pt x="62041" y="428904"/>
                  </a:lnTo>
                  <a:lnTo>
                    <a:pt x="36016" y="392495"/>
                  </a:lnTo>
                  <a:lnTo>
                    <a:pt x="16504" y="351859"/>
                  </a:lnTo>
                  <a:lnTo>
                    <a:pt x="4250" y="307734"/>
                  </a:lnTo>
                  <a:lnTo>
                    <a:pt x="0" y="260858"/>
                  </a:lnTo>
                  <a:close/>
                </a:path>
              </a:pathLst>
            </a:custGeom>
            <a:ln w="12700">
              <a:solidFill>
                <a:srgbClr val="41709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8" name="object 18"/>
          <p:cNvSpPr txBox="1"/>
          <p:nvPr/>
        </p:nvSpPr>
        <p:spPr>
          <a:xfrm>
            <a:off x="5497195" y="1998979"/>
            <a:ext cx="21018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25" dirty="0">
                <a:solidFill>
                  <a:srgbClr val="FFFFFF"/>
                </a:solidFill>
                <a:latin typeface="Calibri"/>
                <a:cs typeface="Calibri"/>
              </a:rPr>
              <a:t>w2</a:t>
            </a:r>
            <a:endParaRPr sz="1200">
              <a:latin typeface="Calibri"/>
              <a:cs typeface="Calibri"/>
            </a:endParaRPr>
          </a:p>
        </p:txBody>
      </p:sp>
      <p:grpSp>
        <p:nvGrpSpPr>
          <p:cNvPr id="19" name="object 19"/>
          <p:cNvGrpSpPr/>
          <p:nvPr/>
        </p:nvGrpSpPr>
        <p:grpSpPr>
          <a:xfrm>
            <a:off x="5370321" y="2525141"/>
            <a:ext cx="540385" cy="534670"/>
            <a:chOff x="5370321" y="2525141"/>
            <a:chExt cx="540385" cy="534670"/>
          </a:xfrm>
        </p:grpSpPr>
        <p:sp>
          <p:nvSpPr>
            <p:cNvPr id="20" name="object 20"/>
            <p:cNvSpPr/>
            <p:nvPr/>
          </p:nvSpPr>
          <p:spPr>
            <a:xfrm>
              <a:off x="5376671" y="2531491"/>
              <a:ext cx="527685" cy="521970"/>
            </a:xfrm>
            <a:custGeom>
              <a:avLst/>
              <a:gdLst/>
              <a:ahLst/>
              <a:cxnLst/>
              <a:rect l="l" t="t" r="r" b="b"/>
              <a:pathLst>
                <a:path w="527685" h="521969">
                  <a:moveTo>
                    <a:pt x="263778" y="0"/>
                  </a:moveTo>
                  <a:lnTo>
                    <a:pt x="216367" y="4200"/>
                  </a:lnTo>
                  <a:lnTo>
                    <a:pt x="171742" y="16311"/>
                  </a:lnTo>
                  <a:lnTo>
                    <a:pt x="130650" y="35597"/>
                  </a:lnTo>
                  <a:lnTo>
                    <a:pt x="93834" y="61325"/>
                  </a:lnTo>
                  <a:lnTo>
                    <a:pt x="62041" y="92758"/>
                  </a:lnTo>
                  <a:lnTo>
                    <a:pt x="36016" y="129163"/>
                  </a:lnTo>
                  <a:lnTo>
                    <a:pt x="16504" y="169805"/>
                  </a:lnTo>
                  <a:lnTo>
                    <a:pt x="4250" y="213948"/>
                  </a:lnTo>
                  <a:lnTo>
                    <a:pt x="0" y="260858"/>
                  </a:lnTo>
                  <a:lnTo>
                    <a:pt x="4250" y="307730"/>
                  </a:lnTo>
                  <a:lnTo>
                    <a:pt x="16504" y="351843"/>
                  </a:lnTo>
                  <a:lnTo>
                    <a:pt x="36016" y="392462"/>
                  </a:lnTo>
                  <a:lnTo>
                    <a:pt x="62041" y="428851"/>
                  </a:lnTo>
                  <a:lnTo>
                    <a:pt x="93834" y="460275"/>
                  </a:lnTo>
                  <a:lnTo>
                    <a:pt x="130650" y="485996"/>
                  </a:lnTo>
                  <a:lnTo>
                    <a:pt x="171742" y="505279"/>
                  </a:lnTo>
                  <a:lnTo>
                    <a:pt x="216367" y="517388"/>
                  </a:lnTo>
                  <a:lnTo>
                    <a:pt x="263778" y="521588"/>
                  </a:lnTo>
                  <a:lnTo>
                    <a:pt x="311190" y="517388"/>
                  </a:lnTo>
                  <a:lnTo>
                    <a:pt x="355815" y="505279"/>
                  </a:lnTo>
                  <a:lnTo>
                    <a:pt x="396907" y="485996"/>
                  </a:lnTo>
                  <a:lnTo>
                    <a:pt x="433723" y="460275"/>
                  </a:lnTo>
                  <a:lnTo>
                    <a:pt x="465516" y="428851"/>
                  </a:lnTo>
                  <a:lnTo>
                    <a:pt x="491541" y="392462"/>
                  </a:lnTo>
                  <a:lnTo>
                    <a:pt x="511053" y="351843"/>
                  </a:lnTo>
                  <a:lnTo>
                    <a:pt x="523307" y="307730"/>
                  </a:lnTo>
                  <a:lnTo>
                    <a:pt x="527557" y="260858"/>
                  </a:lnTo>
                  <a:lnTo>
                    <a:pt x="523307" y="213948"/>
                  </a:lnTo>
                  <a:lnTo>
                    <a:pt x="511053" y="169805"/>
                  </a:lnTo>
                  <a:lnTo>
                    <a:pt x="491541" y="129163"/>
                  </a:lnTo>
                  <a:lnTo>
                    <a:pt x="465516" y="92758"/>
                  </a:lnTo>
                  <a:lnTo>
                    <a:pt x="433723" y="61325"/>
                  </a:lnTo>
                  <a:lnTo>
                    <a:pt x="396907" y="35597"/>
                  </a:lnTo>
                  <a:lnTo>
                    <a:pt x="355815" y="16311"/>
                  </a:lnTo>
                  <a:lnTo>
                    <a:pt x="311190" y="4200"/>
                  </a:lnTo>
                  <a:lnTo>
                    <a:pt x="263778" y="0"/>
                  </a:lnTo>
                  <a:close/>
                </a:path>
              </a:pathLst>
            </a:custGeom>
            <a:solidFill>
              <a:srgbClr val="5B9BD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5376671" y="2531491"/>
              <a:ext cx="527685" cy="521970"/>
            </a:xfrm>
            <a:custGeom>
              <a:avLst/>
              <a:gdLst/>
              <a:ahLst/>
              <a:cxnLst/>
              <a:rect l="l" t="t" r="r" b="b"/>
              <a:pathLst>
                <a:path w="527685" h="521969">
                  <a:moveTo>
                    <a:pt x="0" y="260858"/>
                  </a:moveTo>
                  <a:lnTo>
                    <a:pt x="4250" y="213948"/>
                  </a:lnTo>
                  <a:lnTo>
                    <a:pt x="16504" y="169805"/>
                  </a:lnTo>
                  <a:lnTo>
                    <a:pt x="36016" y="129163"/>
                  </a:lnTo>
                  <a:lnTo>
                    <a:pt x="62041" y="92758"/>
                  </a:lnTo>
                  <a:lnTo>
                    <a:pt x="93834" y="61325"/>
                  </a:lnTo>
                  <a:lnTo>
                    <a:pt x="130650" y="35597"/>
                  </a:lnTo>
                  <a:lnTo>
                    <a:pt x="171742" y="16311"/>
                  </a:lnTo>
                  <a:lnTo>
                    <a:pt x="216367" y="4200"/>
                  </a:lnTo>
                  <a:lnTo>
                    <a:pt x="263778" y="0"/>
                  </a:lnTo>
                  <a:lnTo>
                    <a:pt x="311190" y="4200"/>
                  </a:lnTo>
                  <a:lnTo>
                    <a:pt x="355815" y="16311"/>
                  </a:lnTo>
                  <a:lnTo>
                    <a:pt x="396907" y="35597"/>
                  </a:lnTo>
                  <a:lnTo>
                    <a:pt x="433723" y="61325"/>
                  </a:lnTo>
                  <a:lnTo>
                    <a:pt x="465516" y="92758"/>
                  </a:lnTo>
                  <a:lnTo>
                    <a:pt x="491541" y="129163"/>
                  </a:lnTo>
                  <a:lnTo>
                    <a:pt x="511053" y="169805"/>
                  </a:lnTo>
                  <a:lnTo>
                    <a:pt x="523307" y="213948"/>
                  </a:lnTo>
                  <a:lnTo>
                    <a:pt x="527557" y="260858"/>
                  </a:lnTo>
                  <a:lnTo>
                    <a:pt x="523307" y="307730"/>
                  </a:lnTo>
                  <a:lnTo>
                    <a:pt x="511053" y="351843"/>
                  </a:lnTo>
                  <a:lnTo>
                    <a:pt x="491541" y="392462"/>
                  </a:lnTo>
                  <a:lnTo>
                    <a:pt x="465516" y="428851"/>
                  </a:lnTo>
                  <a:lnTo>
                    <a:pt x="433723" y="460275"/>
                  </a:lnTo>
                  <a:lnTo>
                    <a:pt x="396907" y="485996"/>
                  </a:lnTo>
                  <a:lnTo>
                    <a:pt x="355815" y="505279"/>
                  </a:lnTo>
                  <a:lnTo>
                    <a:pt x="311190" y="517388"/>
                  </a:lnTo>
                  <a:lnTo>
                    <a:pt x="263778" y="521588"/>
                  </a:lnTo>
                  <a:lnTo>
                    <a:pt x="216367" y="517388"/>
                  </a:lnTo>
                  <a:lnTo>
                    <a:pt x="171742" y="505279"/>
                  </a:lnTo>
                  <a:lnTo>
                    <a:pt x="130650" y="485996"/>
                  </a:lnTo>
                  <a:lnTo>
                    <a:pt x="93834" y="460275"/>
                  </a:lnTo>
                  <a:lnTo>
                    <a:pt x="62041" y="428851"/>
                  </a:lnTo>
                  <a:lnTo>
                    <a:pt x="36016" y="392462"/>
                  </a:lnTo>
                  <a:lnTo>
                    <a:pt x="16504" y="351843"/>
                  </a:lnTo>
                  <a:lnTo>
                    <a:pt x="4250" y="307730"/>
                  </a:lnTo>
                  <a:lnTo>
                    <a:pt x="0" y="260858"/>
                  </a:lnTo>
                  <a:close/>
                </a:path>
              </a:pathLst>
            </a:custGeom>
            <a:ln w="12700">
              <a:solidFill>
                <a:srgbClr val="41709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2" name="object 22"/>
          <p:cNvSpPr txBox="1"/>
          <p:nvPr/>
        </p:nvSpPr>
        <p:spPr>
          <a:xfrm>
            <a:off x="5535548" y="2679572"/>
            <a:ext cx="21018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25" dirty="0">
                <a:solidFill>
                  <a:srgbClr val="FFFFFF"/>
                </a:solidFill>
                <a:latin typeface="Calibri"/>
                <a:cs typeface="Calibri"/>
              </a:rPr>
              <a:t>w3</a:t>
            </a:r>
            <a:endParaRPr sz="1200">
              <a:latin typeface="Calibri"/>
              <a:cs typeface="Calibri"/>
            </a:endParaRPr>
          </a:p>
        </p:txBody>
      </p:sp>
      <p:grpSp>
        <p:nvGrpSpPr>
          <p:cNvPr id="23" name="object 23"/>
          <p:cNvGrpSpPr/>
          <p:nvPr/>
        </p:nvGrpSpPr>
        <p:grpSpPr>
          <a:xfrm>
            <a:off x="5619496" y="2891535"/>
            <a:ext cx="1137920" cy="738505"/>
            <a:chOff x="5619496" y="2891535"/>
            <a:chExt cx="1137920" cy="738505"/>
          </a:xfrm>
        </p:grpSpPr>
        <p:sp>
          <p:nvSpPr>
            <p:cNvPr id="24" name="object 24"/>
            <p:cNvSpPr/>
            <p:nvPr/>
          </p:nvSpPr>
          <p:spPr>
            <a:xfrm>
              <a:off x="5619496" y="2891535"/>
              <a:ext cx="1137920" cy="738505"/>
            </a:xfrm>
            <a:custGeom>
              <a:avLst/>
              <a:gdLst/>
              <a:ahLst/>
              <a:cxnLst/>
              <a:rect l="l" t="t" r="r" b="b"/>
              <a:pathLst>
                <a:path w="1137920" h="738504">
                  <a:moveTo>
                    <a:pt x="1137412" y="0"/>
                  </a:moveTo>
                  <a:lnTo>
                    <a:pt x="1052703" y="9398"/>
                  </a:lnTo>
                  <a:lnTo>
                    <a:pt x="1071714" y="38811"/>
                  </a:lnTo>
                  <a:lnTo>
                    <a:pt x="724166" y="263829"/>
                  </a:lnTo>
                  <a:lnTo>
                    <a:pt x="694702" y="234683"/>
                  </a:lnTo>
                  <a:lnTo>
                    <a:pt x="657885" y="208953"/>
                  </a:lnTo>
                  <a:lnTo>
                    <a:pt x="616788" y="189674"/>
                  </a:lnTo>
                  <a:lnTo>
                    <a:pt x="572173" y="177558"/>
                  </a:lnTo>
                  <a:lnTo>
                    <a:pt x="524764" y="173355"/>
                  </a:lnTo>
                  <a:lnTo>
                    <a:pt x="477342" y="177558"/>
                  </a:lnTo>
                  <a:lnTo>
                    <a:pt x="432727" y="189674"/>
                  </a:lnTo>
                  <a:lnTo>
                    <a:pt x="391629" y="208953"/>
                  </a:lnTo>
                  <a:lnTo>
                    <a:pt x="354812" y="234683"/>
                  </a:lnTo>
                  <a:lnTo>
                    <a:pt x="323024" y="266115"/>
                  </a:lnTo>
                  <a:lnTo>
                    <a:pt x="296989" y="302526"/>
                  </a:lnTo>
                  <a:lnTo>
                    <a:pt x="277482" y="343166"/>
                  </a:lnTo>
                  <a:lnTo>
                    <a:pt x="265226" y="387311"/>
                  </a:lnTo>
                  <a:lnTo>
                    <a:pt x="260985" y="434213"/>
                  </a:lnTo>
                  <a:lnTo>
                    <a:pt x="265226" y="481088"/>
                  </a:lnTo>
                  <a:lnTo>
                    <a:pt x="277482" y="525208"/>
                  </a:lnTo>
                  <a:lnTo>
                    <a:pt x="287667" y="546430"/>
                  </a:lnTo>
                  <a:lnTo>
                    <a:pt x="0" y="732663"/>
                  </a:lnTo>
                  <a:lnTo>
                    <a:pt x="3429" y="737997"/>
                  </a:lnTo>
                  <a:lnTo>
                    <a:pt x="290436" y="552183"/>
                  </a:lnTo>
                  <a:lnTo>
                    <a:pt x="296989" y="565823"/>
                  </a:lnTo>
                  <a:lnTo>
                    <a:pt x="323024" y="602208"/>
                  </a:lnTo>
                  <a:lnTo>
                    <a:pt x="354812" y="633641"/>
                  </a:lnTo>
                  <a:lnTo>
                    <a:pt x="391629" y="659358"/>
                  </a:lnTo>
                  <a:lnTo>
                    <a:pt x="432727" y="678637"/>
                  </a:lnTo>
                  <a:lnTo>
                    <a:pt x="477342" y="690753"/>
                  </a:lnTo>
                  <a:lnTo>
                    <a:pt x="524764" y="694944"/>
                  </a:lnTo>
                  <a:lnTo>
                    <a:pt x="572173" y="690753"/>
                  </a:lnTo>
                  <a:lnTo>
                    <a:pt x="616788" y="678637"/>
                  </a:lnTo>
                  <a:lnTo>
                    <a:pt x="657885" y="659358"/>
                  </a:lnTo>
                  <a:lnTo>
                    <a:pt x="694702" y="633641"/>
                  </a:lnTo>
                  <a:lnTo>
                    <a:pt x="726490" y="602208"/>
                  </a:lnTo>
                  <a:lnTo>
                    <a:pt x="752525" y="565823"/>
                  </a:lnTo>
                  <a:lnTo>
                    <a:pt x="772033" y="525208"/>
                  </a:lnTo>
                  <a:lnTo>
                    <a:pt x="784288" y="481088"/>
                  </a:lnTo>
                  <a:lnTo>
                    <a:pt x="788543" y="434213"/>
                  </a:lnTo>
                  <a:lnTo>
                    <a:pt x="784288" y="387311"/>
                  </a:lnTo>
                  <a:lnTo>
                    <a:pt x="772033" y="343166"/>
                  </a:lnTo>
                  <a:lnTo>
                    <a:pt x="752525" y="302526"/>
                  </a:lnTo>
                  <a:lnTo>
                    <a:pt x="728319" y="268681"/>
                  </a:lnTo>
                  <a:lnTo>
                    <a:pt x="1075156" y="44132"/>
                  </a:lnTo>
                  <a:lnTo>
                    <a:pt x="1094105" y="73406"/>
                  </a:lnTo>
                  <a:lnTo>
                    <a:pt x="1118603" y="31877"/>
                  </a:lnTo>
                  <a:lnTo>
                    <a:pt x="1137412" y="0"/>
                  </a:lnTo>
                  <a:close/>
                </a:path>
              </a:pathLst>
            </a:custGeom>
            <a:solidFill>
              <a:srgbClr val="5B9BD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5" name="object 25"/>
            <p:cNvSpPr/>
            <p:nvPr/>
          </p:nvSpPr>
          <p:spPr>
            <a:xfrm>
              <a:off x="5880481" y="3064890"/>
              <a:ext cx="527685" cy="521970"/>
            </a:xfrm>
            <a:custGeom>
              <a:avLst/>
              <a:gdLst/>
              <a:ahLst/>
              <a:cxnLst/>
              <a:rect l="l" t="t" r="r" b="b"/>
              <a:pathLst>
                <a:path w="527685" h="521970">
                  <a:moveTo>
                    <a:pt x="0" y="260858"/>
                  </a:moveTo>
                  <a:lnTo>
                    <a:pt x="4250" y="213948"/>
                  </a:lnTo>
                  <a:lnTo>
                    <a:pt x="16504" y="169805"/>
                  </a:lnTo>
                  <a:lnTo>
                    <a:pt x="36016" y="129163"/>
                  </a:lnTo>
                  <a:lnTo>
                    <a:pt x="62041" y="92758"/>
                  </a:lnTo>
                  <a:lnTo>
                    <a:pt x="93834" y="61325"/>
                  </a:lnTo>
                  <a:lnTo>
                    <a:pt x="130650" y="35597"/>
                  </a:lnTo>
                  <a:lnTo>
                    <a:pt x="171742" y="16311"/>
                  </a:lnTo>
                  <a:lnTo>
                    <a:pt x="216367" y="4200"/>
                  </a:lnTo>
                  <a:lnTo>
                    <a:pt x="263779" y="0"/>
                  </a:lnTo>
                  <a:lnTo>
                    <a:pt x="311190" y="4200"/>
                  </a:lnTo>
                  <a:lnTo>
                    <a:pt x="355815" y="16311"/>
                  </a:lnTo>
                  <a:lnTo>
                    <a:pt x="396907" y="35597"/>
                  </a:lnTo>
                  <a:lnTo>
                    <a:pt x="433723" y="61325"/>
                  </a:lnTo>
                  <a:lnTo>
                    <a:pt x="465516" y="92758"/>
                  </a:lnTo>
                  <a:lnTo>
                    <a:pt x="491541" y="129163"/>
                  </a:lnTo>
                  <a:lnTo>
                    <a:pt x="511053" y="169805"/>
                  </a:lnTo>
                  <a:lnTo>
                    <a:pt x="523307" y="213948"/>
                  </a:lnTo>
                  <a:lnTo>
                    <a:pt x="527558" y="260858"/>
                  </a:lnTo>
                  <a:lnTo>
                    <a:pt x="523307" y="307730"/>
                  </a:lnTo>
                  <a:lnTo>
                    <a:pt x="511053" y="351843"/>
                  </a:lnTo>
                  <a:lnTo>
                    <a:pt x="491541" y="392462"/>
                  </a:lnTo>
                  <a:lnTo>
                    <a:pt x="465516" y="428851"/>
                  </a:lnTo>
                  <a:lnTo>
                    <a:pt x="433723" y="460275"/>
                  </a:lnTo>
                  <a:lnTo>
                    <a:pt x="396907" y="485996"/>
                  </a:lnTo>
                  <a:lnTo>
                    <a:pt x="355815" y="505279"/>
                  </a:lnTo>
                  <a:lnTo>
                    <a:pt x="311190" y="517388"/>
                  </a:lnTo>
                  <a:lnTo>
                    <a:pt x="263779" y="521588"/>
                  </a:lnTo>
                  <a:lnTo>
                    <a:pt x="216367" y="517388"/>
                  </a:lnTo>
                  <a:lnTo>
                    <a:pt x="171742" y="505279"/>
                  </a:lnTo>
                  <a:lnTo>
                    <a:pt x="130650" y="485996"/>
                  </a:lnTo>
                  <a:lnTo>
                    <a:pt x="93834" y="460275"/>
                  </a:lnTo>
                  <a:lnTo>
                    <a:pt x="62041" y="428851"/>
                  </a:lnTo>
                  <a:lnTo>
                    <a:pt x="36016" y="392462"/>
                  </a:lnTo>
                  <a:lnTo>
                    <a:pt x="16504" y="351843"/>
                  </a:lnTo>
                  <a:lnTo>
                    <a:pt x="4250" y="307730"/>
                  </a:lnTo>
                  <a:lnTo>
                    <a:pt x="0" y="260858"/>
                  </a:lnTo>
                  <a:close/>
                </a:path>
              </a:pathLst>
            </a:custGeom>
            <a:ln w="12700">
              <a:solidFill>
                <a:srgbClr val="41709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6" name="object 26"/>
          <p:cNvSpPr txBox="1"/>
          <p:nvPr/>
        </p:nvSpPr>
        <p:spPr>
          <a:xfrm>
            <a:off x="5337175" y="3460750"/>
            <a:ext cx="24066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25" dirty="0">
                <a:latin typeface="Calibri"/>
                <a:cs typeface="Calibri"/>
              </a:rPr>
              <a:t>x4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27" name="object 27"/>
          <p:cNvSpPr txBox="1"/>
          <p:nvPr/>
        </p:nvSpPr>
        <p:spPr>
          <a:xfrm>
            <a:off x="6039358" y="3212972"/>
            <a:ext cx="21018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25" dirty="0">
                <a:solidFill>
                  <a:srgbClr val="FFFFFF"/>
                </a:solidFill>
                <a:latin typeface="Calibri"/>
                <a:cs typeface="Calibri"/>
              </a:rPr>
              <a:t>w4</a:t>
            </a:r>
            <a:endParaRPr sz="1200">
              <a:latin typeface="Calibri"/>
              <a:cs typeface="Calibri"/>
            </a:endParaRPr>
          </a:p>
        </p:txBody>
      </p:sp>
      <p:pic>
        <p:nvPicPr>
          <p:cNvPr id="28" name="object 28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491572" y="4241090"/>
            <a:ext cx="2878734" cy="1902147"/>
          </a:xfrm>
          <a:prstGeom prst="rect">
            <a:avLst/>
          </a:prstGeom>
        </p:spPr>
      </p:pic>
      <p:pic>
        <p:nvPicPr>
          <p:cNvPr id="29" name="object 29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595705" y="1063932"/>
            <a:ext cx="3098677" cy="3098693"/>
          </a:xfrm>
          <a:prstGeom prst="rect">
            <a:avLst/>
          </a:prstGeom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900" dirty="0"/>
              <a:t>Other</a:t>
            </a:r>
            <a:r>
              <a:rPr sz="2900" spc="220" dirty="0"/>
              <a:t> </a:t>
            </a:r>
            <a:r>
              <a:rPr sz="2900" spc="50" dirty="0"/>
              <a:t>hidden</a:t>
            </a:r>
            <a:r>
              <a:rPr sz="2900" spc="220" dirty="0"/>
              <a:t> </a:t>
            </a:r>
            <a:r>
              <a:rPr sz="2900" dirty="0"/>
              <a:t>layer</a:t>
            </a:r>
            <a:r>
              <a:rPr sz="2900" spc="220" dirty="0"/>
              <a:t> </a:t>
            </a:r>
            <a:r>
              <a:rPr sz="2900" dirty="0"/>
              <a:t>neurons</a:t>
            </a:r>
            <a:r>
              <a:rPr sz="2900" spc="220" dirty="0"/>
              <a:t> </a:t>
            </a:r>
            <a:r>
              <a:rPr sz="2900" spc="50" dirty="0"/>
              <a:t>could</a:t>
            </a:r>
            <a:r>
              <a:rPr sz="2900" spc="220" dirty="0"/>
              <a:t> </a:t>
            </a:r>
            <a:r>
              <a:rPr sz="2900" dirty="0"/>
              <a:t>then</a:t>
            </a:r>
            <a:r>
              <a:rPr sz="2900" spc="225" dirty="0"/>
              <a:t> </a:t>
            </a:r>
            <a:r>
              <a:rPr sz="2900" dirty="0"/>
              <a:t>be</a:t>
            </a:r>
            <a:r>
              <a:rPr sz="2900" spc="220" dirty="0"/>
              <a:t> </a:t>
            </a:r>
            <a:r>
              <a:rPr sz="2900" spc="50" dirty="0"/>
              <a:t>detecting</a:t>
            </a:r>
            <a:r>
              <a:rPr sz="2900" spc="235" dirty="0"/>
              <a:t> </a:t>
            </a:r>
            <a:r>
              <a:rPr sz="2900" dirty="0"/>
              <a:t>other</a:t>
            </a:r>
            <a:r>
              <a:rPr sz="2900" spc="220" dirty="0"/>
              <a:t> </a:t>
            </a:r>
            <a:r>
              <a:rPr sz="2900" spc="75" dirty="0"/>
              <a:t>images</a:t>
            </a:r>
            <a:endParaRPr sz="2900"/>
          </a:p>
        </p:txBody>
      </p:sp>
      <p:sp>
        <p:nvSpPr>
          <p:cNvPr id="3" name="object 3"/>
          <p:cNvSpPr txBox="1"/>
          <p:nvPr/>
        </p:nvSpPr>
        <p:spPr>
          <a:xfrm>
            <a:off x="974852" y="3382883"/>
            <a:ext cx="9013825" cy="809625"/>
          </a:xfrm>
          <a:prstGeom prst="rect">
            <a:avLst/>
          </a:prstGeom>
        </p:spPr>
        <p:txBody>
          <a:bodyPr vert="horz" wrap="square" lIns="0" tIns="38735" rIns="0" bIns="0" rtlCol="0">
            <a:spAutoFit/>
          </a:bodyPr>
          <a:lstStyle/>
          <a:p>
            <a:pPr marL="240029" indent="-227329">
              <a:lnSpc>
                <a:spcPct val="100000"/>
              </a:lnSpc>
              <a:spcBef>
                <a:spcPts val="305"/>
              </a:spcBef>
              <a:buFont typeface="Arial"/>
              <a:buChar char="•"/>
              <a:tabLst>
                <a:tab pos="240029" algn="l"/>
              </a:tabLst>
            </a:pPr>
            <a:r>
              <a:rPr sz="2400" spc="60" dirty="0">
                <a:latin typeface="Calibri"/>
                <a:cs typeface="Calibri"/>
              </a:rPr>
              <a:t>Then</a:t>
            </a:r>
            <a:r>
              <a:rPr sz="2400" spc="17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neuron</a:t>
            </a:r>
            <a:r>
              <a:rPr sz="2400" spc="170" dirty="0">
                <a:latin typeface="Calibri"/>
                <a:cs typeface="Calibri"/>
              </a:rPr>
              <a:t> </a:t>
            </a:r>
            <a:r>
              <a:rPr sz="2400" spc="80" dirty="0">
                <a:latin typeface="Calibri"/>
                <a:cs typeface="Calibri"/>
              </a:rPr>
              <a:t>2</a:t>
            </a:r>
            <a:r>
              <a:rPr sz="2400" spc="16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and</a:t>
            </a:r>
            <a:r>
              <a:rPr sz="2400" spc="165" dirty="0">
                <a:latin typeface="Calibri"/>
                <a:cs typeface="Calibri"/>
              </a:rPr>
              <a:t> </a:t>
            </a:r>
            <a:r>
              <a:rPr sz="2400" spc="80" dirty="0">
                <a:latin typeface="Calibri"/>
                <a:cs typeface="Calibri"/>
              </a:rPr>
              <a:t>3</a:t>
            </a:r>
            <a:r>
              <a:rPr sz="2400" spc="17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and</a:t>
            </a:r>
            <a:r>
              <a:rPr sz="2400" spc="165" dirty="0">
                <a:latin typeface="Calibri"/>
                <a:cs typeface="Calibri"/>
              </a:rPr>
              <a:t> </a:t>
            </a:r>
            <a:r>
              <a:rPr sz="2400" spc="80" dirty="0">
                <a:latin typeface="Calibri"/>
                <a:cs typeface="Calibri"/>
              </a:rPr>
              <a:t>4</a:t>
            </a:r>
            <a:r>
              <a:rPr sz="2400" spc="17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could</a:t>
            </a:r>
            <a:r>
              <a:rPr sz="2400" spc="16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be</a:t>
            </a:r>
            <a:r>
              <a:rPr sz="2400" spc="185" dirty="0">
                <a:latin typeface="Calibri"/>
                <a:cs typeface="Calibri"/>
              </a:rPr>
              <a:t> </a:t>
            </a:r>
            <a:r>
              <a:rPr sz="2400" spc="45" dirty="0">
                <a:latin typeface="Calibri"/>
                <a:cs typeface="Calibri"/>
              </a:rPr>
              <a:t>detecting</a:t>
            </a:r>
            <a:r>
              <a:rPr sz="2400" spc="14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these</a:t>
            </a:r>
            <a:r>
              <a:rPr sz="2400" spc="18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other</a:t>
            </a:r>
            <a:r>
              <a:rPr sz="2400" spc="175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patterns</a:t>
            </a:r>
            <a:endParaRPr sz="2400">
              <a:latin typeface="Calibri"/>
              <a:cs typeface="Calibri"/>
            </a:endParaRPr>
          </a:p>
          <a:p>
            <a:pPr marL="240029" indent="-227329">
              <a:lnSpc>
                <a:spcPct val="100000"/>
              </a:lnSpc>
              <a:spcBef>
                <a:spcPts val="209"/>
              </a:spcBef>
              <a:buFont typeface="Arial"/>
              <a:buChar char="•"/>
              <a:tabLst>
                <a:tab pos="240029" algn="l"/>
              </a:tabLst>
            </a:pPr>
            <a:r>
              <a:rPr sz="2400" dirty="0">
                <a:latin typeface="Calibri"/>
                <a:cs typeface="Calibri"/>
              </a:rPr>
              <a:t>Together</a:t>
            </a:r>
            <a:r>
              <a:rPr sz="2400" spc="18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these</a:t>
            </a:r>
            <a:r>
              <a:rPr sz="2400" spc="165" dirty="0">
                <a:latin typeface="Calibri"/>
                <a:cs typeface="Calibri"/>
              </a:rPr>
              <a:t> </a:t>
            </a:r>
            <a:r>
              <a:rPr sz="2400" spc="80" dirty="0">
                <a:latin typeface="Calibri"/>
                <a:cs typeface="Calibri"/>
              </a:rPr>
              <a:t>4</a:t>
            </a:r>
            <a:r>
              <a:rPr sz="2400" spc="170" dirty="0">
                <a:latin typeface="Calibri"/>
                <a:cs typeface="Calibri"/>
              </a:rPr>
              <a:t> </a:t>
            </a:r>
            <a:r>
              <a:rPr sz="2400" spc="60" dirty="0">
                <a:latin typeface="Calibri"/>
                <a:cs typeface="Calibri"/>
              </a:rPr>
              <a:t>images</a:t>
            </a:r>
            <a:r>
              <a:rPr sz="2400" spc="16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make</a:t>
            </a:r>
            <a:r>
              <a:rPr sz="2400" spc="16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up</a:t>
            </a:r>
            <a:r>
              <a:rPr sz="2400" spc="16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</a:t>
            </a:r>
            <a:r>
              <a:rPr sz="2400" spc="80" dirty="0">
                <a:latin typeface="Calibri"/>
                <a:cs typeface="Calibri"/>
              </a:rPr>
              <a:t> </a:t>
            </a:r>
            <a:r>
              <a:rPr sz="2400" spc="-20" dirty="0">
                <a:latin typeface="Calibri"/>
                <a:cs typeface="Calibri"/>
              </a:rPr>
              <a:t>zero</a:t>
            </a:r>
            <a:endParaRPr sz="2400">
              <a:latin typeface="Calibri"/>
              <a:cs typeface="Calibri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8870196" y="823223"/>
            <a:ext cx="3124901" cy="1637213"/>
          </a:xfrm>
          <a:prstGeom prst="rect">
            <a:avLst/>
          </a:prstGeom>
        </p:spPr>
      </p:pic>
      <p:pic>
        <p:nvPicPr>
          <p:cNvPr id="5" name="object 5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2302129" y="1214374"/>
            <a:ext cx="6019800" cy="1790700"/>
          </a:xfrm>
          <a:prstGeom prst="rect">
            <a:avLst/>
          </a:prstGeom>
        </p:spPr>
      </p:pic>
      <p:pic>
        <p:nvPicPr>
          <p:cNvPr id="6" name="object 6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368298" y="1230107"/>
            <a:ext cx="1780786" cy="1785648"/>
          </a:xfrm>
          <a:prstGeom prst="rect">
            <a:avLst/>
          </a:prstGeom>
        </p:spPr>
      </p:pic>
      <p:pic>
        <p:nvPicPr>
          <p:cNvPr id="7" name="object 7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4373194" y="4653813"/>
            <a:ext cx="1915896" cy="1915871"/>
          </a:xfrm>
          <a:prstGeom prst="rect">
            <a:avLst/>
          </a:prstGeom>
        </p:spPr>
      </p:pic>
      <p:sp>
        <p:nvSpPr>
          <p:cNvPr id="8" name="object 8"/>
          <p:cNvSpPr txBox="1"/>
          <p:nvPr/>
        </p:nvSpPr>
        <p:spPr>
          <a:xfrm>
            <a:off x="1152550" y="853185"/>
            <a:ext cx="628904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1879600" algn="l"/>
                <a:tab pos="4144645" algn="l"/>
                <a:tab pos="6012180" algn="l"/>
              </a:tabLst>
            </a:pPr>
            <a:r>
              <a:rPr sz="1800" spc="-25" dirty="0">
                <a:latin typeface="Calibri"/>
                <a:cs typeface="Calibri"/>
              </a:rPr>
              <a:t>N1</a:t>
            </a:r>
            <a:r>
              <a:rPr sz="1800" dirty="0">
                <a:latin typeface="Calibri"/>
                <a:cs typeface="Calibri"/>
              </a:rPr>
              <a:t>	</a:t>
            </a:r>
            <a:r>
              <a:rPr sz="2700" spc="-37" baseline="3086" dirty="0">
                <a:latin typeface="Calibri"/>
                <a:cs typeface="Calibri"/>
              </a:rPr>
              <a:t>N2</a:t>
            </a:r>
            <a:r>
              <a:rPr sz="2700" baseline="3086" dirty="0">
                <a:latin typeface="Calibri"/>
                <a:cs typeface="Calibri"/>
              </a:rPr>
              <a:t>	</a:t>
            </a:r>
            <a:r>
              <a:rPr sz="1800" spc="-25" dirty="0">
                <a:latin typeface="Calibri"/>
                <a:cs typeface="Calibri"/>
              </a:rPr>
              <a:t>N3</a:t>
            </a:r>
            <a:r>
              <a:rPr sz="1800" dirty="0">
                <a:latin typeface="Calibri"/>
                <a:cs typeface="Calibri"/>
              </a:rPr>
              <a:t>	</a:t>
            </a:r>
            <a:r>
              <a:rPr sz="2700" spc="-37" baseline="3086" dirty="0">
                <a:latin typeface="Calibri"/>
                <a:cs typeface="Calibri"/>
              </a:rPr>
              <a:t>N4</a:t>
            </a:r>
            <a:endParaRPr sz="2700" baseline="3086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900" dirty="0"/>
              <a:t>Other</a:t>
            </a:r>
            <a:r>
              <a:rPr sz="2900" spc="220" dirty="0"/>
              <a:t> </a:t>
            </a:r>
            <a:r>
              <a:rPr sz="2900" spc="50" dirty="0"/>
              <a:t>hidden</a:t>
            </a:r>
            <a:r>
              <a:rPr sz="2900" spc="220" dirty="0"/>
              <a:t> </a:t>
            </a:r>
            <a:r>
              <a:rPr sz="2900" dirty="0"/>
              <a:t>layer</a:t>
            </a:r>
            <a:r>
              <a:rPr sz="2900" spc="220" dirty="0"/>
              <a:t> </a:t>
            </a:r>
            <a:r>
              <a:rPr sz="2900" dirty="0"/>
              <a:t>neurons</a:t>
            </a:r>
            <a:r>
              <a:rPr sz="2900" spc="220" dirty="0"/>
              <a:t> </a:t>
            </a:r>
            <a:r>
              <a:rPr sz="2900" spc="50" dirty="0"/>
              <a:t>could</a:t>
            </a:r>
            <a:r>
              <a:rPr sz="2900" spc="220" dirty="0"/>
              <a:t> </a:t>
            </a:r>
            <a:r>
              <a:rPr sz="2900" dirty="0"/>
              <a:t>then</a:t>
            </a:r>
            <a:r>
              <a:rPr sz="2900" spc="225" dirty="0"/>
              <a:t> </a:t>
            </a:r>
            <a:r>
              <a:rPr sz="2900" dirty="0"/>
              <a:t>be</a:t>
            </a:r>
            <a:r>
              <a:rPr sz="2900" spc="220" dirty="0"/>
              <a:t> </a:t>
            </a:r>
            <a:r>
              <a:rPr sz="2900" spc="50" dirty="0"/>
              <a:t>detecting</a:t>
            </a:r>
            <a:r>
              <a:rPr sz="2900" spc="235" dirty="0"/>
              <a:t> </a:t>
            </a:r>
            <a:r>
              <a:rPr sz="2900" dirty="0"/>
              <a:t>other</a:t>
            </a:r>
            <a:r>
              <a:rPr sz="2900" spc="220" dirty="0"/>
              <a:t> </a:t>
            </a:r>
            <a:r>
              <a:rPr sz="2900" spc="75" dirty="0"/>
              <a:t>images</a:t>
            </a:r>
            <a:endParaRPr sz="2900"/>
          </a:p>
        </p:txBody>
      </p:sp>
      <p:sp>
        <p:nvSpPr>
          <p:cNvPr id="3" name="object 3"/>
          <p:cNvSpPr txBox="1"/>
          <p:nvPr/>
        </p:nvSpPr>
        <p:spPr>
          <a:xfrm>
            <a:off x="974852" y="3384626"/>
            <a:ext cx="10091420" cy="290385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240665" indent="-227965">
              <a:lnSpc>
                <a:spcPts val="2375"/>
              </a:lnSpc>
              <a:spcBef>
                <a:spcPts val="95"/>
              </a:spcBef>
              <a:buFont typeface="Arial"/>
              <a:buChar char="•"/>
              <a:tabLst>
                <a:tab pos="240665" algn="l"/>
              </a:tabLst>
            </a:pPr>
            <a:r>
              <a:rPr sz="2200" spc="55" dirty="0">
                <a:latin typeface="Calibri"/>
                <a:cs typeface="Calibri"/>
              </a:rPr>
              <a:t>If</a:t>
            </a:r>
            <a:r>
              <a:rPr sz="2200" spc="160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we</a:t>
            </a:r>
            <a:r>
              <a:rPr sz="2200" spc="155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see</a:t>
            </a:r>
            <a:r>
              <a:rPr sz="2200" spc="160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that</a:t>
            </a:r>
            <a:r>
              <a:rPr sz="2200" spc="180" dirty="0">
                <a:latin typeface="Calibri"/>
                <a:cs typeface="Calibri"/>
              </a:rPr>
              <a:t> </a:t>
            </a:r>
            <a:r>
              <a:rPr sz="2200" spc="100" dirty="0">
                <a:latin typeface="Calibri"/>
                <a:cs typeface="Calibri"/>
              </a:rPr>
              <a:t>all</a:t>
            </a:r>
            <a:r>
              <a:rPr sz="2200" spc="150" dirty="0">
                <a:latin typeface="Calibri"/>
                <a:cs typeface="Calibri"/>
              </a:rPr>
              <a:t> </a:t>
            </a:r>
            <a:r>
              <a:rPr sz="2200" spc="75" dirty="0">
                <a:latin typeface="Calibri"/>
                <a:cs typeface="Calibri"/>
              </a:rPr>
              <a:t>4</a:t>
            </a:r>
            <a:r>
              <a:rPr sz="2200" spc="175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of</a:t>
            </a:r>
            <a:r>
              <a:rPr sz="2200" spc="160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these</a:t>
            </a:r>
            <a:r>
              <a:rPr sz="2200" spc="170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neurons</a:t>
            </a:r>
            <a:r>
              <a:rPr sz="2200" spc="160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are</a:t>
            </a:r>
            <a:r>
              <a:rPr sz="2200" spc="160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firing, then</a:t>
            </a:r>
            <a:r>
              <a:rPr sz="2200" spc="160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we</a:t>
            </a:r>
            <a:r>
              <a:rPr sz="2200" spc="155" dirty="0">
                <a:latin typeface="Calibri"/>
                <a:cs typeface="Calibri"/>
              </a:rPr>
              <a:t> </a:t>
            </a:r>
            <a:r>
              <a:rPr sz="2200" spc="50" dirty="0">
                <a:latin typeface="Calibri"/>
                <a:cs typeface="Calibri"/>
              </a:rPr>
              <a:t>can</a:t>
            </a:r>
            <a:r>
              <a:rPr sz="2200" spc="155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make</a:t>
            </a:r>
            <a:r>
              <a:rPr sz="2200" spc="155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the</a:t>
            </a:r>
            <a:r>
              <a:rPr sz="2200" spc="160" dirty="0">
                <a:latin typeface="Calibri"/>
                <a:cs typeface="Calibri"/>
              </a:rPr>
              <a:t> </a:t>
            </a:r>
            <a:r>
              <a:rPr sz="2200" spc="-10" dirty="0">
                <a:latin typeface="Calibri"/>
                <a:cs typeface="Calibri"/>
              </a:rPr>
              <a:t>assumption</a:t>
            </a:r>
            <a:endParaRPr sz="2200">
              <a:latin typeface="Calibri"/>
              <a:cs typeface="Calibri"/>
            </a:endParaRPr>
          </a:p>
          <a:p>
            <a:pPr marL="241300">
              <a:lnSpc>
                <a:spcPts val="2375"/>
              </a:lnSpc>
            </a:pPr>
            <a:r>
              <a:rPr sz="2200" dirty="0">
                <a:latin typeface="Calibri"/>
                <a:cs typeface="Calibri"/>
              </a:rPr>
              <a:t>that</a:t>
            </a:r>
            <a:r>
              <a:rPr sz="2200" spc="135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we</a:t>
            </a:r>
            <a:r>
              <a:rPr sz="2200" spc="114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are</a:t>
            </a:r>
            <a:r>
              <a:rPr sz="2200" spc="120" dirty="0">
                <a:latin typeface="Calibri"/>
                <a:cs typeface="Calibri"/>
              </a:rPr>
              <a:t> </a:t>
            </a:r>
            <a:r>
              <a:rPr sz="2200" spc="50" dirty="0">
                <a:latin typeface="Calibri"/>
                <a:cs typeface="Calibri"/>
              </a:rPr>
              <a:t>seeing</a:t>
            </a:r>
            <a:r>
              <a:rPr sz="2200" spc="140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a</a:t>
            </a:r>
            <a:r>
              <a:rPr sz="2200" spc="55" dirty="0">
                <a:latin typeface="Calibri"/>
                <a:cs typeface="Calibri"/>
              </a:rPr>
              <a:t> </a:t>
            </a:r>
            <a:r>
              <a:rPr sz="2200" spc="-20" dirty="0">
                <a:latin typeface="Calibri"/>
                <a:cs typeface="Calibri"/>
              </a:rPr>
              <a:t>zero.</a:t>
            </a:r>
            <a:endParaRPr sz="2200">
              <a:latin typeface="Calibri"/>
              <a:cs typeface="Calibri"/>
            </a:endParaRPr>
          </a:p>
          <a:p>
            <a:pPr marL="698500" lvl="1" indent="-228600">
              <a:lnSpc>
                <a:spcPts val="1770"/>
              </a:lnSpc>
              <a:spcBef>
                <a:spcPts val="175"/>
              </a:spcBef>
              <a:buFont typeface="Arial"/>
              <a:buChar char="•"/>
              <a:tabLst>
                <a:tab pos="698500" algn="l"/>
              </a:tabLst>
            </a:pPr>
            <a:r>
              <a:rPr sz="1500" dirty="0">
                <a:latin typeface="Calibri"/>
                <a:cs typeface="Calibri"/>
              </a:rPr>
              <a:t>Obviously</a:t>
            </a:r>
            <a:r>
              <a:rPr sz="1500" spc="65" dirty="0">
                <a:latin typeface="Calibri"/>
                <a:cs typeface="Calibri"/>
              </a:rPr>
              <a:t> </a:t>
            </a:r>
            <a:r>
              <a:rPr sz="1500" dirty="0">
                <a:latin typeface="Calibri"/>
                <a:cs typeface="Calibri"/>
              </a:rPr>
              <a:t>this</a:t>
            </a:r>
            <a:r>
              <a:rPr sz="1500" spc="190" dirty="0">
                <a:latin typeface="Calibri"/>
                <a:cs typeface="Calibri"/>
              </a:rPr>
              <a:t> </a:t>
            </a:r>
            <a:r>
              <a:rPr sz="1500" dirty="0">
                <a:latin typeface="Calibri"/>
                <a:cs typeface="Calibri"/>
              </a:rPr>
              <a:t>is</a:t>
            </a:r>
            <a:r>
              <a:rPr sz="1500" spc="165" dirty="0">
                <a:latin typeface="Calibri"/>
                <a:cs typeface="Calibri"/>
              </a:rPr>
              <a:t> </a:t>
            </a:r>
            <a:r>
              <a:rPr sz="1500" dirty="0">
                <a:latin typeface="Calibri"/>
                <a:cs typeface="Calibri"/>
              </a:rPr>
              <a:t>a</a:t>
            </a:r>
            <a:r>
              <a:rPr sz="1500" spc="160" dirty="0">
                <a:latin typeface="Calibri"/>
                <a:cs typeface="Calibri"/>
              </a:rPr>
              <a:t> </a:t>
            </a:r>
            <a:r>
              <a:rPr sz="1500" dirty="0">
                <a:latin typeface="Calibri"/>
                <a:cs typeface="Calibri"/>
              </a:rPr>
              <a:t>toy</a:t>
            </a:r>
            <a:r>
              <a:rPr sz="1500" spc="105" dirty="0">
                <a:latin typeface="Calibri"/>
                <a:cs typeface="Calibri"/>
              </a:rPr>
              <a:t> </a:t>
            </a:r>
            <a:r>
              <a:rPr sz="1500" dirty="0">
                <a:latin typeface="Calibri"/>
                <a:cs typeface="Calibri"/>
              </a:rPr>
              <a:t>example,</a:t>
            </a:r>
            <a:r>
              <a:rPr sz="1500" spc="-10" dirty="0">
                <a:latin typeface="Calibri"/>
                <a:cs typeface="Calibri"/>
              </a:rPr>
              <a:t> </a:t>
            </a:r>
            <a:r>
              <a:rPr sz="1500" dirty="0">
                <a:latin typeface="Calibri"/>
                <a:cs typeface="Calibri"/>
              </a:rPr>
              <a:t>don’t</a:t>
            </a:r>
            <a:r>
              <a:rPr sz="1500" spc="180" dirty="0">
                <a:latin typeface="Calibri"/>
                <a:cs typeface="Calibri"/>
              </a:rPr>
              <a:t> </a:t>
            </a:r>
            <a:r>
              <a:rPr sz="1500" dirty="0">
                <a:latin typeface="Calibri"/>
                <a:cs typeface="Calibri"/>
              </a:rPr>
              <a:t>get</a:t>
            </a:r>
            <a:r>
              <a:rPr sz="1500" spc="165" dirty="0">
                <a:latin typeface="Calibri"/>
                <a:cs typeface="Calibri"/>
              </a:rPr>
              <a:t> </a:t>
            </a:r>
            <a:r>
              <a:rPr sz="1500" dirty="0">
                <a:latin typeface="Calibri"/>
                <a:cs typeface="Calibri"/>
              </a:rPr>
              <a:t>carried</a:t>
            </a:r>
            <a:r>
              <a:rPr sz="1500" spc="155" dirty="0">
                <a:latin typeface="Calibri"/>
                <a:cs typeface="Calibri"/>
              </a:rPr>
              <a:t> </a:t>
            </a:r>
            <a:r>
              <a:rPr sz="1500" dirty="0">
                <a:latin typeface="Calibri"/>
                <a:cs typeface="Calibri"/>
              </a:rPr>
              <a:t>away</a:t>
            </a:r>
            <a:r>
              <a:rPr sz="1500" spc="110" dirty="0">
                <a:latin typeface="Calibri"/>
                <a:cs typeface="Calibri"/>
              </a:rPr>
              <a:t> </a:t>
            </a:r>
            <a:r>
              <a:rPr sz="1500" dirty="0">
                <a:latin typeface="Calibri"/>
                <a:cs typeface="Calibri"/>
              </a:rPr>
              <a:t>trying</a:t>
            </a:r>
            <a:r>
              <a:rPr sz="1500" spc="160" dirty="0">
                <a:latin typeface="Calibri"/>
                <a:cs typeface="Calibri"/>
              </a:rPr>
              <a:t> </a:t>
            </a:r>
            <a:r>
              <a:rPr sz="1500" dirty="0">
                <a:latin typeface="Calibri"/>
                <a:cs typeface="Calibri"/>
              </a:rPr>
              <a:t>to</a:t>
            </a:r>
            <a:r>
              <a:rPr sz="1500" spc="175" dirty="0">
                <a:latin typeface="Calibri"/>
                <a:cs typeface="Calibri"/>
              </a:rPr>
              <a:t> </a:t>
            </a:r>
            <a:r>
              <a:rPr sz="1500" dirty="0">
                <a:latin typeface="Calibri"/>
                <a:cs typeface="Calibri"/>
              </a:rPr>
              <a:t>poke</a:t>
            </a:r>
            <a:r>
              <a:rPr sz="1500" spc="135" dirty="0">
                <a:latin typeface="Calibri"/>
                <a:cs typeface="Calibri"/>
              </a:rPr>
              <a:t> </a:t>
            </a:r>
            <a:r>
              <a:rPr sz="1500" dirty="0">
                <a:latin typeface="Calibri"/>
                <a:cs typeface="Calibri"/>
              </a:rPr>
              <a:t>holes</a:t>
            </a:r>
            <a:r>
              <a:rPr sz="1500" spc="165" dirty="0">
                <a:latin typeface="Calibri"/>
                <a:cs typeface="Calibri"/>
              </a:rPr>
              <a:t> </a:t>
            </a:r>
            <a:r>
              <a:rPr sz="1500" dirty="0">
                <a:latin typeface="Calibri"/>
                <a:cs typeface="Calibri"/>
              </a:rPr>
              <a:t>into</a:t>
            </a:r>
            <a:r>
              <a:rPr sz="1500" spc="165" dirty="0">
                <a:latin typeface="Calibri"/>
                <a:cs typeface="Calibri"/>
              </a:rPr>
              <a:t> </a:t>
            </a:r>
            <a:r>
              <a:rPr sz="1500" spc="-35" dirty="0">
                <a:latin typeface="Calibri"/>
                <a:cs typeface="Calibri"/>
              </a:rPr>
              <a:t>it</a:t>
            </a:r>
            <a:endParaRPr sz="1500">
              <a:latin typeface="Calibri"/>
              <a:cs typeface="Calibri"/>
            </a:endParaRPr>
          </a:p>
          <a:p>
            <a:pPr marL="240665" indent="-227965">
              <a:lnSpc>
                <a:spcPts val="2595"/>
              </a:lnSpc>
              <a:buFont typeface="Arial"/>
              <a:buChar char="•"/>
              <a:tabLst>
                <a:tab pos="240665" algn="l"/>
              </a:tabLst>
            </a:pPr>
            <a:r>
              <a:rPr sz="2200" spc="-40" dirty="0">
                <a:latin typeface="Calibri"/>
                <a:cs typeface="Calibri"/>
              </a:rPr>
              <a:t>Now,</a:t>
            </a:r>
            <a:r>
              <a:rPr sz="2200" spc="-70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we</a:t>
            </a:r>
            <a:r>
              <a:rPr sz="2200" spc="120" dirty="0">
                <a:latin typeface="Calibri"/>
                <a:cs typeface="Calibri"/>
              </a:rPr>
              <a:t> </a:t>
            </a:r>
            <a:r>
              <a:rPr sz="2200" spc="50" dirty="0">
                <a:latin typeface="Calibri"/>
                <a:cs typeface="Calibri"/>
              </a:rPr>
              <a:t>can</a:t>
            </a:r>
            <a:r>
              <a:rPr sz="2200" spc="120" dirty="0">
                <a:latin typeface="Calibri"/>
                <a:cs typeface="Calibri"/>
              </a:rPr>
              <a:t> </a:t>
            </a:r>
            <a:r>
              <a:rPr sz="2200" spc="50" dirty="0">
                <a:latin typeface="Calibri"/>
                <a:cs typeface="Calibri"/>
              </a:rPr>
              <a:t>possibly</a:t>
            </a:r>
            <a:r>
              <a:rPr sz="2200" spc="45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see</a:t>
            </a:r>
            <a:r>
              <a:rPr sz="2200" spc="120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why</a:t>
            </a:r>
            <a:r>
              <a:rPr sz="2200" spc="50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it’s</a:t>
            </a:r>
            <a:r>
              <a:rPr sz="2200" spc="114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better</a:t>
            </a:r>
            <a:r>
              <a:rPr sz="2200" spc="140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to</a:t>
            </a:r>
            <a:r>
              <a:rPr sz="2200" spc="125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have</a:t>
            </a:r>
            <a:r>
              <a:rPr sz="2200" spc="130" dirty="0">
                <a:latin typeface="Calibri"/>
                <a:cs typeface="Calibri"/>
              </a:rPr>
              <a:t> </a:t>
            </a:r>
            <a:r>
              <a:rPr sz="2200" spc="75" dirty="0">
                <a:latin typeface="Calibri"/>
                <a:cs typeface="Calibri"/>
              </a:rPr>
              <a:t>10</a:t>
            </a:r>
            <a:r>
              <a:rPr sz="2200" spc="135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outputs</a:t>
            </a:r>
            <a:r>
              <a:rPr sz="2200" spc="145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over</a:t>
            </a:r>
            <a:r>
              <a:rPr sz="2200" spc="125" dirty="0">
                <a:latin typeface="Calibri"/>
                <a:cs typeface="Calibri"/>
              </a:rPr>
              <a:t> </a:t>
            </a:r>
            <a:r>
              <a:rPr sz="2200" spc="25" dirty="0">
                <a:latin typeface="Calibri"/>
                <a:cs typeface="Calibri"/>
              </a:rPr>
              <a:t>4</a:t>
            </a:r>
            <a:endParaRPr sz="2200">
              <a:latin typeface="Calibri"/>
              <a:cs typeface="Calibri"/>
            </a:endParaRPr>
          </a:p>
          <a:p>
            <a:pPr marL="240665" indent="-227965">
              <a:lnSpc>
                <a:spcPts val="2365"/>
              </a:lnSpc>
              <a:buFont typeface="Arial"/>
              <a:buChar char="•"/>
              <a:tabLst>
                <a:tab pos="240665" algn="l"/>
              </a:tabLst>
            </a:pPr>
            <a:r>
              <a:rPr sz="2200" dirty="0">
                <a:latin typeface="Calibri"/>
                <a:cs typeface="Calibri"/>
              </a:rPr>
              <a:t>With</a:t>
            </a:r>
            <a:r>
              <a:rPr sz="2200" spc="215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the</a:t>
            </a:r>
            <a:r>
              <a:rPr sz="2200" spc="229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above</a:t>
            </a:r>
            <a:r>
              <a:rPr sz="2200" spc="200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example,</a:t>
            </a:r>
            <a:r>
              <a:rPr sz="2200" spc="10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the</a:t>
            </a:r>
            <a:r>
              <a:rPr sz="2200" spc="210" dirty="0">
                <a:latin typeface="Calibri"/>
                <a:cs typeface="Calibri"/>
              </a:rPr>
              <a:t> </a:t>
            </a:r>
            <a:r>
              <a:rPr sz="2200" spc="75" dirty="0">
                <a:latin typeface="Calibri"/>
                <a:cs typeface="Calibri"/>
              </a:rPr>
              <a:t>0</a:t>
            </a:r>
            <a:r>
              <a:rPr sz="2200" spc="220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output</a:t>
            </a:r>
            <a:r>
              <a:rPr sz="2200" spc="225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neuron</a:t>
            </a:r>
            <a:r>
              <a:rPr sz="2200" spc="204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could</a:t>
            </a:r>
            <a:r>
              <a:rPr sz="2200" spc="204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just</a:t>
            </a:r>
            <a:r>
              <a:rPr sz="2200" spc="229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put</a:t>
            </a:r>
            <a:r>
              <a:rPr sz="2200" spc="204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the</a:t>
            </a:r>
            <a:r>
              <a:rPr sz="2200" spc="220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most</a:t>
            </a:r>
            <a:r>
              <a:rPr sz="2200" spc="229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weight</a:t>
            </a:r>
            <a:r>
              <a:rPr sz="2200" spc="215" dirty="0">
                <a:latin typeface="Calibri"/>
                <a:cs typeface="Calibri"/>
              </a:rPr>
              <a:t> </a:t>
            </a:r>
            <a:r>
              <a:rPr sz="2200" spc="-25" dirty="0">
                <a:latin typeface="Calibri"/>
                <a:cs typeface="Calibri"/>
              </a:rPr>
              <a:t>on</a:t>
            </a:r>
            <a:endParaRPr sz="2200">
              <a:latin typeface="Calibri"/>
              <a:cs typeface="Calibri"/>
            </a:endParaRPr>
          </a:p>
          <a:p>
            <a:pPr marL="241300">
              <a:lnSpc>
                <a:spcPts val="2365"/>
              </a:lnSpc>
            </a:pPr>
            <a:r>
              <a:rPr sz="2200" dirty="0">
                <a:latin typeface="Calibri"/>
                <a:cs typeface="Calibri"/>
              </a:rPr>
              <a:t>the</a:t>
            </a:r>
            <a:r>
              <a:rPr sz="2200" spc="204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outputs</a:t>
            </a:r>
            <a:r>
              <a:rPr sz="2200" spc="225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from</a:t>
            </a:r>
            <a:r>
              <a:rPr sz="2200" spc="229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the</a:t>
            </a:r>
            <a:r>
              <a:rPr sz="2200" spc="204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hidden</a:t>
            </a:r>
            <a:r>
              <a:rPr sz="2200" spc="229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neurons</a:t>
            </a:r>
            <a:r>
              <a:rPr sz="2200" spc="225" dirty="0">
                <a:latin typeface="Calibri"/>
                <a:cs typeface="Calibri"/>
              </a:rPr>
              <a:t> </a:t>
            </a:r>
            <a:r>
              <a:rPr sz="2200" spc="60" dirty="0">
                <a:latin typeface="Calibri"/>
                <a:cs typeface="Calibri"/>
              </a:rPr>
              <a:t>N1</a:t>
            </a:r>
            <a:r>
              <a:rPr sz="2200" spc="200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through</a:t>
            </a:r>
            <a:r>
              <a:rPr sz="2200" spc="240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N4,</a:t>
            </a:r>
            <a:r>
              <a:rPr sz="2200" spc="5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and</a:t>
            </a:r>
            <a:r>
              <a:rPr sz="2200" spc="220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weaken</a:t>
            </a:r>
            <a:r>
              <a:rPr sz="2200" spc="180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the</a:t>
            </a:r>
            <a:r>
              <a:rPr sz="2200" spc="204" dirty="0">
                <a:latin typeface="Calibri"/>
                <a:cs typeface="Calibri"/>
              </a:rPr>
              <a:t> </a:t>
            </a:r>
            <a:r>
              <a:rPr sz="2200" spc="-10" dirty="0">
                <a:latin typeface="Calibri"/>
                <a:cs typeface="Calibri"/>
              </a:rPr>
              <a:t>others</a:t>
            </a:r>
            <a:endParaRPr sz="2200">
              <a:latin typeface="Calibri"/>
              <a:cs typeface="Calibri"/>
            </a:endParaRPr>
          </a:p>
          <a:p>
            <a:pPr marL="241300" marR="5080" indent="-228600">
              <a:lnSpc>
                <a:spcPct val="80000"/>
              </a:lnSpc>
              <a:spcBef>
                <a:spcPts val="515"/>
              </a:spcBef>
              <a:buFont typeface="Arial"/>
              <a:buChar char="•"/>
              <a:tabLst>
                <a:tab pos="241300" algn="l"/>
              </a:tabLst>
            </a:pPr>
            <a:r>
              <a:rPr sz="2200" dirty="0">
                <a:latin typeface="Calibri"/>
                <a:cs typeface="Calibri"/>
              </a:rPr>
              <a:t>But,</a:t>
            </a:r>
            <a:r>
              <a:rPr sz="2200" spc="-5" dirty="0">
                <a:latin typeface="Calibri"/>
                <a:cs typeface="Calibri"/>
              </a:rPr>
              <a:t> </a:t>
            </a:r>
            <a:r>
              <a:rPr sz="2200" spc="50" dirty="0">
                <a:latin typeface="Calibri"/>
                <a:cs typeface="Calibri"/>
              </a:rPr>
              <a:t>if</a:t>
            </a:r>
            <a:r>
              <a:rPr sz="2200" spc="175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we</a:t>
            </a:r>
            <a:r>
              <a:rPr sz="2200" spc="170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had</a:t>
            </a:r>
            <a:r>
              <a:rPr sz="2200" spc="195" dirty="0">
                <a:latin typeface="Calibri"/>
                <a:cs typeface="Calibri"/>
              </a:rPr>
              <a:t> </a:t>
            </a:r>
            <a:r>
              <a:rPr sz="2200" spc="55" dirty="0">
                <a:latin typeface="Calibri"/>
                <a:cs typeface="Calibri"/>
              </a:rPr>
              <a:t>only</a:t>
            </a:r>
            <a:r>
              <a:rPr sz="2200" spc="95" dirty="0">
                <a:latin typeface="Calibri"/>
                <a:cs typeface="Calibri"/>
              </a:rPr>
              <a:t> </a:t>
            </a:r>
            <a:r>
              <a:rPr sz="2200" spc="75" dirty="0">
                <a:latin typeface="Calibri"/>
                <a:cs typeface="Calibri"/>
              </a:rPr>
              <a:t>4</a:t>
            </a:r>
            <a:r>
              <a:rPr sz="2200" spc="185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output</a:t>
            </a:r>
            <a:r>
              <a:rPr sz="2200" spc="175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neurons,</a:t>
            </a:r>
            <a:r>
              <a:rPr sz="2200" spc="5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our</a:t>
            </a:r>
            <a:r>
              <a:rPr sz="2200" spc="175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neural</a:t>
            </a:r>
            <a:r>
              <a:rPr sz="2200" spc="175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network</a:t>
            </a:r>
            <a:r>
              <a:rPr sz="2200" spc="105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would</a:t>
            </a:r>
            <a:r>
              <a:rPr sz="2200" spc="175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have</a:t>
            </a:r>
            <a:r>
              <a:rPr sz="2200" spc="180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to</a:t>
            </a:r>
            <a:r>
              <a:rPr sz="2200" spc="190" dirty="0">
                <a:latin typeface="Calibri"/>
                <a:cs typeface="Calibri"/>
              </a:rPr>
              <a:t> </a:t>
            </a:r>
            <a:r>
              <a:rPr sz="2200" spc="40" dirty="0">
                <a:latin typeface="Calibri"/>
                <a:cs typeface="Calibri"/>
              </a:rPr>
              <a:t>essentially </a:t>
            </a:r>
            <a:r>
              <a:rPr sz="2200" dirty="0">
                <a:latin typeface="Calibri"/>
                <a:cs typeface="Calibri"/>
              </a:rPr>
              <a:t>do</a:t>
            </a:r>
            <a:r>
              <a:rPr sz="2200" spc="110" dirty="0">
                <a:latin typeface="Calibri"/>
                <a:cs typeface="Calibri"/>
              </a:rPr>
              <a:t> </a:t>
            </a:r>
            <a:r>
              <a:rPr sz="2200" spc="75" dirty="0">
                <a:latin typeface="Calibri"/>
                <a:cs typeface="Calibri"/>
              </a:rPr>
              <a:t>2</a:t>
            </a:r>
            <a:r>
              <a:rPr sz="2200" spc="110" dirty="0">
                <a:latin typeface="Calibri"/>
                <a:cs typeface="Calibri"/>
              </a:rPr>
              <a:t> </a:t>
            </a:r>
            <a:r>
              <a:rPr sz="2200" spc="45" dirty="0">
                <a:latin typeface="Calibri"/>
                <a:cs typeface="Calibri"/>
              </a:rPr>
              <a:t>calculations</a:t>
            </a:r>
            <a:endParaRPr sz="2200">
              <a:latin typeface="Calibri"/>
              <a:cs typeface="Calibri"/>
            </a:endParaRPr>
          </a:p>
          <a:p>
            <a:pPr marL="698500" lvl="1" indent="-228600">
              <a:lnSpc>
                <a:spcPct val="100000"/>
              </a:lnSpc>
              <a:spcBef>
                <a:spcPts val="160"/>
              </a:spcBef>
              <a:buFont typeface="Arial"/>
              <a:buChar char="•"/>
              <a:tabLst>
                <a:tab pos="698500" algn="l"/>
              </a:tabLst>
            </a:pPr>
            <a:r>
              <a:rPr sz="1500" dirty="0">
                <a:latin typeface="Calibri"/>
                <a:cs typeface="Calibri"/>
              </a:rPr>
              <a:t>First,</a:t>
            </a:r>
            <a:r>
              <a:rPr sz="1500" spc="-15" dirty="0">
                <a:latin typeface="Calibri"/>
                <a:cs typeface="Calibri"/>
              </a:rPr>
              <a:t> </a:t>
            </a:r>
            <a:r>
              <a:rPr sz="1500" dirty="0">
                <a:latin typeface="Calibri"/>
                <a:cs typeface="Calibri"/>
              </a:rPr>
              <a:t>we</a:t>
            </a:r>
            <a:r>
              <a:rPr sz="1500" spc="120" dirty="0">
                <a:latin typeface="Calibri"/>
                <a:cs typeface="Calibri"/>
              </a:rPr>
              <a:t> </a:t>
            </a:r>
            <a:r>
              <a:rPr sz="1500" dirty="0">
                <a:latin typeface="Calibri"/>
                <a:cs typeface="Calibri"/>
              </a:rPr>
              <a:t>would</a:t>
            </a:r>
            <a:r>
              <a:rPr sz="1500" spc="130" dirty="0">
                <a:latin typeface="Calibri"/>
                <a:cs typeface="Calibri"/>
              </a:rPr>
              <a:t> </a:t>
            </a:r>
            <a:r>
              <a:rPr sz="1500" dirty="0">
                <a:latin typeface="Calibri"/>
                <a:cs typeface="Calibri"/>
              </a:rPr>
              <a:t>need</a:t>
            </a:r>
            <a:r>
              <a:rPr sz="1500" spc="135" dirty="0">
                <a:latin typeface="Calibri"/>
                <a:cs typeface="Calibri"/>
              </a:rPr>
              <a:t> </a:t>
            </a:r>
            <a:r>
              <a:rPr sz="1500" dirty="0">
                <a:latin typeface="Calibri"/>
                <a:cs typeface="Calibri"/>
              </a:rPr>
              <a:t>to</a:t>
            </a:r>
            <a:r>
              <a:rPr sz="1500" spc="140" dirty="0">
                <a:latin typeface="Calibri"/>
                <a:cs typeface="Calibri"/>
              </a:rPr>
              <a:t> </a:t>
            </a:r>
            <a:r>
              <a:rPr sz="1500" dirty="0">
                <a:latin typeface="Calibri"/>
                <a:cs typeface="Calibri"/>
              </a:rPr>
              <a:t>figure</a:t>
            </a:r>
            <a:r>
              <a:rPr sz="1500" spc="125" dirty="0">
                <a:latin typeface="Calibri"/>
                <a:cs typeface="Calibri"/>
              </a:rPr>
              <a:t> </a:t>
            </a:r>
            <a:r>
              <a:rPr sz="1500" dirty="0">
                <a:latin typeface="Calibri"/>
                <a:cs typeface="Calibri"/>
              </a:rPr>
              <a:t>out</a:t>
            </a:r>
            <a:r>
              <a:rPr sz="1500" spc="150" dirty="0">
                <a:latin typeface="Calibri"/>
                <a:cs typeface="Calibri"/>
              </a:rPr>
              <a:t> </a:t>
            </a:r>
            <a:r>
              <a:rPr sz="1500" dirty="0">
                <a:latin typeface="Calibri"/>
                <a:cs typeface="Calibri"/>
              </a:rPr>
              <a:t>what</a:t>
            </a:r>
            <a:r>
              <a:rPr sz="1500" spc="150" dirty="0">
                <a:latin typeface="Calibri"/>
                <a:cs typeface="Calibri"/>
              </a:rPr>
              <a:t> </a:t>
            </a:r>
            <a:r>
              <a:rPr sz="1500" dirty="0">
                <a:latin typeface="Calibri"/>
                <a:cs typeface="Calibri"/>
              </a:rPr>
              <a:t>the</a:t>
            </a:r>
            <a:r>
              <a:rPr sz="1500" spc="150" dirty="0">
                <a:latin typeface="Calibri"/>
                <a:cs typeface="Calibri"/>
              </a:rPr>
              <a:t> </a:t>
            </a:r>
            <a:r>
              <a:rPr sz="1500" dirty="0">
                <a:latin typeface="Calibri"/>
                <a:cs typeface="Calibri"/>
              </a:rPr>
              <a:t>number</a:t>
            </a:r>
            <a:r>
              <a:rPr sz="1500" spc="145" dirty="0">
                <a:latin typeface="Calibri"/>
                <a:cs typeface="Calibri"/>
              </a:rPr>
              <a:t> </a:t>
            </a:r>
            <a:r>
              <a:rPr sz="1500" spc="-25" dirty="0">
                <a:latin typeface="Calibri"/>
                <a:cs typeface="Calibri"/>
              </a:rPr>
              <a:t>was</a:t>
            </a:r>
            <a:endParaRPr sz="1500">
              <a:latin typeface="Calibri"/>
              <a:cs typeface="Calibri"/>
            </a:endParaRPr>
          </a:p>
          <a:p>
            <a:pPr marL="698500" lvl="1" indent="-228600">
              <a:lnSpc>
                <a:spcPct val="100000"/>
              </a:lnSpc>
              <a:spcBef>
                <a:spcPts val="145"/>
              </a:spcBef>
              <a:buFont typeface="Arial"/>
              <a:buChar char="•"/>
              <a:tabLst>
                <a:tab pos="698500" algn="l"/>
              </a:tabLst>
            </a:pPr>
            <a:r>
              <a:rPr sz="1500" dirty="0">
                <a:latin typeface="Calibri"/>
                <a:cs typeface="Calibri"/>
              </a:rPr>
              <a:t>Then</a:t>
            </a:r>
            <a:r>
              <a:rPr sz="1500" spc="140" dirty="0">
                <a:latin typeface="Calibri"/>
                <a:cs typeface="Calibri"/>
              </a:rPr>
              <a:t> </a:t>
            </a:r>
            <a:r>
              <a:rPr sz="1500" dirty="0">
                <a:latin typeface="Calibri"/>
                <a:cs typeface="Calibri"/>
              </a:rPr>
              <a:t>we</a:t>
            </a:r>
            <a:r>
              <a:rPr sz="1500" spc="114" dirty="0">
                <a:latin typeface="Calibri"/>
                <a:cs typeface="Calibri"/>
              </a:rPr>
              <a:t> </a:t>
            </a:r>
            <a:r>
              <a:rPr sz="1500" dirty="0">
                <a:latin typeface="Calibri"/>
                <a:cs typeface="Calibri"/>
              </a:rPr>
              <a:t>would</a:t>
            </a:r>
            <a:r>
              <a:rPr sz="1500" spc="120" dirty="0">
                <a:latin typeface="Calibri"/>
                <a:cs typeface="Calibri"/>
              </a:rPr>
              <a:t> </a:t>
            </a:r>
            <a:r>
              <a:rPr sz="1500" dirty="0">
                <a:latin typeface="Calibri"/>
                <a:cs typeface="Calibri"/>
              </a:rPr>
              <a:t>need</a:t>
            </a:r>
            <a:r>
              <a:rPr sz="1500" spc="135" dirty="0">
                <a:latin typeface="Calibri"/>
                <a:cs typeface="Calibri"/>
              </a:rPr>
              <a:t> </a:t>
            </a:r>
            <a:r>
              <a:rPr sz="1500" dirty="0">
                <a:latin typeface="Calibri"/>
                <a:cs typeface="Calibri"/>
              </a:rPr>
              <a:t>to</a:t>
            </a:r>
            <a:r>
              <a:rPr sz="1500" spc="130" dirty="0">
                <a:latin typeface="Calibri"/>
                <a:cs typeface="Calibri"/>
              </a:rPr>
              <a:t> </a:t>
            </a:r>
            <a:r>
              <a:rPr sz="1500" dirty="0">
                <a:latin typeface="Calibri"/>
                <a:cs typeface="Calibri"/>
              </a:rPr>
              <a:t>transform</a:t>
            </a:r>
            <a:r>
              <a:rPr sz="1500" spc="140" dirty="0">
                <a:latin typeface="Calibri"/>
                <a:cs typeface="Calibri"/>
              </a:rPr>
              <a:t> </a:t>
            </a:r>
            <a:r>
              <a:rPr sz="1500" dirty="0">
                <a:latin typeface="Calibri"/>
                <a:cs typeface="Calibri"/>
              </a:rPr>
              <a:t>that</a:t>
            </a:r>
            <a:r>
              <a:rPr sz="1500" spc="160" dirty="0">
                <a:latin typeface="Calibri"/>
                <a:cs typeface="Calibri"/>
              </a:rPr>
              <a:t> </a:t>
            </a:r>
            <a:r>
              <a:rPr sz="1500" dirty="0">
                <a:latin typeface="Calibri"/>
                <a:cs typeface="Calibri"/>
              </a:rPr>
              <a:t>into</a:t>
            </a:r>
            <a:r>
              <a:rPr sz="1500" spc="140" dirty="0">
                <a:latin typeface="Calibri"/>
                <a:cs typeface="Calibri"/>
              </a:rPr>
              <a:t> </a:t>
            </a:r>
            <a:r>
              <a:rPr sz="1500" spc="-10" dirty="0">
                <a:latin typeface="Calibri"/>
                <a:cs typeface="Calibri"/>
              </a:rPr>
              <a:t>binary</a:t>
            </a:r>
            <a:endParaRPr sz="1500">
              <a:latin typeface="Calibri"/>
              <a:cs typeface="Calibri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302129" y="1214374"/>
            <a:ext cx="6019800" cy="1790700"/>
          </a:xfrm>
          <a:prstGeom prst="rect">
            <a:avLst/>
          </a:prstGeom>
        </p:spPr>
      </p:pic>
      <p:pic>
        <p:nvPicPr>
          <p:cNvPr id="5" name="object 5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368298" y="1230107"/>
            <a:ext cx="1780786" cy="1785648"/>
          </a:xfrm>
          <a:prstGeom prst="rect">
            <a:avLst/>
          </a:prstGeom>
        </p:spPr>
      </p:pic>
      <p:pic>
        <p:nvPicPr>
          <p:cNvPr id="6" name="object 6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10089083" y="1216710"/>
            <a:ext cx="1915896" cy="1915871"/>
          </a:xfrm>
          <a:prstGeom prst="rect">
            <a:avLst/>
          </a:prstGeom>
        </p:spPr>
      </p:pic>
      <p:sp>
        <p:nvSpPr>
          <p:cNvPr id="7" name="object 7"/>
          <p:cNvSpPr txBox="1"/>
          <p:nvPr/>
        </p:nvSpPr>
        <p:spPr>
          <a:xfrm>
            <a:off x="1152550" y="853185"/>
            <a:ext cx="628904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1879600" algn="l"/>
                <a:tab pos="4144645" algn="l"/>
                <a:tab pos="6012180" algn="l"/>
              </a:tabLst>
            </a:pPr>
            <a:r>
              <a:rPr sz="1800" spc="-25" dirty="0">
                <a:latin typeface="Calibri"/>
                <a:cs typeface="Calibri"/>
              </a:rPr>
              <a:t>N1</a:t>
            </a:r>
            <a:r>
              <a:rPr sz="1800" dirty="0">
                <a:latin typeface="Calibri"/>
                <a:cs typeface="Calibri"/>
              </a:rPr>
              <a:t>	</a:t>
            </a:r>
            <a:r>
              <a:rPr sz="2700" spc="-37" baseline="3086" dirty="0">
                <a:latin typeface="Calibri"/>
                <a:cs typeface="Calibri"/>
              </a:rPr>
              <a:t>N2</a:t>
            </a:r>
            <a:r>
              <a:rPr sz="2700" baseline="3086" dirty="0">
                <a:latin typeface="Calibri"/>
                <a:cs typeface="Calibri"/>
              </a:rPr>
              <a:t>	</a:t>
            </a:r>
            <a:r>
              <a:rPr sz="1800" spc="-25" dirty="0">
                <a:latin typeface="Calibri"/>
                <a:cs typeface="Calibri"/>
              </a:rPr>
              <a:t>N3</a:t>
            </a:r>
            <a:r>
              <a:rPr sz="1800" dirty="0">
                <a:latin typeface="Calibri"/>
                <a:cs typeface="Calibri"/>
              </a:rPr>
              <a:t>	</a:t>
            </a:r>
            <a:r>
              <a:rPr sz="2700" spc="-37" baseline="3086" dirty="0">
                <a:latin typeface="Calibri"/>
                <a:cs typeface="Calibri"/>
              </a:rPr>
              <a:t>N4</a:t>
            </a:r>
            <a:endParaRPr sz="2700" baseline="3086">
              <a:latin typeface="Calibri"/>
              <a:cs typeface="Calibri"/>
            </a:endParaRPr>
          </a:p>
        </p:txBody>
      </p:sp>
      <p:grpSp>
        <p:nvGrpSpPr>
          <p:cNvPr id="8" name="object 8"/>
          <p:cNvGrpSpPr/>
          <p:nvPr/>
        </p:nvGrpSpPr>
        <p:grpSpPr>
          <a:xfrm>
            <a:off x="8829929" y="1954276"/>
            <a:ext cx="812800" cy="197485"/>
            <a:chOff x="8829929" y="1954276"/>
            <a:chExt cx="812800" cy="197485"/>
          </a:xfrm>
        </p:grpSpPr>
        <p:sp>
          <p:nvSpPr>
            <p:cNvPr id="9" name="object 9"/>
            <p:cNvSpPr/>
            <p:nvPr/>
          </p:nvSpPr>
          <p:spPr>
            <a:xfrm>
              <a:off x="8836279" y="1960626"/>
              <a:ext cx="800100" cy="184785"/>
            </a:xfrm>
            <a:custGeom>
              <a:avLst/>
              <a:gdLst/>
              <a:ahLst/>
              <a:cxnLst/>
              <a:rect l="l" t="t" r="r" b="b"/>
              <a:pathLst>
                <a:path w="800100" h="184785">
                  <a:moveTo>
                    <a:pt x="707771" y="0"/>
                  </a:moveTo>
                  <a:lnTo>
                    <a:pt x="707771" y="46227"/>
                  </a:lnTo>
                  <a:lnTo>
                    <a:pt x="0" y="46227"/>
                  </a:lnTo>
                  <a:lnTo>
                    <a:pt x="0" y="138557"/>
                  </a:lnTo>
                  <a:lnTo>
                    <a:pt x="707771" y="138557"/>
                  </a:lnTo>
                  <a:lnTo>
                    <a:pt x="707771" y="184658"/>
                  </a:lnTo>
                  <a:lnTo>
                    <a:pt x="800100" y="92328"/>
                  </a:lnTo>
                  <a:lnTo>
                    <a:pt x="707771" y="0"/>
                  </a:lnTo>
                  <a:close/>
                </a:path>
              </a:pathLst>
            </a:custGeom>
            <a:solidFill>
              <a:srgbClr val="5B9BD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8836279" y="1960626"/>
              <a:ext cx="800100" cy="184785"/>
            </a:xfrm>
            <a:custGeom>
              <a:avLst/>
              <a:gdLst/>
              <a:ahLst/>
              <a:cxnLst/>
              <a:rect l="l" t="t" r="r" b="b"/>
              <a:pathLst>
                <a:path w="800100" h="184785">
                  <a:moveTo>
                    <a:pt x="0" y="46227"/>
                  </a:moveTo>
                  <a:lnTo>
                    <a:pt x="707771" y="46227"/>
                  </a:lnTo>
                  <a:lnTo>
                    <a:pt x="707771" y="0"/>
                  </a:lnTo>
                  <a:lnTo>
                    <a:pt x="800100" y="92328"/>
                  </a:lnTo>
                  <a:lnTo>
                    <a:pt x="707771" y="184658"/>
                  </a:lnTo>
                  <a:lnTo>
                    <a:pt x="707771" y="138557"/>
                  </a:lnTo>
                  <a:lnTo>
                    <a:pt x="0" y="138557"/>
                  </a:lnTo>
                  <a:lnTo>
                    <a:pt x="0" y="46227"/>
                  </a:lnTo>
                  <a:close/>
                </a:path>
              </a:pathLst>
            </a:custGeom>
            <a:ln w="12700">
              <a:solidFill>
                <a:srgbClr val="41709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-9042" y="321386"/>
            <a:ext cx="11663680" cy="866775"/>
          </a:xfrm>
          <a:prstGeom prst="rect">
            <a:avLst/>
          </a:prstGeom>
        </p:spPr>
        <p:txBody>
          <a:bodyPr vert="horz" wrap="square" lIns="0" tIns="63500" rIns="0" bIns="0" rtlCol="0">
            <a:spAutoFit/>
          </a:bodyPr>
          <a:lstStyle/>
          <a:p>
            <a:pPr marL="12700" marR="5080">
              <a:lnSpc>
                <a:spcPts val="3130"/>
              </a:lnSpc>
              <a:spcBef>
                <a:spcPts val="500"/>
              </a:spcBef>
            </a:pPr>
            <a:r>
              <a:rPr sz="2900" spc="65" dirty="0"/>
              <a:t>Learning</a:t>
            </a:r>
            <a:r>
              <a:rPr sz="2900" spc="204" dirty="0"/>
              <a:t> </a:t>
            </a:r>
            <a:r>
              <a:rPr sz="2900" dirty="0"/>
              <a:t>how</a:t>
            </a:r>
            <a:r>
              <a:rPr sz="2900" spc="20" dirty="0"/>
              <a:t> </a:t>
            </a:r>
            <a:r>
              <a:rPr sz="2900" spc="75" dirty="0"/>
              <a:t>Artificial</a:t>
            </a:r>
            <a:r>
              <a:rPr sz="2900" spc="190" dirty="0"/>
              <a:t> </a:t>
            </a:r>
            <a:r>
              <a:rPr sz="2900" spc="50" dirty="0"/>
              <a:t>Neural</a:t>
            </a:r>
            <a:r>
              <a:rPr sz="2900" spc="210" dirty="0"/>
              <a:t> </a:t>
            </a:r>
            <a:r>
              <a:rPr sz="2900" dirty="0"/>
              <a:t>Networks</a:t>
            </a:r>
            <a:r>
              <a:rPr sz="2900" spc="195" dirty="0"/>
              <a:t> </a:t>
            </a:r>
            <a:r>
              <a:rPr sz="2900" dirty="0"/>
              <a:t>Learn</a:t>
            </a:r>
            <a:r>
              <a:rPr sz="2900" spc="190" dirty="0"/>
              <a:t> </a:t>
            </a:r>
            <a:r>
              <a:rPr sz="2900" spc="50" dirty="0"/>
              <a:t>with</a:t>
            </a:r>
            <a:r>
              <a:rPr sz="2900" spc="155" dirty="0"/>
              <a:t> </a:t>
            </a:r>
            <a:r>
              <a:rPr sz="2900" dirty="0"/>
              <a:t>your</a:t>
            </a:r>
            <a:r>
              <a:rPr sz="2900" spc="185" dirty="0"/>
              <a:t> </a:t>
            </a:r>
            <a:r>
              <a:rPr sz="2900" spc="110" dirty="0"/>
              <a:t>Biological</a:t>
            </a:r>
            <a:r>
              <a:rPr sz="2900" spc="175" dirty="0"/>
              <a:t> </a:t>
            </a:r>
            <a:r>
              <a:rPr sz="2900" spc="40" dirty="0"/>
              <a:t>Neural </a:t>
            </a:r>
            <a:r>
              <a:rPr sz="2900" spc="-10" dirty="0"/>
              <a:t>network</a:t>
            </a:r>
            <a:endParaRPr sz="2900"/>
          </a:p>
        </p:txBody>
      </p:sp>
      <p:sp>
        <p:nvSpPr>
          <p:cNvPr id="3" name="object 3"/>
          <p:cNvSpPr txBox="1"/>
          <p:nvPr/>
        </p:nvSpPr>
        <p:spPr>
          <a:xfrm>
            <a:off x="1204366" y="1334488"/>
            <a:ext cx="9429750" cy="2903220"/>
          </a:xfrm>
          <a:prstGeom prst="rect">
            <a:avLst/>
          </a:prstGeom>
        </p:spPr>
        <p:txBody>
          <a:bodyPr vert="horz" wrap="square" lIns="0" tIns="46355" rIns="0" bIns="0" rtlCol="0">
            <a:spAutoFit/>
          </a:bodyPr>
          <a:lstStyle/>
          <a:p>
            <a:pPr marL="240029" indent="-227329">
              <a:lnSpc>
                <a:spcPct val="100000"/>
              </a:lnSpc>
              <a:spcBef>
                <a:spcPts val="365"/>
              </a:spcBef>
              <a:buFont typeface="Arial"/>
              <a:buChar char="•"/>
              <a:tabLst>
                <a:tab pos="240029" algn="l"/>
              </a:tabLst>
            </a:pPr>
            <a:r>
              <a:rPr sz="2800" spc="-10" dirty="0">
                <a:latin typeface="Calibri"/>
                <a:cs typeface="Calibri"/>
              </a:rPr>
              <a:t>We</a:t>
            </a:r>
            <a:r>
              <a:rPr sz="2800" spc="130" dirty="0">
                <a:latin typeface="Calibri"/>
                <a:cs typeface="Calibri"/>
              </a:rPr>
              <a:t> </a:t>
            </a:r>
            <a:r>
              <a:rPr sz="2800" spc="125" dirty="0">
                <a:latin typeface="Calibri"/>
                <a:cs typeface="Calibri"/>
              </a:rPr>
              <a:t>will</a:t>
            </a:r>
            <a:r>
              <a:rPr sz="2800" spc="13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use</a:t>
            </a:r>
            <a:r>
              <a:rPr sz="2800" spc="15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the</a:t>
            </a:r>
            <a:r>
              <a:rPr sz="2800" spc="140" dirty="0">
                <a:latin typeface="Calibri"/>
                <a:cs typeface="Calibri"/>
              </a:rPr>
              <a:t> </a:t>
            </a:r>
            <a:r>
              <a:rPr sz="2800" spc="75" dirty="0">
                <a:latin typeface="Calibri"/>
                <a:cs typeface="Calibri"/>
              </a:rPr>
              <a:t>MNIST</a:t>
            </a:r>
            <a:r>
              <a:rPr sz="2800" spc="3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Data</a:t>
            </a:r>
            <a:r>
              <a:rPr sz="2800" spc="135" dirty="0">
                <a:latin typeface="Calibri"/>
                <a:cs typeface="Calibri"/>
              </a:rPr>
              <a:t> </a:t>
            </a:r>
            <a:r>
              <a:rPr sz="2800" spc="-25" dirty="0">
                <a:latin typeface="Calibri"/>
                <a:cs typeface="Calibri"/>
              </a:rPr>
              <a:t>set</a:t>
            </a:r>
            <a:endParaRPr sz="2800">
              <a:latin typeface="Calibri"/>
              <a:cs typeface="Calibri"/>
            </a:endParaRPr>
          </a:p>
          <a:p>
            <a:pPr marL="696595" lvl="1" indent="-227329">
              <a:lnSpc>
                <a:spcPct val="100000"/>
              </a:lnSpc>
              <a:spcBef>
                <a:spcPts val="234"/>
              </a:spcBef>
              <a:buClr>
                <a:srgbClr val="000000"/>
              </a:buClr>
              <a:buFont typeface="Arial"/>
              <a:buChar char="•"/>
              <a:tabLst>
                <a:tab pos="696595" algn="l"/>
              </a:tabLst>
            </a:pPr>
            <a:r>
              <a:rPr sz="2400" u="sng" spc="-10" dirty="0">
                <a:solidFill>
                  <a:srgbClr val="0462C1"/>
                </a:solidFill>
                <a:uFill>
                  <a:solidFill>
                    <a:srgbClr val="0462C1"/>
                  </a:solidFill>
                </a:uFill>
                <a:latin typeface="Calibri"/>
                <a:cs typeface="Calibri"/>
                <a:hlinkClick r:id="rId2"/>
              </a:rPr>
              <a:t>http://yann.lecun.com/exdb/mnist/</a:t>
            </a:r>
            <a:endParaRPr sz="2400">
              <a:latin typeface="Calibri"/>
              <a:cs typeface="Calibri"/>
            </a:endParaRPr>
          </a:p>
          <a:p>
            <a:pPr marL="696595" lvl="1" indent="-227329">
              <a:lnSpc>
                <a:spcPct val="100000"/>
              </a:lnSpc>
              <a:spcBef>
                <a:spcPts val="215"/>
              </a:spcBef>
              <a:buFont typeface="Arial"/>
              <a:buChar char="•"/>
              <a:tabLst>
                <a:tab pos="696595" algn="l"/>
              </a:tabLst>
            </a:pPr>
            <a:r>
              <a:rPr sz="2400" dirty="0">
                <a:latin typeface="Calibri"/>
                <a:cs typeface="Calibri"/>
              </a:rPr>
              <a:t>Two</a:t>
            </a:r>
            <a:r>
              <a:rPr sz="2400" spc="-30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parts</a:t>
            </a:r>
            <a:endParaRPr sz="2400">
              <a:latin typeface="Calibri"/>
              <a:cs typeface="Calibri"/>
            </a:endParaRPr>
          </a:p>
          <a:p>
            <a:pPr marL="1155065" lvl="2" indent="-228600">
              <a:lnSpc>
                <a:spcPct val="100000"/>
              </a:lnSpc>
              <a:spcBef>
                <a:spcPts val="280"/>
              </a:spcBef>
              <a:buFont typeface="Arial"/>
              <a:buChar char="•"/>
              <a:tabLst>
                <a:tab pos="1155065" algn="l"/>
              </a:tabLst>
            </a:pPr>
            <a:r>
              <a:rPr sz="2000" spc="55" dirty="0">
                <a:latin typeface="Calibri"/>
                <a:cs typeface="Calibri"/>
              </a:rPr>
              <a:t>60,000</a:t>
            </a:r>
            <a:r>
              <a:rPr sz="2000" spc="4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Training</a:t>
            </a:r>
            <a:r>
              <a:rPr sz="2000" spc="130" dirty="0">
                <a:latin typeface="Calibri"/>
                <a:cs typeface="Calibri"/>
              </a:rPr>
              <a:t> </a:t>
            </a:r>
            <a:r>
              <a:rPr sz="2000" spc="50" dirty="0">
                <a:latin typeface="Calibri"/>
                <a:cs typeface="Calibri"/>
              </a:rPr>
              <a:t>images</a:t>
            </a:r>
            <a:r>
              <a:rPr sz="2000" spc="114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(28</a:t>
            </a:r>
            <a:r>
              <a:rPr sz="2000" spc="145" dirty="0">
                <a:latin typeface="Calibri"/>
                <a:cs typeface="Calibri"/>
              </a:rPr>
              <a:t> </a:t>
            </a:r>
            <a:r>
              <a:rPr sz="2000" spc="160" dirty="0">
                <a:latin typeface="Calibri"/>
                <a:cs typeface="Calibri"/>
              </a:rPr>
              <a:t>x</a:t>
            </a:r>
            <a:r>
              <a:rPr sz="2000" spc="75" dirty="0">
                <a:latin typeface="Calibri"/>
                <a:cs typeface="Calibri"/>
              </a:rPr>
              <a:t> </a:t>
            </a:r>
            <a:r>
              <a:rPr sz="2000" spc="70" dirty="0">
                <a:latin typeface="Calibri"/>
                <a:cs typeface="Calibri"/>
              </a:rPr>
              <a:t>28</a:t>
            </a:r>
            <a:r>
              <a:rPr sz="2000" spc="155" dirty="0">
                <a:latin typeface="Calibri"/>
                <a:cs typeface="Calibri"/>
              </a:rPr>
              <a:t> </a:t>
            </a:r>
            <a:r>
              <a:rPr sz="2000" spc="45" dirty="0">
                <a:latin typeface="Calibri"/>
                <a:cs typeface="Calibri"/>
              </a:rPr>
              <a:t>pixels,</a:t>
            </a:r>
            <a:r>
              <a:rPr sz="2000" spc="-40" dirty="0">
                <a:latin typeface="Calibri"/>
                <a:cs typeface="Calibri"/>
              </a:rPr>
              <a:t> </a:t>
            </a:r>
            <a:r>
              <a:rPr sz="2000" spc="-10" dirty="0">
                <a:latin typeface="Calibri"/>
                <a:cs typeface="Calibri"/>
              </a:rPr>
              <a:t>greyscale)</a:t>
            </a:r>
            <a:endParaRPr sz="2000">
              <a:latin typeface="Calibri"/>
              <a:cs typeface="Calibri"/>
            </a:endParaRPr>
          </a:p>
          <a:p>
            <a:pPr marL="1155065" marR="5080" lvl="2" indent="-228600">
              <a:lnSpc>
                <a:spcPts val="2160"/>
              </a:lnSpc>
              <a:spcBef>
                <a:spcPts val="540"/>
              </a:spcBef>
              <a:buFont typeface="Arial"/>
              <a:buChar char="•"/>
              <a:tabLst>
                <a:tab pos="1155065" algn="l"/>
              </a:tabLst>
            </a:pPr>
            <a:r>
              <a:rPr sz="2000" dirty="0">
                <a:latin typeface="Calibri"/>
                <a:cs typeface="Calibri"/>
              </a:rPr>
              <a:t>They</a:t>
            </a:r>
            <a:r>
              <a:rPr sz="2000" spc="11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were</a:t>
            </a:r>
            <a:r>
              <a:rPr sz="2000" spc="18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scanned</a:t>
            </a:r>
            <a:r>
              <a:rPr sz="2000" spc="200" dirty="0">
                <a:latin typeface="Calibri"/>
                <a:cs typeface="Calibri"/>
              </a:rPr>
              <a:t> </a:t>
            </a:r>
            <a:r>
              <a:rPr sz="2000" spc="45" dirty="0">
                <a:latin typeface="Calibri"/>
                <a:cs typeface="Calibri"/>
              </a:rPr>
              <a:t>samples</a:t>
            </a:r>
            <a:r>
              <a:rPr sz="2000" spc="17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from</a:t>
            </a:r>
            <a:r>
              <a:rPr sz="2000" spc="190" dirty="0">
                <a:latin typeface="Calibri"/>
                <a:cs typeface="Calibri"/>
              </a:rPr>
              <a:t> </a:t>
            </a:r>
            <a:r>
              <a:rPr sz="2000" spc="60" dirty="0">
                <a:latin typeface="Calibri"/>
                <a:cs typeface="Calibri"/>
              </a:rPr>
              <a:t>&gt;200</a:t>
            </a:r>
            <a:r>
              <a:rPr sz="2000" spc="18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people, </a:t>
            </a:r>
            <a:r>
              <a:rPr sz="2000" spc="360" dirty="0">
                <a:latin typeface="Calibri"/>
                <a:cs typeface="Calibri"/>
              </a:rPr>
              <a:t>½</a:t>
            </a:r>
            <a:r>
              <a:rPr sz="2000" spc="20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government</a:t>
            </a:r>
            <a:r>
              <a:rPr sz="2000" spc="16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employees,</a:t>
            </a:r>
            <a:r>
              <a:rPr sz="2000" spc="-25" dirty="0">
                <a:latin typeface="Calibri"/>
                <a:cs typeface="Calibri"/>
              </a:rPr>
              <a:t> </a:t>
            </a:r>
            <a:r>
              <a:rPr sz="2000" spc="310" dirty="0">
                <a:latin typeface="Calibri"/>
                <a:cs typeface="Calibri"/>
              </a:rPr>
              <a:t>½ </a:t>
            </a:r>
            <a:r>
              <a:rPr sz="2000" spc="70" dirty="0">
                <a:latin typeface="Calibri"/>
                <a:cs typeface="Calibri"/>
              </a:rPr>
              <a:t>high</a:t>
            </a:r>
            <a:r>
              <a:rPr sz="2000" spc="22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school</a:t>
            </a:r>
            <a:r>
              <a:rPr sz="2000" spc="235" dirty="0">
                <a:latin typeface="Calibri"/>
                <a:cs typeface="Calibri"/>
              </a:rPr>
              <a:t> </a:t>
            </a:r>
            <a:r>
              <a:rPr sz="2000" spc="-10" dirty="0">
                <a:latin typeface="Calibri"/>
                <a:cs typeface="Calibri"/>
              </a:rPr>
              <a:t>students</a:t>
            </a:r>
            <a:endParaRPr sz="2000">
              <a:latin typeface="Calibri"/>
              <a:cs typeface="Calibri"/>
            </a:endParaRPr>
          </a:p>
          <a:p>
            <a:pPr marL="1155065" lvl="2" indent="-228600">
              <a:lnSpc>
                <a:spcPct val="100000"/>
              </a:lnSpc>
              <a:spcBef>
                <a:spcPts val="229"/>
              </a:spcBef>
              <a:buFont typeface="Arial"/>
              <a:buChar char="•"/>
              <a:tabLst>
                <a:tab pos="1155065" algn="l"/>
              </a:tabLst>
            </a:pPr>
            <a:r>
              <a:rPr sz="2000" spc="55" dirty="0">
                <a:latin typeface="Calibri"/>
                <a:cs typeface="Calibri"/>
              </a:rPr>
              <a:t>10,000</a:t>
            </a:r>
            <a:r>
              <a:rPr sz="2000" spc="-2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Test</a:t>
            </a:r>
            <a:r>
              <a:rPr sz="2000" spc="40" dirty="0">
                <a:latin typeface="Calibri"/>
                <a:cs typeface="Calibri"/>
              </a:rPr>
              <a:t> images</a:t>
            </a:r>
            <a:endParaRPr sz="2000">
              <a:latin typeface="Calibri"/>
              <a:cs typeface="Calibri"/>
            </a:endParaRPr>
          </a:p>
          <a:p>
            <a:pPr marL="1155065" lvl="2" indent="-228600">
              <a:lnSpc>
                <a:spcPct val="100000"/>
              </a:lnSpc>
              <a:spcBef>
                <a:spcPts val="250"/>
              </a:spcBef>
              <a:buFont typeface="Arial"/>
              <a:buChar char="•"/>
              <a:tabLst>
                <a:tab pos="1155065" algn="l"/>
              </a:tabLst>
            </a:pPr>
            <a:r>
              <a:rPr sz="2000" dirty="0">
                <a:latin typeface="Calibri"/>
                <a:cs typeface="Calibri"/>
              </a:rPr>
              <a:t>These</a:t>
            </a:r>
            <a:r>
              <a:rPr sz="2000" spc="20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test</a:t>
            </a:r>
            <a:r>
              <a:rPr sz="2000" spc="17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data</a:t>
            </a:r>
            <a:r>
              <a:rPr sz="2000" spc="18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were</a:t>
            </a:r>
            <a:r>
              <a:rPr sz="2000" spc="18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collected</a:t>
            </a:r>
            <a:r>
              <a:rPr sz="2000" spc="19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from</a:t>
            </a:r>
            <a:r>
              <a:rPr sz="2000" spc="204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different</a:t>
            </a:r>
            <a:r>
              <a:rPr sz="2000" spc="175" dirty="0">
                <a:latin typeface="Calibri"/>
                <a:cs typeface="Calibri"/>
              </a:rPr>
              <a:t> </a:t>
            </a:r>
            <a:r>
              <a:rPr sz="2000" spc="-10" dirty="0">
                <a:latin typeface="Calibri"/>
                <a:cs typeface="Calibri"/>
              </a:rPr>
              <a:t>people</a:t>
            </a:r>
            <a:endParaRPr sz="200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How</a:t>
            </a:r>
            <a:r>
              <a:rPr spc="95" dirty="0"/>
              <a:t> </a:t>
            </a:r>
            <a:r>
              <a:rPr dirty="0"/>
              <a:t>to</a:t>
            </a:r>
            <a:r>
              <a:rPr spc="175" dirty="0"/>
              <a:t> </a:t>
            </a:r>
            <a:r>
              <a:rPr dirty="0"/>
              <a:t>train</a:t>
            </a:r>
            <a:r>
              <a:rPr spc="145" dirty="0"/>
              <a:t> </a:t>
            </a:r>
            <a:r>
              <a:rPr dirty="0"/>
              <a:t>your</a:t>
            </a:r>
            <a:r>
              <a:rPr spc="180" dirty="0"/>
              <a:t> </a:t>
            </a:r>
            <a:r>
              <a:rPr spc="85" dirty="0"/>
              <a:t>artificial</a:t>
            </a:r>
            <a:r>
              <a:rPr spc="175" dirty="0"/>
              <a:t> </a:t>
            </a:r>
            <a:r>
              <a:rPr spc="55" dirty="0"/>
              <a:t>neural</a:t>
            </a:r>
            <a:r>
              <a:rPr spc="175" dirty="0"/>
              <a:t> </a:t>
            </a:r>
            <a:r>
              <a:rPr spc="-10" dirty="0"/>
              <a:t>network</a:t>
            </a:r>
          </a:p>
        </p:txBody>
      </p:sp>
      <p:sp>
        <p:nvSpPr>
          <p:cNvPr id="3" name="object 3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vert="horz" wrap="square" lIns="0" tIns="60960" rIns="0" bIns="0" rtlCol="0">
            <a:spAutoFit/>
          </a:bodyPr>
          <a:lstStyle/>
          <a:p>
            <a:pPr marL="239395" marR="5080" indent="-227329">
              <a:lnSpc>
                <a:spcPts val="3020"/>
              </a:lnSpc>
              <a:spcBef>
                <a:spcPts val="480"/>
              </a:spcBef>
              <a:buFont typeface="Arial"/>
              <a:buChar char="•"/>
              <a:tabLst>
                <a:tab pos="240665" algn="l"/>
              </a:tabLst>
            </a:pPr>
            <a:r>
              <a:rPr dirty="0"/>
              <a:t>Use</a:t>
            </a:r>
            <a:r>
              <a:rPr spc="190" dirty="0"/>
              <a:t> </a:t>
            </a:r>
            <a:r>
              <a:rPr spc="215" dirty="0"/>
              <a:t>x</a:t>
            </a:r>
            <a:r>
              <a:rPr spc="114" dirty="0"/>
              <a:t> </a:t>
            </a:r>
            <a:r>
              <a:rPr spc="60" dirty="0"/>
              <a:t>as</a:t>
            </a:r>
            <a:r>
              <a:rPr spc="195" dirty="0"/>
              <a:t> </a:t>
            </a:r>
            <a:r>
              <a:rPr dirty="0"/>
              <a:t>the</a:t>
            </a:r>
            <a:r>
              <a:rPr spc="204" dirty="0"/>
              <a:t> </a:t>
            </a:r>
            <a:r>
              <a:rPr dirty="0"/>
              <a:t>annotation</a:t>
            </a:r>
            <a:r>
              <a:rPr spc="229" dirty="0"/>
              <a:t> </a:t>
            </a:r>
            <a:r>
              <a:rPr dirty="0"/>
              <a:t>for</a:t>
            </a:r>
            <a:r>
              <a:rPr spc="195" dirty="0"/>
              <a:t> </a:t>
            </a:r>
            <a:r>
              <a:rPr dirty="0"/>
              <a:t>the</a:t>
            </a:r>
            <a:r>
              <a:rPr spc="225" dirty="0"/>
              <a:t> </a:t>
            </a:r>
            <a:r>
              <a:rPr dirty="0"/>
              <a:t>input</a:t>
            </a:r>
            <a:r>
              <a:rPr spc="220" dirty="0"/>
              <a:t> </a:t>
            </a:r>
            <a:r>
              <a:rPr dirty="0"/>
              <a:t>data</a:t>
            </a:r>
            <a:r>
              <a:rPr spc="170" dirty="0"/>
              <a:t> </a:t>
            </a:r>
            <a:r>
              <a:rPr spc="-30" dirty="0"/>
              <a:t>vector,</a:t>
            </a:r>
            <a:r>
              <a:rPr spc="-20" dirty="0"/>
              <a:t> </a:t>
            </a:r>
            <a:r>
              <a:rPr dirty="0"/>
              <a:t>a</a:t>
            </a:r>
            <a:r>
              <a:rPr spc="195" dirty="0"/>
              <a:t> </a:t>
            </a:r>
            <a:r>
              <a:rPr spc="85" dirty="0"/>
              <a:t>784</a:t>
            </a:r>
            <a:r>
              <a:rPr spc="204" dirty="0"/>
              <a:t> </a:t>
            </a:r>
            <a:r>
              <a:rPr spc="90" dirty="0"/>
              <a:t>long 	</a:t>
            </a:r>
            <a:r>
              <a:rPr spc="55" dirty="0"/>
              <a:t>string</a:t>
            </a:r>
            <a:r>
              <a:rPr spc="210" dirty="0"/>
              <a:t> </a:t>
            </a:r>
            <a:r>
              <a:rPr dirty="0"/>
              <a:t>of</a:t>
            </a:r>
            <a:r>
              <a:rPr spc="204" dirty="0"/>
              <a:t> </a:t>
            </a:r>
            <a:r>
              <a:rPr spc="75" dirty="0"/>
              <a:t>digits</a:t>
            </a:r>
            <a:r>
              <a:rPr spc="235" dirty="0"/>
              <a:t> </a:t>
            </a:r>
            <a:r>
              <a:rPr dirty="0"/>
              <a:t>between</a:t>
            </a:r>
            <a:r>
              <a:rPr spc="260" dirty="0"/>
              <a:t> </a:t>
            </a:r>
            <a:r>
              <a:rPr spc="85" dirty="0"/>
              <a:t>0</a:t>
            </a:r>
            <a:r>
              <a:rPr spc="210" dirty="0"/>
              <a:t> </a:t>
            </a:r>
            <a:r>
              <a:rPr dirty="0"/>
              <a:t>and</a:t>
            </a:r>
            <a:r>
              <a:rPr spc="220" dirty="0"/>
              <a:t> </a:t>
            </a:r>
            <a:r>
              <a:rPr spc="85" dirty="0"/>
              <a:t>1</a:t>
            </a:r>
            <a:r>
              <a:rPr spc="210" dirty="0"/>
              <a:t> </a:t>
            </a:r>
            <a:r>
              <a:rPr dirty="0"/>
              <a:t>representing</a:t>
            </a:r>
            <a:r>
              <a:rPr spc="270" dirty="0"/>
              <a:t> </a:t>
            </a:r>
            <a:r>
              <a:rPr dirty="0"/>
              <a:t>the</a:t>
            </a:r>
            <a:r>
              <a:rPr spc="215" dirty="0"/>
              <a:t> </a:t>
            </a:r>
            <a:r>
              <a:rPr spc="45" dirty="0"/>
              <a:t>greyscale 	</a:t>
            </a:r>
            <a:r>
              <a:rPr spc="-10" dirty="0"/>
              <a:t>values.</a:t>
            </a:r>
          </a:p>
          <a:p>
            <a:pPr marL="240029" indent="-227329">
              <a:lnSpc>
                <a:spcPct val="100000"/>
              </a:lnSpc>
              <a:spcBef>
                <a:spcPts val="635"/>
              </a:spcBef>
              <a:buFont typeface="Arial"/>
              <a:buChar char="•"/>
              <a:tabLst>
                <a:tab pos="240029" algn="l"/>
              </a:tabLst>
            </a:pPr>
            <a:r>
              <a:rPr spc="80" dirty="0"/>
              <a:t>The</a:t>
            </a:r>
            <a:r>
              <a:rPr spc="200" dirty="0"/>
              <a:t> </a:t>
            </a:r>
            <a:r>
              <a:rPr dirty="0"/>
              <a:t>output</a:t>
            </a:r>
            <a:r>
              <a:rPr spc="185" dirty="0"/>
              <a:t> </a:t>
            </a:r>
            <a:r>
              <a:rPr spc="85" dirty="0"/>
              <a:t>is</a:t>
            </a:r>
            <a:r>
              <a:rPr spc="175" dirty="0"/>
              <a:t> </a:t>
            </a:r>
            <a:r>
              <a:rPr dirty="0"/>
              <a:t>then</a:t>
            </a:r>
            <a:r>
              <a:rPr spc="215" dirty="0"/>
              <a:t> </a:t>
            </a:r>
            <a:r>
              <a:rPr dirty="0"/>
              <a:t>a</a:t>
            </a:r>
            <a:r>
              <a:rPr spc="145" dirty="0"/>
              <a:t> </a:t>
            </a:r>
            <a:r>
              <a:rPr dirty="0"/>
              <a:t>vector</a:t>
            </a:r>
            <a:r>
              <a:rPr spc="175" dirty="0"/>
              <a:t> </a:t>
            </a:r>
            <a:r>
              <a:rPr dirty="0"/>
              <a:t>y=y(x)</a:t>
            </a:r>
            <a:r>
              <a:rPr spc="180" dirty="0"/>
              <a:t> </a:t>
            </a:r>
            <a:r>
              <a:rPr dirty="0"/>
              <a:t>with</a:t>
            </a:r>
            <a:r>
              <a:rPr spc="200" dirty="0"/>
              <a:t> </a:t>
            </a:r>
            <a:r>
              <a:rPr spc="85" dirty="0"/>
              <a:t>10</a:t>
            </a:r>
            <a:r>
              <a:rPr spc="185" dirty="0"/>
              <a:t> </a:t>
            </a:r>
            <a:r>
              <a:rPr spc="40" dirty="0"/>
              <a:t>digits.</a:t>
            </a:r>
          </a:p>
          <a:p>
            <a:pPr marL="240029" indent="-227329">
              <a:lnSpc>
                <a:spcPct val="100000"/>
              </a:lnSpc>
              <a:spcBef>
                <a:spcPts val="660"/>
              </a:spcBef>
              <a:buFont typeface="Arial"/>
              <a:buChar char="•"/>
              <a:tabLst>
                <a:tab pos="240029" algn="l"/>
              </a:tabLst>
            </a:pPr>
            <a:r>
              <a:rPr dirty="0"/>
              <a:t>As</a:t>
            </a:r>
            <a:r>
              <a:rPr spc="195" dirty="0"/>
              <a:t> </a:t>
            </a:r>
            <a:r>
              <a:rPr dirty="0"/>
              <a:t>an</a:t>
            </a:r>
            <a:r>
              <a:rPr spc="195" dirty="0"/>
              <a:t> </a:t>
            </a:r>
            <a:r>
              <a:rPr spc="-10" dirty="0"/>
              <a:t>example:</a:t>
            </a:r>
          </a:p>
          <a:p>
            <a:pPr marL="696595" lvl="1" indent="-227329">
              <a:lnSpc>
                <a:spcPct val="100000"/>
              </a:lnSpc>
              <a:spcBef>
                <a:spcPts val="235"/>
              </a:spcBef>
              <a:buFont typeface="Arial"/>
              <a:buChar char="•"/>
              <a:tabLst>
                <a:tab pos="696595" algn="l"/>
              </a:tabLst>
            </a:pPr>
            <a:r>
              <a:rPr sz="2400" spc="60" dirty="0">
                <a:latin typeface="Calibri"/>
                <a:cs typeface="Calibri"/>
              </a:rPr>
              <a:t>If</a:t>
            </a:r>
            <a:r>
              <a:rPr sz="2400" spc="17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input</a:t>
            </a:r>
            <a:r>
              <a:rPr sz="2400" spc="150" dirty="0">
                <a:latin typeface="Calibri"/>
                <a:cs typeface="Calibri"/>
              </a:rPr>
              <a:t> </a:t>
            </a:r>
            <a:r>
              <a:rPr sz="2400" spc="55" dirty="0">
                <a:latin typeface="Calibri"/>
                <a:cs typeface="Calibri"/>
              </a:rPr>
              <a:t>image</a:t>
            </a:r>
            <a:r>
              <a:rPr sz="2400" spc="180" dirty="0">
                <a:latin typeface="Calibri"/>
                <a:cs typeface="Calibri"/>
              </a:rPr>
              <a:t> </a:t>
            </a:r>
            <a:r>
              <a:rPr sz="2400" spc="195" dirty="0">
                <a:latin typeface="Calibri"/>
                <a:cs typeface="Calibri"/>
              </a:rPr>
              <a:t>x</a:t>
            </a:r>
            <a:r>
              <a:rPr sz="2400" spc="8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represents</a:t>
            </a:r>
            <a:r>
              <a:rPr sz="2400" spc="17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</a:t>
            </a:r>
            <a:r>
              <a:rPr sz="2400" spc="175" dirty="0">
                <a:latin typeface="Calibri"/>
                <a:cs typeface="Calibri"/>
              </a:rPr>
              <a:t> </a:t>
            </a:r>
            <a:r>
              <a:rPr sz="2400" spc="30" dirty="0">
                <a:latin typeface="Calibri"/>
                <a:cs typeface="Calibri"/>
              </a:rPr>
              <a:t>1</a:t>
            </a:r>
            <a:endParaRPr sz="2400">
              <a:latin typeface="Calibri"/>
              <a:cs typeface="Calibri"/>
            </a:endParaRPr>
          </a:p>
          <a:p>
            <a:pPr marL="696595" lvl="1" indent="-227329">
              <a:lnSpc>
                <a:spcPct val="100000"/>
              </a:lnSpc>
              <a:spcBef>
                <a:spcPts val="215"/>
              </a:spcBef>
              <a:buFont typeface="Arial"/>
              <a:buChar char="•"/>
              <a:tabLst>
                <a:tab pos="696595" algn="l"/>
              </a:tabLst>
            </a:pPr>
            <a:r>
              <a:rPr sz="2400" dirty="0">
                <a:latin typeface="Calibri"/>
                <a:cs typeface="Calibri"/>
              </a:rPr>
              <a:t>Output</a:t>
            </a:r>
            <a:r>
              <a:rPr sz="2400" spc="11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vector</a:t>
            </a:r>
            <a:r>
              <a:rPr sz="2400" spc="14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y(x)</a:t>
            </a:r>
            <a:r>
              <a:rPr sz="2400" spc="18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=</a:t>
            </a:r>
            <a:r>
              <a:rPr sz="2400" spc="180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(0,1,0,0,0,0,0,0,0,0)</a:t>
            </a:r>
            <a:endParaRPr sz="2400">
              <a:latin typeface="Calibri"/>
              <a:cs typeface="Calibri"/>
            </a:endParaRPr>
          </a:p>
          <a:p>
            <a:pPr marL="696595" marR="252729" lvl="1" indent="-227329">
              <a:lnSpc>
                <a:spcPts val="2590"/>
              </a:lnSpc>
              <a:spcBef>
                <a:spcPts val="535"/>
              </a:spcBef>
              <a:buFont typeface="Arial"/>
              <a:buChar char="•"/>
              <a:tabLst>
                <a:tab pos="697865" algn="l"/>
              </a:tabLst>
            </a:pPr>
            <a:r>
              <a:rPr sz="2400" dirty="0">
                <a:latin typeface="Calibri"/>
                <a:cs typeface="Calibri"/>
              </a:rPr>
              <a:t>What</a:t>
            </a:r>
            <a:r>
              <a:rPr sz="2400" spc="15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we</a:t>
            </a:r>
            <a:r>
              <a:rPr sz="2400" spc="15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need</a:t>
            </a:r>
            <a:r>
              <a:rPr sz="2400" spc="14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to</a:t>
            </a:r>
            <a:r>
              <a:rPr sz="2400" spc="14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do</a:t>
            </a:r>
            <a:r>
              <a:rPr sz="2400" spc="155" dirty="0">
                <a:latin typeface="Calibri"/>
                <a:cs typeface="Calibri"/>
              </a:rPr>
              <a:t> </a:t>
            </a:r>
            <a:r>
              <a:rPr sz="2400" spc="80" dirty="0">
                <a:latin typeface="Calibri"/>
                <a:cs typeface="Calibri"/>
              </a:rPr>
              <a:t>is</a:t>
            </a:r>
            <a:r>
              <a:rPr sz="2400" spc="15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develop</a:t>
            </a:r>
            <a:r>
              <a:rPr sz="2400" spc="14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an</a:t>
            </a:r>
            <a:r>
              <a:rPr sz="2400" spc="150" dirty="0">
                <a:latin typeface="Calibri"/>
                <a:cs typeface="Calibri"/>
              </a:rPr>
              <a:t> </a:t>
            </a:r>
            <a:r>
              <a:rPr sz="2400" spc="50" dirty="0">
                <a:latin typeface="Calibri"/>
                <a:cs typeface="Calibri"/>
              </a:rPr>
              <a:t>algorithm</a:t>
            </a:r>
            <a:r>
              <a:rPr sz="2400" spc="14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that</a:t>
            </a:r>
            <a:r>
              <a:rPr sz="2400" spc="15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let’s</a:t>
            </a:r>
            <a:r>
              <a:rPr sz="2400" spc="14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us</a:t>
            </a:r>
            <a:r>
              <a:rPr sz="2400" spc="15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find</a:t>
            </a:r>
            <a:r>
              <a:rPr sz="2400" spc="125" dirty="0">
                <a:latin typeface="Calibri"/>
                <a:cs typeface="Calibri"/>
              </a:rPr>
              <a:t> </a:t>
            </a:r>
            <a:r>
              <a:rPr sz="2400" spc="-25" dirty="0">
                <a:latin typeface="Calibri"/>
                <a:cs typeface="Calibri"/>
              </a:rPr>
              <a:t>the 	</a:t>
            </a:r>
            <a:r>
              <a:rPr sz="2400" spc="55" dirty="0">
                <a:latin typeface="Calibri"/>
                <a:cs typeface="Calibri"/>
              </a:rPr>
              <a:t>weights</a:t>
            </a:r>
            <a:r>
              <a:rPr sz="2400" spc="13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and</a:t>
            </a:r>
            <a:r>
              <a:rPr sz="2400" spc="140" dirty="0">
                <a:latin typeface="Calibri"/>
                <a:cs typeface="Calibri"/>
              </a:rPr>
              <a:t> </a:t>
            </a:r>
            <a:r>
              <a:rPr sz="2400" spc="50" dirty="0">
                <a:latin typeface="Calibri"/>
                <a:cs typeface="Calibri"/>
              </a:rPr>
              <a:t>biases</a:t>
            </a:r>
            <a:r>
              <a:rPr sz="2400" spc="13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so</a:t>
            </a:r>
            <a:r>
              <a:rPr sz="2400" spc="14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output</a:t>
            </a:r>
            <a:r>
              <a:rPr sz="2400" spc="120" dirty="0">
                <a:latin typeface="Calibri"/>
                <a:cs typeface="Calibri"/>
              </a:rPr>
              <a:t> </a:t>
            </a:r>
            <a:r>
              <a:rPr sz="2400" spc="80" dirty="0">
                <a:latin typeface="Calibri"/>
                <a:cs typeface="Calibri"/>
              </a:rPr>
              <a:t>is</a:t>
            </a:r>
            <a:r>
              <a:rPr sz="2400" spc="140" dirty="0">
                <a:latin typeface="Calibri"/>
                <a:cs typeface="Calibri"/>
              </a:rPr>
              <a:t> </a:t>
            </a:r>
            <a:r>
              <a:rPr sz="2400" spc="50" dirty="0">
                <a:latin typeface="Calibri"/>
                <a:cs typeface="Calibri"/>
              </a:rPr>
              <a:t>as</a:t>
            </a:r>
            <a:r>
              <a:rPr sz="2400" spc="135" dirty="0">
                <a:latin typeface="Calibri"/>
                <a:cs typeface="Calibri"/>
              </a:rPr>
              <a:t> </a:t>
            </a:r>
            <a:r>
              <a:rPr sz="2400" spc="60" dirty="0">
                <a:latin typeface="Calibri"/>
                <a:cs typeface="Calibri"/>
              </a:rPr>
              <a:t>close</a:t>
            </a:r>
            <a:r>
              <a:rPr sz="2400" spc="15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to</a:t>
            </a:r>
            <a:r>
              <a:rPr sz="2400" spc="9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y(x)</a:t>
            </a:r>
            <a:r>
              <a:rPr sz="2400" spc="140" dirty="0">
                <a:latin typeface="Calibri"/>
                <a:cs typeface="Calibri"/>
              </a:rPr>
              <a:t> </a:t>
            </a:r>
            <a:r>
              <a:rPr sz="2400" spc="65" dirty="0">
                <a:latin typeface="Calibri"/>
                <a:cs typeface="Calibri"/>
              </a:rPr>
              <a:t>given</a:t>
            </a:r>
            <a:r>
              <a:rPr sz="2400" spc="14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above</a:t>
            </a:r>
            <a:r>
              <a:rPr sz="2400" spc="150" dirty="0">
                <a:latin typeface="Calibri"/>
                <a:cs typeface="Calibri"/>
              </a:rPr>
              <a:t> </a:t>
            </a:r>
            <a:r>
              <a:rPr sz="2400" spc="25" dirty="0">
                <a:latin typeface="Calibri"/>
                <a:cs typeface="Calibri"/>
              </a:rPr>
              <a:t>as 	</a:t>
            </a:r>
            <a:r>
              <a:rPr sz="2400" spc="-10" dirty="0">
                <a:latin typeface="Calibri"/>
                <a:cs typeface="Calibri"/>
              </a:rPr>
              <a:t>possible.</a:t>
            </a:r>
            <a:endParaRPr sz="240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How</a:t>
            </a:r>
            <a:r>
              <a:rPr spc="95" dirty="0"/>
              <a:t> </a:t>
            </a:r>
            <a:r>
              <a:rPr dirty="0"/>
              <a:t>to</a:t>
            </a:r>
            <a:r>
              <a:rPr spc="175" dirty="0"/>
              <a:t> </a:t>
            </a:r>
            <a:r>
              <a:rPr dirty="0"/>
              <a:t>train</a:t>
            </a:r>
            <a:r>
              <a:rPr spc="145" dirty="0"/>
              <a:t> </a:t>
            </a:r>
            <a:r>
              <a:rPr dirty="0"/>
              <a:t>your</a:t>
            </a:r>
            <a:r>
              <a:rPr spc="180" dirty="0"/>
              <a:t> </a:t>
            </a:r>
            <a:r>
              <a:rPr spc="85" dirty="0"/>
              <a:t>artificial</a:t>
            </a:r>
            <a:r>
              <a:rPr spc="175" dirty="0"/>
              <a:t> </a:t>
            </a:r>
            <a:r>
              <a:rPr spc="55" dirty="0"/>
              <a:t>neural</a:t>
            </a:r>
            <a:r>
              <a:rPr spc="175" dirty="0"/>
              <a:t> </a:t>
            </a:r>
            <a:r>
              <a:rPr spc="-10" dirty="0"/>
              <a:t>network</a:t>
            </a:r>
          </a:p>
        </p:txBody>
      </p:sp>
      <p:sp>
        <p:nvSpPr>
          <p:cNvPr id="3" name="object 3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vert="horz" wrap="square" lIns="0" tIns="46355" rIns="0" bIns="0" rtlCol="0">
            <a:spAutoFit/>
          </a:bodyPr>
          <a:lstStyle/>
          <a:p>
            <a:pPr marL="240029" indent="-227329">
              <a:lnSpc>
                <a:spcPct val="100000"/>
              </a:lnSpc>
              <a:spcBef>
                <a:spcPts val="365"/>
              </a:spcBef>
              <a:buFont typeface="Arial"/>
              <a:buChar char="•"/>
              <a:tabLst>
                <a:tab pos="240029" algn="l"/>
              </a:tabLst>
            </a:pPr>
            <a:r>
              <a:rPr spc="-10" dirty="0"/>
              <a:t>We</a:t>
            </a:r>
            <a:r>
              <a:rPr spc="120" dirty="0"/>
              <a:t> </a:t>
            </a:r>
            <a:r>
              <a:rPr dirty="0"/>
              <a:t>need</a:t>
            </a:r>
            <a:r>
              <a:rPr spc="175" dirty="0"/>
              <a:t> </a:t>
            </a:r>
            <a:r>
              <a:rPr dirty="0"/>
              <a:t>to</a:t>
            </a:r>
            <a:r>
              <a:rPr spc="135" dirty="0"/>
              <a:t> </a:t>
            </a:r>
            <a:r>
              <a:rPr spc="55" dirty="0"/>
              <a:t>figure</a:t>
            </a:r>
            <a:r>
              <a:rPr spc="140" dirty="0"/>
              <a:t> </a:t>
            </a:r>
            <a:r>
              <a:rPr dirty="0"/>
              <a:t>out</a:t>
            </a:r>
            <a:r>
              <a:rPr spc="125" dirty="0"/>
              <a:t> </a:t>
            </a:r>
            <a:r>
              <a:rPr dirty="0"/>
              <a:t>what</a:t>
            </a:r>
            <a:r>
              <a:rPr spc="150" dirty="0"/>
              <a:t> </a:t>
            </a:r>
            <a:r>
              <a:rPr dirty="0"/>
              <a:t>we</a:t>
            </a:r>
            <a:r>
              <a:rPr spc="140" dirty="0"/>
              <a:t> </a:t>
            </a:r>
            <a:r>
              <a:rPr dirty="0"/>
              <a:t>want</a:t>
            </a:r>
            <a:r>
              <a:rPr spc="155" dirty="0"/>
              <a:t> </a:t>
            </a:r>
            <a:r>
              <a:rPr dirty="0"/>
              <a:t>to</a:t>
            </a:r>
            <a:r>
              <a:rPr spc="135" dirty="0"/>
              <a:t> </a:t>
            </a:r>
            <a:r>
              <a:rPr spc="35" dirty="0"/>
              <a:t>optimize</a:t>
            </a:r>
          </a:p>
          <a:p>
            <a:pPr marL="696595" lvl="1" indent="-227329">
              <a:lnSpc>
                <a:spcPct val="100000"/>
              </a:lnSpc>
              <a:spcBef>
                <a:spcPts val="234"/>
              </a:spcBef>
              <a:buFont typeface="Arial"/>
              <a:buChar char="•"/>
              <a:tabLst>
                <a:tab pos="696595" algn="l"/>
              </a:tabLst>
            </a:pPr>
            <a:r>
              <a:rPr sz="2400" dirty="0">
                <a:latin typeface="Calibri"/>
                <a:cs typeface="Calibri"/>
              </a:rPr>
              <a:t>Obviously,</a:t>
            </a:r>
            <a:r>
              <a:rPr sz="2400" spc="-2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25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number</a:t>
            </a:r>
            <a:r>
              <a:rPr sz="2400" spc="23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of</a:t>
            </a:r>
            <a:r>
              <a:rPr sz="2400" spc="240" dirty="0">
                <a:latin typeface="Calibri"/>
                <a:cs typeface="Calibri"/>
              </a:rPr>
              <a:t> </a:t>
            </a:r>
            <a:r>
              <a:rPr sz="2400" spc="65" dirty="0">
                <a:latin typeface="Calibri"/>
                <a:cs typeface="Calibri"/>
              </a:rPr>
              <a:t>images</a:t>
            </a:r>
            <a:r>
              <a:rPr sz="2400" spc="24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correctly</a:t>
            </a:r>
            <a:r>
              <a:rPr sz="2400" spc="13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recognized,</a:t>
            </a:r>
            <a:r>
              <a:rPr sz="2400" spc="10" dirty="0">
                <a:latin typeface="Calibri"/>
                <a:cs typeface="Calibri"/>
              </a:rPr>
              <a:t> </a:t>
            </a:r>
            <a:r>
              <a:rPr sz="2400" spc="50" dirty="0">
                <a:latin typeface="Calibri"/>
                <a:cs typeface="Calibri"/>
              </a:rPr>
              <a:t>duh….</a:t>
            </a:r>
            <a:endParaRPr sz="2400">
              <a:latin typeface="Calibri"/>
              <a:cs typeface="Calibri"/>
            </a:endParaRPr>
          </a:p>
          <a:p>
            <a:pPr marL="240029" indent="-227329">
              <a:lnSpc>
                <a:spcPct val="100000"/>
              </a:lnSpc>
              <a:spcBef>
                <a:spcPts val="640"/>
              </a:spcBef>
              <a:buFont typeface="Arial"/>
              <a:buChar char="•"/>
              <a:tabLst>
                <a:tab pos="240029" algn="l"/>
              </a:tabLst>
            </a:pPr>
            <a:r>
              <a:rPr dirty="0"/>
              <a:t>But</a:t>
            </a:r>
            <a:r>
              <a:rPr spc="215" dirty="0"/>
              <a:t> </a:t>
            </a:r>
            <a:r>
              <a:rPr dirty="0"/>
              <a:t>what</a:t>
            </a:r>
            <a:r>
              <a:rPr spc="245" dirty="0"/>
              <a:t> </a:t>
            </a:r>
            <a:r>
              <a:rPr spc="70" dirty="0"/>
              <a:t>if</a:t>
            </a:r>
            <a:r>
              <a:rPr spc="210" dirty="0"/>
              <a:t> </a:t>
            </a:r>
            <a:r>
              <a:rPr dirty="0"/>
              <a:t>we</a:t>
            </a:r>
            <a:r>
              <a:rPr spc="240" dirty="0"/>
              <a:t> </a:t>
            </a:r>
            <a:r>
              <a:rPr dirty="0"/>
              <a:t>used</a:t>
            </a:r>
            <a:r>
              <a:rPr spc="225" dirty="0"/>
              <a:t> </a:t>
            </a:r>
            <a:r>
              <a:rPr dirty="0"/>
              <a:t>that</a:t>
            </a:r>
            <a:r>
              <a:rPr spc="235" dirty="0"/>
              <a:t> </a:t>
            </a:r>
            <a:r>
              <a:rPr spc="60" dirty="0"/>
              <a:t>as</a:t>
            </a:r>
            <a:r>
              <a:rPr spc="210" dirty="0"/>
              <a:t> </a:t>
            </a:r>
            <a:r>
              <a:rPr dirty="0"/>
              <a:t>the</a:t>
            </a:r>
            <a:r>
              <a:rPr spc="235" dirty="0"/>
              <a:t> </a:t>
            </a:r>
            <a:r>
              <a:rPr dirty="0"/>
              <a:t>objective</a:t>
            </a:r>
            <a:r>
              <a:rPr spc="270" dirty="0"/>
              <a:t> </a:t>
            </a:r>
            <a:r>
              <a:rPr spc="-10" dirty="0"/>
              <a:t>function?</a:t>
            </a:r>
          </a:p>
          <a:p>
            <a:pPr marL="696595" lvl="1" indent="-227329">
              <a:lnSpc>
                <a:spcPct val="100000"/>
              </a:lnSpc>
              <a:spcBef>
                <a:spcPts val="235"/>
              </a:spcBef>
              <a:buFont typeface="Arial"/>
              <a:buChar char="•"/>
              <a:tabLst>
                <a:tab pos="696595" algn="l"/>
              </a:tabLst>
            </a:pPr>
            <a:r>
              <a:rPr sz="2400" dirty="0">
                <a:latin typeface="Calibri"/>
                <a:cs typeface="Calibri"/>
              </a:rPr>
              <a:t>C(w,b)=Number</a:t>
            </a:r>
            <a:r>
              <a:rPr sz="2400" spc="15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of</a:t>
            </a:r>
            <a:r>
              <a:rPr sz="2400" spc="14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correctly</a:t>
            </a:r>
            <a:r>
              <a:rPr sz="2400" spc="65" dirty="0">
                <a:latin typeface="Calibri"/>
                <a:cs typeface="Calibri"/>
              </a:rPr>
              <a:t> </a:t>
            </a:r>
            <a:r>
              <a:rPr sz="2400" spc="60" dirty="0">
                <a:latin typeface="Calibri"/>
                <a:cs typeface="Calibri"/>
              </a:rPr>
              <a:t>classified</a:t>
            </a:r>
            <a:r>
              <a:rPr sz="2400" spc="145" dirty="0">
                <a:latin typeface="Calibri"/>
                <a:cs typeface="Calibri"/>
              </a:rPr>
              <a:t> </a:t>
            </a:r>
            <a:r>
              <a:rPr sz="2400" spc="55" dirty="0">
                <a:latin typeface="Calibri"/>
                <a:cs typeface="Calibri"/>
              </a:rPr>
              <a:t>images</a:t>
            </a:r>
            <a:endParaRPr sz="2400">
              <a:latin typeface="Calibri"/>
              <a:cs typeface="Calibri"/>
            </a:endParaRPr>
          </a:p>
          <a:p>
            <a:pPr marL="696595" lvl="1" indent="-227329">
              <a:lnSpc>
                <a:spcPct val="100000"/>
              </a:lnSpc>
              <a:spcBef>
                <a:spcPts val="219"/>
              </a:spcBef>
              <a:buFont typeface="Arial"/>
              <a:buChar char="•"/>
              <a:tabLst>
                <a:tab pos="696595" algn="l"/>
              </a:tabLst>
            </a:pPr>
            <a:r>
              <a:rPr sz="2400" dirty="0">
                <a:latin typeface="Calibri"/>
                <a:cs typeface="Calibri"/>
              </a:rPr>
              <a:t>Could</a:t>
            </a:r>
            <a:r>
              <a:rPr sz="2400" spc="254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we</a:t>
            </a:r>
            <a:r>
              <a:rPr sz="2400" spc="254" dirty="0">
                <a:latin typeface="Calibri"/>
                <a:cs typeface="Calibri"/>
              </a:rPr>
              <a:t> </a:t>
            </a:r>
            <a:r>
              <a:rPr sz="2400" spc="60" dirty="0">
                <a:latin typeface="Calibri"/>
                <a:cs typeface="Calibri"/>
              </a:rPr>
              <a:t>easily</a:t>
            </a:r>
            <a:r>
              <a:rPr sz="2400" spc="13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optimize</a:t>
            </a:r>
            <a:r>
              <a:rPr sz="2400" spc="254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with</a:t>
            </a:r>
            <a:r>
              <a:rPr sz="2400" spc="240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this?</a:t>
            </a:r>
            <a:endParaRPr sz="2400">
              <a:latin typeface="Calibri"/>
              <a:cs typeface="Calibri"/>
            </a:endParaRPr>
          </a:p>
          <a:p>
            <a:pPr marL="696595" marR="5080" lvl="1" indent="-227329">
              <a:lnSpc>
                <a:spcPts val="2590"/>
              </a:lnSpc>
              <a:spcBef>
                <a:spcPts val="540"/>
              </a:spcBef>
              <a:buFont typeface="Arial"/>
              <a:buChar char="•"/>
              <a:tabLst>
                <a:tab pos="697865" algn="l"/>
              </a:tabLst>
            </a:pPr>
            <a:r>
              <a:rPr sz="2400" dirty="0">
                <a:latin typeface="Calibri"/>
                <a:cs typeface="Calibri"/>
              </a:rPr>
              <a:t>Not</a:t>
            </a:r>
            <a:r>
              <a:rPr sz="2400" spc="14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really,</a:t>
            </a:r>
            <a:r>
              <a:rPr sz="2400" spc="-45" dirty="0">
                <a:latin typeface="Calibri"/>
                <a:cs typeface="Calibri"/>
              </a:rPr>
              <a:t> </a:t>
            </a:r>
            <a:r>
              <a:rPr sz="2400" spc="50" dirty="0">
                <a:latin typeface="Calibri"/>
                <a:cs typeface="Calibri"/>
              </a:rPr>
              <a:t>this</a:t>
            </a:r>
            <a:r>
              <a:rPr sz="2400" spc="135" dirty="0">
                <a:latin typeface="Calibri"/>
                <a:cs typeface="Calibri"/>
              </a:rPr>
              <a:t> </a:t>
            </a:r>
            <a:r>
              <a:rPr sz="2400" spc="80" dirty="0">
                <a:latin typeface="Calibri"/>
                <a:cs typeface="Calibri"/>
              </a:rPr>
              <a:t>is</a:t>
            </a:r>
            <a:r>
              <a:rPr sz="2400" spc="15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not</a:t>
            </a:r>
            <a:r>
              <a:rPr sz="2400" spc="15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</a:t>
            </a:r>
            <a:r>
              <a:rPr sz="2400" spc="15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smooth</a:t>
            </a:r>
            <a:r>
              <a:rPr sz="2400" spc="17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function</a:t>
            </a:r>
            <a:r>
              <a:rPr sz="2400" spc="15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of</a:t>
            </a:r>
            <a:r>
              <a:rPr sz="2400" spc="140" dirty="0">
                <a:latin typeface="Calibri"/>
                <a:cs typeface="Calibri"/>
              </a:rPr>
              <a:t> </a:t>
            </a:r>
            <a:r>
              <a:rPr sz="2400" spc="50" dirty="0">
                <a:latin typeface="Calibri"/>
                <a:cs typeface="Calibri"/>
              </a:rPr>
              <a:t>w</a:t>
            </a:r>
            <a:r>
              <a:rPr sz="2400" spc="90" dirty="0">
                <a:latin typeface="Calibri"/>
                <a:cs typeface="Calibri"/>
              </a:rPr>
              <a:t> </a:t>
            </a:r>
            <a:r>
              <a:rPr sz="2400" spc="65" dirty="0">
                <a:latin typeface="Calibri"/>
                <a:cs typeface="Calibri"/>
              </a:rPr>
              <a:t>(all</a:t>
            </a:r>
            <a:r>
              <a:rPr sz="2400" spc="14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170" dirty="0">
                <a:latin typeface="Calibri"/>
                <a:cs typeface="Calibri"/>
              </a:rPr>
              <a:t> </a:t>
            </a:r>
            <a:r>
              <a:rPr sz="2400" spc="55" dirty="0">
                <a:latin typeface="Calibri"/>
                <a:cs typeface="Calibri"/>
              </a:rPr>
              <a:t>weights</a:t>
            </a:r>
            <a:r>
              <a:rPr sz="2400" spc="135" dirty="0">
                <a:latin typeface="Calibri"/>
                <a:cs typeface="Calibri"/>
              </a:rPr>
              <a:t> </a:t>
            </a:r>
            <a:r>
              <a:rPr sz="2400" spc="60" dirty="0">
                <a:latin typeface="Calibri"/>
                <a:cs typeface="Calibri"/>
              </a:rPr>
              <a:t>in</a:t>
            </a:r>
            <a:r>
              <a:rPr sz="2400" spc="155" dirty="0">
                <a:latin typeface="Calibri"/>
                <a:cs typeface="Calibri"/>
              </a:rPr>
              <a:t> </a:t>
            </a:r>
            <a:r>
              <a:rPr sz="2400" spc="-25" dirty="0">
                <a:latin typeface="Calibri"/>
                <a:cs typeface="Calibri"/>
              </a:rPr>
              <a:t>the 	</a:t>
            </a:r>
            <a:r>
              <a:rPr sz="2400" dirty="0">
                <a:latin typeface="Calibri"/>
                <a:cs typeface="Calibri"/>
              </a:rPr>
              <a:t>NN)</a:t>
            </a:r>
            <a:r>
              <a:rPr sz="2400" spc="11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or</a:t>
            </a:r>
            <a:r>
              <a:rPr sz="2400" spc="12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b</a:t>
            </a:r>
            <a:r>
              <a:rPr sz="2400" spc="135" dirty="0">
                <a:latin typeface="Calibri"/>
                <a:cs typeface="Calibri"/>
              </a:rPr>
              <a:t> </a:t>
            </a:r>
            <a:r>
              <a:rPr sz="2400" spc="60" dirty="0">
                <a:latin typeface="Calibri"/>
                <a:cs typeface="Calibri"/>
              </a:rPr>
              <a:t>(all</a:t>
            </a:r>
            <a:r>
              <a:rPr sz="2400" spc="12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125" dirty="0">
                <a:latin typeface="Calibri"/>
                <a:cs typeface="Calibri"/>
              </a:rPr>
              <a:t> </a:t>
            </a:r>
            <a:r>
              <a:rPr sz="2400" spc="50" dirty="0">
                <a:latin typeface="Calibri"/>
                <a:cs typeface="Calibri"/>
              </a:rPr>
              <a:t>biases</a:t>
            </a:r>
            <a:r>
              <a:rPr sz="2400" spc="130" dirty="0">
                <a:latin typeface="Calibri"/>
                <a:cs typeface="Calibri"/>
              </a:rPr>
              <a:t> </a:t>
            </a:r>
            <a:r>
              <a:rPr sz="2400" spc="60" dirty="0">
                <a:latin typeface="Calibri"/>
                <a:cs typeface="Calibri"/>
              </a:rPr>
              <a:t>in</a:t>
            </a:r>
            <a:r>
              <a:rPr sz="2400" spc="12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130" dirty="0">
                <a:latin typeface="Calibri"/>
                <a:cs typeface="Calibri"/>
              </a:rPr>
              <a:t> </a:t>
            </a:r>
            <a:r>
              <a:rPr sz="2400" spc="-25" dirty="0">
                <a:latin typeface="Calibri"/>
                <a:cs typeface="Calibri"/>
              </a:rPr>
              <a:t>NN)</a:t>
            </a:r>
            <a:endParaRPr sz="240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How</a:t>
            </a:r>
            <a:r>
              <a:rPr spc="95" dirty="0"/>
              <a:t> </a:t>
            </a:r>
            <a:r>
              <a:rPr dirty="0"/>
              <a:t>to</a:t>
            </a:r>
            <a:r>
              <a:rPr spc="175" dirty="0"/>
              <a:t> </a:t>
            </a:r>
            <a:r>
              <a:rPr dirty="0"/>
              <a:t>train</a:t>
            </a:r>
            <a:r>
              <a:rPr spc="145" dirty="0"/>
              <a:t> </a:t>
            </a:r>
            <a:r>
              <a:rPr dirty="0"/>
              <a:t>your</a:t>
            </a:r>
            <a:r>
              <a:rPr spc="180" dirty="0"/>
              <a:t> </a:t>
            </a:r>
            <a:r>
              <a:rPr spc="85" dirty="0"/>
              <a:t>artificial</a:t>
            </a:r>
            <a:r>
              <a:rPr spc="175" dirty="0"/>
              <a:t> </a:t>
            </a:r>
            <a:r>
              <a:rPr spc="55" dirty="0"/>
              <a:t>neural</a:t>
            </a:r>
            <a:r>
              <a:rPr spc="175" dirty="0"/>
              <a:t> </a:t>
            </a:r>
            <a:r>
              <a:rPr spc="-10" dirty="0"/>
              <a:t>network</a:t>
            </a:r>
          </a:p>
        </p:txBody>
      </p:sp>
      <p:sp>
        <p:nvSpPr>
          <p:cNvPr id="3" name="object 3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vert="horz" wrap="square" lIns="0" tIns="46355" rIns="0" bIns="0" rtlCol="0">
            <a:spAutoFit/>
          </a:bodyPr>
          <a:lstStyle/>
          <a:p>
            <a:pPr marL="240029" indent="-227329">
              <a:lnSpc>
                <a:spcPct val="100000"/>
              </a:lnSpc>
              <a:spcBef>
                <a:spcPts val="365"/>
              </a:spcBef>
              <a:buFont typeface="Arial"/>
              <a:buChar char="•"/>
              <a:tabLst>
                <a:tab pos="240029" algn="l"/>
              </a:tabLst>
            </a:pPr>
            <a:r>
              <a:rPr spc="95" dirty="0"/>
              <a:t>So</a:t>
            </a:r>
            <a:r>
              <a:rPr spc="155" dirty="0"/>
              <a:t> </a:t>
            </a:r>
            <a:r>
              <a:rPr dirty="0"/>
              <a:t>what</a:t>
            </a:r>
            <a:r>
              <a:rPr spc="190" dirty="0"/>
              <a:t> </a:t>
            </a:r>
            <a:r>
              <a:rPr spc="70" dirty="0"/>
              <a:t>if</a:t>
            </a:r>
            <a:r>
              <a:rPr spc="160" dirty="0"/>
              <a:t> </a:t>
            </a:r>
            <a:r>
              <a:rPr dirty="0"/>
              <a:t>we</a:t>
            </a:r>
            <a:r>
              <a:rPr spc="175" dirty="0"/>
              <a:t> </a:t>
            </a:r>
            <a:r>
              <a:rPr dirty="0"/>
              <a:t>defined</a:t>
            </a:r>
            <a:r>
              <a:rPr spc="225" dirty="0"/>
              <a:t> </a:t>
            </a:r>
            <a:r>
              <a:rPr dirty="0"/>
              <a:t>another</a:t>
            </a:r>
            <a:r>
              <a:rPr spc="5" dirty="0"/>
              <a:t> </a:t>
            </a:r>
            <a:r>
              <a:rPr spc="-25" dirty="0"/>
              <a:t>‘cost</a:t>
            </a:r>
            <a:r>
              <a:rPr spc="155" dirty="0"/>
              <a:t> </a:t>
            </a:r>
            <a:r>
              <a:rPr spc="-10" dirty="0"/>
              <a:t>function’?</a:t>
            </a:r>
          </a:p>
          <a:p>
            <a:pPr marL="696595" lvl="1" indent="-227329">
              <a:lnSpc>
                <a:spcPct val="100000"/>
              </a:lnSpc>
              <a:spcBef>
                <a:spcPts val="234"/>
              </a:spcBef>
              <a:buFont typeface="Arial"/>
              <a:buChar char="•"/>
              <a:tabLst>
                <a:tab pos="696595" algn="l"/>
              </a:tabLst>
            </a:pPr>
            <a:r>
              <a:rPr sz="2400" dirty="0">
                <a:latin typeface="Calibri"/>
                <a:cs typeface="Calibri"/>
              </a:rPr>
              <a:t>C(w,b)=Number</a:t>
            </a:r>
            <a:r>
              <a:rPr sz="2400" spc="15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of</a:t>
            </a:r>
            <a:r>
              <a:rPr sz="2400" spc="14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correctly</a:t>
            </a:r>
            <a:r>
              <a:rPr sz="2400" spc="65" dirty="0">
                <a:latin typeface="Calibri"/>
                <a:cs typeface="Calibri"/>
              </a:rPr>
              <a:t> </a:t>
            </a:r>
            <a:r>
              <a:rPr sz="2400" spc="60" dirty="0">
                <a:latin typeface="Calibri"/>
                <a:cs typeface="Calibri"/>
              </a:rPr>
              <a:t>classified</a:t>
            </a:r>
            <a:r>
              <a:rPr sz="2400" spc="145" dirty="0">
                <a:latin typeface="Calibri"/>
                <a:cs typeface="Calibri"/>
              </a:rPr>
              <a:t> </a:t>
            </a:r>
            <a:r>
              <a:rPr sz="2400" spc="55" dirty="0">
                <a:latin typeface="Calibri"/>
                <a:cs typeface="Calibri"/>
              </a:rPr>
              <a:t>images</a:t>
            </a:r>
            <a:endParaRPr sz="2400">
              <a:latin typeface="Calibri"/>
              <a:cs typeface="Calibri"/>
            </a:endParaRPr>
          </a:p>
          <a:p>
            <a:pPr marL="696595" lvl="1" indent="-227329">
              <a:lnSpc>
                <a:spcPct val="100000"/>
              </a:lnSpc>
              <a:spcBef>
                <a:spcPts val="215"/>
              </a:spcBef>
              <a:buFont typeface="Arial"/>
              <a:buChar char="•"/>
              <a:tabLst>
                <a:tab pos="696595" algn="l"/>
              </a:tabLst>
            </a:pPr>
            <a:r>
              <a:rPr sz="2400" dirty="0">
                <a:latin typeface="Calibri"/>
                <a:cs typeface="Calibri"/>
              </a:rPr>
              <a:t>Could</a:t>
            </a:r>
            <a:r>
              <a:rPr sz="2400" spc="254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we</a:t>
            </a:r>
            <a:r>
              <a:rPr sz="2400" spc="254" dirty="0">
                <a:latin typeface="Calibri"/>
                <a:cs typeface="Calibri"/>
              </a:rPr>
              <a:t> </a:t>
            </a:r>
            <a:r>
              <a:rPr sz="2400" spc="60" dirty="0">
                <a:latin typeface="Calibri"/>
                <a:cs typeface="Calibri"/>
              </a:rPr>
              <a:t>easily</a:t>
            </a:r>
            <a:r>
              <a:rPr sz="2400" spc="13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optimize</a:t>
            </a:r>
            <a:r>
              <a:rPr sz="2400" spc="254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with</a:t>
            </a:r>
            <a:r>
              <a:rPr sz="2400" spc="240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this?</a:t>
            </a:r>
            <a:endParaRPr sz="2400">
              <a:latin typeface="Calibri"/>
              <a:cs typeface="Calibri"/>
            </a:endParaRPr>
          </a:p>
          <a:p>
            <a:pPr marL="696595" lvl="1" indent="-227329">
              <a:lnSpc>
                <a:spcPts val="2740"/>
              </a:lnSpc>
              <a:spcBef>
                <a:spcPts val="215"/>
              </a:spcBef>
              <a:buFont typeface="Arial"/>
              <a:buChar char="•"/>
              <a:tabLst>
                <a:tab pos="696595" algn="l"/>
              </a:tabLst>
            </a:pPr>
            <a:r>
              <a:rPr sz="2400" dirty="0">
                <a:latin typeface="Calibri"/>
                <a:cs typeface="Calibri"/>
              </a:rPr>
              <a:t>Not</a:t>
            </a:r>
            <a:r>
              <a:rPr sz="2400" spc="14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really,</a:t>
            </a:r>
            <a:r>
              <a:rPr sz="2400" spc="-50" dirty="0">
                <a:latin typeface="Calibri"/>
                <a:cs typeface="Calibri"/>
              </a:rPr>
              <a:t> </a:t>
            </a:r>
            <a:r>
              <a:rPr sz="2400" spc="50" dirty="0">
                <a:latin typeface="Calibri"/>
                <a:cs typeface="Calibri"/>
              </a:rPr>
              <a:t>this</a:t>
            </a:r>
            <a:r>
              <a:rPr sz="2400" spc="140" dirty="0">
                <a:latin typeface="Calibri"/>
                <a:cs typeface="Calibri"/>
              </a:rPr>
              <a:t> </a:t>
            </a:r>
            <a:r>
              <a:rPr sz="2400" spc="80" dirty="0">
                <a:latin typeface="Calibri"/>
                <a:cs typeface="Calibri"/>
              </a:rPr>
              <a:t>is</a:t>
            </a:r>
            <a:r>
              <a:rPr sz="2400" spc="16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not</a:t>
            </a:r>
            <a:r>
              <a:rPr sz="2400" spc="15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</a:t>
            </a:r>
            <a:r>
              <a:rPr sz="2400" spc="15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smooth</a:t>
            </a:r>
            <a:r>
              <a:rPr sz="2400" spc="17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function</a:t>
            </a:r>
            <a:r>
              <a:rPr sz="2400" spc="15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of</a:t>
            </a:r>
            <a:r>
              <a:rPr sz="2400" spc="145" dirty="0">
                <a:latin typeface="Calibri"/>
                <a:cs typeface="Calibri"/>
              </a:rPr>
              <a:t> </a:t>
            </a:r>
            <a:r>
              <a:rPr sz="2400" spc="50" dirty="0">
                <a:latin typeface="Calibri"/>
                <a:cs typeface="Calibri"/>
              </a:rPr>
              <a:t>w</a:t>
            </a:r>
            <a:r>
              <a:rPr sz="2400" spc="95" dirty="0">
                <a:latin typeface="Calibri"/>
                <a:cs typeface="Calibri"/>
              </a:rPr>
              <a:t> </a:t>
            </a:r>
            <a:r>
              <a:rPr sz="2400" spc="65" dirty="0">
                <a:latin typeface="Calibri"/>
                <a:cs typeface="Calibri"/>
              </a:rPr>
              <a:t>(all</a:t>
            </a:r>
            <a:r>
              <a:rPr sz="2400" spc="14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160" dirty="0">
                <a:latin typeface="Calibri"/>
                <a:cs typeface="Calibri"/>
              </a:rPr>
              <a:t> </a:t>
            </a:r>
            <a:r>
              <a:rPr sz="2400" spc="55" dirty="0">
                <a:latin typeface="Calibri"/>
                <a:cs typeface="Calibri"/>
              </a:rPr>
              <a:t>weights</a:t>
            </a:r>
            <a:r>
              <a:rPr sz="2400" spc="140" dirty="0">
                <a:latin typeface="Calibri"/>
                <a:cs typeface="Calibri"/>
              </a:rPr>
              <a:t> </a:t>
            </a:r>
            <a:r>
              <a:rPr sz="2400" spc="70" dirty="0">
                <a:latin typeface="Calibri"/>
                <a:cs typeface="Calibri"/>
              </a:rPr>
              <a:t>in</a:t>
            </a:r>
            <a:r>
              <a:rPr sz="2400" spc="155" dirty="0">
                <a:latin typeface="Calibri"/>
                <a:cs typeface="Calibri"/>
              </a:rPr>
              <a:t> </a:t>
            </a:r>
            <a:r>
              <a:rPr sz="2400" spc="-25" dirty="0">
                <a:latin typeface="Calibri"/>
                <a:cs typeface="Calibri"/>
              </a:rPr>
              <a:t>the</a:t>
            </a:r>
            <a:endParaRPr sz="2400">
              <a:latin typeface="Calibri"/>
              <a:cs typeface="Calibri"/>
            </a:endParaRPr>
          </a:p>
          <a:p>
            <a:pPr marL="697865">
              <a:lnSpc>
                <a:spcPts val="2740"/>
              </a:lnSpc>
            </a:pPr>
            <a:r>
              <a:rPr sz="2400" dirty="0"/>
              <a:t>NN)</a:t>
            </a:r>
            <a:r>
              <a:rPr sz="2400" spc="110" dirty="0"/>
              <a:t> </a:t>
            </a:r>
            <a:r>
              <a:rPr sz="2400" dirty="0"/>
              <a:t>or</a:t>
            </a:r>
            <a:r>
              <a:rPr sz="2400" spc="120" dirty="0"/>
              <a:t> </a:t>
            </a:r>
            <a:r>
              <a:rPr sz="2400" dirty="0"/>
              <a:t>b</a:t>
            </a:r>
            <a:r>
              <a:rPr sz="2400" spc="135" dirty="0"/>
              <a:t> </a:t>
            </a:r>
            <a:r>
              <a:rPr sz="2400" spc="60" dirty="0"/>
              <a:t>(all</a:t>
            </a:r>
            <a:r>
              <a:rPr sz="2400" spc="125" dirty="0"/>
              <a:t> </a:t>
            </a:r>
            <a:r>
              <a:rPr sz="2400" dirty="0"/>
              <a:t>the</a:t>
            </a:r>
            <a:r>
              <a:rPr sz="2400" spc="125" dirty="0"/>
              <a:t> </a:t>
            </a:r>
            <a:r>
              <a:rPr sz="2400" spc="50" dirty="0"/>
              <a:t>biases</a:t>
            </a:r>
            <a:r>
              <a:rPr sz="2400" spc="130" dirty="0"/>
              <a:t> </a:t>
            </a:r>
            <a:r>
              <a:rPr sz="2400" spc="60" dirty="0"/>
              <a:t>in</a:t>
            </a:r>
            <a:r>
              <a:rPr sz="2400" spc="120" dirty="0"/>
              <a:t> </a:t>
            </a:r>
            <a:r>
              <a:rPr sz="2400" dirty="0"/>
              <a:t>the</a:t>
            </a:r>
            <a:r>
              <a:rPr sz="2400" spc="130" dirty="0"/>
              <a:t> </a:t>
            </a:r>
            <a:r>
              <a:rPr sz="2400" spc="-25" dirty="0"/>
              <a:t>NN)</a:t>
            </a:r>
            <a:endParaRPr sz="240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black and white math symbol&#10;&#10;AI-generated content may be incorrect.">
            <a:extLst>
              <a:ext uri="{FF2B5EF4-FFF2-40B4-BE49-F238E27FC236}">
                <a16:creationId xmlns:a16="http://schemas.microsoft.com/office/drawing/2014/main" id="{49E168A7-7537-A9F4-7DB1-22442B006F0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29000" y="914400"/>
            <a:ext cx="3596483" cy="839179"/>
          </a:xfrm>
          <a:prstGeom prst="rect">
            <a:avLst/>
          </a:prstGeom>
        </p:spPr>
      </p:pic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Cost</a:t>
            </a:r>
            <a:r>
              <a:rPr spc="210" dirty="0"/>
              <a:t> </a:t>
            </a:r>
            <a:r>
              <a:rPr spc="60" dirty="0"/>
              <a:t>Function</a:t>
            </a:r>
          </a:p>
        </p:txBody>
      </p:sp>
      <p:sp>
        <p:nvSpPr>
          <p:cNvPr id="7" name="object 7"/>
          <p:cNvSpPr txBox="1"/>
          <p:nvPr/>
        </p:nvSpPr>
        <p:spPr>
          <a:xfrm>
            <a:off x="1295400" y="1621155"/>
            <a:ext cx="9802495" cy="3103245"/>
          </a:xfrm>
          <a:prstGeom prst="rect">
            <a:avLst/>
          </a:prstGeom>
        </p:spPr>
        <p:txBody>
          <a:bodyPr vert="horz" wrap="square" lIns="0" tIns="38100" rIns="0" bIns="0" rtlCol="0">
            <a:spAutoFit/>
          </a:bodyPr>
          <a:lstStyle/>
          <a:p>
            <a:pPr marL="265430" indent="-227329">
              <a:lnSpc>
                <a:spcPct val="100000"/>
              </a:lnSpc>
              <a:spcBef>
                <a:spcPts val="300"/>
              </a:spcBef>
              <a:buFont typeface="Arial"/>
              <a:buChar char="•"/>
              <a:tabLst>
                <a:tab pos="265430" algn="l"/>
              </a:tabLst>
            </a:pPr>
            <a:r>
              <a:rPr sz="2400" spc="50" dirty="0">
                <a:latin typeface="Calibri"/>
                <a:cs typeface="Calibri"/>
              </a:rPr>
              <a:t>w</a:t>
            </a:r>
            <a:r>
              <a:rPr sz="2400" spc="8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represents</a:t>
            </a:r>
            <a:r>
              <a:rPr sz="2400" spc="145" dirty="0">
                <a:latin typeface="Calibri"/>
                <a:cs typeface="Calibri"/>
              </a:rPr>
              <a:t> </a:t>
            </a:r>
            <a:r>
              <a:rPr sz="2400" spc="110" dirty="0">
                <a:latin typeface="Calibri"/>
                <a:cs typeface="Calibri"/>
              </a:rPr>
              <a:t>all</a:t>
            </a:r>
            <a:r>
              <a:rPr sz="2400" spc="14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150" dirty="0">
                <a:latin typeface="Calibri"/>
                <a:cs typeface="Calibri"/>
              </a:rPr>
              <a:t> </a:t>
            </a:r>
            <a:r>
              <a:rPr sz="2400" spc="55" dirty="0">
                <a:latin typeface="Calibri"/>
                <a:cs typeface="Calibri"/>
              </a:rPr>
              <a:t>weights</a:t>
            </a:r>
            <a:r>
              <a:rPr sz="2400" spc="145" dirty="0">
                <a:latin typeface="Calibri"/>
                <a:cs typeface="Calibri"/>
              </a:rPr>
              <a:t> </a:t>
            </a:r>
            <a:r>
              <a:rPr sz="2400" spc="60" dirty="0">
                <a:latin typeface="Calibri"/>
                <a:cs typeface="Calibri"/>
              </a:rPr>
              <a:t>i</a:t>
            </a:r>
            <a:r>
              <a:rPr sz="2400" spc="-1025" dirty="0">
                <a:latin typeface="Calibri"/>
                <a:cs typeface="Calibri"/>
              </a:rPr>
              <a:t>n</a:t>
            </a:r>
            <a:r>
              <a:rPr lang="en-US" sz="2625" spc="89" baseline="47619" dirty="0">
                <a:latin typeface="Cambria Math"/>
                <a:cs typeface="Cambria Math"/>
              </a:rPr>
              <a:t>𝑥</a:t>
            </a:r>
            <a:r>
              <a:rPr sz="2625" spc="562" baseline="47619" dirty="0">
                <a:latin typeface="Cambria Math"/>
                <a:cs typeface="Cambria Math"/>
              </a:rPr>
              <a:t>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150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network</a:t>
            </a:r>
            <a:endParaRPr sz="2400" dirty="0">
              <a:latin typeface="Calibri"/>
              <a:cs typeface="Calibri"/>
            </a:endParaRPr>
          </a:p>
          <a:p>
            <a:pPr marL="265430" indent="-227329">
              <a:lnSpc>
                <a:spcPct val="100000"/>
              </a:lnSpc>
              <a:spcBef>
                <a:spcPts val="204"/>
              </a:spcBef>
              <a:buFont typeface="Arial"/>
              <a:buChar char="•"/>
              <a:tabLst>
                <a:tab pos="265430" algn="l"/>
              </a:tabLst>
            </a:pPr>
            <a:r>
              <a:rPr sz="2400" dirty="0">
                <a:latin typeface="Calibri"/>
                <a:cs typeface="Calibri"/>
              </a:rPr>
              <a:t>b</a:t>
            </a:r>
            <a:r>
              <a:rPr sz="2400" spc="14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represents</a:t>
            </a:r>
            <a:r>
              <a:rPr sz="2400" spc="150" dirty="0">
                <a:latin typeface="Calibri"/>
                <a:cs typeface="Calibri"/>
              </a:rPr>
              <a:t> </a:t>
            </a:r>
            <a:r>
              <a:rPr sz="2400" spc="110" dirty="0">
                <a:latin typeface="Calibri"/>
                <a:cs typeface="Calibri"/>
              </a:rPr>
              <a:t>all</a:t>
            </a:r>
            <a:r>
              <a:rPr sz="2400" spc="15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150" dirty="0">
                <a:latin typeface="Calibri"/>
                <a:cs typeface="Calibri"/>
              </a:rPr>
              <a:t> </a:t>
            </a:r>
            <a:r>
              <a:rPr sz="2400" spc="50" dirty="0">
                <a:latin typeface="Calibri"/>
                <a:cs typeface="Calibri"/>
              </a:rPr>
              <a:t>biases</a:t>
            </a:r>
            <a:r>
              <a:rPr sz="2400" spc="160" dirty="0">
                <a:latin typeface="Calibri"/>
                <a:cs typeface="Calibri"/>
              </a:rPr>
              <a:t> </a:t>
            </a:r>
            <a:r>
              <a:rPr sz="2400" spc="60" dirty="0">
                <a:latin typeface="Calibri"/>
                <a:cs typeface="Calibri"/>
              </a:rPr>
              <a:t>in</a:t>
            </a:r>
            <a:r>
              <a:rPr sz="2400" spc="13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160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network</a:t>
            </a:r>
            <a:endParaRPr sz="2400" dirty="0">
              <a:latin typeface="Calibri"/>
              <a:cs typeface="Calibri"/>
            </a:endParaRPr>
          </a:p>
          <a:p>
            <a:pPr marL="265430" indent="-227329">
              <a:lnSpc>
                <a:spcPct val="100000"/>
              </a:lnSpc>
              <a:spcBef>
                <a:spcPts val="219"/>
              </a:spcBef>
              <a:buFont typeface="Arial"/>
              <a:buChar char="•"/>
              <a:tabLst>
                <a:tab pos="265430" algn="l"/>
              </a:tabLst>
            </a:pPr>
            <a:r>
              <a:rPr sz="2400" dirty="0">
                <a:latin typeface="Calibri"/>
                <a:cs typeface="Calibri"/>
              </a:rPr>
              <a:t>a</a:t>
            </a:r>
            <a:r>
              <a:rPr sz="2400" spc="160" dirty="0">
                <a:latin typeface="Calibri"/>
                <a:cs typeface="Calibri"/>
              </a:rPr>
              <a:t> </a:t>
            </a:r>
            <a:r>
              <a:rPr sz="2400" spc="80" dirty="0">
                <a:latin typeface="Calibri"/>
                <a:cs typeface="Calibri"/>
              </a:rPr>
              <a:t>is</a:t>
            </a:r>
            <a:r>
              <a:rPr sz="2400" spc="17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17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output</a:t>
            </a:r>
            <a:r>
              <a:rPr sz="2400" spc="11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vector</a:t>
            </a:r>
            <a:r>
              <a:rPr sz="2400" spc="17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when</a:t>
            </a:r>
            <a:r>
              <a:rPr sz="2400" spc="17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input</a:t>
            </a:r>
            <a:r>
              <a:rPr sz="2400" spc="114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vector</a:t>
            </a:r>
            <a:r>
              <a:rPr sz="2400" spc="175" dirty="0">
                <a:latin typeface="Calibri"/>
                <a:cs typeface="Calibri"/>
              </a:rPr>
              <a:t> </a:t>
            </a:r>
            <a:r>
              <a:rPr sz="2400" spc="195" dirty="0">
                <a:latin typeface="Calibri"/>
                <a:cs typeface="Calibri"/>
              </a:rPr>
              <a:t>x</a:t>
            </a:r>
            <a:r>
              <a:rPr sz="2400" spc="90" dirty="0">
                <a:latin typeface="Calibri"/>
                <a:cs typeface="Calibri"/>
              </a:rPr>
              <a:t> </a:t>
            </a:r>
            <a:r>
              <a:rPr sz="2400" spc="80" dirty="0">
                <a:latin typeface="Calibri"/>
                <a:cs typeface="Calibri"/>
              </a:rPr>
              <a:t>is</a:t>
            </a:r>
            <a:r>
              <a:rPr sz="2400" spc="150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input</a:t>
            </a:r>
            <a:endParaRPr sz="2400" dirty="0">
              <a:latin typeface="Calibri"/>
              <a:cs typeface="Calibri"/>
            </a:endParaRPr>
          </a:p>
          <a:p>
            <a:pPr marL="265430" indent="-227329">
              <a:lnSpc>
                <a:spcPct val="100000"/>
              </a:lnSpc>
              <a:spcBef>
                <a:spcPts val="215"/>
              </a:spcBef>
              <a:buFont typeface="Arial"/>
              <a:buChar char="•"/>
              <a:tabLst>
                <a:tab pos="265430" algn="l"/>
              </a:tabLst>
            </a:pPr>
            <a:r>
              <a:rPr sz="2400" dirty="0">
                <a:latin typeface="Calibri"/>
                <a:cs typeface="Calibri"/>
              </a:rPr>
              <a:t>y(x)</a:t>
            </a:r>
            <a:r>
              <a:rPr sz="2400" spc="190" dirty="0">
                <a:latin typeface="Calibri"/>
                <a:cs typeface="Calibri"/>
              </a:rPr>
              <a:t> </a:t>
            </a:r>
            <a:r>
              <a:rPr sz="2400" spc="80" dirty="0">
                <a:latin typeface="Calibri"/>
                <a:cs typeface="Calibri"/>
              </a:rPr>
              <a:t>is</a:t>
            </a:r>
            <a:r>
              <a:rPr sz="2400" spc="18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19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desired</a:t>
            </a:r>
            <a:r>
              <a:rPr sz="2400" spc="16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output</a:t>
            </a:r>
            <a:r>
              <a:rPr sz="2400" spc="14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vector</a:t>
            </a:r>
            <a:r>
              <a:rPr sz="2400" spc="19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when</a:t>
            </a:r>
            <a:r>
              <a:rPr sz="2400" spc="195" dirty="0">
                <a:latin typeface="Calibri"/>
                <a:cs typeface="Calibri"/>
              </a:rPr>
              <a:t> x</a:t>
            </a:r>
            <a:r>
              <a:rPr sz="2400" spc="114" dirty="0">
                <a:latin typeface="Calibri"/>
                <a:cs typeface="Calibri"/>
              </a:rPr>
              <a:t> </a:t>
            </a:r>
            <a:r>
              <a:rPr sz="2400" spc="80" dirty="0">
                <a:latin typeface="Calibri"/>
                <a:cs typeface="Calibri"/>
              </a:rPr>
              <a:t>is</a:t>
            </a:r>
            <a:r>
              <a:rPr sz="2400" spc="18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19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input</a:t>
            </a:r>
            <a:r>
              <a:rPr sz="2400" spc="130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vector</a:t>
            </a:r>
            <a:endParaRPr sz="2400" dirty="0">
              <a:latin typeface="Calibri"/>
              <a:cs typeface="Calibri"/>
            </a:endParaRPr>
          </a:p>
          <a:p>
            <a:pPr marL="265430" marR="30480" indent="-227329">
              <a:lnSpc>
                <a:spcPts val="2590"/>
              </a:lnSpc>
              <a:spcBef>
                <a:spcPts val="535"/>
              </a:spcBef>
              <a:buFont typeface="Arial"/>
              <a:buChar char="•"/>
              <a:tabLst>
                <a:tab pos="266700" algn="l"/>
              </a:tabLst>
            </a:pPr>
            <a:r>
              <a:rPr sz="2400" spc="-540" dirty="0">
                <a:latin typeface="Calibri"/>
                <a:cs typeface="Calibri"/>
              </a:rPr>
              <a:t>||</a:t>
            </a:r>
            <a:r>
              <a:rPr sz="2400" spc="155" dirty="0">
                <a:latin typeface="Calibri"/>
                <a:cs typeface="Calibri"/>
              </a:rPr>
              <a:t> </a:t>
            </a:r>
            <a:r>
              <a:rPr sz="2400" spc="70" dirty="0">
                <a:latin typeface="Calibri"/>
                <a:cs typeface="Calibri"/>
              </a:rPr>
              <a:t>y-</a:t>
            </a:r>
            <a:r>
              <a:rPr sz="2400" spc="-350" dirty="0">
                <a:latin typeface="Calibri"/>
                <a:cs typeface="Calibri"/>
              </a:rPr>
              <a:t>a||</a:t>
            </a:r>
            <a:r>
              <a:rPr sz="2400" spc="210" dirty="0">
                <a:latin typeface="Calibri"/>
                <a:cs typeface="Calibri"/>
              </a:rPr>
              <a:t> </a:t>
            </a:r>
            <a:r>
              <a:rPr sz="2400" spc="80" dirty="0">
                <a:latin typeface="Calibri"/>
                <a:cs typeface="Calibri"/>
              </a:rPr>
              <a:t>is</a:t>
            </a:r>
            <a:r>
              <a:rPr sz="2400" spc="17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just</a:t>
            </a:r>
            <a:r>
              <a:rPr sz="2400" spc="20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20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magnitude</a:t>
            </a:r>
            <a:r>
              <a:rPr sz="2400" spc="19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of</a:t>
            </a:r>
            <a:r>
              <a:rPr sz="2400" spc="20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20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difference</a:t>
            </a:r>
            <a:r>
              <a:rPr sz="2400" spc="19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between</a:t>
            </a:r>
            <a:r>
              <a:rPr sz="2400" spc="20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what</a:t>
            </a:r>
            <a:r>
              <a:rPr sz="2400" spc="20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we</a:t>
            </a:r>
            <a:r>
              <a:rPr sz="2400" spc="20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want</a:t>
            </a:r>
            <a:r>
              <a:rPr sz="2400" spc="190" dirty="0">
                <a:latin typeface="Calibri"/>
                <a:cs typeface="Calibri"/>
              </a:rPr>
              <a:t> </a:t>
            </a:r>
            <a:r>
              <a:rPr sz="2400" spc="-25" dirty="0">
                <a:latin typeface="Calibri"/>
                <a:cs typeface="Calibri"/>
              </a:rPr>
              <a:t>and 	</a:t>
            </a:r>
            <a:r>
              <a:rPr sz="2400" dirty="0">
                <a:latin typeface="Calibri"/>
                <a:cs typeface="Calibri"/>
              </a:rPr>
              <a:t>what</a:t>
            </a:r>
            <a:r>
              <a:rPr sz="2400" spc="17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we</a:t>
            </a:r>
            <a:r>
              <a:rPr sz="2400" spc="175" dirty="0">
                <a:latin typeface="Calibri"/>
                <a:cs typeface="Calibri"/>
              </a:rPr>
              <a:t> </a:t>
            </a:r>
            <a:r>
              <a:rPr sz="2400" spc="-20" dirty="0">
                <a:latin typeface="Calibri"/>
                <a:cs typeface="Calibri"/>
              </a:rPr>
              <a:t>have.</a:t>
            </a:r>
            <a:endParaRPr sz="2400" dirty="0">
              <a:latin typeface="Calibri"/>
              <a:cs typeface="Calibri"/>
            </a:endParaRPr>
          </a:p>
          <a:p>
            <a:pPr marL="265430" indent="-227329">
              <a:lnSpc>
                <a:spcPct val="100000"/>
              </a:lnSpc>
              <a:spcBef>
                <a:spcPts val="180"/>
              </a:spcBef>
              <a:buFont typeface="Arial"/>
              <a:buChar char="•"/>
              <a:tabLst>
                <a:tab pos="265430" algn="l"/>
              </a:tabLst>
            </a:pPr>
            <a:r>
              <a:rPr sz="2400" spc="10" dirty="0">
                <a:latin typeface="Calibri"/>
                <a:cs typeface="Calibri"/>
              </a:rPr>
              <a:t>Essentially,</a:t>
            </a:r>
            <a:r>
              <a:rPr sz="2400" spc="-40" dirty="0">
                <a:latin typeface="Calibri"/>
                <a:cs typeface="Calibri"/>
              </a:rPr>
              <a:t> </a:t>
            </a:r>
            <a:r>
              <a:rPr sz="2400" spc="10" dirty="0">
                <a:latin typeface="Calibri"/>
                <a:cs typeface="Calibri"/>
              </a:rPr>
              <a:t>we</a:t>
            </a:r>
            <a:r>
              <a:rPr sz="2400" spc="160" dirty="0">
                <a:latin typeface="Calibri"/>
                <a:cs typeface="Calibri"/>
              </a:rPr>
              <a:t> </a:t>
            </a:r>
            <a:r>
              <a:rPr sz="2400" spc="10" dirty="0">
                <a:latin typeface="Calibri"/>
                <a:cs typeface="Calibri"/>
              </a:rPr>
              <a:t>take</a:t>
            </a:r>
            <a:r>
              <a:rPr sz="2400" spc="175" dirty="0">
                <a:latin typeface="Calibri"/>
                <a:cs typeface="Calibri"/>
              </a:rPr>
              <a:t> </a:t>
            </a:r>
            <a:r>
              <a:rPr sz="2400" spc="10" dirty="0">
                <a:latin typeface="Calibri"/>
                <a:cs typeface="Calibri"/>
              </a:rPr>
              <a:t>the</a:t>
            </a:r>
            <a:r>
              <a:rPr sz="2400" spc="175" dirty="0">
                <a:latin typeface="Calibri"/>
                <a:cs typeface="Calibri"/>
              </a:rPr>
              <a:t> </a:t>
            </a:r>
            <a:r>
              <a:rPr sz="2400" spc="10" dirty="0">
                <a:latin typeface="Calibri"/>
                <a:cs typeface="Calibri"/>
              </a:rPr>
              <a:t>square</a:t>
            </a:r>
            <a:r>
              <a:rPr sz="2400" spc="175" dirty="0">
                <a:latin typeface="Calibri"/>
                <a:cs typeface="Calibri"/>
              </a:rPr>
              <a:t> </a:t>
            </a:r>
            <a:r>
              <a:rPr sz="2400" spc="10" dirty="0">
                <a:latin typeface="Calibri"/>
                <a:cs typeface="Calibri"/>
              </a:rPr>
              <a:t>of</a:t>
            </a:r>
            <a:r>
              <a:rPr sz="2400" spc="160" dirty="0">
                <a:latin typeface="Calibri"/>
                <a:cs typeface="Calibri"/>
              </a:rPr>
              <a:t> </a:t>
            </a:r>
            <a:r>
              <a:rPr sz="2400" spc="10" dirty="0">
                <a:latin typeface="Calibri"/>
                <a:cs typeface="Calibri"/>
              </a:rPr>
              <a:t>the</a:t>
            </a:r>
            <a:r>
              <a:rPr sz="2400" spc="180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error</a:t>
            </a:r>
            <a:endParaRPr sz="2400" dirty="0">
              <a:latin typeface="Calibri"/>
              <a:cs typeface="Calibri"/>
            </a:endParaRPr>
          </a:p>
          <a:p>
            <a:pPr marL="265430" indent="-227329">
              <a:lnSpc>
                <a:spcPct val="100000"/>
              </a:lnSpc>
              <a:spcBef>
                <a:spcPts val="215"/>
              </a:spcBef>
              <a:buFont typeface="Arial"/>
              <a:buChar char="•"/>
              <a:tabLst>
                <a:tab pos="265430" algn="l"/>
              </a:tabLst>
            </a:pPr>
            <a:r>
              <a:rPr sz="2400" spc="85" dirty="0">
                <a:latin typeface="Calibri"/>
                <a:cs typeface="Calibri"/>
              </a:rPr>
              <a:t>This</a:t>
            </a:r>
            <a:r>
              <a:rPr sz="2400" spc="175" dirty="0">
                <a:latin typeface="Calibri"/>
                <a:cs typeface="Calibri"/>
              </a:rPr>
              <a:t> </a:t>
            </a:r>
            <a:r>
              <a:rPr sz="2400" spc="80" dirty="0">
                <a:latin typeface="Calibri"/>
                <a:cs typeface="Calibri"/>
              </a:rPr>
              <a:t>is</a:t>
            </a:r>
            <a:r>
              <a:rPr sz="2400" spc="185" dirty="0">
                <a:latin typeface="Calibri"/>
                <a:cs typeface="Calibri"/>
              </a:rPr>
              <a:t> </a:t>
            </a:r>
            <a:r>
              <a:rPr sz="2400" spc="65" dirty="0">
                <a:latin typeface="Calibri"/>
                <a:cs typeface="Calibri"/>
              </a:rPr>
              <a:t>called</a:t>
            </a:r>
            <a:r>
              <a:rPr sz="2400" spc="19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18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quadratic</a:t>
            </a:r>
            <a:r>
              <a:rPr sz="2400" spc="8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cost</a:t>
            </a:r>
            <a:r>
              <a:rPr sz="2400" spc="20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function,</a:t>
            </a:r>
            <a:r>
              <a:rPr sz="2400" spc="-4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or</a:t>
            </a:r>
            <a:r>
              <a:rPr sz="2400" spc="18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mean</a:t>
            </a:r>
            <a:r>
              <a:rPr sz="2400" spc="18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squared</a:t>
            </a:r>
            <a:r>
              <a:rPr sz="2400" spc="17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error</a:t>
            </a:r>
            <a:r>
              <a:rPr sz="2400" spc="185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(MSE)</a:t>
            </a:r>
            <a:endParaRPr sz="2400" dirty="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Cost</a:t>
            </a:r>
            <a:r>
              <a:rPr spc="210" dirty="0"/>
              <a:t> </a:t>
            </a:r>
            <a:r>
              <a:rPr spc="60" dirty="0"/>
              <a:t>Function</a:t>
            </a:r>
          </a:p>
        </p:txBody>
      </p:sp>
      <p:sp>
        <p:nvSpPr>
          <p:cNvPr id="7" name="object 7"/>
          <p:cNvSpPr txBox="1"/>
          <p:nvPr/>
        </p:nvSpPr>
        <p:spPr>
          <a:xfrm>
            <a:off x="1348994" y="1779777"/>
            <a:ext cx="9098915" cy="1987550"/>
          </a:xfrm>
          <a:prstGeom prst="rect">
            <a:avLst/>
          </a:prstGeom>
        </p:spPr>
        <p:txBody>
          <a:bodyPr vert="horz" wrap="square" lIns="0" tIns="38100" rIns="0" bIns="0" rtlCol="0">
            <a:spAutoFit/>
          </a:bodyPr>
          <a:lstStyle/>
          <a:p>
            <a:pPr marL="265430" indent="-227329">
              <a:lnSpc>
                <a:spcPct val="100000"/>
              </a:lnSpc>
              <a:spcBef>
                <a:spcPts val="300"/>
              </a:spcBef>
              <a:buFont typeface="Arial"/>
              <a:buChar char="•"/>
              <a:tabLst>
                <a:tab pos="265430" algn="l"/>
              </a:tabLst>
            </a:pPr>
            <a:r>
              <a:rPr sz="2400" spc="85" dirty="0">
                <a:latin typeface="Calibri"/>
                <a:cs typeface="Calibri"/>
              </a:rPr>
              <a:t>C</a:t>
            </a:r>
            <a:r>
              <a:rPr sz="2400" spc="45" dirty="0">
                <a:latin typeface="Calibri"/>
                <a:cs typeface="Calibri"/>
              </a:rPr>
              <a:t> </a:t>
            </a:r>
            <a:r>
              <a:rPr sz="2400" spc="80" dirty="0">
                <a:latin typeface="Calibri"/>
                <a:cs typeface="Calibri"/>
              </a:rPr>
              <a:t>is</a:t>
            </a:r>
            <a:r>
              <a:rPr sz="2400" spc="135" dirty="0">
                <a:latin typeface="Calibri"/>
                <a:cs typeface="Calibri"/>
              </a:rPr>
              <a:t> </a:t>
            </a:r>
            <a:r>
              <a:rPr sz="2400" spc="90" dirty="0">
                <a:latin typeface="Calibri"/>
                <a:cs typeface="Calibri"/>
              </a:rPr>
              <a:t>going</a:t>
            </a:r>
            <a:r>
              <a:rPr sz="2400" spc="15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to</a:t>
            </a:r>
            <a:r>
              <a:rPr sz="2400" spc="14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be</a:t>
            </a:r>
            <a:r>
              <a:rPr sz="2400" spc="15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positive</a:t>
            </a:r>
            <a:r>
              <a:rPr sz="2400" spc="15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or</a:t>
            </a:r>
            <a:r>
              <a:rPr sz="2400" spc="65" dirty="0">
                <a:latin typeface="Calibri"/>
                <a:cs typeface="Calibri"/>
              </a:rPr>
              <a:t> </a:t>
            </a:r>
            <a:r>
              <a:rPr sz="2400" spc="155" dirty="0">
                <a:latin typeface="Calibri"/>
                <a:cs typeface="Calibri"/>
              </a:rPr>
              <a:t>z</a:t>
            </a:r>
            <a:r>
              <a:rPr sz="2400" spc="200" dirty="0">
                <a:latin typeface="Calibri"/>
                <a:cs typeface="Calibri"/>
              </a:rPr>
              <a:t>e</a:t>
            </a:r>
            <a:r>
              <a:rPr sz="2400" spc="-310" dirty="0">
                <a:latin typeface="Calibri"/>
                <a:cs typeface="Calibri"/>
              </a:rPr>
              <a:t>r</a:t>
            </a:r>
            <a:r>
              <a:rPr sz="2400" spc="200" dirty="0">
                <a:latin typeface="Calibri"/>
                <a:cs typeface="Calibri"/>
              </a:rPr>
              <a:t>o</a:t>
            </a:r>
            <a:endParaRPr sz="2400" dirty="0">
              <a:latin typeface="Calibri"/>
              <a:cs typeface="Calibri"/>
            </a:endParaRPr>
          </a:p>
          <a:p>
            <a:pPr marL="265430" indent="-227329">
              <a:lnSpc>
                <a:spcPct val="100000"/>
              </a:lnSpc>
              <a:spcBef>
                <a:spcPts val="204"/>
              </a:spcBef>
              <a:buFont typeface="Arial"/>
              <a:buChar char="•"/>
              <a:tabLst>
                <a:tab pos="265430" algn="l"/>
              </a:tabLst>
            </a:pPr>
            <a:r>
              <a:rPr sz="2400" spc="60" dirty="0">
                <a:latin typeface="Calibri"/>
                <a:cs typeface="Calibri"/>
              </a:rPr>
              <a:t>If</a:t>
            </a:r>
            <a:r>
              <a:rPr sz="2400" spc="140" dirty="0">
                <a:latin typeface="Calibri"/>
                <a:cs typeface="Calibri"/>
              </a:rPr>
              <a:t> </a:t>
            </a:r>
            <a:r>
              <a:rPr sz="2400" spc="85" dirty="0">
                <a:latin typeface="Calibri"/>
                <a:cs typeface="Calibri"/>
              </a:rPr>
              <a:t>C</a:t>
            </a:r>
            <a:r>
              <a:rPr sz="2400" spc="35" dirty="0">
                <a:latin typeface="Calibri"/>
                <a:cs typeface="Calibri"/>
              </a:rPr>
              <a:t> </a:t>
            </a:r>
            <a:r>
              <a:rPr sz="2400" spc="80" dirty="0">
                <a:latin typeface="Calibri"/>
                <a:cs typeface="Calibri"/>
              </a:rPr>
              <a:t>is</a:t>
            </a:r>
            <a:r>
              <a:rPr sz="2400" spc="125" dirty="0">
                <a:latin typeface="Calibri"/>
                <a:cs typeface="Calibri"/>
              </a:rPr>
              <a:t> </a:t>
            </a:r>
            <a:r>
              <a:rPr sz="2400" spc="55" dirty="0">
                <a:latin typeface="Calibri"/>
                <a:cs typeface="Calibri"/>
              </a:rPr>
              <a:t>small,</a:t>
            </a:r>
            <a:r>
              <a:rPr sz="2400" spc="-5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then</a:t>
            </a:r>
            <a:r>
              <a:rPr sz="2400" spc="14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145" dirty="0">
                <a:latin typeface="Calibri"/>
                <a:cs typeface="Calibri"/>
              </a:rPr>
              <a:t> </a:t>
            </a:r>
            <a:r>
              <a:rPr sz="2400" spc="50" dirty="0">
                <a:latin typeface="Calibri"/>
                <a:cs typeface="Calibri"/>
              </a:rPr>
              <a:t>actual</a:t>
            </a:r>
            <a:r>
              <a:rPr sz="2400" spc="13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network</a:t>
            </a:r>
            <a:r>
              <a:rPr sz="2400" spc="7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outputs</a:t>
            </a:r>
            <a:r>
              <a:rPr sz="2400" spc="12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are</a:t>
            </a:r>
            <a:r>
              <a:rPr sz="2400" spc="140" dirty="0">
                <a:latin typeface="Calibri"/>
                <a:cs typeface="Calibri"/>
              </a:rPr>
              <a:t> </a:t>
            </a:r>
            <a:r>
              <a:rPr sz="2400" spc="60" dirty="0">
                <a:latin typeface="Calibri"/>
                <a:cs typeface="Calibri"/>
              </a:rPr>
              <a:t>close</a:t>
            </a:r>
            <a:r>
              <a:rPr sz="2400" spc="16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to</a:t>
            </a:r>
            <a:r>
              <a:rPr sz="2400" spc="14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140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inputs</a:t>
            </a:r>
            <a:endParaRPr sz="2400" dirty="0">
              <a:latin typeface="Calibri"/>
              <a:cs typeface="Calibri"/>
            </a:endParaRPr>
          </a:p>
          <a:p>
            <a:pPr marL="265430" indent="-227329">
              <a:lnSpc>
                <a:spcPct val="100000"/>
              </a:lnSpc>
              <a:spcBef>
                <a:spcPts val="219"/>
              </a:spcBef>
              <a:buFont typeface="Arial"/>
              <a:buChar char="•"/>
              <a:tabLst>
                <a:tab pos="265430" algn="l"/>
              </a:tabLst>
            </a:pPr>
            <a:r>
              <a:rPr sz="2400" spc="60" dirty="0">
                <a:latin typeface="Calibri"/>
                <a:cs typeface="Calibri"/>
              </a:rPr>
              <a:t>If</a:t>
            </a:r>
            <a:r>
              <a:rPr sz="2400" spc="190" dirty="0">
                <a:latin typeface="Calibri"/>
                <a:cs typeface="Calibri"/>
              </a:rPr>
              <a:t> </a:t>
            </a:r>
            <a:r>
              <a:rPr sz="2400" spc="85" dirty="0">
                <a:latin typeface="Calibri"/>
                <a:cs typeface="Calibri"/>
              </a:rPr>
              <a:t>C</a:t>
            </a:r>
            <a:r>
              <a:rPr sz="2400" spc="70" dirty="0">
                <a:latin typeface="Calibri"/>
                <a:cs typeface="Calibri"/>
              </a:rPr>
              <a:t> </a:t>
            </a:r>
            <a:r>
              <a:rPr sz="2400" spc="80" dirty="0">
                <a:latin typeface="Calibri"/>
                <a:cs typeface="Calibri"/>
              </a:rPr>
              <a:t>is</a:t>
            </a:r>
            <a:r>
              <a:rPr sz="2400" spc="17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large,</a:t>
            </a:r>
            <a:r>
              <a:rPr sz="2400" spc="-3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our</a:t>
            </a:r>
            <a:r>
              <a:rPr sz="2400" spc="175" dirty="0">
                <a:latin typeface="Calibri"/>
                <a:cs typeface="Calibri"/>
              </a:rPr>
              <a:t> </a:t>
            </a:r>
            <a:r>
              <a:rPr sz="2400" spc="60" dirty="0">
                <a:latin typeface="Calibri"/>
                <a:cs typeface="Calibri"/>
              </a:rPr>
              <a:t>NN</a:t>
            </a:r>
            <a:r>
              <a:rPr sz="2400" spc="180" dirty="0">
                <a:latin typeface="Calibri"/>
                <a:cs typeface="Calibri"/>
              </a:rPr>
              <a:t> </a:t>
            </a:r>
            <a:r>
              <a:rPr sz="2400" spc="80" dirty="0">
                <a:latin typeface="Calibri"/>
                <a:cs typeface="Calibri"/>
              </a:rPr>
              <a:t>is</a:t>
            </a:r>
            <a:r>
              <a:rPr sz="2400" spc="19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outputting</a:t>
            </a:r>
            <a:r>
              <a:rPr sz="2400" spc="145" dirty="0">
                <a:latin typeface="Calibri"/>
                <a:cs typeface="Calibri"/>
              </a:rPr>
              <a:t> </a:t>
            </a:r>
            <a:r>
              <a:rPr sz="2400" spc="45" dirty="0">
                <a:latin typeface="Calibri"/>
                <a:cs typeface="Calibri"/>
              </a:rPr>
              <a:t>garbage</a:t>
            </a:r>
            <a:endParaRPr sz="2400" dirty="0">
              <a:latin typeface="Calibri"/>
              <a:cs typeface="Calibri"/>
            </a:endParaRPr>
          </a:p>
          <a:p>
            <a:pPr marL="265430" indent="-227329">
              <a:lnSpc>
                <a:spcPct val="100000"/>
              </a:lnSpc>
              <a:spcBef>
                <a:spcPts val="215"/>
              </a:spcBef>
              <a:buFont typeface="Arial"/>
              <a:buChar char="•"/>
              <a:tabLst>
                <a:tab pos="265430" algn="l"/>
              </a:tabLst>
            </a:pPr>
            <a:r>
              <a:rPr sz="2400" spc="-35" dirty="0">
                <a:latin typeface="Calibri"/>
                <a:cs typeface="Calibri"/>
              </a:rPr>
              <a:t>We</a:t>
            </a:r>
            <a:r>
              <a:rPr sz="2400" spc="8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need</a:t>
            </a:r>
            <a:r>
              <a:rPr sz="2400" spc="10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an</a:t>
            </a:r>
            <a:r>
              <a:rPr sz="2400" spc="100" dirty="0">
                <a:latin typeface="Calibri"/>
                <a:cs typeface="Calibri"/>
              </a:rPr>
              <a:t> </a:t>
            </a:r>
            <a:r>
              <a:rPr sz="2400" spc="50" dirty="0">
                <a:latin typeface="Calibri"/>
                <a:cs typeface="Calibri"/>
              </a:rPr>
              <a:t>algorithm</a:t>
            </a:r>
            <a:r>
              <a:rPr sz="2400" spc="8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to</a:t>
            </a:r>
            <a:r>
              <a:rPr sz="2400" spc="95" dirty="0">
                <a:latin typeface="Calibri"/>
                <a:cs typeface="Calibri"/>
              </a:rPr>
              <a:t> </a:t>
            </a:r>
            <a:r>
              <a:rPr sz="2400" spc="50" dirty="0">
                <a:latin typeface="Calibri"/>
                <a:cs typeface="Calibri"/>
              </a:rPr>
              <a:t>minimize</a:t>
            </a:r>
            <a:r>
              <a:rPr sz="2400" spc="85" dirty="0">
                <a:latin typeface="Calibri"/>
                <a:cs typeface="Calibri"/>
              </a:rPr>
              <a:t> C</a:t>
            </a:r>
            <a:r>
              <a:rPr sz="2400" spc="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by</a:t>
            </a:r>
            <a:r>
              <a:rPr sz="2400" spc="10" dirty="0">
                <a:latin typeface="Calibri"/>
                <a:cs typeface="Calibri"/>
              </a:rPr>
              <a:t> </a:t>
            </a:r>
            <a:r>
              <a:rPr sz="2400" spc="60" dirty="0">
                <a:latin typeface="Calibri"/>
                <a:cs typeface="Calibri"/>
              </a:rPr>
              <a:t>tuning</a:t>
            </a:r>
            <a:r>
              <a:rPr sz="2400" spc="70" dirty="0">
                <a:latin typeface="Calibri"/>
                <a:cs typeface="Calibri"/>
              </a:rPr>
              <a:t> </a:t>
            </a:r>
            <a:r>
              <a:rPr sz="2400" spc="-85" dirty="0">
                <a:latin typeface="Calibri"/>
                <a:cs typeface="Calibri"/>
              </a:rPr>
              <a:t>w,</a:t>
            </a:r>
            <a:r>
              <a:rPr sz="2400" spc="-90" dirty="0">
                <a:latin typeface="Calibri"/>
                <a:cs typeface="Calibri"/>
              </a:rPr>
              <a:t> </a:t>
            </a:r>
            <a:r>
              <a:rPr sz="2400" spc="-60" dirty="0">
                <a:latin typeface="Calibri"/>
                <a:cs typeface="Calibri"/>
              </a:rPr>
              <a:t>b</a:t>
            </a:r>
            <a:endParaRPr sz="2400" dirty="0">
              <a:latin typeface="Calibri"/>
              <a:cs typeface="Calibri"/>
            </a:endParaRPr>
          </a:p>
          <a:p>
            <a:pPr marL="265430" indent="-227329">
              <a:lnSpc>
                <a:spcPct val="100000"/>
              </a:lnSpc>
              <a:spcBef>
                <a:spcPts val="204"/>
              </a:spcBef>
              <a:buFont typeface="Arial"/>
              <a:buChar char="•"/>
              <a:tabLst>
                <a:tab pos="265430" algn="l"/>
              </a:tabLst>
            </a:pPr>
            <a:r>
              <a:rPr sz="2400" spc="70" dirty="0">
                <a:latin typeface="Calibri"/>
                <a:cs typeface="Calibri"/>
              </a:rPr>
              <a:t>The</a:t>
            </a:r>
            <a:r>
              <a:rPr sz="2400" spc="22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chosen</a:t>
            </a:r>
            <a:r>
              <a:rPr sz="2400" spc="245" dirty="0">
                <a:latin typeface="Calibri"/>
                <a:cs typeface="Calibri"/>
              </a:rPr>
              <a:t> </a:t>
            </a:r>
            <a:r>
              <a:rPr sz="2400" spc="50" dirty="0">
                <a:latin typeface="Calibri"/>
                <a:cs typeface="Calibri"/>
              </a:rPr>
              <a:t>algorithm</a:t>
            </a:r>
            <a:r>
              <a:rPr sz="2400" spc="215" dirty="0">
                <a:latin typeface="Calibri"/>
                <a:cs typeface="Calibri"/>
              </a:rPr>
              <a:t> </a:t>
            </a:r>
            <a:r>
              <a:rPr sz="2400" spc="80" dirty="0">
                <a:latin typeface="Calibri"/>
                <a:cs typeface="Calibri"/>
              </a:rPr>
              <a:t>is</a:t>
            </a:r>
            <a:r>
              <a:rPr sz="2400" spc="204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gradient</a:t>
            </a:r>
            <a:r>
              <a:rPr sz="2400" spc="200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descent</a:t>
            </a:r>
            <a:endParaRPr sz="2400" dirty="0">
              <a:latin typeface="Calibri"/>
              <a:cs typeface="Calibri"/>
            </a:endParaRPr>
          </a:p>
        </p:txBody>
      </p:sp>
      <p:pic>
        <p:nvPicPr>
          <p:cNvPr id="9" name="Picture 8" descr="A black and white math symbol&#10;&#10;AI-generated content may be incorrect.">
            <a:extLst>
              <a:ext uri="{FF2B5EF4-FFF2-40B4-BE49-F238E27FC236}">
                <a16:creationId xmlns:a16="http://schemas.microsoft.com/office/drawing/2014/main" id="{650FA1B9-9FA1-606D-8D52-36111D078BC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44634" y="730450"/>
            <a:ext cx="3596483" cy="839179"/>
          </a:xfrm>
          <a:prstGeom prst="rect">
            <a:avLst/>
          </a:prstGeom>
        </p:spPr>
      </p:pic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Gradient</a:t>
            </a:r>
            <a:r>
              <a:rPr spc="350" dirty="0"/>
              <a:t> </a:t>
            </a:r>
            <a:r>
              <a:rPr spc="35" dirty="0"/>
              <a:t>Descent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1231798" y="1149807"/>
            <a:ext cx="9711690" cy="195389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240665" indent="-227965">
              <a:lnSpc>
                <a:spcPts val="3195"/>
              </a:lnSpc>
              <a:spcBef>
                <a:spcPts val="95"/>
              </a:spcBef>
              <a:buFont typeface="Arial"/>
              <a:buChar char="•"/>
              <a:tabLst>
                <a:tab pos="240665" algn="l"/>
              </a:tabLst>
            </a:pPr>
            <a:r>
              <a:rPr sz="2800" dirty="0">
                <a:latin typeface="Calibri"/>
                <a:cs typeface="Calibri"/>
              </a:rPr>
              <a:t>Let’s</a:t>
            </a:r>
            <a:r>
              <a:rPr sz="2800" spc="20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assume</a:t>
            </a:r>
            <a:r>
              <a:rPr sz="2800" spc="18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we</a:t>
            </a:r>
            <a:r>
              <a:rPr sz="2800" spc="21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want</a:t>
            </a:r>
            <a:r>
              <a:rPr sz="2800" spc="20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to</a:t>
            </a:r>
            <a:r>
              <a:rPr sz="2800" spc="185" dirty="0">
                <a:latin typeface="Calibri"/>
                <a:cs typeface="Calibri"/>
              </a:rPr>
              <a:t> </a:t>
            </a:r>
            <a:r>
              <a:rPr sz="2800" spc="60" dirty="0">
                <a:latin typeface="Calibri"/>
                <a:cs typeface="Calibri"/>
              </a:rPr>
              <a:t>minimize</a:t>
            </a:r>
            <a:r>
              <a:rPr sz="2800" spc="23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function</a:t>
            </a:r>
            <a:r>
              <a:rPr sz="2800" spc="21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C(v),</a:t>
            </a:r>
            <a:r>
              <a:rPr sz="2800" spc="-3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where</a:t>
            </a:r>
            <a:r>
              <a:rPr sz="2800" spc="180" dirty="0">
                <a:latin typeface="Calibri"/>
                <a:cs typeface="Calibri"/>
              </a:rPr>
              <a:t> </a:t>
            </a:r>
            <a:r>
              <a:rPr sz="2800" spc="75" dirty="0">
                <a:latin typeface="Calibri"/>
                <a:cs typeface="Calibri"/>
              </a:rPr>
              <a:t>v </a:t>
            </a:r>
            <a:r>
              <a:rPr sz="2800" spc="85" dirty="0">
                <a:latin typeface="Calibri"/>
                <a:cs typeface="Calibri"/>
              </a:rPr>
              <a:t>is</a:t>
            </a:r>
            <a:r>
              <a:rPr sz="2800" spc="180" dirty="0">
                <a:latin typeface="Calibri"/>
                <a:cs typeface="Calibri"/>
              </a:rPr>
              <a:t> </a:t>
            </a:r>
            <a:r>
              <a:rPr sz="2800" spc="-25" dirty="0">
                <a:latin typeface="Calibri"/>
                <a:cs typeface="Calibri"/>
              </a:rPr>
              <a:t>the</a:t>
            </a:r>
            <a:endParaRPr sz="2800">
              <a:latin typeface="Calibri"/>
              <a:cs typeface="Calibri"/>
            </a:endParaRPr>
          </a:p>
          <a:p>
            <a:pPr marL="241300">
              <a:lnSpc>
                <a:spcPts val="3195"/>
              </a:lnSpc>
            </a:pPr>
            <a:r>
              <a:rPr sz="2800" dirty="0">
                <a:latin typeface="Calibri"/>
                <a:cs typeface="Calibri"/>
              </a:rPr>
              <a:t>vector</a:t>
            </a:r>
            <a:r>
              <a:rPr sz="2800" spc="17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of</a:t>
            </a:r>
            <a:r>
              <a:rPr sz="2800" spc="130" dirty="0">
                <a:latin typeface="Calibri"/>
                <a:cs typeface="Calibri"/>
              </a:rPr>
              <a:t> </a:t>
            </a:r>
            <a:r>
              <a:rPr sz="2800" spc="-10" dirty="0">
                <a:latin typeface="Calibri"/>
                <a:cs typeface="Calibri"/>
              </a:rPr>
              <a:t>inputs.</a:t>
            </a:r>
            <a:endParaRPr sz="2800">
              <a:latin typeface="Calibri"/>
              <a:cs typeface="Calibri"/>
            </a:endParaRPr>
          </a:p>
          <a:p>
            <a:pPr marL="697230" marR="403225" lvl="1" indent="-227329">
              <a:lnSpc>
                <a:spcPts val="2590"/>
              </a:lnSpc>
              <a:spcBef>
                <a:spcPts val="560"/>
              </a:spcBef>
              <a:buFont typeface="Arial"/>
              <a:buChar char="•"/>
              <a:tabLst>
                <a:tab pos="698500" algn="l"/>
              </a:tabLst>
            </a:pPr>
            <a:r>
              <a:rPr sz="2400" spc="85" dirty="0">
                <a:latin typeface="Calibri"/>
                <a:cs typeface="Calibri"/>
              </a:rPr>
              <a:t>This</a:t>
            </a:r>
            <a:r>
              <a:rPr sz="2400" spc="16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could</a:t>
            </a:r>
            <a:r>
              <a:rPr sz="2400" spc="16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be</a:t>
            </a:r>
            <a:r>
              <a:rPr sz="2400" spc="18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</a:t>
            </a:r>
            <a:r>
              <a:rPr sz="2400" spc="165" dirty="0">
                <a:latin typeface="Calibri"/>
                <a:cs typeface="Calibri"/>
              </a:rPr>
              <a:t> </a:t>
            </a:r>
            <a:r>
              <a:rPr sz="2400" spc="85" dirty="0">
                <a:latin typeface="Calibri"/>
                <a:cs typeface="Calibri"/>
              </a:rPr>
              <a:t>single</a:t>
            </a:r>
            <a:r>
              <a:rPr sz="2400" spc="14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variable,</a:t>
            </a:r>
            <a:r>
              <a:rPr sz="2400" spc="-3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with</a:t>
            </a:r>
            <a:r>
              <a:rPr sz="2400" spc="120" dirty="0">
                <a:latin typeface="Calibri"/>
                <a:cs typeface="Calibri"/>
              </a:rPr>
              <a:t> </a:t>
            </a:r>
            <a:r>
              <a:rPr sz="2400" spc="65" dirty="0">
                <a:latin typeface="Calibri"/>
                <a:cs typeface="Calibri"/>
              </a:rPr>
              <a:t>v </a:t>
            </a:r>
            <a:r>
              <a:rPr sz="2400" spc="60" dirty="0">
                <a:latin typeface="Calibri"/>
                <a:cs typeface="Calibri"/>
              </a:rPr>
              <a:t>being</a:t>
            </a:r>
            <a:r>
              <a:rPr sz="2400" spc="17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</a:t>
            </a:r>
            <a:r>
              <a:rPr sz="2400" spc="165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number,</a:t>
            </a:r>
            <a:r>
              <a:rPr sz="2400" spc="-4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or</a:t>
            </a:r>
            <a:r>
              <a:rPr sz="2400" spc="17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</a:t>
            </a:r>
            <a:r>
              <a:rPr sz="2400" spc="165" dirty="0">
                <a:latin typeface="Calibri"/>
                <a:cs typeface="Calibri"/>
              </a:rPr>
              <a:t> </a:t>
            </a:r>
            <a:r>
              <a:rPr sz="2400" spc="70" dirty="0">
                <a:latin typeface="Calibri"/>
                <a:cs typeface="Calibri"/>
              </a:rPr>
              <a:t>million 	</a:t>
            </a:r>
            <a:r>
              <a:rPr sz="2400" dirty="0">
                <a:latin typeface="Calibri"/>
                <a:cs typeface="Calibri"/>
              </a:rPr>
              <a:t>variables,</a:t>
            </a:r>
            <a:r>
              <a:rPr sz="2400" spc="-3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with</a:t>
            </a:r>
            <a:r>
              <a:rPr sz="2400" spc="130" dirty="0">
                <a:latin typeface="Calibri"/>
                <a:cs typeface="Calibri"/>
              </a:rPr>
              <a:t> </a:t>
            </a:r>
            <a:r>
              <a:rPr sz="2400" spc="65" dirty="0">
                <a:latin typeface="Calibri"/>
                <a:cs typeface="Calibri"/>
              </a:rPr>
              <a:t>v</a:t>
            </a:r>
            <a:r>
              <a:rPr sz="2400" spc="75" dirty="0">
                <a:latin typeface="Calibri"/>
                <a:cs typeface="Calibri"/>
              </a:rPr>
              <a:t> </a:t>
            </a:r>
            <a:r>
              <a:rPr sz="2400" spc="60" dirty="0">
                <a:latin typeface="Calibri"/>
                <a:cs typeface="Calibri"/>
              </a:rPr>
              <a:t>being</a:t>
            </a:r>
            <a:r>
              <a:rPr sz="2400" spc="18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</a:t>
            </a:r>
            <a:r>
              <a:rPr sz="2400" spc="13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vector</a:t>
            </a:r>
            <a:r>
              <a:rPr sz="2400" spc="180" dirty="0">
                <a:latin typeface="Calibri"/>
                <a:cs typeface="Calibri"/>
              </a:rPr>
              <a:t> </a:t>
            </a:r>
            <a:r>
              <a:rPr sz="2400" spc="50" dirty="0">
                <a:latin typeface="Calibri"/>
                <a:cs typeface="Calibri"/>
              </a:rPr>
              <a:t>with</a:t>
            </a:r>
            <a:r>
              <a:rPr sz="2400" spc="15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</a:t>
            </a:r>
            <a:r>
              <a:rPr sz="2400" spc="175" dirty="0">
                <a:latin typeface="Calibri"/>
                <a:cs typeface="Calibri"/>
              </a:rPr>
              <a:t> </a:t>
            </a:r>
            <a:r>
              <a:rPr sz="2400" spc="70" dirty="0">
                <a:latin typeface="Calibri"/>
                <a:cs typeface="Calibri"/>
              </a:rPr>
              <a:t>length</a:t>
            </a:r>
            <a:r>
              <a:rPr sz="2400" spc="17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of</a:t>
            </a:r>
            <a:r>
              <a:rPr sz="2400" spc="180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1,000,000.</a:t>
            </a:r>
            <a:endParaRPr sz="2400">
              <a:latin typeface="Calibri"/>
              <a:cs typeface="Calibri"/>
            </a:endParaRPr>
          </a:p>
          <a:p>
            <a:pPr marL="697230" lvl="1" indent="-227329">
              <a:lnSpc>
                <a:spcPct val="100000"/>
              </a:lnSpc>
              <a:spcBef>
                <a:spcPts val="180"/>
              </a:spcBef>
              <a:buFont typeface="Arial"/>
              <a:buChar char="•"/>
              <a:tabLst>
                <a:tab pos="697230" algn="l"/>
              </a:tabLst>
            </a:pPr>
            <a:r>
              <a:rPr sz="2400" dirty="0">
                <a:latin typeface="Calibri"/>
                <a:cs typeface="Calibri"/>
              </a:rPr>
              <a:t>For</a:t>
            </a:r>
            <a:r>
              <a:rPr sz="2400" spc="16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ease</a:t>
            </a:r>
            <a:r>
              <a:rPr sz="2400" spc="17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of</a:t>
            </a:r>
            <a:r>
              <a:rPr sz="2400" spc="125" dirty="0">
                <a:latin typeface="Calibri"/>
                <a:cs typeface="Calibri"/>
              </a:rPr>
              <a:t> </a:t>
            </a:r>
            <a:r>
              <a:rPr sz="2400" spc="55" dirty="0">
                <a:latin typeface="Calibri"/>
                <a:cs typeface="Calibri"/>
              </a:rPr>
              <a:t>visualization,</a:t>
            </a:r>
            <a:r>
              <a:rPr sz="2400" spc="-7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let’s</a:t>
            </a:r>
            <a:r>
              <a:rPr sz="2400" spc="15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just</a:t>
            </a:r>
            <a:r>
              <a:rPr sz="2400" spc="15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say</a:t>
            </a:r>
            <a:r>
              <a:rPr sz="2400" spc="70" dirty="0">
                <a:latin typeface="Calibri"/>
                <a:cs typeface="Calibri"/>
              </a:rPr>
              <a:t> </a:t>
            </a:r>
            <a:r>
              <a:rPr sz="2400" spc="50" dirty="0">
                <a:latin typeface="Calibri"/>
                <a:cs typeface="Calibri"/>
              </a:rPr>
              <a:t>it</a:t>
            </a:r>
            <a:r>
              <a:rPr sz="2400" spc="15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has</a:t>
            </a:r>
            <a:r>
              <a:rPr sz="2400" spc="165" dirty="0">
                <a:latin typeface="Calibri"/>
                <a:cs typeface="Calibri"/>
              </a:rPr>
              <a:t> </a:t>
            </a:r>
            <a:r>
              <a:rPr sz="2400" spc="80" dirty="0">
                <a:latin typeface="Calibri"/>
                <a:cs typeface="Calibri"/>
              </a:rPr>
              <a:t>2</a:t>
            </a:r>
            <a:r>
              <a:rPr sz="2400" spc="140" dirty="0">
                <a:latin typeface="Calibri"/>
                <a:cs typeface="Calibri"/>
              </a:rPr>
              <a:t> </a:t>
            </a:r>
            <a:r>
              <a:rPr sz="2400" spc="40" dirty="0">
                <a:latin typeface="Calibri"/>
                <a:cs typeface="Calibri"/>
              </a:rPr>
              <a:t>variables</a:t>
            </a:r>
            <a:endParaRPr sz="2400">
              <a:latin typeface="Calibri"/>
              <a:cs typeface="Calibri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070636" y="3386277"/>
            <a:ext cx="3651590" cy="3025338"/>
          </a:xfrm>
          <a:prstGeom prst="rect">
            <a:avLst/>
          </a:prstGeom>
        </p:spPr>
      </p:pic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40" dirty="0"/>
              <a:t>Minimization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804976" y="1354055"/>
            <a:ext cx="7588884" cy="3005455"/>
          </a:xfrm>
          <a:prstGeom prst="rect">
            <a:avLst/>
          </a:prstGeom>
        </p:spPr>
        <p:txBody>
          <a:bodyPr vert="horz" wrap="square" lIns="0" tIns="46355" rIns="0" bIns="0" rtlCol="0">
            <a:spAutoFit/>
          </a:bodyPr>
          <a:lstStyle/>
          <a:p>
            <a:pPr marL="265430" indent="-227329">
              <a:lnSpc>
                <a:spcPct val="100000"/>
              </a:lnSpc>
              <a:spcBef>
                <a:spcPts val="365"/>
              </a:spcBef>
              <a:buFont typeface="Arial"/>
              <a:buChar char="•"/>
              <a:tabLst>
                <a:tab pos="265430" algn="l"/>
              </a:tabLst>
            </a:pPr>
            <a:r>
              <a:rPr sz="2800" spc="95" dirty="0">
                <a:latin typeface="Calibri"/>
                <a:cs typeface="Calibri"/>
              </a:rPr>
              <a:t>This</a:t>
            </a:r>
            <a:r>
              <a:rPr sz="2800" spc="24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seems</a:t>
            </a:r>
            <a:r>
              <a:rPr sz="2800" spc="26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easy</a:t>
            </a:r>
            <a:r>
              <a:rPr sz="2800" spc="125" dirty="0">
                <a:latin typeface="Calibri"/>
                <a:cs typeface="Calibri"/>
              </a:rPr>
              <a:t> </a:t>
            </a:r>
            <a:r>
              <a:rPr sz="2800" spc="65" dirty="0">
                <a:latin typeface="Calibri"/>
                <a:cs typeface="Calibri"/>
              </a:rPr>
              <a:t>enough…</a:t>
            </a:r>
            <a:endParaRPr sz="2800">
              <a:latin typeface="Calibri"/>
              <a:cs typeface="Calibri"/>
            </a:endParaRPr>
          </a:p>
          <a:p>
            <a:pPr marL="722630" lvl="1" indent="-227965">
              <a:lnSpc>
                <a:spcPct val="100000"/>
              </a:lnSpc>
              <a:spcBef>
                <a:spcPts val="229"/>
              </a:spcBef>
              <a:buFont typeface="Arial"/>
              <a:buChar char="•"/>
              <a:tabLst>
                <a:tab pos="722630" algn="l"/>
              </a:tabLst>
            </a:pPr>
            <a:r>
              <a:rPr sz="2400" spc="95" dirty="0">
                <a:latin typeface="Calibri"/>
                <a:cs typeface="Calibri"/>
              </a:rPr>
              <a:t>I</a:t>
            </a:r>
            <a:r>
              <a:rPr sz="2400" spc="14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can</a:t>
            </a:r>
            <a:r>
              <a:rPr sz="2400" spc="15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just</a:t>
            </a:r>
            <a:r>
              <a:rPr sz="2400" spc="13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see</a:t>
            </a:r>
            <a:r>
              <a:rPr sz="2400" spc="16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it,</a:t>
            </a:r>
            <a:r>
              <a:rPr sz="2400" spc="-7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what’s</a:t>
            </a:r>
            <a:r>
              <a:rPr sz="2400" spc="14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150" dirty="0">
                <a:latin typeface="Calibri"/>
                <a:cs typeface="Calibri"/>
              </a:rPr>
              <a:t> </a:t>
            </a:r>
            <a:r>
              <a:rPr sz="2400" spc="85" dirty="0">
                <a:latin typeface="Calibri"/>
                <a:cs typeface="Calibri"/>
              </a:rPr>
              <a:t>big</a:t>
            </a:r>
            <a:r>
              <a:rPr sz="2400" spc="150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deal?</a:t>
            </a:r>
            <a:endParaRPr sz="2400">
              <a:latin typeface="Calibri"/>
              <a:cs typeface="Calibri"/>
            </a:endParaRPr>
          </a:p>
          <a:p>
            <a:pPr marL="722630" lvl="1" indent="-227965">
              <a:lnSpc>
                <a:spcPct val="100000"/>
              </a:lnSpc>
              <a:spcBef>
                <a:spcPts val="220"/>
              </a:spcBef>
              <a:buFont typeface="Arial"/>
              <a:buChar char="•"/>
              <a:tabLst>
                <a:tab pos="722630" algn="l"/>
              </a:tabLst>
            </a:pPr>
            <a:r>
              <a:rPr sz="2400" dirty="0">
                <a:latin typeface="Calibri"/>
                <a:cs typeface="Calibri"/>
              </a:rPr>
              <a:t>Not</a:t>
            </a:r>
            <a:r>
              <a:rPr sz="2400" spc="18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so</a:t>
            </a:r>
            <a:r>
              <a:rPr sz="2400" spc="19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easy</a:t>
            </a:r>
            <a:r>
              <a:rPr sz="2400" spc="9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with</a:t>
            </a:r>
            <a:r>
              <a:rPr sz="2400" spc="195" dirty="0">
                <a:latin typeface="Calibri"/>
                <a:cs typeface="Calibri"/>
              </a:rPr>
              <a:t> </a:t>
            </a:r>
            <a:r>
              <a:rPr sz="2400" spc="70" dirty="0">
                <a:latin typeface="Calibri"/>
                <a:cs typeface="Calibri"/>
              </a:rPr>
              <a:t>10</a:t>
            </a:r>
            <a:r>
              <a:rPr sz="2400" spc="104" baseline="24305" dirty="0">
                <a:latin typeface="Calibri"/>
                <a:cs typeface="Calibri"/>
              </a:rPr>
              <a:t>6</a:t>
            </a:r>
            <a:r>
              <a:rPr sz="2400" spc="517" baseline="24305" dirty="0">
                <a:latin typeface="Calibri"/>
                <a:cs typeface="Calibri"/>
              </a:rPr>
              <a:t> </a:t>
            </a:r>
            <a:r>
              <a:rPr sz="2400" spc="40" dirty="0">
                <a:latin typeface="Calibri"/>
                <a:cs typeface="Calibri"/>
              </a:rPr>
              <a:t>variables</a:t>
            </a:r>
            <a:endParaRPr sz="2400">
              <a:latin typeface="Calibri"/>
              <a:cs typeface="Calibri"/>
            </a:endParaRPr>
          </a:p>
          <a:p>
            <a:pPr marL="722630" marR="2011680" lvl="1" indent="-227965">
              <a:lnSpc>
                <a:spcPts val="2590"/>
              </a:lnSpc>
              <a:spcBef>
                <a:spcPts val="545"/>
              </a:spcBef>
              <a:buFont typeface="Arial"/>
              <a:buChar char="•"/>
              <a:tabLst>
                <a:tab pos="723900" algn="l"/>
              </a:tabLst>
            </a:pPr>
            <a:r>
              <a:rPr sz="2400" spc="70" dirty="0">
                <a:latin typeface="Calibri"/>
                <a:cs typeface="Calibri"/>
              </a:rPr>
              <a:t>Calculus</a:t>
            </a:r>
            <a:r>
              <a:rPr sz="2400" spc="195" dirty="0">
                <a:latin typeface="Calibri"/>
                <a:cs typeface="Calibri"/>
              </a:rPr>
              <a:t> </a:t>
            </a:r>
            <a:r>
              <a:rPr sz="2400" spc="65" dirty="0">
                <a:latin typeface="Calibri"/>
                <a:cs typeface="Calibri"/>
              </a:rPr>
              <a:t>also</a:t>
            </a:r>
            <a:r>
              <a:rPr sz="2400" spc="22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not</a:t>
            </a:r>
            <a:r>
              <a:rPr sz="2400" spc="21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tractable</a:t>
            </a:r>
            <a:r>
              <a:rPr sz="2400" spc="22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with</a:t>
            </a:r>
            <a:r>
              <a:rPr sz="2400" spc="185" dirty="0">
                <a:latin typeface="Calibri"/>
                <a:cs typeface="Calibri"/>
              </a:rPr>
              <a:t> </a:t>
            </a:r>
            <a:r>
              <a:rPr sz="2400" spc="40" dirty="0">
                <a:latin typeface="Calibri"/>
                <a:cs typeface="Calibri"/>
              </a:rPr>
              <a:t>huge 	</a:t>
            </a:r>
            <a:r>
              <a:rPr sz="2400" spc="45" dirty="0">
                <a:latin typeface="Calibri"/>
                <a:cs typeface="Calibri"/>
              </a:rPr>
              <a:t>dimensionalities</a:t>
            </a:r>
            <a:endParaRPr sz="2400">
              <a:latin typeface="Calibri"/>
              <a:cs typeface="Calibri"/>
            </a:endParaRPr>
          </a:p>
          <a:p>
            <a:pPr marL="722630" lvl="1" indent="-227965">
              <a:lnSpc>
                <a:spcPct val="100000"/>
              </a:lnSpc>
              <a:spcBef>
                <a:spcPts val="165"/>
              </a:spcBef>
              <a:buFont typeface="Arial"/>
              <a:buChar char="•"/>
              <a:tabLst>
                <a:tab pos="722630" algn="l"/>
              </a:tabLst>
            </a:pPr>
            <a:r>
              <a:rPr sz="2400" dirty="0">
                <a:latin typeface="Calibri"/>
                <a:cs typeface="Calibri"/>
              </a:rPr>
              <a:t>However</a:t>
            </a:r>
            <a:r>
              <a:rPr sz="2400" spc="18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we</a:t>
            </a:r>
            <a:r>
              <a:rPr sz="2400" spc="19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can</a:t>
            </a:r>
            <a:r>
              <a:rPr sz="2400" spc="190" dirty="0">
                <a:latin typeface="Calibri"/>
                <a:cs typeface="Calibri"/>
              </a:rPr>
              <a:t> </a:t>
            </a:r>
            <a:r>
              <a:rPr sz="2400" spc="90" dirty="0">
                <a:latin typeface="Calibri"/>
                <a:cs typeface="Calibri"/>
              </a:rPr>
              <a:t>still</a:t>
            </a:r>
            <a:r>
              <a:rPr sz="2400" spc="18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use</a:t>
            </a:r>
            <a:r>
              <a:rPr sz="2400" spc="19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these</a:t>
            </a:r>
            <a:r>
              <a:rPr sz="2400" spc="185" dirty="0">
                <a:latin typeface="Calibri"/>
                <a:cs typeface="Calibri"/>
              </a:rPr>
              <a:t> </a:t>
            </a:r>
            <a:r>
              <a:rPr sz="2400" spc="45" dirty="0">
                <a:latin typeface="Calibri"/>
                <a:cs typeface="Calibri"/>
              </a:rPr>
              <a:t>principles</a:t>
            </a:r>
            <a:endParaRPr sz="2400">
              <a:latin typeface="Calibri"/>
              <a:cs typeface="Calibri"/>
            </a:endParaRPr>
          </a:p>
          <a:p>
            <a:pPr marL="1181100" marR="30480" lvl="2" indent="-228600">
              <a:lnSpc>
                <a:spcPts val="2160"/>
              </a:lnSpc>
              <a:spcBef>
                <a:spcPts val="565"/>
              </a:spcBef>
              <a:buFont typeface="Arial"/>
              <a:buChar char="•"/>
              <a:tabLst>
                <a:tab pos="1181100" algn="l"/>
              </a:tabLst>
            </a:pPr>
            <a:r>
              <a:rPr sz="2000" spc="55" dirty="0">
                <a:latin typeface="Calibri"/>
                <a:cs typeface="Calibri"/>
              </a:rPr>
              <a:t>Imagine</a:t>
            </a:r>
            <a:r>
              <a:rPr sz="2000" spc="13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that</a:t>
            </a:r>
            <a:r>
              <a:rPr sz="2000" spc="14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we</a:t>
            </a:r>
            <a:r>
              <a:rPr sz="2000" spc="15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want</a:t>
            </a:r>
            <a:r>
              <a:rPr sz="2000" spc="15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to</a:t>
            </a:r>
            <a:r>
              <a:rPr sz="2000" spc="15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start</a:t>
            </a:r>
            <a:r>
              <a:rPr sz="2000" spc="13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at</a:t>
            </a:r>
            <a:r>
              <a:rPr sz="2000" spc="14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some</a:t>
            </a:r>
            <a:r>
              <a:rPr sz="2000" spc="13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point</a:t>
            </a:r>
            <a:r>
              <a:rPr sz="2000" spc="17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here</a:t>
            </a:r>
            <a:r>
              <a:rPr sz="2000" spc="14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and</a:t>
            </a:r>
            <a:r>
              <a:rPr sz="2000" spc="155" dirty="0">
                <a:latin typeface="Calibri"/>
                <a:cs typeface="Calibri"/>
              </a:rPr>
              <a:t> </a:t>
            </a:r>
            <a:r>
              <a:rPr sz="2000" spc="-20" dirty="0">
                <a:latin typeface="Calibri"/>
                <a:cs typeface="Calibri"/>
              </a:rPr>
              <a:t>then </a:t>
            </a:r>
            <a:r>
              <a:rPr sz="2000" spc="60" dirty="0">
                <a:latin typeface="Calibri"/>
                <a:cs typeface="Calibri"/>
              </a:rPr>
              <a:t>roll</a:t>
            </a:r>
            <a:r>
              <a:rPr sz="2000" spc="12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down</a:t>
            </a:r>
            <a:r>
              <a:rPr sz="2000" spc="11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to</a:t>
            </a:r>
            <a:r>
              <a:rPr sz="2000" spc="12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the</a:t>
            </a:r>
            <a:r>
              <a:rPr sz="2000" spc="12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bottom</a:t>
            </a:r>
            <a:r>
              <a:rPr sz="2000" spc="9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of</a:t>
            </a:r>
            <a:r>
              <a:rPr sz="2000" spc="11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the</a:t>
            </a:r>
            <a:r>
              <a:rPr sz="2000" spc="90" dirty="0">
                <a:latin typeface="Calibri"/>
                <a:cs typeface="Calibri"/>
              </a:rPr>
              <a:t> </a:t>
            </a:r>
            <a:r>
              <a:rPr sz="2000" spc="40" dirty="0">
                <a:latin typeface="Calibri"/>
                <a:cs typeface="Calibri"/>
              </a:rPr>
              <a:t>valley</a:t>
            </a:r>
            <a:endParaRPr sz="2000">
              <a:latin typeface="Calibri"/>
              <a:cs typeface="Calibri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593203" y="2031364"/>
            <a:ext cx="3847210" cy="3129661"/>
          </a:xfrm>
          <a:prstGeom prst="rect">
            <a:avLst/>
          </a:prstGeom>
        </p:spPr>
      </p:pic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76074F-AC7E-914D-A959-EA39C5E9EB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739" y="14986"/>
            <a:ext cx="10328275" cy="492443"/>
          </a:xfrm>
        </p:spPr>
        <p:txBody>
          <a:bodyPr/>
          <a:lstStyle/>
          <a:p>
            <a:r>
              <a:rPr lang="en-US" dirty="0"/>
              <a:t>Example gradient descent </a:t>
            </a:r>
          </a:p>
        </p:txBody>
      </p:sp>
      <p:pic>
        <p:nvPicPr>
          <p:cNvPr id="5" name="Picture 4" descr="A math equations on a white background&#10;&#10;AI-generated content may be incorrect.">
            <a:extLst>
              <a:ext uri="{FF2B5EF4-FFF2-40B4-BE49-F238E27FC236}">
                <a16:creationId xmlns:a16="http://schemas.microsoft.com/office/drawing/2014/main" id="{D75AA500-78A5-C021-608E-7140E649F37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52600" y="1371600"/>
            <a:ext cx="8233597" cy="381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2066243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95AEA9-920B-EFE9-9036-09D4D67FAF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739" y="14986"/>
            <a:ext cx="10328275" cy="492443"/>
          </a:xfrm>
        </p:spPr>
        <p:txBody>
          <a:bodyPr/>
          <a:lstStyle/>
          <a:p>
            <a:r>
              <a:rPr lang="en-US" dirty="0"/>
              <a:t>Example gradient descent </a:t>
            </a:r>
          </a:p>
        </p:txBody>
      </p:sp>
      <p:pic>
        <p:nvPicPr>
          <p:cNvPr id="5" name="Picture 4" descr="A graph with a line graph&#10;&#10;AI-generated content may be incorrect.">
            <a:extLst>
              <a:ext uri="{FF2B5EF4-FFF2-40B4-BE49-F238E27FC236}">
                <a16:creationId xmlns:a16="http://schemas.microsoft.com/office/drawing/2014/main" id="{23162ADB-FAF8-5B64-F230-47336D481F4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8600" y="1676400"/>
            <a:ext cx="5134366" cy="3625603"/>
          </a:xfrm>
          <a:prstGeom prst="rect">
            <a:avLst/>
          </a:prstGeom>
        </p:spPr>
      </p:pic>
      <p:pic>
        <p:nvPicPr>
          <p:cNvPr id="7" name="Picture 6" descr="A graph of a path&#10;&#10;AI-generated content may be incorrect.">
            <a:extLst>
              <a:ext uri="{FF2B5EF4-FFF2-40B4-BE49-F238E27FC236}">
                <a16:creationId xmlns:a16="http://schemas.microsoft.com/office/drawing/2014/main" id="{355CC245-B793-273D-57C0-B5220821D93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15000" y="1219200"/>
            <a:ext cx="5975616" cy="48920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113650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462C1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988</TotalTime>
  <Words>3206</Words>
  <Application>Microsoft Office PowerPoint</Application>
  <PresentationFormat>Widescreen</PresentationFormat>
  <Paragraphs>415</Paragraphs>
  <Slides>62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62</vt:i4>
      </vt:variant>
    </vt:vector>
  </HeadingPairs>
  <TitlesOfParts>
    <vt:vector size="69" baseType="lpstr">
      <vt:lpstr>Arial</vt:lpstr>
      <vt:lpstr>Calibri</vt:lpstr>
      <vt:lpstr>Cambria Math</vt:lpstr>
      <vt:lpstr>PT Sans</vt:lpstr>
      <vt:lpstr>Symbol</vt:lpstr>
      <vt:lpstr>Times New Roman</vt:lpstr>
      <vt:lpstr>Office Theme</vt:lpstr>
      <vt:lpstr>ECE 105: Introduction to Electrical Engineering</vt:lpstr>
      <vt:lpstr>Timeframe</vt:lpstr>
      <vt:lpstr>Why Deep Neural Networks?</vt:lpstr>
      <vt:lpstr>What’s so deep about Deep Neural Networks?</vt:lpstr>
      <vt:lpstr>Fundamental Unit of a Neural Network</vt:lpstr>
      <vt:lpstr>Fundamental Unit of a Neural Network</vt:lpstr>
      <vt:lpstr>Activation functions of a Neural Network</vt:lpstr>
      <vt:lpstr>Operation of a neural network</vt:lpstr>
      <vt:lpstr>Training of an Artificial Neural Network</vt:lpstr>
      <vt:lpstr>Handwriting Recognition</vt:lpstr>
      <vt:lpstr>Approach</vt:lpstr>
      <vt:lpstr>Perceptron</vt:lpstr>
      <vt:lpstr>What can we answer with a perceptron?</vt:lpstr>
      <vt:lpstr>How would we decide this?</vt:lpstr>
      <vt:lpstr>How would we decide this?</vt:lpstr>
      <vt:lpstr>How would we decide this?</vt:lpstr>
      <vt:lpstr>Addition of other nodes increases complexity</vt:lpstr>
      <vt:lpstr>How does information change through layers?</vt:lpstr>
      <vt:lpstr>Perceptrons</vt:lpstr>
      <vt:lpstr>Perceptrons</vt:lpstr>
      <vt:lpstr>Perceptrons for logical functions?</vt:lpstr>
      <vt:lpstr>AND gate</vt:lpstr>
      <vt:lpstr>OR gate</vt:lpstr>
      <vt:lpstr>NAND gate</vt:lpstr>
      <vt:lpstr>So are perceptrons just more complex NAND gates?</vt:lpstr>
      <vt:lpstr>Sigmoid Neurons</vt:lpstr>
      <vt:lpstr>Sigmoid Neurons</vt:lpstr>
      <vt:lpstr>Sigmoid Neurons</vt:lpstr>
      <vt:lpstr>Sigmoid Neurons</vt:lpstr>
      <vt:lpstr>Sigmoid Neurons</vt:lpstr>
      <vt:lpstr>Similarities between Perceptrons and Sigmoids</vt:lpstr>
      <vt:lpstr>Why is smoothness crucial?</vt:lpstr>
      <vt:lpstr>Sigmoid Neurons</vt:lpstr>
      <vt:lpstr>Sigmoid Neurons</vt:lpstr>
      <vt:lpstr>Neural Network Architecture</vt:lpstr>
      <vt:lpstr>Four Layer Neural Network</vt:lpstr>
      <vt:lpstr>How do we design our Neural Network Topology?</vt:lpstr>
      <vt:lpstr>How do we design our Neural Network Topology?</vt:lpstr>
      <vt:lpstr>How do we design our Neural Network Topology?</vt:lpstr>
      <vt:lpstr>How do we design our Neural Network Topology?</vt:lpstr>
      <vt:lpstr>How do we design our Neural Network Topology?</vt:lpstr>
      <vt:lpstr>Aside: Recurrent Neural Networks</vt:lpstr>
      <vt:lpstr>Getting back to handwriting</vt:lpstr>
      <vt:lpstr>An ANN for Handwriting</vt:lpstr>
      <vt:lpstr>An ANN for Handwriting</vt:lpstr>
      <vt:lpstr>An ANN for Handwriting</vt:lpstr>
      <vt:lpstr>How does the hidden layer neuron find a specific image?</vt:lpstr>
      <vt:lpstr>Let’s do a simple example</vt:lpstr>
      <vt:lpstr>Let’s do a simple example</vt:lpstr>
      <vt:lpstr>Back to the task at hand</vt:lpstr>
      <vt:lpstr>Other hidden layer neurons could then be detecting other images</vt:lpstr>
      <vt:lpstr>Other hidden layer neurons could then be detecting other images</vt:lpstr>
      <vt:lpstr>Learning how Artificial Neural Networks Learn with your Biological Neural network</vt:lpstr>
      <vt:lpstr>How to train your artificial neural network</vt:lpstr>
      <vt:lpstr>How to train your artificial neural network</vt:lpstr>
      <vt:lpstr>How to train your artificial neural network</vt:lpstr>
      <vt:lpstr>Cost Function</vt:lpstr>
      <vt:lpstr>Cost Function</vt:lpstr>
      <vt:lpstr>Gradient Descent</vt:lpstr>
      <vt:lpstr>Minimization</vt:lpstr>
      <vt:lpstr>Example gradient descent </vt:lpstr>
      <vt:lpstr>Example gradient descent 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Yasser Khan</dc:creator>
  <cp:lastModifiedBy>Yasser Khan</cp:lastModifiedBy>
  <cp:revision>6</cp:revision>
  <dcterms:created xsi:type="dcterms:W3CDTF">2025-10-29T20:32:48Z</dcterms:created>
  <dcterms:modified xsi:type="dcterms:W3CDTF">2025-11-03T08:49:24Z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2024-11-05T00:00:00Z</vt:filetime>
  </property>
  <property fmtid="{D5CDD505-2E9C-101B-9397-08002B2CF9AE}" pid="3" name="Creator">
    <vt:lpwstr>Microsoft® PowerPoint® for Microsoft 365</vt:lpwstr>
  </property>
  <property fmtid="{D5CDD505-2E9C-101B-9397-08002B2CF9AE}" pid="4" name="LastSaved">
    <vt:filetime>2025-10-29T00:00:00Z</vt:filetime>
  </property>
  <property fmtid="{D5CDD505-2E9C-101B-9397-08002B2CF9AE}" pid="5" name="Producer">
    <vt:lpwstr>Microsoft® PowerPoint® for Microsoft 365</vt:lpwstr>
  </property>
</Properties>
</file>