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5" r:id="rId3"/>
    <p:sldId id="278" r:id="rId4"/>
    <p:sldId id="266" r:id="rId5"/>
    <p:sldId id="272" r:id="rId6"/>
    <p:sldId id="267" r:id="rId7"/>
    <p:sldId id="273" r:id="rId8"/>
    <p:sldId id="268" r:id="rId9"/>
    <p:sldId id="274" r:id="rId10"/>
    <p:sldId id="275" r:id="rId11"/>
    <p:sldId id="269" r:id="rId12"/>
    <p:sldId id="276" r:id="rId13"/>
    <p:sldId id="270" r:id="rId14"/>
    <p:sldId id="277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47" d="100"/>
          <a:sy n="47" d="100"/>
        </p:scale>
        <p:origin x="80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27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C65A655-3FFE-460B-9705-8E515D426F54}" type="datetime1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Mataric 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3BE2EC6-3A7F-471E-9F8E-6492771035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3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6C6D-E384-488B-8EC7-0E77255F25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2057-EF28-4662-AA59-E44C37A7B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72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803900"/>
            <a:ext cx="12192000" cy="10527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 flipV="1">
            <a:off x="0" y="5778500"/>
            <a:ext cx="12192000" cy="508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Small Use Shield_GoldOnTrans.e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4703" y="238128"/>
            <a:ext cx="997652" cy="748239"/>
          </a:xfrm>
          <a:prstGeom prst="rect">
            <a:avLst/>
          </a:prstGeom>
        </p:spPr>
      </p:pic>
      <p:pic>
        <p:nvPicPr>
          <p:cNvPr id="9" name="Picture 8" descr="1-lineWordmark_GoldOnCard_NoBG.ep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0267" y="6462030"/>
            <a:ext cx="2429501" cy="154821"/>
          </a:xfrm>
          <a:prstGeom prst="rect">
            <a:avLst/>
          </a:prstGeom>
        </p:spPr>
      </p:pic>
      <p:pic>
        <p:nvPicPr>
          <p:cNvPr id="12" name="Picture 11" descr="Formal_Viterbi_GoldOnCard_NoBG.ep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469" y="6138310"/>
            <a:ext cx="2322251" cy="47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3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066B-4462-A705-DFCF-1BD4B5C5C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EE-105</a:t>
            </a:r>
            <a:br>
              <a:rPr lang="en-US" dirty="0"/>
            </a:br>
            <a:r>
              <a:rPr lang="en-US" dirty="0"/>
              <a:t>NN training on MNIST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922B7-40FD-5871-9708-F13AD8202C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3/26/2025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695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1DAC4E-5B83-79CC-272F-63E1E2A2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04429A-6A98-E5C5-29B2-A2ABD4126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99555"/>
            <a:ext cx="10972800" cy="4525963"/>
          </a:xfrm>
        </p:spPr>
        <p:txBody>
          <a:bodyPr/>
          <a:lstStyle/>
          <a:p>
            <a:r>
              <a:rPr lang="en-US" dirty="0"/>
              <a:t>The objective of this lab session is to introduce students to the foundational concepts of building and evaluating neural networks using </a:t>
            </a:r>
            <a:r>
              <a:rPr lang="en-US" dirty="0" err="1"/>
              <a:t>PyTorch</a:t>
            </a:r>
            <a:r>
              <a:rPr lang="en-US" dirty="0"/>
              <a:t>. </a:t>
            </a:r>
          </a:p>
          <a:p>
            <a:r>
              <a:rPr lang="en-US" dirty="0"/>
              <a:t>By the end of this lab, students will understand how to:</a:t>
            </a:r>
          </a:p>
          <a:p>
            <a:pPr lvl="1"/>
            <a:r>
              <a:rPr lang="en-US" dirty="0"/>
              <a:t>construct a simple artificial neuron,</a:t>
            </a:r>
          </a:p>
          <a:p>
            <a:pPr lvl="1"/>
            <a:r>
              <a:rPr lang="en-US" dirty="0"/>
              <a:t>Train on the MNIST dataset</a:t>
            </a:r>
          </a:p>
          <a:p>
            <a:pPr lvl="1"/>
            <a:r>
              <a:rPr lang="en-US" dirty="0"/>
              <a:t>Inference on a custom image </a:t>
            </a:r>
          </a:p>
          <a:p>
            <a:pPr lvl="1"/>
            <a:r>
              <a:rPr lang="en-US" dirty="0"/>
              <a:t>analyze training dynamics to visually distinguish between underfitting and overfitting models.</a:t>
            </a:r>
          </a:p>
        </p:txBody>
      </p:sp>
    </p:spTree>
    <p:extLst>
      <p:ext uri="{BB962C8B-B14F-4D97-AF65-F5344CB8AC3E}">
        <p14:creationId xmlns:p14="http://schemas.microsoft.com/office/powerpoint/2010/main" val="1065541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D480E-30A7-080F-B365-8DED4E449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D699-5603-2A03-9508-F146ED92F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windows users:</a:t>
            </a:r>
          </a:p>
          <a:p>
            <a:pPr lvl="1"/>
            <a:r>
              <a:rPr lang="en-US" dirty="0"/>
              <a:t>Double click on the </a:t>
            </a:r>
            <a:r>
              <a:rPr lang="en-US" dirty="0" err="1"/>
              <a:t>setup_windows</a:t>
            </a:r>
            <a:r>
              <a:rPr lang="en-US" dirty="0"/>
              <a:t> file</a:t>
            </a:r>
          </a:p>
          <a:p>
            <a:r>
              <a:rPr lang="en-US" dirty="0"/>
              <a:t>For Mac users:</a:t>
            </a:r>
          </a:p>
          <a:p>
            <a:pPr lvl="1"/>
            <a:r>
              <a:rPr lang="en-US" dirty="0"/>
              <a:t>Open a terminal from the “mod-4-nn-labs” folder</a:t>
            </a:r>
          </a:p>
          <a:p>
            <a:pPr lvl="1"/>
            <a:r>
              <a:rPr lang="en-US" dirty="0"/>
              <a:t>Type </a:t>
            </a:r>
            <a:r>
              <a:rPr lang="en-US" dirty="0" err="1"/>
              <a:t>chmod</a:t>
            </a:r>
            <a:r>
              <a:rPr lang="en-US" dirty="0"/>
              <a:t> +x setup.sh (you only need to do this once to give the file permission to run).</a:t>
            </a:r>
          </a:p>
          <a:p>
            <a:pPr lvl="1"/>
            <a:r>
              <a:rPr lang="en-US" dirty="0"/>
              <a:t>Run it by typing: ./setup_linux.sh</a:t>
            </a:r>
          </a:p>
        </p:txBody>
      </p:sp>
    </p:spTree>
    <p:extLst>
      <p:ext uri="{BB962C8B-B14F-4D97-AF65-F5344CB8AC3E}">
        <p14:creationId xmlns:p14="http://schemas.microsoft.com/office/powerpoint/2010/main" val="57513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D992-C851-AB68-DA03-9DA43EE5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F0B36-CA39-B78A-064B-6D72F9B50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libraries</a:t>
            </a:r>
          </a:p>
          <a:p>
            <a:r>
              <a:rPr lang="en-US" dirty="0"/>
              <a:t>Forward pass Through the Neuron</a:t>
            </a:r>
          </a:p>
          <a:p>
            <a:r>
              <a:rPr lang="en-US" dirty="0"/>
              <a:t>Understand </a:t>
            </a:r>
            <a:r>
              <a:rPr lang="en-US" dirty="0" err="1"/>
              <a:t>Perceptrons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040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C8CB6-0F72-0A9C-D1FA-5321BA0E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56C90-80EF-8D3A-5F21-D3C58CECC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1 - torch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08018B-FB80-2F18-6ED6-E8715272B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898" y="1574800"/>
            <a:ext cx="10882204" cy="32917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C5BD9F-5A42-EF34-F769-1653A57A9803}"/>
              </a:ext>
            </a:extLst>
          </p:cNvPr>
          <p:cNvSpPr txBox="1"/>
          <p:nvPr/>
        </p:nvSpPr>
        <p:spPr>
          <a:xfrm>
            <a:off x="654898" y="1206500"/>
            <a:ext cx="429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torch.nn.Module</a:t>
            </a:r>
            <a:r>
              <a:rPr lang="en-US" dirty="0"/>
              <a:t>, </a:t>
            </a:r>
            <a:r>
              <a:rPr lang="en-US" dirty="0" err="1"/>
              <a:t>torch.nn.Parameter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B3149-324E-DAD5-31F2-912EB8AFD064}"/>
              </a:ext>
            </a:extLst>
          </p:cNvPr>
          <p:cNvSpPr txBox="1"/>
          <p:nvPr/>
        </p:nvSpPr>
        <p:spPr>
          <a:xfrm>
            <a:off x="901700" y="5067300"/>
            <a:ext cx="5139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activation function: </a:t>
            </a:r>
            <a:r>
              <a:rPr lang="en-US" dirty="0" err="1"/>
              <a:t>nn.ReLU</a:t>
            </a:r>
            <a:r>
              <a:rPr lang="en-US" dirty="0"/>
              <a:t>, </a:t>
            </a:r>
            <a:r>
              <a:rPr lang="en-US" dirty="0" err="1"/>
              <a:t>nn.Sigmoid</a:t>
            </a:r>
            <a:r>
              <a:rPr lang="en-US" dirty="0"/>
              <a:t>, </a:t>
            </a:r>
            <a:r>
              <a:rPr lang="en-US" dirty="0" err="1"/>
              <a:t>nn.Tanh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Perceptrons</a:t>
            </a:r>
            <a:r>
              <a:rPr lang="en-US" dirty="0"/>
              <a:t>: Using simple NN for a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989831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EED0-BDF5-5272-951F-8A2C22F31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C8434-94BC-6C0E-84B2-997E46A2D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Loading</a:t>
            </a:r>
          </a:p>
          <a:p>
            <a:r>
              <a:rPr lang="en-US" dirty="0"/>
              <a:t>MNIST</a:t>
            </a:r>
          </a:p>
          <a:p>
            <a:r>
              <a:rPr lang="en-US" dirty="0"/>
              <a:t>Mini batch gradient descent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5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DBA5B-79B9-CD08-1E93-D657A942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A8AB-E8AA-68C1-EEC7-61264B5A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2 -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5AB04-5AE0-6064-2E96-2B704EEE1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00" y="1600201"/>
            <a:ext cx="11709400" cy="45259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MNIST: LeCun (1998)</a:t>
            </a:r>
          </a:p>
          <a:p>
            <a:r>
              <a:rPr lang="en-US" dirty="0" err="1"/>
              <a:t>torchvision.transforms</a:t>
            </a:r>
            <a:r>
              <a:rPr lang="en-US" dirty="0"/>
              <a:t>: useful data transformation functions</a:t>
            </a:r>
          </a:p>
          <a:p>
            <a:r>
              <a:rPr lang="en-US" dirty="0" err="1"/>
              <a:t>torch.utils.data.DataLoader</a:t>
            </a:r>
            <a:r>
              <a:rPr lang="en-US" dirty="0"/>
              <a:t>: used everywhere, gives data batches</a:t>
            </a:r>
          </a:p>
          <a:p>
            <a:pPr lvl="1"/>
            <a:r>
              <a:rPr lang="en-US" dirty="0"/>
              <a:t>Use different </a:t>
            </a:r>
            <a:r>
              <a:rPr lang="en-US" dirty="0" err="1"/>
              <a:t>dataloaders</a:t>
            </a:r>
            <a:r>
              <a:rPr lang="en-US" dirty="0"/>
              <a:t> for train and test</a:t>
            </a:r>
          </a:p>
          <a:p>
            <a:pPr lvl="1"/>
            <a:r>
              <a:rPr lang="en-US" dirty="0"/>
              <a:t>Epochs: number of batches to go through the dataset once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MNIST Dataset : Practical Applications ...">
            <a:extLst>
              <a:ext uri="{FF2B5EF4-FFF2-40B4-BE49-F238E27FC236}">
                <a16:creationId xmlns:a16="http://schemas.microsoft.com/office/drawing/2014/main" id="{2B431A30-CCFC-C975-0E48-B3F83BBD99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958850" y="1368425"/>
            <a:ext cx="1428750" cy="78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089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AA51-3803-3054-029C-64DCD4E1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8889C-3CF0-096E-2C83-C6C47E729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Defining Neural Networks</a:t>
            </a:r>
          </a:p>
          <a:p>
            <a:r>
              <a:rPr lang="en-US" dirty="0"/>
              <a:t>Loss functions and optimizers</a:t>
            </a:r>
          </a:p>
          <a:p>
            <a:r>
              <a:rPr lang="en-US" dirty="0"/>
              <a:t>Training and Eval</a:t>
            </a:r>
          </a:p>
        </p:txBody>
      </p:sp>
    </p:spTree>
    <p:extLst>
      <p:ext uri="{BB962C8B-B14F-4D97-AF65-F5344CB8AC3E}">
        <p14:creationId xmlns:p14="http://schemas.microsoft.com/office/powerpoint/2010/main" val="1242677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6D90A-83D6-853B-056C-C8F316A7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71E1-F502-4B34-B5F8-8D51EE64F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3: NN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553F3-54DC-02C2-2DB6-24B158887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nn.Linear</a:t>
            </a:r>
            <a:r>
              <a:rPr lang="en-US" dirty="0"/>
              <a:t>: both weights and biases included</a:t>
            </a:r>
          </a:p>
          <a:p>
            <a:r>
              <a:rPr lang="en-US" dirty="0" err="1"/>
              <a:t>nn.CrossEntropyLoss</a:t>
            </a:r>
            <a:r>
              <a:rPr lang="en-US" dirty="0"/>
              <a:t>: used for multi class classification</a:t>
            </a:r>
          </a:p>
          <a:p>
            <a:r>
              <a:rPr lang="en-US" dirty="0" err="1"/>
              <a:t>optim.SGD</a:t>
            </a:r>
            <a:r>
              <a:rPr lang="en-US" dirty="0"/>
              <a:t>: Stochastic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548308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44EB6-334A-C266-43CD-162FB3D0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1A41-1FFE-5149-757D-8324D965D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3: NN training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535BA-1DEF-9FA5-6C96-08C7131F9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54751"/>
            <a:ext cx="6985000" cy="390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27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7AA1-43C8-3894-9914-04A42052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DE7F8-0D3B-BF32-807F-88F4F7B57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 simple NN on custom image</a:t>
            </a:r>
          </a:p>
          <a:p>
            <a:r>
              <a:rPr lang="en-US" dirty="0"/>
              <a:t>Distribution shifts</a:t>
            </a:r>
          </a:p>
          <a:p>
            <a:r>
              <a:rPr lang="en-US" dirty="0"/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3426401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AD9E8-6B8D-7E96-B61B-DBEAF2F1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DD591-4FED-E8EF-260E-F640F8EF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4: custom NN inference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4B25B-A3A9-20DA-B3EB-B66D5C003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308100"/>
            <a:ext cx="2762436" cy="2120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A0289E-BEBD-E095-4A97-C92C70FD6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534" y="1306613"/>
            <a:ext cx="2124742" cy="2120900"/>
          </a:xfrm>
          <a:prstGeom prst="rect">
            <a:avLst/>
          </a:prstGeom>
        </p:spPr>
      </p:pic>
      <p:pic>
        <p:nvPicPr>
          <p:cNvPr id="2050" name="Picture 2" descr="Neural network (machine learning ...">
            <a:extLst>
              <a:ext uri="{FF2B5EF4-FFF2-40B4-BE49-F238E27FC236}">
                <a16:creationId xmlns:a16="http://schemas.microsoft.com/office/drawing/2014/main" id="{97104C21-ED5E-7619-57CF-ABAE9E972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588" y="1195488"/>
            <a:ext cx="195262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240E6A-1846-16C4-6525-F2135874D0C9}"/>
              </a:ext>
            </a:extLst>
          </p:cNvPr>
          <p:cNvSpPr/>
          <p:nvPr/>
        </p:nvSpPr>
        <p:spPr>
          <a:xfrm>
            <a:off x="10423525" y="190539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1E61E8-77DB-A517-06B0-CDB281CDB29C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372037" y="2367063"/>
            <a:ext cx="1021497" cy="1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9885BB-5CCC-CA8D-0B73-690829D636AC}"/>
              </a:ext>
            </a:extLst>
          </p:cNvPr>
          <p:cNvCxnSpPr>
            <a:cxnSpLocks/>
            <a:stCxn id="7" idx="3"/>
            <a:endCxn id="2050" idx="1"/>
          </p:cNvCxnSpPr>
          <p:nvPr/>
        </p:nvCxnSpPr>
        <p:spPr>
          <a:xfrm>
            <a:off x="6518276" y="2367063"/>
            <a:ext cx="9763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A9A3D7-12C1-82E3-A458-5C997DFE67E1}"/>
              </a:ext>
            </a:extLst>
          </p:cNvPr>
          <p:cNvCxnSpPr>
            <a:cxnSpLocks/>
            <a:stCxn id="2050" idx="3"/>
            <a:endCxn id="8" idx="1"/>
          </p:cNvCxnSpPr>
          <p:nvPr/>
        </p:nvCxnSpPr>
        <p:spPr>
          <a:xfrm>
            <a:off x="9447213" y="2367063"/>
            <a:ext cx="9763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423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D0B15-3102-0BAF-95C4-B8B3BF789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FC1F-C942-667F-602F-94AD60DC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6C261-C8A6-FD8A-DC24-6A38A6D29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 1 hidden layer NN</a:t>
            </a:r>
          </a:p>
          <a:p>
            <a:r>
              <a:rPr lang="en-US" dirty="0"/>
              <a:t>Train CNN</a:t>
            </a:r>
          </a:p>
          <a:p>
            <a:r>
              <a:rPr lang="en-US" dirty="0"/>
              <a:t>Eval trained CNN</a:t>
            </a:r>
          </a:p>
          <a:p>
            <a:r>
              <a:rPr lang="en-US" dirty="0"/>
              <a:t>Experiment with different parameters</a:t>
            </a:r>
          </a:p>
        </p:txBody>
      </p:sp>
    </p:spTree>
    <p:extLst>
      <p:ext uri="{BB962C8B-B14F-4D97-AF65-F5344CB8AC3E}">
        <p14:creationId xmlns:p14="http://schemas.microsoft.com/office/powerpoint/2010/main" val="3807398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AA4DC-11EE-2DCB-9B81-D4FDF2C46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0470-3018-41F7-A11E-D4B262B6C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5: Better architectures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D6D600-A400-A7BB-2495-5EF835927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7181"/>
            <a:ext cx="5117499" cy="3203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1DB322-1084-6A32-5DF5-35DF81B5E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254" y="1746252"/>
            <a:ext cx="5557146" cy="361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45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3C3B-2A04-5082-72EF-49E7B138D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0F9E-C51E-AD80-5FDD-2C6179D8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8D634-E1FF-4DF8-1864-13A0CE4E5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 fitting </a:t>
            </a:r>
          </a:p>
          <a:p>
            <a:pPr lvl="1"/>
            <a:r>
              <a:rPr lang="en-US" dirty="0"/>
              <a:t>“Simpler” model, fewer epochs</a:t>
            </a:r>
          </a:p>
          <a:p>
            <a:r>
              <a:rPr lang="en-US" dirty="0"/>
              <a:t>Overfitting</a:t>
            </a:r>
          </a:p>
          <a:p>
            <a:pPr lvl="1"/>
            <a:r>
              <a:rPr lang="en-US" dirty="0"/>
              <a:t>“More complicated” model, more epoch</a:t>
            </a:r>
          </a:p>
        </p:txBody>
      </p:sp>
    </p:spTree>
    <p:extLst>
      <p:ext uri="{BB962C8B-B14F-4D97-AF65-F5344CB8AC3E}">
        <p14:creationId xmlns:p14="http://schemas.microsoft.com/office/powerpoint/2010/main" val="160417763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3">
      <a:dk1>
        <a:srgbClr val="99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350</Words>
  <Application>Microsoft Office PowerPoint</Application>
  <PresentationFormat>Widescreen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1_Office Theme</vt:lpstr>
      <vt:lpstr>EE-105 NN training on MNIST</vt:lpstr>
      <vt:lpstr>Objective</vt:lpstr>
      <vt:lpstr>SETUP</vt:lpstr>
      <vt:lpstr>Checkpoint 1</vt:lpstr>
      <vt:lpstr>Checkpoint 1 - torch </vt:lpstr>
      <vt:lpstr>Checkpoint 2</vt:lpstr>
      <vt:lpstr>Checkpoint 2 - Data</vt:lpstr>
      <vt:lpstr>Checkpoint 3</vt:lpstr>
      <vt:lpstr>Checkpoint 3: NN setup</vt:lpstr>
      <vt:lpstr>Checkpoint 3: NN training</vt:lpstr>
      <vt:lpstr>Checkpoint 4</vt:lpstr>
      <vt:lpstr>Checkpoint 4: custom NN inference</vt:lpstr>
      <vt:lpstr>Checkpoint 5</vt:lpstr>
      <vt:lpstr>Checkpoint 5: Better architectures</vt:lpstr>
      <vt:lpstr>Checkpoint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Karkala Hegde</dc:creator>
  <cp:lastModifiedBy>Karkala Hegde</cp:lastModifiedBy>
  <cp:revision>3</cp:revision>
  <dcterms:created xsi:type="dcterms:W3CDTF">2026-03-26T08:06:38Z</dcterms:created>
  <dcterms:modified xsi:type="dcterms:W3CDTF">2026-03-26T11:31:27Z</dcterms:modified>
</cp:coreProperties>
</file>