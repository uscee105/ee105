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794" r:id="rId2"/>
    <p:sldId id="796" r:id="rId3"/>
    <p:sldId id="804" r:id="rId4"/>
    <p:sldId id="805" r:id="rId5"/>
    <p:sldId id="802" r:id="rId6"/>
    <p:sldId id="803" r:id="rId7"/>
    <p:sldId id="795" r:id="rId8"/>
    <p:sldId id="797" r:id="rId9"/>
    <p:sldId id="798" r:id="rId10"/>
    <p:sldId id="799" r:id="rId11"/>
    <p:sldId id="800" r:id="rId12"/>
    <p:sldId id="801" r:id="rId13"/>
    <p:sldId id="80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asser Khan" initials="Y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1B1E"/>
    <a:srgbClr val="8C1515"/>
    <a:srgbClr val="AFEBFF"/>
    <a:srgbClr val="FFAAAA"/>
    <a:srgbClr val="E3B7F1"/>
    <a:srgbClr val="C6D4FF"/>
    <a:srgbClr val="C5FFC5"/>
    <a:srgbClr val="05274E"/>
    <a:srgbClr val="B0C3FF"/>
    <a:srgbClr val="FFFF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64" autoAdjust="0"/>
    <p:restoredTop sz="69379" autoAdjust="0"/>
  </p:normalViewPr>
  <p:slideViewPr>
    <p:cSldViewPr snapToGrid="0">
      <p:cViewPr varScale="1">
        <p:scale>
          <a:sx n="96" d="100"/>
          <a:sy n="96" d="100"/>
        </p:scale>
        <p:origin x="1531" y="7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-2856"/>
    </p:cViewPr>
  </p:sorterViewPr>
  <p:notesViewPr>
    <p:cSldViewPr snapToGrid="0">
      <p:cViewPr varScale="1">
        <p:scale>
          <a:sx n="65" d="100"/>
          <a:sy n="65" d="100"/>
        </p:scale>
        <p:origin x="2578" y="5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9E6E90-D057-4D0D-B992-091951C9891F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CD6554-DBE6-4CB7-8C9A-72353E7B6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987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E82251-0160-4469-ACEE-303A5D4B0836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656E40-D1A4-4189-B190-F9CD7DFE8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809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56E40-D1A4-4189-B190-F9CD7DFE87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4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rgbClr val="991B1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7564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991B1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PT Sans" panose="020B0503020203020204" pitchFamily="34" charset="0"/>
                <a:ea typeface="PT Sans" panose="020B05030202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1988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rgbClr val="991B1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126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584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5" name="Picture 4" descr="Text&#10;&#10;Description automatically generated with medium confidence">
            <a:extLst>
              <a:ext uri="{FF2B5EF4-FFF2-40B4-BE49-F238E27FC236}">
                <a16:creationId xmlns:a16="http://schemas.microsoft.com/office/drawing/2014/main" id="{7C60BECE-557F-4952-BC37-9040A86B0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576" t="22101" r="5881" b="20208"/>
          <a:stretch/>
        </p:blipFill>
        <p:spPr>
          <a:xfrm>
            <a:off x="10788202" y="0"/>
            <a:ext cx="1352283" cy="78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290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rgbClr val="991B1E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9C49B-9325-4F28-84AA-EF2118377A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98966" y="1150200"/>
            <a:ext cx="6194065" cy="961565"/>
          </a:xfrm>
        </p:spPr>
        <p:txBody>
          <a:bodyPr>
            <a:noAutofit/>
          </a:bodyPr>
          <a:lstStyle/>
          <a:p>
            <a:r>
              <a:rPr lang="en-US" sz="4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ECE 105: Introduction to Electrical Engineerin</a:t>
            </a:r>
            <a:r>
              <a:rPr lang="en-US" sz="4400" dirty="0"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0D5305-B3D3-4E24-9167-6DC659185F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0811" y="3477445"/>
            <a:ext cx="5590376" cy="2230355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PT Sans" panose="020B0503020203020204" pitchFamily="34" charset="0"/>
              </a:rPr>
              <a:t>Lecture 7</a:t>
            </a:r>
          </a:p>
          <a:p>
            <a:r>
              <a:rPr lang="en-US" sz="2800" dirty="0">
                <a:latin typeface="PT Sans" panose="020B0503020203020204" pitchFamily="34" charset="0"/>
              </a:rPr>
              <a:t>Circuit Problems</a:t>
            </a:r>
          </a:p>
          <a:p>
            <a:r>
              <a:rPr lang="en-US" sz="2800" dirty="0"/>
              <a:t>Yasser Khan</a:t>
            </a:r>
          </a:p>
          <a:p>
            <a:r>
              <a:rPr lang="en-US" sz="2800" dirty="0" err="1">
                <a:latin typeface="PT Sans" panose="020B0503020203020204" pitchFamily="34" charset="0"/>
              </a:rPr>
              <a:t>Rehan</a:t>
            </a:r>
            <a:r>
              <a:rPr lang="en-US" sz="2800" dirty="0">
                <a:latin typeface="PT Sans" panose="020B0503020203020204" pitchFamily="34" charset="0"/>
              </a:rPr>
              <a:t> Kapadia</a:t>
            </a:r>
          </a:p>
        </p:txBody>
      </p:sp>
    </p:spTree>
    <p:extLst>
      <p:ext uri="{BB962C8B-B14F-4D97-AF65-F5344CB8AC3E}">
        <p14:creationId xmlns:p14="http://schemas.microsoft.com/office/powerpoint/2010/main" val="3505511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BDDC7-B36B-96DF-184E-37CDA4746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ED8EF7-3271-3992-09F0-9CD104FDEF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</a:t>
            </a:fld>
            <a:endParaRPr lang="en-US" dirty="0">
              <a:latin typeface="PT Sans" panose="020B0503020203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FDE7B12-8930-9311-191C-63F424FBC1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96929"/>
            <a:ext cx="105156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Given the circuit diagram with nodes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A, B,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each connected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3V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sources as shown. Determine the voltages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​, V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​,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​ at the respective nodes with respect to the ground.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T Sans" panose="020B05030202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T Sans" panose="020B0503020203020204" pitchFamily="34" charset="0"/>
            </a:endParaRPr>
          </a:p>
        </p:txBody>
      </p:sp>
      <p:pic>
        <p:nvPicPr>
          <p:cNvPr id="2049" name="Picture 2" descr="A diagram of a circuit&#10;&#10;Description automatically generated">
            <a:extLst>
              <a:ext uri="{FF2B5EF4-FFF2-40B4-BE49-F238E27FC236}">
                <a16:creationId xmlns:a16="http://schemas.microsoft.com/office/drawing/2014/main" id="{B98F3ADE-36F6-15D3-DE34-FB1DD5796A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0259" y="1761215"/>
            <a:ext cx="1683992" cy="4094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4170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1B70A-AA58-75CA-C302-A13951F08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KCL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7AEFB-676E-5BB0-934D-C8F56FDEC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DD7B3A-B79F-0C05-5EA8-481A7565A3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6317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DF7F5-E39D-CE97-89D5-94390F1B1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KVL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D4A2D-B750-4BAE-F395-52043CB634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67D29B-AB7F-6927-814B-1BCA5493D4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4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9452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7D5F5-4CA0-BDAE-FC84-0BBCC60CE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Voltage divider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157BB-242B-6E86-DE4B-CCDC780E1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C28BF2-D123-6AD2-FCEB-B760629702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5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9926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9AC93-77DA-9E24-8E1E-AD0CDCFA3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divider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F743C-7495-6168-0B09-997247991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A117C4-0C99-D73B-0A0F-D1D3059658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6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2774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694ED-FBB6-2E28-4F4B-A33B46B32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354B10-14E8-6085-6B44-318332EE75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7</a:t>
            </a:fld>
            <a:endParaRPr lang="en-US" dirty="0">
              <a:latin typeface="PT Sans" panose="020B0503020203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9DD6D28-411B-7921-C401-50B81EDB30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078" y="795381"/>
            <a:ext cx="989142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Given the circuit with six resistors connected to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3V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voltage source as shown. Find voltages across the resistors (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V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V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V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V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and current through resistors (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T Sans" panose="020B05030202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T Sans" panose="020B0503020203020204" pitchFamily="34" charset="0"/>
            </a:endParaRPr>
          </a:p>
        </p:txBody>
      </p:sp>
      <p:pic>
        <p:nvPicPr>
          <p:cNvPr id="1025" name="Picture 4" descr="A diagram of a circuit&#10;&#10;Description automatically generated">
            <a:extLst>
              <a:ext uri="{FF2B5EF4-FFF2-40B4-BE49-F238E27FC236}">
                <a16:creationId xmlns:a16="http://schemas.microsoft.com/office/drawing/2014/main" id="{F52220B1-C1B5-6B2D-19D9-F087E6DA96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0723" y="2365041"/>
            <a:ext cx="4858247" cy="3990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3A222F58-69F6-1345-1047-7E3081BF74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078" y="4199586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319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7044F-93F9-2409-BE29-FFD7FEC03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ABB34-A07A-8C88-4B4B-58464FC7F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6FE4A5-A7BF-07B1-11EA-4F28597E76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8</a:t>
            </a:fld>
            <a:endParaRPr lang="en-US" dirty="0">
              <a:latin typeface="PT Sans" panose="020B0503020203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BB01D5A-2D41-E6CA-DD50-189E0FEA6B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078" y="795381"/>
            <a:ext cx="989142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Given the circuit with six resistors connected to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3V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voltage source as shown. Find voltages across the resistors (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V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V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V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V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and current through resistors (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T Sans" panose="020B05030202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T Sans" panose="020B0503020203020204" pitchFamily="34" charset="0"/>
            </a:endParaRPr>
          </a:p>
        </p:txBody>
      </p:sp>
      <p:pic>
        <p:nvPicPr>
          <p:cNvPr id="1025" name="Picture 4" descr="A diagram of a circuit&#10;&#10;Description automatically generated">
            <a:extLst>
              <a:ext uri="{FF2B5EF4-FFF2-40B4-BE49-F238E27FC236}">
                <a16:creationId xmlns:a16="http://schemas.microsoft.com/office/drawing/2014/main" id="{5236666C-C2D0-40F5-5939-D6233D08E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542" y="2365041"/>
            <a:ext cx="4858247" cy="3990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869273EE-6721-D394-C73B-76649C2B86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078" y="4199586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152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B8CF6-AF14-41B8-3AC7-0ABEB33D4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D8A30-C025-9F1F-4C76-A59F56D07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3BABC0-8E00-DC67-EE93-C23762AC04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9</a:t>
            </a:fld>
            <a:endParaRPr lang="en-US" dirty="0">
              <a:latin typeface="PT Sans" panose="020B0503020203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39125D1-189F-B65A-CAB7-BDC4C26B9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078" y="795381"/>
            <a:ext cx="989142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Given the circuit with six resistors connected to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3V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voltage source as shown. Find voltages across the resistors (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V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V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V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V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and current through resistors (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T Sans" panose="020B05030202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T Sans" panose="020B0503020203020204" pitchFamily="34" charset="0"/>
            </a:endParaRPr>
          </a:p>
        </p:txBody>
      </p:sp>
      <p:pic>
        <p:nvPicPr>
          <p:cNvPr id="1025" name="Picture 4" descr="A diagram of a circuit&#10;&#10;Description automatically generated">
            <a:extLst>
              <a:ext uri="{FF2B5EF4-FFF2-40B4-BE49-F238E27FC236}">
                <a16:creationId xmlns:a16="http://schemas.microsoft.com/office/drawing/2014/main" id="{F8145107-5580-B8E7-37A4-DC15DF3BE8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542" y="2365041"/>
            <a:ext cx="4858247" cy="3990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753C5E9F-FF25-2063-C75E-0D3CFE5DB8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078" y="4199586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7629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1B956-4177-6A02-0439-051C697A6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C873F-3F7A-0A41-D694-A007778E4C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10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5" name="Picture 4" descr="A diagram of a circuit&#10;&#10;AI-generated content may be incorrect.">
            <a:extLst>
              <a:ext uri="{FF2B5EF4-FFF2-40B4-BE49-F238E27FC236}">
                <a16:creationId xmlns:a16="http://schemas.microsoft.com/office/drawing/2014/main" id="{1AA4E9FA-3EA4-CC14-CDEF-C8A1CDE065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2593" y="2266589"/>
            <a:ext cx="4405652" cy="3747439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0A526678-192C-AB3C-8FD2-D79D1E5EBA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96929"/>
            <a:ext cx="105156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Given the circuit diagram with nodes </a:t>
            </a:r>
            <a:r>
              <a:rPr lang="en-US" altLang="en-US" sz="2400" b="1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</a:t>
            </a:r>
            <a:r>
              <a:rPr lang="en-US" altLang="en-US" sz="2400" b="1" baseline="-30000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</a:t>
            </a:r>
            <a:r>
              <a:rPr lang="en-US" altLang="en-US" sz="2400" b="1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S</a:t>
            </a:r>
            <a:r>
              <a:rPr lang="en-US" altLang="en-US" sz="2400" b="1" baseline="-30000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altLang="en-US" sz="2400" b="1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altLang="en-US" sz="2400" b="1" baseline="-30000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connected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3.3V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GND (0V). Determine the voltages </a:t>
            </a:r>
            <a:r>
              <a:rPr lang="en-US" altLang="en-US" sz="2400" b="1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</a:t>
            </a:r>
            <a:r>
              <a:rPr lang="en-US" altLang="en-US" sz="2400" b="1" baseline="-30000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</a:t>
            </a:r>
            <a:r>
              <a:rPr lang="en-US" altLang="en-US" sz="2400" b="1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S</a:t>
            </a:r>
            <a:r>
              <a:rPr lang="en-US" altLang="en-US" sz="2400" b="1" baseline="-30000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​ at the respective nodes with respect to the ground if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altLang="en-US" sz="2400" b="1" baseline="-30000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</a:t>
            </a:r>
            <a:r>
              <a:rPr lang="en-US" altLang="en-US" sz="2400" b="1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R</a:t>
            </a:r>
            <a:r>
              <a:rPr lang="en-US" altLang="en-US" sz="2400" b="1" baseline="-30000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12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R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T Sans" panose="020B05030202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778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DCE0D-5CB6-1EDA-C78E-F1CBACD39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495FF-B1C3-0816-8325-F7A86D20F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EA0B68-D1B8-1672-D9B5-46CE99263B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11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5" name="Picture 4" descr="A diagram of a circuit&#10;&#10;AI-generated content may be incorrect.">
            <a:extLst>
              <a:ext uri="{FF2B5EF4-FFF2-40B4-BE49-F238E27FC236}">
                <a16:creationId xmlns:a16="http://schemas.microsoft.com/office/drawing/2014/main" id="{98F4B701-403D-1D4C-0FA7-B1E4C04B53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5" y="2536934"/>
            <a:ext cx="4405652" cy="3747439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08C9ECF9-3FBC-4702-649C-2D36EC84A1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96929"/>
            <a:ext cx="105156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Given the circuit diagram with nodes </a:t>
            </a:r>
            <a:r>
              <a:rPr lang="en-US" altLang="en-US" sz="2400" b="1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</a:t>
            </a:r>
            <a:r>
              <a:rPr lang="en-US" altLang="en-US" sz="2400" b="1" baseline="-30000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</a:t>
            </a:r>
            <a:r>
              <a:rPr lang="en-US" altLang="en-US" sz="2400" b="1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S</a:t>
            </a:r>
            <a:r>
              <a:rPr lang="en-US" altLang="en-US" sz="2400" b="1" baseline="-30000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altLang="en-US" sz="2400" b="1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altLang="en-US" sz="2400" b="1" baseline="-30000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connected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3.3V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GND (0V). Determine the voltages </a:t>
            </a:r>
            <a:r>
              <a:rPr lang="en-US" altLang="en-US" sz="2400" b="1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</a:t>
            </a:r>
            <a:r>
              <a:rPr lang="en-US" altLang="en-US" sz="2400" b="1" baseline="-30000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</a:t>
            </a:r>
            <a:r>
              <a:rPr lang="en-US" altLang="en-US" sz="2400" b="1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S</a:t>
            </a:r>
            <a:r>
              <a:rPr lang="en-US" altLang="en-US" sz="2400" b="1" baseline="-30000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​ at the respective nodes with respect to the ground if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altLang="en-US" sz="2400" b="1" baseline="-30000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</a:t>
            </a:r>
            <a:r>
              <a:rPr lang="en-US" altLang="en-US" sz="2400" b="1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R</a:t>
            </a:r>
            <a:r>
              <a:rPr lang="en-US" altLang="en-US" sz="2400" b="1" baseline="-30000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12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R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T Sans" panose="020B05030202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92096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60AA0-84CD-1469-85FD-362570C8B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945C0-AF92-A89D-61E2-12D876B45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555ECD-F52C-0FB6-661B-96D936A919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12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5" name="Picture 4" descr="A diagram of a circuit&#10;&#10;AI-generated content may be incorrect.">
            <a:extLst>
              <a:ext uri="{FF2B5EF4-FFF2-40B4-BE49-F238E27FC236}">
                <a16:creationId xmlns:a16="http://schemas.microsoft.com/office/drawing/2014/main" id="{42FEE3C3-A2AA-0580-2453-8EBD6CC39C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5" y="2536934"/>
            <a:ext cx="4405652" cy="3747439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AD9E8F4F-89EA-A495-E8B2-4F07EAA8E8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96929"/>
            <a:ext cx="105156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Given the circuit diagram with nodes </a:t>
            </a:r>
            <a:r>
              <a:rPr lang="en-US" altLang="en-US" sz="2400" b="1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</a:t>
            </a:r>
            <a:r>
              <a:rPr lang="en-US" altLang="en-US" sz="2400" b="1" baseline="-30000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</a:t>
            </a:r>
            <a:r>
              <a:rPr lang="en-US" altLang="en-US" sz="2400" b="1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S</a:t>
            </a:r>
            <a:r>
              <a:rPr lang="en-US" altLang="en-US" sz="2400" b="1" baseline="-30000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altLang="en-US" sz="2400" b="1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altLang="en-US" sz="2400" b="1" baseline="-30000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connected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3.3V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GND (0V). Determine the voltages </a:t>
            </a:r>
            <a:r>
              <a:rPr lang="en-US" altLang="en-US" sz="2400" b="1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</a:t>
            </a:r>
            <a:r>
              <a:rPr lang="en-US" altLang="en-US" sz="2400" b="1" baseline="-30000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</a:t>
            </a:r>
            <a:r>
              <a:rPr lang="en-US" altLang="en-US" sz="2400" b="1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S</a:t>
            </a:r>
            <a:r>
              <a:rPr lang="en-US" altLang="en-US" sz="2400" b="1" baseline="-30000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​ at the respective nodes with respect to the ground if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altLang="en-US" sz="2400" b="1" baseline="-30000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</a:t>
            </a:r>
            <a:r>
              <a:rPr lang="en-US" altLang="en-US" sz="2400" b="1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R</a:t>
            </a:r>
            <a:r>
              <a:rPr lang="en-US" altLang="en-US" sz="2400" b="1" baseline="-30000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12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R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T Sans" panose="020B05030202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05071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6A211-688E-1267-8181-1360B18C6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notebook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380878-9CD6-24D1-4991-FB1896B6F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13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7448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285750" indent="-285750">
          <a:buFont typeface="Arial" charset="0"/>
          <a:buChar char="•"/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22822</TotalTime>
  <Words>375</Words>
  <Application>Microsoft Office PowerPoint</Application>
  <PresentationFormat>Widescreen</PresentationFormat>
  <Paragraphs>37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PT Sans</vt:lpstr>
      <vt:lpstr>Times New Roman</vt:lpstr>
      <vt:lpstr>Office Theme</vt:lpstr>
      <vt:lpstr>ECE 105: Introduction to Electrical Engineering</vt:lpstr>
      <vt:lpstr>Problem 1 </vt:lpstr>
      <vt:lpstr>KCL</vt:lpstr>
      <vt:lpstr>KVL</vt:lpstr>
      <vt:lpstr>Voltage divider</vt:lpstr>
      <vt:lpstr>Current divider</vt:lpstr>
      <vt:lpstr>Problem 2 </vt:lpstr>
      <vt:lpstr>Problem 2 </vt:lpstr>
      <vt:lpstr>Problem 2 </vt:lpstr>
      <vt:lpstr>Problem 3</vt:lpstr>
      <vt:lpstr>Problem 3</vt:lpstr>
      <vt:lpstr>Problem 3</vt:lpstr>
      <vt:lpstr>Python notebook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Yasser Khan</dc:creator>
  <cp:lastModifiedBy>Yasser Khan</cp:lastModifiedBy>
  <cp:revision>923</cp:revision>
  <cp:lastPrinted>2017-03-30T23:40:26Z</cp:lastPrinted>
  <dcterms:created xsi:type="dcterms:W3CDTF">2014-02-24T21:19:39Z</dcterms:created>
  <dcterms:modified xsi:type="dcterms:W3CDTF">2025-09-07T13:11:57Z</dcterms:modified>
</cp:coreProperties>
</file>