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794" r:id="rId2"/>
    <p:sldId id="814" r:id="rId3"/>
    <p:sldId id="808" r:id="rId4"/>
    <p:sldId id="815" r:id="rId5"/>
    <p:sldId id="816" r:id="rId6"/>
    <p:sldId id="817" r:id="rId7"/>
    <p:sldId id="818" r:id="rId8"/>
    <p:sldId id="819" r:id="rId9"/>
    <p:sldId id="820" r:id="rId10"/>
    <p:sldId id="821" r:id="rId11"/>
    <p:sldId id="804" r:id="rId12"/>
    <p:sldId id="822" r:id="rId13"/>
    <p:sldId id="803" r:id="rId14"/>
    <p:sldId id="823" r:id="rId15"/>
    <p:sldId id="811" r:id="rId16"/>
    <p:sldId id="798" r:id="rId17"/>
    <p:sldId id="799" r:id="rId18"/>
    <p:sldId id="825" r:id="rId19"/>
    <p:sldId id="826" r:id="rId20"/>
    <p:sldId id="827" r:id="rId21"/>
    <p:sldId id="828" r:id="rId22"/>
    <p:sldId id="795" r:id="rId23"/>
    <p:sldId id="800" r:id="rId24"/>
    <p:sldId id="829" r:id="rId25"/>
    <p:sldId id="81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sser Khan" initials="Y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1B1E"/>
    <a:srgbClr val="8C1515"/>
    <a:srgbClr val="AFEBFF"/>
    <a:srgbClr val="FFAAAA"/>
    <a:srgbClr val="E3B7F1"/>
    <a:srgbClr val="C6D4FF"/>
    <a:srgbClr val="C5FFC5"/>
    <a:srgbClr val="05274E"/>
    <a:srgbClr val="B0C3FF"/>
    <a:srgbClr val="FFFF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64" autoAdjust="0"/>
    <p:restoredTop sz="95334" autoAdjust="0"/>
  </p:normalViewPr>
  <p:slideViewPr>
    <p:cSldViewPr snapToGrid="0">
      <p:cViewPr varScale="1">
        <p:scale>
          <a:sx n="132" d="100"/>
          <a:sy n="132" d="100"/>
        </p:scale>
        <p:origin x="202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2856"/>
    </p:cViewPr>
  </p:sorterViewPr>
  <p:notesViewPr>
    <p:cSldViewPr snapToGrid="0">
      <p:cViewPr varScale="1">
        <p:scale>
          <a:sx n="65" d="100"/>
          <a:sy n="65" d="100"/>
        </p:scale>
        <p:origin x="2578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9E6E90-D057-4D0D-B992-091951C9891F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CD6554-DBE6-4CB7-8C9A-72353E7B6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987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8:03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618 152 456 0 0,'0'-6'120'0'0,"0"0"0"0"0,0 0 0 0 0,-1 0 0 0 0,0 0-1 0 0,-1 0 1 0 0,1 0 0 0 0,-1 0 0 0 0,0 0 0 0 0,-1 1 0 0 0,1-1 0 0 0,-1 1 0 0 0,0 0-1 0 0,0 0 1 0 0,-1 0 0 0 0,0 0 0 0 0,0 0 0 0 0,0 1 0 0 0,-6-5 0 0 0,4 4 28 0 0,0 0 0 0 0,-1 1-1 0 0,0 0 1 0 0,0 0 0 0 0,0 0 0 0 0,0 1 0 0 0,-1 0 0 0 0,1 1 0 0 0,-1 0 0 0 0,0 0 0 0 0,0 0 0 0 0,0 1 0 0 0,-10 0 0 0 0,-4 0 45 0 0,0 1 0 0 0,0 1-1 0 0,1 1 1 0 0,-1 0 0 0 0,0 2 0 0 0,-25 8 0 0 0,37-9-54 0 0,1 1 0 0 0,-1 0-1 0 0,1 1 1 0 0,0 0 0 0 0,0 0 0 0 0,0 1 0 0 0,1 0 0 0 0,0 1 0 0 0,0 0 0 0 0,1 0 0 0 0,0 0 0 0 0,0 1 0 0 0,1 0 0 0 0,0 1 0 0 0,-7 11 0 0 0,-17 39-67 0 0,2 2 0 0 0,2 0 1 0 0,-22 87-1 0 0,44-131 282 0 0,1 1 0 0 0,1 0 1 0 0,0 0-1 0 0,1 0 0 0 0,1 0 0 0 0,1 0 0 0 0,0 0 0 0 0,7 31 0 0 0,7 11-85 0 0,25 69-1 0 0,-28-93-208 0 0,-2-12 86 0 0,1-1 1 0 0,1 1 0 0 0,1-2-1 0 0,1 0 1 0 0,1 0 0 0 0,1-1 0 0 0,1-1-1 0 0,1-1 1 0 0,0 0 0 0 0,1-2-1 0 0,1 0 1 0 0,1-1 0 0 0,40 23-1 0 0,-41-29-110 0 0,1-1-1 0 0,0-1 0 0 0,1-1 0 0 0,0-1 1 0 0,0 0-1 0 0,0-2 0 0 0,1-1 1 0 0,-1-1-1 0 0,1 0 0 0 0,0-2 0 0 0,-1-1 1 0 0,1 0-1 0 0,0-2 0 0 0,-1 0 0 0 0,1-2 1 0 0,-1-1-1 0 0,28-10 0 0 0,-32 7-18 0 0,-1 0 0 0 0,0-1 0 0 0,0 0 0 0 0,-1-2 0 0 0,-1 0 0 0 0,0 0 0 0 0,19-21 0 0 0,-10 6 17 0 0,-1-1 0 0 0,-1-2 0 0 0,20-33 0 0 0,-24 31-21 0 0,-2-1-1 0 0,-1-1 1 0 0,-2 0-1 0 0,-1-1 1 0 0,13-66-1 0 0,-23 85 0 0 0,0-1 0 0 0,-1 1 1 0 0,-1-1-1 0 0,-1 1 0 0 0,0-1 0 0 0,-5-23 1 0 0,-31-97 106 0 0,12 51-87 0 0,18 58-27 0 0,4 11 9 0 0,-2-1 1 0 0,0 1-1 0 0,-10-21 0 0 0,12 33-11 0 0,0-1 0 0 0,0 2 0 0 0,0-1 0 0 0,0 0-1 0 0,-1 1 1 0 0,0-1 0 0 0,0 1 0 0 0,0 0 0 0 0,0 0-1 0 0,-1 1 1 0 0,1-1 0 0 0,-1 1 0 0 0,0 0 0 0 0,-8-3-1 0 0,-47-17-185 0 0,-113-27 0 0 0,16 6-172 0 0,155 43 271 0 0,-2-1-163 0 0,0 1 0 0 0,0 0 0 0 0,0-1-1 0 0,0 2 1 0 0,0-1 0 0 0,-1 0 0 0 0,1 1-1 0 0,0 0 1 0 0,0 0 0 0 0,-7 0 0 0 0,0 5-4262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E82251-0160-4469-ACEE-303A5D4B0836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656E40-D1A4-4189-B190-F9CD7DFE8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809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56E40-D1A4-4189-B190-F9CD7DFE87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4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564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PT Sans" panose="020B05030202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98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126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584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5" name="Picture 4" descr="Text&#10;&#10;Description automatically generated with medium confidence">
            <a:extLst>
              <a:ext uri="{FF2B5EF4-FFF2-40B4-BE49-F238E27FC236}">
                <a16:creationId xmlns:a16="http://schemas.microsoft.com/office/drawing/2014/main" id="{7C60BECE-557F-4952-BC37-9040A86B0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76" t="22101" r="5881" b="20208"/>
          <a:stretch/>
        </p:blipFill>
        <p:spPr>
          <a:xfrm>
            <a:off x="10788202" y="0"/>
            <a:ext cx="1352283" cy="78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290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rgbClr val="991B1E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102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customXml" Target="../ink/ink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9C49B-9325-4F28-84AA-EF2118377A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98966" y="1150200"/>
            <a:ext cx="6194065" cy="961565"/>
          </a:xfrm>
        </p:spPr>
        <p:txBody>
          <a:bodyPr>
            <a:noAutofit/>
          </a:bodyPr>
          <a:lstStyle/>
          <a:p>
            <a:r>
              <a:rPr lang="en-US" sz="4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ECE 105: Introduction to Electrical Engineerin</a:t>
            </a:r>
            <a:r>
              <a:rPr lang="en-US" sz="4400" dirty="0"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D5305-B3D3-4E24-9167-6DC659185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0811" y="3477445"/>
            <a:ext cx="5590376" cy="2230355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PT Sans" panose="020B0503020203020204" pitchFamily="34" charset="0"/>
              </a:rPr>
              <a:t>Lecture </a:t>
            </a:r>
            <a:r>
              <a:rPr lang="en-US" sz="2800" dirty="0"/>
              <a:t>3</a:t>
            </a:r>
            <a:endParaRPr lang="en-US" sz="2800" dirty="0">
              <a:latin typeface="PT Sans" panose="020B0503020203020204" pitchFamily="34" charset="0"/>
            </a:endParaRPr>
          </a:p>
          <a:p>
            <a:r>
              <a:rPr lang="en-US" sz="2800" dirty="0">
                <a:latin typeface="PT Sans" panose="020B0503020203020204" pitchFamily="34" charset="0"/>
              </a:rPr>
              <a:t>Circuit analysis 1</a:t>
            </a:r>
          </a:p>
          <a:p>
            <a:r>
              <a:rPr lang="en-US" sz="2800" dirty="0"/>
              <a:t>Yasser Khan</a:t>
            </a:r>
          </a:p>
          <a:p>
            <a:r>
              <a:rPr lang="en-US" sz="2800" dirty="0" err="1">
                <a:latin typeface="PT Sans" panose="020B0503020203020204" pitchFamily="34" charset="0"/>
              </a:rPr>
              <a:t>Rehan</a:t>
            </a:r>
            <a:r>
              <a:rPr lang="en-US" sz="2800" dirty="0">
                <a:latin typeface="PT Sans" panose="020B0503020203020204" pitchFamily="34" charset="0"/>
              </a:rPr>
              <a:t> Kapadia</a:t>
            </a:r>
          </a:p>
        </p:txBody>
      </p:sp>
    </p:spTree>
    <p:extLst>
      <p:ext uri="{BB962C8B-B14F-4D97-AF65-F5344CB8AC3E}">
        <p14:creationId xmlns:p14="http://schemas.microsoft.com/office/powerpoint/2010/main" val="3505511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28C7D-BD2E-100B-8636-B6C4E0154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circuit quantities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8E503-CED9-CC6E-139F-F1B578A726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</a:t>
            </a:fld>
            <a:endParaRPr lang="en-US" dirty="0">
              <a:latin typeface="PT Sans" panose="020B0503020203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DB4B286-F364-3C8E-A76A-3519D99D14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126301"/>
              </p:ext>
            </p:extLst>
          </p:nvPr>
        </p:nvGraphicFramePr>
        <p:xfrm>
          <a:off x="1316383" y="1856702"/>
          <a:ext cx="8127999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0059">
                  <a:extLst>
                    <a:ext uri="{9D8B030D-6E8A-4147-A177-3AD203B41FA5}">
                      <a16:colId xmlns:a16="http://schemas.microsoft.com/office/drawing/2014/main" val="3161380153"/>
                    </a:ext>
                  </a:extLst>
                </a:gridCol>
                <a:gridCol w="1908607">
                  <a:extLst>
                    <a:ext uri="{9D8B030D-6E8A-4147-A177-3AD203B41FA5}">
                      <a16:colId xmlns:a16="http://schemas.microsoft.com/office/drawing/2014/main" val="371999752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122899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PT Sans" panose="020B0503020203020204" pitchFamily="34" charset="0"/>
                        </a:rPr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PT Sans" panose="020B0503020203020204" pitchFamily="34" charset="0"/>
                        </a:rPr>
                        <a:t>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PT Sans" panose="020B0503020203020204" pitchFamily="34" charset="0"/>
                        </a:rPr>
                        <a:t>Units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2411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PT Sans" panose="020B0503020203020204" pitchFamily="34" charset="0"/>
                        </a:rPr>
                        <a:t>Voltage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PT Sans" panose="020B0503020203020204" pitchFamily="34" charset="0"/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PT Sans" panose="020B0503020203020204" pitchFamily="34" charset="0"/>
                        </a:rPr>
                        <a:t>Volts (V)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5934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PT Sans" panose="020B0503020203020204" pitchFamily="34" charset="0"/>
                        </a:rPr>
                        <a:t>Current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PT Sans" panose="020B0503020203020204" pitchFamily="34" charset="0"/>
                        </a:rPr>
                        <a:t>I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PT Sans" panose="020B0503020203020204" pitchFamily="34" charset="0"/>
                        </a:rPr>
                        <a:t>Amperes (A)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072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PT Sans" panose="020B0503020203020204" pitchFamily="34" charset="0"/>
                        </a:rPr>
                        <a:t>Resistance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PT Sans" panose="020B0503020203020204" pitchFamily="34" charset="0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PT Sans" panose="020B0503020203020204" pitchFamily="34" charset="0"/>
                        </a:rPr>
                        <a:t>Ohms (</a:t>
                      </a:r>
                      <a:r>
                        <a:rPr lang="el-GR" sz="3200" dirty="0">
                          <a:latin typeface="PT Sans" panose="020B0503020203020204" pitchFamily="34" charset="0"/>
                        </a:rPr>
                        <a:t>Ω</a:t>
                      </a:r>
                      <a:r>
                        <a:rPr lang="en-US" sz="3200" dirty="0">
                          <a:latin typeface="PT Sans" panose="020B0503020203020204" pitchFamily="34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3993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PT Sans" panose="020B0503020203020204" pitchFamily="34" charset="0"/>
                        </a:rPr>
                        <a:t>Capacitance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PT Sans" panose="020B0503020203020204" pitchFamily="34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PT Sans" panose="020B0503020203020204" pitchFamily="34" charset="0"/>
                        </a:rPr>
                        <a:t>Coulomb (C)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4657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PT Sans" panose="020B0503020203020204" pitchFamily="34" charset="0"/>
                        </a:rPr>
                        <a:t>Inductance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PT Sans" panose="020B0503020203020204" pitchFamily="34" charset="0"/>
                        </a:rPr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PT Sans" panose="020B0503020203020204" pitchFamily="34" charset="0"/>
                        </a:rPr>
                        <a:t>Henry (H)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84729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4861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6C91A-4B70-2A52-C5C0-348C063A2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Notations</a:t>
            </a:r>
          </a:p>
        </p:txBody>
      </p:sp>
      <p:pic>
        <p:nvPicPr>
          <p:cNvPr id="6" name="Content Placeholder 5" descr="A diagram of electrical diagrams&#10;&#10;Description automatically generated">
            <a:extLst>
              <a:ext uri="{FF2B5EF4-FFF2-40B4-BE49-F238E27FC236}">
                <a16:creationId xmlns:a16="http://schemas.microsoft.com/office/drawing/2014/main" id="{20CDFC15-1C84-8F71-5161-76B3F04F82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853" y="1159411"/>
            <a:ext cx="3962001" cy="440222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4D616-F90A-DB17-4871-806D902B85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4462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C0E2A-594A-2178-5CB6-396B067E6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6F089-7C3D-D4B7-E37D-273F254C7F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4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85BAB6E6-6CB3-8628-610A-6331F87DBD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2004" y="249579"/>
            <a:ext cx="7247992" cy="3495486"/>
          </a:xfrm>
          <a:prstGeom prst="rect">
            <a:avLst/>
          </a:prstGeom>
        </p:spPr>
      </p:pic>
      <p:pic>
        <p:nvPicPr>
          <p:cNvPr id="8" name="Picture 7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1C986406-37DB-EEA9-487C-3D95D89821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912" y="3901850"/>
            <a:ext cx="7668176" cy="25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677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80058-AD09-5A30-E1D5-3ACC0799B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Resistor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F14F4D-980B-E581-BAD4-5941B0829B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5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DCBBA3AE-7F60-BFB3-E4BD-D04DC80B9B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519" y="4436631"/>
            <a:ext cx="6928617" cy="1761849"/>
          </a:xfrm>
          <a:prstGeom prst="rect">
            <a:avLst/>
          </a:prstGeom>
        </p:spPr>
      </p:pic>
      <p:pic>
        <p:nvPicPr>
          <p:cNvPr id="8" name="Picture 7" descr="A black and white text&#10;&#10;Description automatically generated">
            <a:extLst>
              <a:ext uri="{FF2B5EF4-FFF2-40B4-BE49-F238E27FC236}">
                <a16:creationId xmlns:a16="http://schemas.microsoft.com/office/drawing/2014/main" id="{5CF22B0F-A4C9-8690-2DBC-BD2A5348A4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6544" y="659520"/>
            <a:ext cx="7058911" cy="319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724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B0293-636A-A36B-545E-6C89282EB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circuit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84BDC0-EB94-4BD9-C8E8-D21C93B2A4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6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black arrow pointing to a red line&#10;&#10;Description automatically generated">
            <a:extLst>
              <a:ext uri="{FF2B5EF4-FFF2-40B4-BE49-F238E27FC236}">
                <a16:creationId xmlns:a16="http://schemas.microsoft.com/office/drawing/2014/main" id="{39F21257-D2AD-B993-1285-11466F1C7C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5032" y="552616"/>
            <a:ext cx="7101936" cy="3256302"/>
          </a:xfrm>
          <a:prstGeom prst="rect">
            <a:avLst/>
          </a:prstGeom>
        </p:spPr>
      </p:pic>
      <p:pic>
        <p:nvPicPr>
          <p:cNvPr id="8" name="Picture 7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0A45BBD8-9576-20ED-5825-370FFA8060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4504" y="4042078"/>
            <a:ext cx="7959116" cy="226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280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4142F-D8A3-106E-9B19-AE9178C3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 source</a:t>
            </a:r>
          </a:p>
        </p:txBody>
      </p:sp>
      <p:pic>
        <p:nvPicPr>
          <p:cNvPr id="6" name="Content Placeholder 5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BAE5AE10-2501-0F2A-17C5-97287AADDB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6383" y="174952"/>
            <a:ext cx="6059233" cy="275112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CAE72C-8E69-72F2-7AAD-5A915BBFBD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7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A white text with black text&#10;&#10;Description automatically generated">
            <a:extLst>
              <a:ext uri="{FF2B5EF4-FFF2-40B4-BE49-F238E27FC236}">
                <a16:creationId xmlns:a16="http://schemas.microsoft.com/office/drawing/2014/main" id="{B51DBC0C-3A1C-4F16-8556-60A9D8267F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558" y="3262021"/>
            <a:ext cx="6876883" cy="3345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844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F20C5-17D3-9208-879E-6BB842C21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source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56375-1A13-1D05-01D4-515002AB72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8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white background with black text and red arrows&#10;&#10;Description automatically generated">
            <a:extLst>
              <a:ext uri="{FF2B5EF4-FFF2-40B4-BE49-F238E27FC236}">
                <a16:creationId xmlns:a16="http://schemas.microsoft.com/office/drawing/2014/main" id="{D6BBA960-71EF-C3F2-00E6-719E8BBF5F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9286" y="63171"/>
            <a:ext cx="6389262" cy="2926519"/>
          </a:xfrm>
          <a:prstGeom prst="rect">
            <a:avLst/>
          </a:prstGeom>
        </p:spPr>
      </p:pic>
      <p:pic>
        <p:nvPicPr>
          <p:cNvPr id="8" name="Picture 7" descr="A close-up of a text&#10;&#10;Description automatically generated">
            <a:extLst>
              <a:ext uri="{FF2B5EF4-FFF2-40B4-BE49-F238E27FC236}">
                <a16:creationId xmlns:a16="http://schemas.microsoft.com/office/drawing/2014/main" id="{BDCC28B3-6A7C-8EB8-D670-9EA182D6B5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6182" y="2896262"/>
            <a:ext cx="7262161" cy="2590138"/>
          </a:xfrm>
          <a:prstGeom prst="rect">
            <a:avLst/>
          </a:prstGeom>
        </p:spPr>
      </p:pic>
      <p:pic>
        <p:nvPicPr>
          <p:cNvPr id="10" name="Picture 9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2F706E44-5682-A07D-07E2-2E229C4A5B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46" y="5165918"/>
            <a:ext cx="7315107" cy="1628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621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20ECF-F388-5ADC-5EA8-4EF51BB1C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of circuit analysis - KCL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C94948-AA9A-6201-F94C-2F18BBA481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9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text on a white background&#10;&#10;Description automatically generated">
            <a:extLst>
              <a:ext uri="{FF2B5EF4-FFF2-40B4-BE49-F238E27FC236}">
                <a16:creationId xmlns:a16="http://schemas.microsoft.com/office/drawing/2014/main" id="{7CAFB81E-2858-83DE-EA9E-39F33B6830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88" y="1334797"/>
            <a:ext cx="5692633" cy="4442845"/>
          </a:xfrm>
          <a:prstGeom prst="rect">
            <a:avLst/>
          </a:prstGeom>
        </p:spPr>
      </p:pic>
      <p:pic>
        <p:nvPicPr>
          <p:cNvPr id="8" name="Picture 7" descr="A diagram of a diagram&#10;&#10;Description automatically generated">
            <a:extLst>
              <a:ext uri="{FF2B5EF4-FFF2-40B4-BE49-F238E27FC236}">
                <a16:creationId xmlns:a16="http://schemas.microsoft.com/office/drawing/2014/main" id="{7A55FFC7-2309-1930-D107-4E02A47C18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5971" y="1334797"/>
            <a:ext cx="4034930" cy="268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713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0C508-B2DD-74FB-EA6C-1FC172585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of circuit analysis - KVL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86FDBB-FB87-1C3B-57CD-C8C1BC413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10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text on a page&#10;&#10;Description automatically generated">
            <a:extLst>
              <a:ext uri="{FF2B5EF4-FFF2-40B4-BE49-F238E27FC236}">
                <a16:creationId xmlns:a16="http://schemas.microsoft.com/office/drawing/2014/main" id="{A2015B41-6607-35FD-A55B-4FDCA91EE6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011" y="1248519"/>
            <a:ext cx="5616427" cy="4511431"/>
          </a:xfrm>
          <a:prstGeom prst="rect">
            <a:avLst/>
          </a:prstGeom>
        </p:spPr>
      </p:pic>
      <p:pic>
        <p:nvPicPr>
          <p:cNvPr id="8" name="Picture 7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6FA8F12A-6F6B-8CCE-D57D-D3C9343617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091" y="664319"/>
            <a:ext cx="3316747" cy="584200"/>
          </a:xfrm>
          <a:prstGeom prst="rect">
            <a:avLst/>
          </a:prstGeom>
        </p:spPr>
      </p:pic>
      <p:pic>
        <p:nvPicPr>
          <p:cNvPr id="10" name="Picture 9" descr="A diagram of a loop&#10;&#10;Description automatically generated">
            <a:extLst>
              <a:ext uri="{FF2B5EF4-FFF2-40B4-BE49-F238E27FC236}">
                <a16:creationId xmlns:a16="http://schemas.microsoft.com/office/drawing/2014/main" id="{6EBAE493-747D-D438-8478-B80658D20B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678" y="1855809"/>
            <a:ext cx="4528080" cy="190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91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FD730-4BE6-DC1F-2977-CB0EEA417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Resistors in series</a:t>
            </a:r>
          </a:p>
        </p:txBody>
      </p:sp>
      <p:pic>
        <p:nvPicPr>
          <p:cNvPr id="6" name="Content Placeholder 5" descr="A diagram of electrical circuits&#10;&#10;Description automatically generated">
            <a:extLst>
              <a:ext uri="{FF2B5EF4-FFF2-40B4-BE49-F238E27FC236}">
                <a16:creationId xmlns:a16="http://schemas.microsoft.com/office/drawing/2014/main" id="{689817DD-B2E3-5450-8E46-71DAC11139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467"/>
          <a:stretch/>
        </p:blipFill>
        <p:spPr>
          <a:xfrm>
            <a:off x="1546854" y="847793"/>
            <a:ext cx="4309935" cy="545239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05FB1-9B4C-FA18-1372-8FCBD35014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11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6281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FD730-4BE6-DC1F-2977-CB0EEA417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 divider</a:t>
            </a:r>
          </a:p>
        </p:txBody>
      </p:sp>
      <p:pic>
        <p:nvPicPr>
          <p:cNvPr id="6" name="Content Placeholder 5" descr="A diagram of electrical circuits&#10;&#10;Description automatically generated">
            <a:extLst>
              <a:ext uri="{FF2B5EF4-FFF2-40B4-BE49-F238E27FC236}">
                <a16:creationId xmlns:a16="http://schemas.microsoft.com/office/drawing/2014/main" id="{689817DD-B2E3-5450-8E46-71DAC11139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467"/>
          <a:stretch/>
        </p:blipFill>
        <p:spPr>
          <a:xfrm>
            <a:off x="690328" y="1027201"/>
            <a:ext cx="3797086" cy="480359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05FB1-9B4C-FA18-1372-8FCBD35014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12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3" name="Content Placeholder 5" descr="A diagram of electrical circuits&#10;&#10;Description automatically generated">
            <a:extLst>
              <a:ext uri="{FF2B5EF4-FFF2-40B4-BE49-F238E27FC236}">
                <a16:creationId xmlns:a16="http://schemas.microsoft.com/office/drawing/2014/main" id="{9C1E1633-F8F8-67C5-FFC8-60D6510F56C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732"/>
          <a:stretch/>
        </p:blipFill>
        <p:spPr>
          <a:xfrm>
            <a:off x="6201136" y="95491"/>
            <a:ext cx="4139128" cy="3541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25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A3599-3D43-82D2-FC24-D5C13871D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Resistors in parallel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2CB8D-5C56-66F0-D4E1-B2480C8497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13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A diagram of a circuit&#10;&#10;Description automatically generated">
            <a:extLst>
              <a:ext uri="{FF2B5EF4-FFF2-40B4-BE49-F238E27FC236}">
                <a16:creationId xmlns:a16="http://schemas.microsoft.com/office/drawing/2014/main" id="{F2BED427-FF86-F101-F9F6-0CA9815A02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299" y="837178"/>
            <a:ext cx="6331314" cy="5183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335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A3599-3D43-82D2-FC24-D5C13871D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divider</a:t>
            </a:r>
          </a:p>
        </p:txBody>
      </p:sp>
      <p:pic>
        <p:nvPicPr>
          <p:cNvPr id="6" name="Content Placeholder 5" descr="A diagram of a circuit&#10;&#10;Description automatically generated">
            <a:extLst>
              <a:ext uri="{FF2B5EF4-FFF2-40B4-BE49-F238E27FC236}">
                <a16:creationId xmlns:a16="http://schemas.microsoft.com/office/drawing/2014/main" id="{5DF4F50E-6D8F-174E-CBA4-3752A35440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992" y="1008301"/>
            <a:ext cx="2712555" cy="522845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2CB8D-5C56-66F0-D4E1-B2480C8497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14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64276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841FD-691A-A308-C3B4-259E396F1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voltage, current, resistance</a:t>
            </a:r>
          </a:p>
        </p:txBody>
      </p:sp>
      <p:pic>
        <p:nvPicPr>
          <p:cNvPr id="6" name="Content Placeholder 5" descr="A diagram of a voltage&#10;&#10;Description automatically generated">
            <a:extLst>
              <a:ext uri="{FF2B5EF4-FFF2-40B4-BE49-F238E27FC236}">
                <a16:creationId xmlns:a16="http://schemas.microsoft.com/office/drawing/2014/main" id="{6D605F31-3BE0-93CC-3B45-D1516DF10D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366" y="1228715"/>
            <a:ext cx="8062659" cy="238526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3A1231-9E7D-91AA-BA3A-C222D8039B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15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3" name="Content Placeholder 5" descr="A diagram of an ammeter&#10;&#10;Description automatically generated">
            <a:extLst>
              <a:ext uri="{FF2B5EF4-FFF2-40B4-BE49-F238E27FC236}">
                <a16:creationId xmlns:a16="http://schemas.microsoft.com/office/drawing/2014/main" id="{26880BB5-E997-47B3-EA6A-36AE3107B3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687" y="3980939"/>
            <a:ext cx="7902625" cy="228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7602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81756-92D3-3890-01DC-27906AE19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nodes</a:t>
            </a:r>
          </a:p>
        </p:txBody>
      </p:sp>
      <p:pic>
        <p:nvPicPr>
          <p:cNvPr id="6" name="Content Placeholder 5" descr="A diagram of a circuit&#10;&#10;Description automatically generated">
            <a:extLst>
              <a:ext uri="{FF2B5EF4-FFF2-40B4-BE49-F238E27FC236}">
                <a16:creationId xmlns:a16="http://schemas.microsoft.com/office/drawing/2014/main" id="{BF3A4557-383A-8DED-D073-ECCB778057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5116" y="1534401"/>
            <a:ext cx="5791702" cy="313971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201E55-6199-7247-2F79-340F6C8A1B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16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75620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49207-7691-7E88-CEBF-AF4523138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the node connected to the source</a:t>
            </a:r>
          </a:p>
        </p:txBody>
      </p:sp>
      <p:pic>
        <p:nvPicPr>
          <p:cNvPr id="6" name="Content Placeholder 5" descr="A diagram of a circuit&#10;&#10;Description automatically generated">
            <a:extLst>
              <a:ext uri="{FF2B5EF4-FFF2-40B4-BE49-F238E27FC236}">
                <a16:creationId xmlns:a16="http://schemas.microsoft.com/office/drawing/2014/main" id="{774790A2-15E9-395E-E358-46FEA6CEC4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362" y="1447937"/>
            <a:ext cx="6135137" cy="372015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0B2E3A-2B27-7623-B6BF-F08A1D5D11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17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5300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49207-7691-7E88-CEBF-AF4523138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other nodes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0B2E3A-2B27-7623-B6BF-F08A1D5D11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18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A diagram of a circuit&#10;&#10;Description automatically generated">
            <a:extLst>
              <a:ext uri="{FF2B5EF4-FFF2-40B4-BE49-F238E27FC236}">
                <a16:creationId xmlns:a16="http://schemas.microsoft.com/office/drawing/2014/main" id="{E7C7EAF4-B3DF-2BCD-C421-0A54881B3B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3369" y="1526019"/>
            <a:ext cx="5328402" cy="3624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7229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49207-7691-7E88-CEBF-AF4523138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elements sharing the same nodes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0B2E3A-2B27-7623-B6BF-F08A1D5D11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19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12" name="Picture 11" descr="A diagram of a circuit&#10;&#10;Description automatically generated">
            <a:extLst>
              <a:ext uri="{FF2B5EF4-FFF2-40B4-BE49-F238E27FC236}">
                <a16:creationId xmlns:a16="http://schemas.microsoft.com/office/drawing/2014/main" id="{87FD50CC-79F7-B354-7F20-68CA8A43E5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965" y="1432927"/>
            <a:ext cx="5814564" cy="3772227"/>
          </a:xfrm>
          <a:prstGeom prst="rect">
            <a:avLst/>
          </a:prstGeom>
        </p:spPr>
      </p:pic>
      <p:pic>
        <p:nvPicPr>
          <p:cNvPr id="11" name="Picture 10" descr="A diagram of a circuit&#10;&#10;Description automatically generated">
            <a:extLst>
              <a:ext uri="{FF2B5EF4-FFF2-40B4-BE49-F238E27FC236}">
                <a16:creationId xmlns:a16="http://schemas.microsoft.com/office/drawing/2014/main" id="{F93EC26A-0335-6F99-04F5-217ACAFA8F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201" y="1751725"/>
            <a:ext cx="5328402" cy="3624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2566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AFDF1-7A8B-F227-B5A9-9C1A80F25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problems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16CC6-1C7A-99E1-E713-4F0B87D481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20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text on a white background&#10;&#10;Description automatically generated">
            <a:extLst>
              <a:ext uri="{FF2B5EF4-FFF2-40B4-BE49-F238E27FC236}">
                <a16:creationId xmlns:a16="http://schemas.microsoft.com/office/drawing/2014/main" id="{16795F52-8A7A-344C-0F37-0905487EF7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81" y="1667586"/>
            <a:ext cx="10086785" cy="391719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5D469B6-8407-42CF-08EE-4EE61A643567}"/>
              </a:ext>
            </a:extLst>
          </p:cNvPr>
          <p:cNvSpPr/>
          <p:nvPr/>
        </p:nvSpPr>
        <p:spPr>
          <a:xfrm>
            <a:off x="1232704" y="3680749"/>
            <a:ext cx="6481823" cy="1509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5834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746AA-8C79-F6DC-A9A7-A2A76FB3F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problems</a:t>
            </a:r>
          </a:p>
        </p:txBody>
      </p:sp>
      <p:pic>
        <p:nvPicPr>
          <p:cNvPr id="6" name="Content Placeholder 5" descr="A diagram of a circuit&#10;&#10;Description automatically generated">
            <a:extLst>
              <a:ext uri="{FF2B5EF4-FFF2-40B4-BE49-F238E27FC236}">
                <a16:creationId xmlns:a16="http://schemas.microsoft.com/office/drawing/2014/main" id="{338E6884-2949-ABC7-11FC-DB5AC57F0D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509" y="1944621"/>
            <a:ext cx="8630259" cy="276048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6B902-1D0D-C650-E932-4DD9452E1B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21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27894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A4A47-9910-8427-C294-85EF231A9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2CE81-0CB1-A3BA-AAE4-F130651C57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22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diagram of a circuit&#10;&#10;Description automatically generated">
            <a:extLst>
              <a:ext uri="{FF2B5EF4-FFF2-40B4-BE49-F238E27FC236}">
                <a16:creationId xmlns:a16="http://schemas.microsoft.com/office/drawing/2014/main" id="{3A373CDE-D6E5-7684-C39C-5E4A32FD51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158" y="1847896"/>
            <a:ext cx="3177815" cy="2270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7533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1D2AB-EAC4-5FAE-E7AE-8DBFEF414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</a:p>
        </p:txBody>
      </p:sp>
      <p:pic>
        <p:nvPicPr>
          <p:cNvPr id="6" name="Content Placeholder 5" descr="A diagram of a circuit&#10;&#10;Description automatically generated">
            <a:extLst>
              <a:ext uri="{FF2B5EF4-FFF2-40B4-BE49-F238E27FC236}">
                <a16:creationId xmlns:a16="http://schemas.microsoft.com/office/drawing/2014/main" id="{64802E38-2E12-CFBD-20FF-212270B6CF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943" y="1547898"/>
            <a:ext cx="3825572" cy="199661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2D2D2-3E67-A7CF-0D2F-2FB485E978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23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A diagram of a circuit&#10;&#10;Description automatically generated">
            <a:extLst>
              <a:ext uri="{FF2B5EF4-FFF2-40B4-BE49-F238E27FC236}">
                <a16:creationId xmlns:a16="http://schemas.microsoft.com/office/drawing/2014/main" id="{5C329694-A513-B382-C7B0-BB3C07B35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04419"/>
            <a:ext cx="4214225" cy="2027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6102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CE621-7927-C8C4-0A58-035B40884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Touch panel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C434B-D20B-5881-8D5F-E803AEAD9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7B456-ECF4-08FA-7102-F616194B81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24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6016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B15E-B14A-840F-11F5-ED4365447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Fuse</a:t>
            </a:r>
          </a:p>
        </p:txBody>
      </p:sp>
      <p:pic>
        <p:nvPicPr>
          <p:cNvPr id="6" name="Content Placeholder 5" descr="A diagram of a circuit&#10;&#10;Description automatically generated">
            <a:extLst>
              <a:ext uri="{FF2B5EF4-FFF2-40B4-BE49-F238E27FC236}">
                <a16:creationId xmlns:a16="http://schemas.microsoft.com/office/drawing/2014/main" id="{128D62D5-F191-CFBB-5042-E4E2033621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396" y="1190074"/>
            <a:ext cx="8855207" cy="236240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F4647C-4EF8-49CF-1A50-86F96DA715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25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9" name="Content Placeholder 5" descr="A diagram of a circuit&#10;&#10;Description automatically generated">
            <a:extLst>
              <a:ext uri="{FF2B5EF4-FFF2-40B4-BE49-F238E27FC236}">
                <a16:creationId xmlns:a16="http://schemas.microsoft.com/office/drawing/2014/main" id="{34120F3A-7421-C5FD-B759-B2F9FF963A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224" y="4158352"/>
            <a:ext cx="8992379" cy="18442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5766647-F3D6-8F43-F034-9ADBEAB355C9}"/>
                  </a:ext>
                </a:extLst>
              </p14:cNvPr>
              <p14:cNvContentPartPr/>
              <p14:nvPr/>
            </p14:nvContentPartPr>
            <p14:xfrm>
              <a:off x="7918132" y="2487190"/>
              <a:ext cx="407880" cy="446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5766647-F3D6-8F43-F034-9ADBEAB355C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00132" y="2469550"/>
                <a:ext cx="443520" cy="48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6142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285750" indent="-285750">
          <a:buFont typeface="Arial" charset="0"/>
          <a:buChar char="•"/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22770</TotalTime>
  <Words>141</Words>
  <Application>Microsoft Office PowerPoint</Application>
  <PresentationFormat>Widescreen</PresentationFormat>
  <Paragraphs>72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PT Sans</vt:lpstr>
      <vt:lpstr>Times New Roman</vt:lpstr>
      <vt:lpstr>Office Theme</vt:lpstr>
      <vt:lpstr>ECE 105: Introduction to Electrical Engineering</vt:lpstr>
      <vt:lpstr>Basic circuit quantities</vt:lpstr>
      <vt:lpstr>Notations</vt:lpstr>
      <vt:lpstr>Wire</vt:lpstr>
      <vt:lpstr>Resistor</vt:lpstr>
      <vt:lpstr>Open circuit</vt:lpstr>
      <vt:lpstr>Voltage source</vt:lpstr>
      <vt:lpstr>Current source</vt:lpstr>
      <vt:lpstr>Rule of circuit analysis - KCL</vt:lpstr>
      <vt:lpstr>Rule of circuit analysis - KVL</vt:lpstr>
      <vt:lpstr>Resistors in series</vt:lpstr>
      <vt:lpstr>Voltage divider</vt:lpstr>
      <vt:lpstr>Resistors in parallel </vt:lpstr>
      <vt:lpstr>Current divider</vt:lpstr>
      <vt:lpstr>Measuring voltage, current, resistance</vt:lpstr>
      <vt:lpstr>Finding nodes</vt:lpstr>
      <vt:lpstr>Find the node connected to the source</vt:lpstr>
      <vt:lpstr>Find other nodes </vt:lpstr>
      <vt:lpstr>Merge elements sharing the same nodes</vt:lpstr>
      <vt:lpstr>Practice problems</vt:lpstr>
      <vt:lpstr>Practice problems</vt:lpstr>
      <vt:lpstr>Practice</vt:lpstr>
      <vt:lpstr>Practice </vt:lpstr>
      <vt:lpstr>Touch panel </vt:lpstr>
      <vt:lpstr>Fuse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Yasser Khan</dc:creator>
  <cp:lastModifiedBy>Yasser Khan</cp:lastModifiedBy>
  <cp:revision>922</cp:revision>
  <cp:lastPrinted>2017-03-30T23:40:26Z</cp:lastPrinted>
  <dcterms:created xsi:type="dcterms:W3CDTF">2014-02-24T21:19:39Z</dcterms:created>
  <dcterms:modified xsi:type="dcterms:W3CDTF">2025-09-07T11:48:00Z</dcterms:modified>
</cp:coreProperties>
</file>