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328" r:id="rId3"/>
    <p:sldId id="343" r:id="rId4"/>
    <p:sldId id="358" r:id="rId5"/>
    <p:sldId id="359" r:id="rId6"/>
    <p:sldId id="360" r:id="rId7"/>
    <p:sldId id="361" r:id="rId8"/>
    <p:sldId id="370" r:id="rId9"/>
    <p:sldId id="363" r:id="rId10"/>
    <p:sldId id="365" r:id="rId11"/>
    <p:sldId id="366" r:id="rId12"/>
    <p:sldId id="257" r:id="rId13"/>
    <p:sldId id="258" r:id="rId14"/>
    <p:sldId id="259" r:id="rId15"/>
    <p:sldId id="260" r:id="rId16"/>
    <p:sldId id="261" r:id="rId17"/>
    <p:sldId id="262" r:id="rId18"/>
    <p:sldId id="263" r:id="rId19"/>
    <p:sldId id="264" r:id="rId20"/>
    <p:sldId id="265" r:id="rId21"/>
    <p:sldId id="266" r:id="rId22"/>
    <p:sldId id="269" r:id="rId23"/>
    <p:sldId id="267" r:id="rId24"/>
    <p:sldId id="270" r:id="rId25"/>
    <p:sldId id="271" r:id="rId26"/>
    <p:sldId id="272" r:id="rId27"/>
    <p:sldId id="371" r:id="rId28"/>
    <p:sldId id="372" r:id="rId29"/>
    <p:sldId id="373" r:id="rId30"/>
    <p:sldId id="376" r:id="rId31"/>
    <p:sldId id="273" r:id="rId32"/>
    <p:sldId id="274" r:id="rId33"/>
    <p:sldId id="275" r:id="rId34"/>
    <p:sldId id="276" r:id="rId35"/>
    <p:sldId id="277" r:id="rId36"/>
    <p:sldId id="278" r:id="rId37"/>
    <p:sldId id="279" r:id="rId38"/>
    <p:sldId id="280" r:id="rId39"/>
    <p:sldId id="281" r:id="rId40"/>
    <p:sldId id="283" r:id="rId41"/>
    <p:sldId id="284" r:id="rId42"/>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23" d="100"/>
          <a:sy n="123" d="100"/>
        </p:scale>
        <p:origin x="115" y="274"/>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3200" b="0" i="0">
                <a:solidFill>
                  <a:srgbClr val="991B1E"/>
                </a:solidFill>
                <a:latin typeface="Calibri"/>
                <a:cs typeface="Calibri"/>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0" i="0">
                <a:solidFill>
                  <a:srgbClr val="991B1E"/>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10831764" y="65552"/>
            <a:ext cx="1275956" cy="661111"/>
          </a:xfrm>
          <a:prstGeom prst="rect">
            <a:avLst/>
          </a:prstGeom>
        </p:spPr>
      </p:pic>
      <p:sp>
        <p:nvSpPr>
          <p:cNvPr id="2" name="Holder 2"/>
          <p:cNvSpPr>
            <a:spLocks noGrp="1"/>
          </p:cNvSpPr>
          <p:nvPr>
            <p:ph type="title"/>
          </p:nvPr>
        </p:nvSpPr>
        <p:spPr>
          <a:xfrm>
            <a:off x="78739" y="14986"/>
            <a:ext cx="10328275" cy="467995"/>
          </a:xfrm>
          <a:prstGeom prst="rect">
            <a:avLst/>
          </a:prstGeom>
        </p:spPr>
        <p:txBody>
          <a:bodyPr wrap="square" lIns="0" tIns="0" rIns="0" bIns="0">
            <a:spAutoFit/>
          </a:bodyPr>
          <a:lstStyle>
            <a:lvl1pPr>
              <a:defRPr sz="3200" b="0" i="0">
                <a:solidFill>
                  <a:srgbClr val="991B1E"/>
                </a:solidFill>
                <a:latin typeface="Calibri"/>
                <a:cs typeface="Calibri"/>
              </a:defRPr>
            </a:lvl1pPr>
          </a:lstStyle>
          <a:p>
            <a:endParaRPr/>
          </a:p>
        </p:txBody>
      </p:sp>
      <p:sp>
        <p:nvSpPr>
          <p:cNvPr id="3" name="Holder 3"/>
          <p:cNvSpPr>
            <a:spLocks noGrp="1"/>
          </p:cNvSpPr>
          <p:nvPr>
            <p:ph type="body" idx="1"/>
          </p:nvPr>
        </p:nvSpPr>
        <p:spPr>
          <a:xfrm>
            <a:off x="1204366" y="1368933"/>
            <a:ext cx="9378315" cy="4081779"/>
          </a:xfrm>
          <a:prstGeom prst="rect">
            <a:avLst/>
          </a:prstGeom>
        </p:spPr>
        <p:txBody>
          <a:bodyPr wrap="square" lIns="0" tIns="0" rIns="0" bIns="0">
            <a:spAutoFit/>
          </a:bodyPr>
          <a:lstStyle>
            <a:lvl1pPr>
              <a:defRPr sz="2800" b="0" i="0">
                <a:solidFill>
                  <a:schemeClr val="tx1"/>
                </a:solidFill>
                <a:latin typeface="Calibri"/>
                <a:cs typeface="Calibri"/>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11/11/2025</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3.jpg"/><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image" Target="../media/image33.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6.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66998" y="747217"/>
            <a:ext cx="5857875" cy="1301115"/>
          </a:xfrm>
          <a:prstGeom prst="rect">
            <a:avLst/>
          </a:prstGeom>
        </p:spPr>
        <p:txBody>
          <a:bodyPr vert="horz" wrap="square" lIns="0" tIns="89535" rIns="0" bIns="0" rtlCol="0">
            <a:spAutoFit/>
          </a:bodyPr>
          <a:lstStyle/>
          <a:p>
            <a:pPr marL="311150" marR="5080" indent="-299085">
              <a:lnSpc>
                <a:spcPts val="4750"/>
              </a:lnSpc>
              <a:spcBef>
                <a:spcPts val="705"/>
              </a:spcBef>
            </a:pPr>
            <a:r>
              <a:rPr sz="4400" spc="175" dirty="0"/>
              <a:t>ECE</a:t>
            </a:r>
            <a:r>
              <a:rPr sz="4400" spc="190" dirty="0"/>
              <a:t> </a:t>
            </a:r>
            <a:r>
              <a:rPr sz="4400" spc="75" dirty="0"/>
              <a:t>105:</a:t>
            </a:r>
            <a:r>
              <a:rPr sz="4400" spc="175" dirty="0"/>
              <a:t> </a:t>
            </a:r>
            <a:r>
              <a:rPr sz="4400" spc="55" dirty="0"/>
              <a:t>Introduction</a:t>
            </a:r>
            <a:r>
              <a:rPr sz="4400" spc="160" dirty="0"/>
              <a:t> </a:t>
            </a:r>
            <a:r>
              <a:rPr sz="4400" spc="-25" dirty="0"/>
              <a:t>to </a:t>
            </a:r>
            <a:r>
              <a:rPr sz="4400" spc="105" dirty="0"/>
              <a:t>Electrical</a:t>
            </a:r>
            <a:r>
              <a:rPr sz="4400" spc="204" dirty="0"/>
              <a:t> </a:t>
            </a:r>
            <a:r>
              <a:rPr sz="4400" spc="105" dirty="0"/>
              <a:t>Engineering</a:t>
            </a:r>
            <a:endParaRPr sz="4400"/>
          </a:p>
        </p:txBody>
      </p:sp>
      <p:sp>
        <p:nvSpPr>
          <p:cNvPr id="3" name="object 3"/>
          <p:cNvSpPr txBox="1"/>
          <p:nvPr/>
        </p:nvSpPr>
        <p:spPr>
          <a:xfrm>
            <a:off x="2362200" y="3361905"/>
            <a:ext cx="8153400" cy="2086340"/>
          </a:xfrm>
          <a:prstGeom prst="rect">
            <a:avLst/>
          </a:prstGeom>
        </p:spPr>
        <p:txBody>
          <a:bodyPr vert="horz" wrap="square" lIns="0" tIns="13970" rIns="0" bIns="0" rtlCol="0">
            <a:spAutoFit/>
          </a:bodyPr>
          <a:lstStyle/>
          <a:p>
            <a:pPr marL="12065" marR="5080" indent="1905" algn="ctr">
              <a:lnSpc>
                <a:spcPct val="119800"/>
              </a:lnSpc>
              <a:spcBef>
                <a:spcPts val="110"/>
              </a:spcBef>
            </a:pPr>
            <a:r>
              <a:rPr sz="2800" dirty="0">
                <a:latin typeface="Calibri"/>
                <a:cs typeface="Calibri"/>
              </a:rPr>
              <a:t>Lecture</a:t>
            </a:r>
            <a:r>
              <a:rPr sz="2800" spc="345" dirty="0">
                <a:latin typeface="Calibri"/>
                <a:cs typeface="Calibri"/>
              </a:rPr>
              <a:t> </a:t>
            </a:r>
            <a:r>
              <a:rPr lang="en-US" sz="2800" spc="70" dirty="0">
                <a:latin typeface="Calibri"/>
                <a:cs typeface="Calibri"/>
              </a:rPr>
              <a:t>21</a:t>
            </a:r>
          </a:p>
          <a:p>
            <a:pPr marL="12065" marR="5080" indent="1905" algn="ctr">
              <a:lnSpc>
                <a:spcPct val="119800"/>
              </a:lnSpc>
              <a:spcBef>
                <a:spcPts val="110"/>
              </a:spcBef>
            </a:pPr>
            <a:r>
              <a:rPr lang="en-US" sz="2800" spc="50" dirty="0">
                <a:latin typeface="Calibri"/>
                <a:cs typeface="Calibri"/>
              </a:rPr>
              <a:t>Optical Communications</a:t>
            </a:r>
          </a:p>
          <a:p>
            <a:pPr marL="12065" marR="5080" indent="1905" algn="ctr">
              <a:lnSpc>
                <a:spcPct val="119800"/>
              </a:lnSpc>
              <a:spcBef>
                <a:spcPts val="110"/>
              </a:spcBef>
            </a:pPr>
            <a:r>
              <a:rPr sz="2800" dirty="0">
                <a:latin typeface="Calibri"/>
                <a:cs typeface="Calibri"/>
              </a:rPr>
              <a:t>Yasser</a:t>
            </a:r>
            <a:r>
              <a:rPr sz="2800" spc="270" dirty="0">
                <a:latin typeface="Calibri"/>
                <a:cs typeface="Calibri"/>
              </a:rPr>
              <a:t> </a:t>
            </a:r>
            <a:r>
              <a:rPr sz="2800" spc="80" dirty="0">
                <a:latin typeface="Calibri"/>
                <a:cs typeface="Calibri"/>
              </a:rPr>
              <a:t>Khan </a:t>
            </a:r>
            <a:endParaRPr lang="en-US" sz="2800" spc="80" dirty="0">
              <a:latin typeface="Calibri"/>
              <a:cs typeface="Calibri"/>
            </a:endParaRPr>
          </a:p>
          <a:p>
            <a:pPr marL="12065" marR="5080" indent="1905" algn="ctr">
              <a:lnSpc>
                <a:spcPct val="119800"/>
              </a:lnSpc>
              <a:spcBef>
                <a:spcPts val="110"/>
              </a:spcBef>
            </a:pPr>
            <a:r>
              <a:rPr sz="2800" dirty="0">
                <a:latin typeface="Calibri"/>
                <a:cs typeface="Calibri"/>
              </a:rPr>
              <a:t>Rehan</a:t>
            </a:r>
            <a:r>
              <a:rPr sz="2800" spc="275" dirty="0">
                <a:latin typeface="Calibri"/>
                <a:cs typeface="Calibri"/>
              </a:rPr>
              <a:t> </a:t>
            </a:r>
            <a:r>
              <a:rPr sz="2800" spc="55" dirty="0">
                <a:latin typeface="Calibri"/>
                <a:cs typeface="Calibri"/>
              </a:rPr>
              <a:t>Kapadia</a:t>
            </a:r>
            <a:endParaRPr sz="2800" dirty="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933E9-79E6-7CC8-3E61-FF97BF184FC0}"/>
              </a:ext>
            </a:extLst>
          </p:cNvPr>
          <p:cNvSpPr>
            <a:spLocks noGrp="1"/>
          </p:cNvSpPr>
          <p:nvPr>
            <p:ph type="title"/>
          </p:nvPr>
        </p:nvSpPr>
        <p:spPr>
          <a:xfrm>
            <a:off x="78739" y="14986"/>
            <a:ext cx="10328275" cy="492443"/>
          </a:xfrm>
        </p:spPr>
        <p:txBody>
          <a:bodyPr/>
          <a:lstStyle/>
          <a:p>
            <a:r>
              <a:rPr lang="en-US" dirty="0"/>
              <a:t>How have we done optical communications in the past?</a:t>
            </a:r>
          </a:p>
        </p:txBody>
      </p:sp>
      <p:sp>
        <p:nvSpPr>
          <p:cNvPr id="4" name="TextBox 3">
            <a:extLst>
              <a:ext uri="{FF2B5EF4-FFF2-40B4-BE49-F238E27FC236}">
                <a16:creationId xmlns:a16="http://schemas.microsoft.com/office/drawing/2014/main" id="{4B35E24B-0E96-1029-6CF8-00A58E791C10}"/>
              </a:ext>
            </a:extLst>
          </p:cNvPr>
          <p:cNvSpPr txBox="1"/>
          <p:nvPr/>
        </p:nvSpPr>
        <p:spPr>
          <a:xfrm>
            <a:off x="807871" y="1504317"/>
            <a:ext cx="11125200" cy="1384995"/>
          </a:xfrm>
          <a:prstGeom prst="rect">
            <a:avLst/>
          </a:prstGeom>
          <a:noFill/>
        </p:spPr>
        <p:txBody>
          <a:bodyPr wrap="square" rtlCol="0">
            <a:spAutoFit/>
          </a:bodyPr>
          <a:lstStyle/>
          <a:p>
            <a:r>
              <a:rPr lang="en-US" sz="2800" dirty="0"/>
              <a:t>What kind of systems have people used in the past to do optical communications?</a:t>
            </a:r>
          </a:p>
          <a:p>
            <a:endParaRPr lang="en-US" sz="2800" dirty="0"/>
          </a:p>
        </p:txBody>
      </p:sp>
      <p:grpSp>
        <p:nvGrpSpPr>
          <p:cNvPr id="31" name="Group 30">
            <a:extLst>
              <a:ext uri="{FF2B5EF4-FFF2-40B4-BE49-F238E27FC236}">
                <a16:creationId xmlns:a16="http://schemas.microsoft.com/office/drawing/2014/main" id="{C72D1353-D73D-EFD0-012B-7A55D9B5EB4B}"/>
              </a:ext>
            </a:extLst>
          </p:cNvPr>
          <p:cNvGrpSpPr/>
          <p:nvPr/>
        </p:nvGrpSpPr>
        <p:grpSpPr>
          <a:xfrm>
            <a:off x="685800" y="3276600"/>
            <a:ext cx="10728658" cy="2235771"/>
            <a:chOff x="838200" y="914400"/>
            <a:chExt cx="10728658" cy="2235771"/>
          </a:xfrm>
        </p:grpSpPr>
        <p:pic>
          <p:nvPicPr>
            <p:cNvPr id="19" name="Picture 18" descr="A drawing of a campfire in a field&#10;&#10;Description automatically generated">
              <a:extLst>
                <a:ext uri="{FF2B5EF4-FFF2-40B4-BE49-F238E27FC236}">
                  <a16:creationId xmlns:a16="http://schemas.microsoft.com/office/drawing/2014/main" id="{02DE8758-05E9-48BD-C352-04E1FB41B76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14400" y="990600"/>
              <a:ext cx="1676400" cy="1676400"/>
            </a:xfrm>
            <a:prstGeom prst="rect">
              <a:avLst/>
            </a:prstGeom>
          </p:spPr>
        </p:pic>
        <p:sp>
          <p:nvSpPr>
            <p:cNvPr id="20" name="TextBox 19">
              <a:extLst>
                <a:ext uri="{FF2B5EF4-FFF2-40B4-BE49-F238E27FC236}">
                  <a16:creationId xmlns:a16="http://schemas.microsoft.com/office/drawing/2014/main" id="{0AF565C8-F838-F5F1-764C-A3FCB5C47E52}"/>
                </a:ext>
              </a:extLst>
            </p:cNvPr>
            <p:cNvSpPr txBox="1"/>
            <p:nvPr/>
          </p:nvSpPr>
          <p:spPr>
            <a:xfrm>
              <a:off x="838200" y="2780839"/>
              <a:ext cx="1752600" cy="369332"/>
            </a:xfrm>
            <a:prstGeom prst="rect">
              <a:avLst/>
            </a:prstGeom>
            <a:noFill/>
          </p:spPr>
          <p:txBody>
            <a:bodyPr wrap="square" rtlCol="0">
              <a:spAutoFit/>
            </a:bodyPr>
            <a:lstStyle/>
            <a:p>
              <a:r>
                <a:rPr lang="en-US" dirty="0"/>
                <a:t>Smoke Signals </a:t>
              </a:r>
            </a:p>
          </p:txBody>
        </p:sp>
        <p:pic>
          <p:nvPicPr>
            <p:cNvPr id="22" name="Picture 21">
              <a:extLst>
                <a:ext uri="{FF2B5EF4-FFF2-40B4-BE49-F238E27FC236}">
                  <a16:creationId xmlns:a16="http://schemas.microsoft.com/office/drawing/2014/main" id="{5252FB3A-A3E3-47D1-6709-172B7FF883F2}"/>
                </a:ext>
              </a:extLst>
            </p:cNvPr>
            <p:cNvPicPr>
              <a:picLocks noChangeAspect="1"/>
            </p:cNvPicPr>
            <p:nvPr/>
          </p:nvPicPr>
          <p:blipFill>
            <a:blip r:embed="rId3"/>
            <a:stretch>
              <a:fillRect/>
            </a:stretch>
          </p:blipFill>
          <p:spPr>
            <a:xfrm>
              <a:off x="3716807" y="914400"/>
              <a:ext cx="1726105" cy="1676400"/>
            </a:xfrm>
            <a:prstGeom prst="rect">
              <a:avLst/>
            </a:prstGeom>
          </p:spPr>
        </p:pic>
        <p:sp>
          <p:nvSpPr>
            <p:cNvPr id="23" name="TextBox 22">
              <a:extLst>
                <a:ext uri="{FF2B5EF4-FFF2-40B4-BE49-F238E27FC236}">
                  <a16:creationId xmlns:a16="http://schemas.microsoft.com/office/drawing/2014/main" id="{54969397-FABE-30AF-1162-E8D95EAFA7F2}"/>
                </a:ext>
              </a:extLst>
            </p:cNvPr>
            <p:cNvSpPr txBox="1"/>
            <p:nvPr/>
          </p:nvSpPr>
          <p:spPr>
            <a:xfrm>
              <a:off x="3690312" y="2704639"/>
              <a:ext cx="1752600" cy="369332"/>
            </a:xfrm>
            <a:prstGeom prst="rect">
              <a:avLst/>
            </a:prstGeom>
            <a:noFill/>
          </p:spPr>
          <p:txBody>
            <a:bodyPr wrap="square" rtlCol="0">
              <a:spAutoFit/>
            </a:bodyPr>
            <a:lstStyle/>
            <a:p>
              <a:pPr algn="ctr"/>
              <a:r>
                <a:rPr lang="en-US" dirty="0"/>
                <a:t>Signal Lamp </a:t>
              </a:r>
            </a:p>
          </p:txBody>
        </p:sp>
        <p:pic>
          <p:nvPicPr>
            <p:cNvPr id="25" name="Picture 24">
              <a:extLst>
                <a:ext uri="{FF2B5EF4-FFF2-40B4-BE49-F238E27FC236}">
                  <a16:creationId xmlns:a16="http://schemas.microsoft.com/office/drawing/2014/main" id="{8DDDE6C4-5533-B340-22E3-6E43E454920E}"/>
                </a:ext>
              </a:extLst>
            </p:cNvPr>
            <p:cNvPicPr>
              <a:picLocks noChangeAspect="1"/>
            </p:cNvPicPr>
            <p:nvPr/>
          </p:nvPicPr>
          <p:blipFill>
            <a:blip r:embed="rId4"/>
            <a:stretch>
              <a:fillRect/>
            </a:stretch>
          </p:blipFill>
          <p:spPr>
            <a:xfrm>
              <a:off x="7162800" y="914400"/>
              <a:ext cx="1669818" cy="1676400"/>
            </a:xfrm>
            <a:prstGeom prst="rect">
              <a:avLst/>
            </a:prstGeom>
          </p:spPr>
        </p:pic>
        <p:sp>
          <p:nvSpPr>
            <p:cNvPr id="28" name="TextBox 27">
              <a:extLst>
                <a:ext uri="{FF2B5EF4-FFF2-40B4-BE49-F238E27FC236}">
                  <a16:creationId xmlns:a16="http://schemas.microsoft.com/office/drawing/2014/main" id="{6B8B8E2C-3F6F-D08D-10B9-555F939A347B}"/>
                </a:ext>
              </a:extLst>
            </p:cNvPr>
            <p:cNvSpPr txBox="1"/>
            <p:nvPr/>
          </p:nvSpPr>
          <p:spPr>
            <a:xfrm>
              <a:off x="7182722" y="2697488"/>
              <a:ext cx="1752600" cy="369332"/>
            </a:xfrm>
            <a:prstGeom prst="rect">
              <a:avLst/>
            </a:prstGeom>
            <a:noFill/>
          </p:spPr>
          <p:txBody>
            <a:bodyPr wrap="square" rtlCol="0">
              <a:spAutoFit/>
            </a:bodyPr>
            <a:lstStyle/>
            <a:p>
              <a:pPr algn="ctr"/>
              <a:r>
                <a:rPr lang="en-US" dirty="0"/>
                <a:t>Heliograph</a:t>
              </a:r>
            </a:p>
          </p:txBody>
        </p:sp>
        <p:pic>
          <p:nvPicPr>
            <p:cNvPr id="1026" name="Picture 2">
              <a:extLst>
                <a:ext uri="{FF2B5EF4-FFF2-40B4-BE49-F238E27FC236}">
                  <a16:creationId xmlns:a16="http://schemas.microsoft.com/office/drawing/2014/main" id="{58957C5A-E272-D874-44C5-78EB007DE8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62072" y="914400"/>
              <a:ext cx="1391728" cy="1676400"/>
            </a:xfrm>
            <a:prstGeom prst="rect">
              <a:avLst/>
            </a:prstGeom>
            <a:noFill/>
            <a:extLst>
              <a:ext uri="{909E8E84-426E-40DD-AFC4-6F175D3DCCD1}">
                <a14:hiddenFill xmlns:a14="http://schemas.microsoft.com/office/drawing/2010/main">
                  <a:solidFill>
                    <a:srgbClr val="FFFFFF"/>
                  </a:solidFill>
                </a14:hiddenFill>
              </a:ext>
            </a:extLst>
          </p:spPr>
        </p:pic>
        <p:sp>
          <p:nvSpPr>
            <p:cNvPr id="29" name="TextBox 28">
              <a:extLst>
                <a:ext uri="{FF2B5EF4-FFF2-40B4-BE49-F238E27FC236}">
                  <a16:creationId xmlns:a16="http://schemas.microsoft.com/office/drawing/2014/main" id="{0AFB6F05-1696-C106-5B87-85E14A611C67}"/>
                </a:ext>
              </a:extLst>
            </p:cNvPr>
            <p:cNvSpPr txBox="1"/>
            <p:nvPr/>
          </p:nvSpPr>
          <p:spPr>
            <a:xfrm>
              <a:off x="9814258" y="2697487"/>
              <a:ext cx="1752600" cy="369332"/>
            </a:xfrm>
            <a:prstGeom prst="rect">
              <a:avLst/>
            </a:prstGeom>
            <a:noFill/>
          </p:spPr>
          <p:txBody>
            <a:bodyPr wrap="square" rtlCol="0">
              <a:spAutoFit/>
            </a:bodyPr>
            <a:lstStyle/>
            <a:p>
              <a:pPr algn="ctr"/>
              <a:r>
                <a:rPr lang="en-US" dirty="0"/>
                <a:t>Fiber Optics</a:t>
              </a:r>
            </a:p>
          </p:txBody>
        </p:sp>
      </p:grpSp>
    </p:spTree>
    <p:extLst>
      <p:ext uri="{BB962C8B-B14F-4D97-AF65-F5344CB8AC3E}">
        <p14:creationId xmlns:p14="http://schemas.microsoft.com/office/powerpoint/2010/main" val="224466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F9AC1-228B-AD9A-780B-48622CCEB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DCA1B6-5442-F5C6-82B1-C8C76692DF0F}"/>
              </a:ext>
            </a:extLst>
          </p:cNvPr>
          <p:cNvSpPr>
            <a:spLocks noGrp="1"/>
          </p:cNvSpPr>
          <p:nvPr>
            <p:ph type="title"/>
          </p:nvPr>
        </p:nvSpPr>
        <p:spPr>
          <a:xfrm>
            <a:off x="78739" y="14986"/>
            <a:ext cx="10328275" cy="492443"/>
          </a:xfrm>
        </p:spPr>
        <p:txBody>
          <a:bodyPr/>
          <a:lstStyle/>
          <a:p>
            <a:r>
              <a:rPr lang="en-US" dirty="0"/>
              <a:t>How fast could we communicate using smoke signals?</a:t>
            </a:r>
          </a:p>
        </p:txBody>
      </p:sp>
      <p:sp>
        <p:nvSpPr>
          <p:cNvPr id="3" name="object 3">
            <a:extLst>
              <a:ext uri="{FF2B5EF4-FFF2-40B4-BE49-F238E27FC236}">
                <a16:creationId xmlns:a16="http://schemas.microsoft.com/office/drawing/2014/main" id="{9579EFD2-CAC5-8F88-B4F6-890C92A91714}"/>
              </a:ext>
            </a:extLst>
          </p:cNvPr>
          <p:cNvSpPr txBox="1"/>
          <p:nvPr/>
        </p:nvSpPr>
        <p:spPr>
          <a:xfrm>
            <a:off x="1143000" y="1447800"/>
            <a:ext cx="9448800" cy="4671792"/>
          </a:xfrm>
          <a:prstGeom prst="rect">
            <a:avLst/>
          </a:prstGeom>
        </p:spPr>
        <p:txBody>
          <a:bodyPr vert="horz" wrap="square" lIns="0" tIns="54610" rIns="0" bIns="0" rtlCol="0">
            <a:spAutoFit/>
          </a:bodyPr>
          <a:lstStyle/>
          <a:p>
            <a:pPr marL="469900" indent="-457200">
              <a:lnSpc>
                <a:spcPct val="100000"/>
              </a:lnSpc>
              <a:spcBef>
                <a:spcPts val="430"/>
              </a:spcBef>
              <a:buFont typeface="Courier New" panose="02070309020205020404" pitchFamily="49" charset="0"/>
              <a:buChar char="o"/>
              <a:tabLst>
                <a:tab pos="240665" algn="l"/>
              </a:tabLst>
            </a:pPr>
            <a:r>
              <a:rPr lang="en-US" sz="2800" dirty="0">
                <a:latin typeface="Calibri"/>
                <a:cs typeface="Calibri"/>
              </a:rPr>
              <a:t>We could have a short or long pulse to represent a 1 or 0.</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Let’s assume 0.5 seconds for short and 1.5 seconds for long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The gap between the pulses needs to be at least 0.5 seconds for it to be seen</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That means that we would need 0.5+0.5 to send out a short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We would need 1.5+0.5 to send out a long pulse</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Average time to send a bit = (Short + Long)/2 = 1.5 s</a:t>
            </a:r>
          </a:p>
          <a:p>
            <a:pPr marL="469900" lvl="6" indent="-457200">
              <a:spcBef>
                <a:spcPts val="430"/>
              </a:spcBef>
              <a:buFont typeface="Courier New" panose="02070309020205020404" pitchFamily="49" charset="0"/>
              <a:buChar char="o"/>
              <a:tabLst>
                <a:tab pos="240665" algn="l"/>
              </a:tabLst>
            </a:pPr>
            <a:r>
              <a:rPr lang="en-US" sz="2800" dirty="0">
                <a:latin typeface="Calibri"/>
                <a:cs typeface="Calibri"/>
              </a:rPr>
              <a:t>Our bitrate is 1 bit/1.5s = 0.66 bps </a:t>
            </a:r>
          </a:p>
        </p:txBody>
      </p:sp>
    </p:spTree>
    <p:extLst>
      <p:ext uri="{BB962C8B-B14F-4D97-AF65-F5344CB8AC3E}">
        <p14:creationId xmlns:p14="http://schemas.microsoft.com/office/powerpoint/2010/main" val="229101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F47B7-4FE8-BB82-796E-9D00942217FB}"/>
              </a:ext>
            </a:extLst>
          </p:cNvPr>
          <p:cNvSpPr>
            <a:spLocks noGrp="1"/>
          </p:cNvSpPr>
          <p:nvPr>
            <p:ph type="title"/>
          </p:nvPr>
        </p:nvSpPr>
        <p:spPr>
          <a:xfrm>
            <a:off x="78739" y="14986"/>
            <a:ext cx="10328275" cy="492443"/>
          </a:xfrm>
        </p:spPr>
        <p:txBody>
          <a:bodyPr/>
          <a:lstStyle/>
          <a:p>
            <a:r>
              <a:rPr lang="en-US" dirty="0"/>
              <a:t>Optical Fiber </a:t>
            </a:r>
          </a:p>
        </p:txBody>
      </p:sp>
      <p:sp>
        <p:nvSpPr>
          <p:cNvPr id="3" name="Text Placeholder 2">
            <a:extLst>
              <a:ext uri="{FF2B5EF4-FFF2-40B4-BE49-F238E27FC236}">
                <a16:creationId xmlns:a16="http://schemas.microsoft.com/office/drawing/2014/main" id="{697F1B70-1B6C-5109-F8FE-0999BA3050EC}"/>
              </a:ext>
            </a:extLst>
          </p:cNvPr>
          <p:cNvSpPr>
            <a:spLocks noGrp="1"/>
          </p:cNvSpPr>
          <p:nvPr>
            <p:ph type="body" idx="1"/>
          </p:nvPr>
        </p:nvSpPr>
        <p:spPr>
          <a:xfrm>
            <a:off x="838200" y="3962401"/>
            <a:ext cx="9378315" cy="2215991"/>
          </a:xfrm>
        </p:spPr>
        <p:txBody>
          <a:bodyPr/>
          <a:lstStyle/>
          <a:p>
            <a:r>
              <a:rPr lang="en-US" sz="2400" dirty="0"/>
              <a:t>Optical fibers guide light from one point to another confined inside a fiber core.</a:t>
            </a:r>
          </a:p>
          <a:p>
            <a:endParaRPr lang="en-US" sz="2400" dirty="0"/>
          </a:p>
          <a:p>
            <a:r>
              <a:rPr lang="en-US" sz="2400" dirty="0"/>
              <a:t>These work based on the principle of total internal reflection. Depending on the angle that light hits the fiber/cladding interface, it can be fully reflected</a:t>
            </a:r>
          </a:p>
        </p:txBody>
      </p:sp>
      <p:pic>
        <p:nvPicPr>
          <p:cNvPr id="2050" name="Picture 2" descr="Fiber Optic Cable Types: What You ...">
            <a:extLst>
              <a:ext uri="{FF2B5EF4-FFF2-40B4-BE49-F238E27FC236}">
                <a16:creationId xmlns:a16="http://schemas.microsoft.com/office/drawing/2014/main" id="{2B36E2BF-A8D8-A530-E858-52D1EAEAB8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143000"/>
            <a:ext cx="2857500" cy="160020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Total Internal Reflection in Optical ...">
            <a:extLst>
              <a:ext uri="{FF2B5EF4-FFF2-40B4-BE49-F238E27FC236}">
                <a16:creationId xmlns:a16="http://schemas.microsoft.com/office/drawing/2014/main" id="{8A5C0C93-A551-08BD-AA02-EFF9F978A1E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8400" y="1143000"/>
            <a:ext cx="2876550" cy="1590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1279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10299-DC0C-8198-6F81-476AECA9AAB0}"/>
              </a:ext>
            </a:extLst>
          </p:cNvPr>
          <p:cNvSpPr>
            <a:spLocks noGrp="1"/>
          </p:cNvSpPr>
          <p:nvPr>
            <p:ph type="title"/>
          </p:nvPr>
        </p:nvSpPr>
        <p:spPr>
          <a:xfrm>
            <a:off x="78739" y="14986"/>
            <a:ext cx="10328275" cy="492443"/>
          </a:xfrm>
        </p:spPr>
        <p:txBody>
          <a:bodyPr/>
          <a:lstStyle/>
          <a:p>
            <a:r>
              <a:rPr lang="en-US" dirty="0"/>
              <a:t>Total internal reflection</a:t>
            </a:r>
          </a:p>
        </p:txBody>
      </p:sp>
      <p:sp>
        <p:nvSpPr>
          <p:cNvPr id="3" name="Text Placeholder 2">
            <a:extLst>
              <a:ext uri="{FF2B5EF4-FFF2-40B4-BE49-F238E27FC236}">
                <a16:creationId xmlns:a16="http://schemas.microsoft.com/office/drawing/2014/main" id="{79F08B83-E01C-C09E-41DC-AE3FBCCC87BD}"/>
              </a:ext>
            </a:extLst>
          </p:cNvPr>
          <p:cNvSpPr>
            <a:spLocks noGrp="1"/>
          </p:cNvSpPr>
          <p:nvPr>
            <p:ph type="body" idx="1"/>
          </p:nvPr>
        </p:nvSpPr>
        <p:spPr>
          <a:xfrm>
            <a:off x="914400" y="3810000"/>
            <a:ext cx="10586086" cy="2154436"/>
          </a:xfrm>
        </p:spPr>
        <p:txBody>
          <a:bodyPr/>
          <a:lstStyle/>
          <a:p>
            <a:r>
              <a:rPr lang="en-US" dirty="0"/>
              <a:t>When light moves from a medium of high refractive index to a medium of low refractive index, or vice versa, there is a change in the angle of propagation of light. </a:t>
            </a:r>
          </a:p>
          <a:p>
            <a:endParaRPr lang="en-US" dirty="0"/>
          </a:p>
          <a:p>
            <a:endParaRPr lang="en-US" dirty="0"/>
          </a:p>
        </p:txBody>
      </p:sp>
      <p:pic>
        <p:nvPicPr>
          <p:cNvPr id="3074" name="Picture 2">
            <a:extLst>
              <a:ext uri="{FF2B5EF4-FFF2-40B4-BE49-F238E27FC236}">
                <a16:creationId xmlns:a16="http://schemas.microsoft.com/office/drawing/2014/main" id="{6D924D64-6E4E-2886-A868-7452EDFBE8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0" y="1066800"/>
            <a:ext cx="5095875" cy="1752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86945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A1C1-CB9E-D0D9-FDAB-038771F049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79E12-33EB-5E7F-6EE2-515F45E12E4F}"/>
              </a:ext>
            </a:extLst>
          </p:cNvPr>
          <p:cNvSpPr>
            <a:spLocks noGrp="1"/>
          </p:cNvSpPr>
          <p:nvPr>
            <p:ph type="title"/>
          </p:nvPr>
        </p:nvSpPr>
        <p:spPr>
          <a:xfrm>
            <a:off x="78739" y="14986"/>
            <a:ext cx="10328275" cy="492443"/>
          </a:xfrm>
        </p:spPr>
        <p:txBody>
          <a:bodyPr/>
          <a:lstStyle/>
          <a:p>
            <a:r>
              <a:rPr lang="en-US" dirty="0"/>
              <a:t>General properties of light</a:t>
            </a:r>
          </a:p>
        </p:txBody>
      </p:sp>
      <p:sp>
        <p:nvSpPr>
          <p:cNvPr id="3" name="Text Placeholder 2">
            <a:extLst>
              <a:ext uri="{FF2B5EF4-FFF2-40B4-BE49-F238E27FC236}">
                <a16:creationId xmlns:a16="http://schemas.microsoft.com/office/drawing/2014/main" id="{1BB83FBC-A2DE-A02B-0084-58033420F356}"/>
              </a:ext>
            </a:extLst>
          </p:cNvPr>
          <p:cNvSpPr>
            <a:spLocks noGrp="1"/>
          </p:cNvSpPr>
          <p:nvPr>
            <p:ph type="body" idx="1"/>
          </p:nvPr>
        </p:nvSpPr>
        <p:spPr>
          <a:xfrm>
            <a:off x="914400" y="4648200"/>
            <a:ext cx="10586086" cy="1723549"/>
          </a:xfrm>
        </p:spPr>
        <p:txBody>
          <a:bodyPr/>
          <a:lstStyle/>
          <a:p>
            <a:r>
              <a:rPr lang="en-US" dirty="0"/>
              <a:t>The wavelength of light represents the spatial dimension over which it is periodic</a:t>
            </a:r>
          </a:p>
          <a:p>
            <a:endParaRPr lang="en-US" dirty="0"/>
          </a:p>
          <a:p>
            <a:endParaRPr lang="en-US" dirty="0"/>
          </a:p>
        </p:txBody>
      </p:sp>
      <p:pic>
        <p:nvPicPr>
          <p:cNvPr id="4098" name="Picture 2" descr="Shown is a colour illustration of the electromagnetic spectrum with wavelength, frequency and energy. ">
            <a:extLst>
              <a:ext uri="{FF2B5EF4-FFF2-40B4-BE49-F238E27FC236}">
                <a16:creationId xmlns:a16="http://schemas.microsoft.com/office/drawing/2014/main" id="{A0E07858-0BBC-055F-E37F-A5988E4BD45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990600"/>
            <a:ext cx="7143750" cy="2676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38948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C70C2-D3B7-9AC4-7CF4-00B147CD0567}"/>
              </a:ext>
            </a:extLst>
          </p:cNvPr>
          <p:cNvSpPr>
            <a:spLocks noGrp="1"/>
          </p:cNvSpPr>
          <p:nvPr>
            <p:ph type="title"/>
          </p:nvPr>
        </p:nvSpPr>
        <p:spPr>
          <a:xfrm>
            <a:off x="78739" y="14986"/>
            <a:ext cx="10328275" cy="492443"/>
          </a:xfrm>
        </p:spPr>
        <p:txBody>
          <a:bodyPr/>
          <a:lstStyle/>
          <a:p>
            <a:r>
              <a:rPr lang="en-US" dirty="0"/>
              <a:t>Speed of light in different mediums</a:t>
            </a:r>
          </a:p>
        </p:txBody>
      </p:sp>
      <p:sp>
        <p:nvSpPr>
          <p:cNvPr id="3" name="Text Placeholder 2">
            <a:extLst>
              <a:ext uri="{FF2B5EF4-FFF2-40B4-BE49-F238E27FC236}">
                <a16:creationId xmlns:a16="http://schemas.microsoft.com/office/drawing/2014/main" id="{41A0AB4A-4F7E-1EFF-47F2-70C6D59862CD}"/>
              </a:ext>
            </a:extLst>
          </p:cNvPr>
          <p:cNvSpPr>
            <a:spLocks noGrp="1"/>
          </p:cNvSpPr>
          <p:nvPr>
            <p:ph type="body" idx="1"/>
          </p:nvPr>
        </p:nvSpPr>
        <p:spPr>
          <a:xfrm>
            <a:off x="457200" y="1447800"/>
            <a:ext cx="11506199" cy="4739759"/>
          </a:xfrm>
        </p:spPr>
        <p:txBody>
          <a:bodyPr/>
          <a:lstStyle/>
          <a:p>
            <a:r>
              <a:rPr lang="en-US" dirty="0"/>
              <a:t>There is a concept called the refractive index, which is:</a:t>
            </a:r>
          </a:p>
          <a:p>
            <a:endParaRPr lang="en-US" dirty="0"/>
          </a:p>
          <a:p>
            <a:pPr algn="ctr"/>
            <a:r>
              <a:rPr lang="en-US" dirty="0"/>
              <a:t>n = c/v</a:t>
            </a:r>
          </a:p>
          <a:p>
            <a:pPr algn="l"/>
            <a:r>
              <a:rPr lang="en-US" dirty="0"/>
              <a:t>Where </a:t>
            </a:r>
          </a:p>
          <a:p>
            <a:pPr algn="l"/>
            <a:r>
              <a:rPr lang="en-US" dirty="0"/>
              <a:t>n: refractive index</a:t>
            </a:r>
          </a:p>
          <a:p>
            <a:pPr algn="l"/>
            <a:r>
              <a:rPr lang="en-US" dirty="0"/>
              <a:t>c: speed of light</a:t>
            </a:r>
          </a:p>
          <a:p>
            <a:pPr algn="l"/>
            <a:r>
              <a:rPr lang="en-US" dirty="0"/>
              <a:t>v: speed of light in the medium</a:t>
            </a:r>
          </a:p>
          <a:p>
            <a:pPr algn="l"/>
            <a:endParaRPr lang="en-US" dirty="0"/>
          </a:p>
          <a:p>
            <a:pPr algn="l"/>
            <a:r>
              <a:rPr lang="en-US" dirty="0"/>
              <a:t>This emerges due to the oscillations of electrons in a material creating dipoles that interact with electromagnetic waves and slow them down</a:t>
            </a:r>
          </a:p>
          <a:p>
            <a:pPr algn="l"/>
            <a:endParaRPr lang="en-US" dirty="0"/>
          </a:p>
        </p:txBody>
      </p:sp>
    </p:spTree>
    <p:extLst>
      <p:ext uri="{BB962C8B-B14F-4D97-AF65-F5344CB8AC3E}">
        <p14:creationId xmlns:p14="http://schemas.microsoft.com/office/powerpoint/2010/main" val="29676045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C2D5C-276E-6E62-F1A0-80B6444ABA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16469-4BCC-95C9-B89C-A01195345594}"/>
              </a:ext>
            </a:extLst>
          </p:cNvPr>
          <p:cNvSpPr>
            <a:spLocks noGrp="1"/>
          </p:cNvSpPr>
          <p:nvPr>
            <p:ph type="title"/>
          </p:nvPr>
        </p:nvSpPr>
        <p:spPr>
          <a:xfrm>
            <a:off x="78739" y="14986"/>
            <a:ext cx="10328275" cy="492443"/>
          </a:xfrm>
        </p:spPr>
        <p:txBody>
          <a:bodyPr/>
          <a:lstStyle/>
          <a:p>
            <a:r>
              <a:rPr lang="en-US" dirty="0"/>
              <a:t>Refractive index of different materials</a:t>
            </a:r>
          </a:p>
        </p:txBody>
      </p:sp>
      <p:sp>
        <p:nvSpPr>
          <p:cNvPr id="3" name="Text Placeholder 2">
            <a:extLst>
              <a:ext uri="{FF2B5EF4-FFF2-40B4-BE49-F238E27FC236}">
                <a16:creationId xmlns:a16="http://schemas.microsoft.com/office/drawing/2014/main" id="{95D2ED66-F6D1-6C5D-8555-1588755051E9}"/>
              </a:ext>
            </a:extLst>
          </p:cNvPr>
          <p:cNvSpPr>
            <a:spLocks noGrp="1"/>
          </p:cNvSpPr>
          <p:nvPr>
            <p:ph type="body" idx="1"/>
          </p:nvPr>
        </p:nvSpPr>
        <p:spPr>
          <a:xfrm>
            <a:off x="3733800" y="1065868"/>
            <a:ext cx="8229599" cy="1448732"/>
          </a:xfrm>
        </p:spPr>
        <p:txBody>
          <a:bodyPr/>
          <a:lstStyle/>
          <a:p>
            <a:r>
              <a:rPr lang="en-US" dirty="0"/>
              <a:t>The refractive index is a function of material AND wavelength of the electromagnetic radiation</a:t>
            </a:r>
          </a:p>
          <a:p>
            <a:endParaRPr lang="en-US" dirty="0"/>
          </a:p>
          <a:p>
            <a:r>
              <a:rPr lang="en-US" dirty="0"/>
              <a:t> </a:t>
            </a:r>
          </a:p>
          <a:p>
            <a:pPr algn="l"/>
            <a:endParaRPr lang="en-US" dirty="0"/>
          </a:p>
        </p:txBody>
      </p:sp>
      <p:pic>
        <p:nvPicPr>
          <p:cNvPr id="5" name="Picture 4">
            <a:extLst>
              <a:ext uri="{FF2B5EF4-FFF2-40B4-BE49-F238E27FC236}">
                <a16:creationId xmlns:a16="http://schemas.microsoft.com/office/drawing/2014/main" id="{166F4D9A-9B95-4F50-2F5F-46BF6F11D938}"/>
              </a:ext>
            </a:extLst>
          </p:cNvPr>
          <p:cNvPicPr>
            <a:picLocks noChangeAspect="1"/>
          </p:cNvPicPr>
          <p:nvPr/>
        </p:nvPicPr>
        <p:blipFill>
          <a:blip r:embed="rId2"/>
          <a:stretch>
            <a:fillRect/>
          </a:stretch>
        </p:blipFill>
        <p:spPr>
          <a:xfrm>
            <a:off x="457200" y="1065868"/>
            <a:ext cx="2957372" cy="5408394"/>
          </a:xfrm>
          <a:prstGeom prst="rect">
            <a:avLst/>
          </a:prstGeom>
        </p:spPr>
      </p:pic>
      <p:pic>
        <p:nvPicPr>
          <p:cNvPr id="7" name="Picture 6">
            <a:extLst>
              <a:ext uri="{FF2B5EF4-FFF2-40B4-BE49-F238E27FC236}">
                <a16:creationId xmlns:a16="http://schemas.microsoft.com/office/drawing/2014/main" id="{AD2BD534-32CF-BDF7-540A-5DFF2FE42C3D}"/>
              </a:ext>
            </a:extLst>
          </p:cNvPr>
          <p:cNvPicPr>
            <a:picLocks noChangeAspect="1"/>
          </p:cNvPicPr>
          <p:nvPr/>
        </p:nvPicPr>
        <p:blipFill>
          <a:blip r:embed="rId3"/>
          <a:stretch>
            <a:fillRect/>
          </a:stretch>
        </p:blipFill>
        <p:spPr>
          <a:xfrm>
            <a:off x="5029200" y="2825678"/>
            <a:ext cx="4982270" cy="3648584"/>
          </a:xfrm>
          <a:prstGeom prst="rect">
            <a:avLst/>
          </a:prstGeom>
        </p:spPr>
      </p:pic>
      <p:sp>
        <p:nvSpPr>
          <p:cNvPr id="8" name="TextBox 7">
            <a:extLst>
              <a:ext uri="{FF2B5EF4-FFF2-40B4-BE49-F238E27FC236}">
                <a16:creationId xmlns:a16="http://schemas.microsoft.com/office/drawing/2014/main" id="{0FCE82C1-0A1B-2E1F-95BF-F2D0BDEF2714}"/>
              </a:ext>
            </a:extLst>
          </p:cNvPr>
          <p:cNvSpPr txBox="1"/>
          <p:nvPr/>
        </p:nvSpPr>
        <p:spPr>
          <a:xfrm>
            <a:off x="8001000" y="3200400"/>
            <a:ext cx="1447800" cy="369332"/>
          </a:xfrm>
          <a:prstGeom prst="rect">
            <a:avLst/>
          </a:prstGeom>
          <a:noFill/>
        </p:spPr>
        <p:txBody>
          <a:bodyPr wrap="square" rtlCol="0">
            <a:spAutoFit/>
          </a:bodyPr>
          <a:lstStyle/>
          <a:p>
            <a:r>
              <a:rPr lang="en-US" dirty="0"/>
              <a:t>Si</a:t>
            </a:r>
          </a:p>
        </p:txBody>
      </p:sp>
      <p:sp>
        <p:nvSpPr>
          <p:cNvPr id="9" name="TextBox 8">
            <a:extLst>
              <a:ext uri="{FF2B5EF4-FFF2-40B4-BE49-F238E27FC236}">
                <a16:creationId xmlns:a16="http://schemas.microsoft.com/office/drawing/2014/main" id="{F362886B-8332-331C-7154-3732F4115BD0}"/>
              </a:ext>
            </a:extLst>
          </p:cNvPr>
          <p:cNvSpPr txBox="1"/>
          <p:nvPr/>
        </p:nvSpPr>
        <p:spPr>
          <a:xfrm>
            <a:off x="7848599" y="4652665"/>
            <a:ext cx="1905001" cy="369332"/>
          </a:xfrm>
          <a:prstGeom prst="rect">
            <a:avLst/>
          </a:prstGeom>
          <a:noFill/>
        </p:spPr>
        <p:txBody>
          <a:bodyPr wrap="square" rtlCol="0">
            <a:spAutoFit/>
          </a:bodyPr>
          <a:lstStyle/>
          <a:p>
            <a:r>
              <a:rPr lang="en-US" dirty="0"/>
              <a:t>Refractive Index</a:t>
            </a:r>
          </a:p>
        </p:txBody>
      </p:sp>
      <p:sp>
        <p:nvSpPr>
          <p:cNvPr id="10" name="TextBox 9">
            <a:extLst>
              <a:ext uri="{FF2B5EF4-FFF2-40B4-BE49-F238E27FC236}">
                <a16:creationId xmlns:a16="http://schemas.microsoft.com/office/drawing/2014/main" id="{11CCD070-90E8-8C6A-2703-8F1BF49742D7}"/>
              </a:ext>
            </a:extLst>
          </p:cNvPr>
          <p:cNvSpPr txBox="1"/>
          <p:nvPr/>
        </p:nvSpPr>
        <p:spPr>
          <a:xfrm>
            <a:off x="5715000" y="5334000"/>
            <a:ext cx="1905001" cy="646331"/>
          </a:xfrm>
          <a:prstGeom prst="rect">
            <a:avLst/>
          </a:prstGeom>
          <a:noFill/>
        </p:spPr>
        <p:txBody>
          <a:bodyPr wrap="square" rtlCol="0">
            <a:spAutoFit/>
          </a:bodyPr>
          <a:lstStyle/>
          <a:p>
            <a:r>
              <a:rPr lang="en-US" dirty="0"/>
              <a:t>Extinction Coefficient</a:t>
            </a:r>
          </a:p>
        </p:txBody>
      </p:sp>
      <p:sp>
        <p:nvSpPr>
          <p:cNvPr id="11" name="TextBox 10">
            <a:extLst>
              <a:ext uri="{FF2B5EF4-FFF2-40B4-BE49-F238E27FC236}">
                <a16:creationId xmlns:a16="http://schemas.microsoft.com/office/drawing/2014/main" id="{F50308DD-D5A9-0115-9211-71A566A6E0B3}"/>
              </a:ext>
            </a:extLst>
          </p:cNvPr>
          <p:cNvSpPr txBox="1"/>
          <p:nvPr/>
        </p:nvSpPr>
        <p:spPr>
          <a:xfrm>
            <a:off x="6433925" y="6414102"/>
            <a:ext cx="2829348" cy="369332"/>
          </a:xfrm>
          <a:prstGeom prst="rect">
            <a:avLst/>
          </a:prstGeom>
          <a:noFill/>
        </p:spPr>
        <p:txBody>
          <a:bodyPr wrap="square" rtlCol="0">
            <a:spAutoFit/>
          </a:bodyPr>
          <a:lstStyle/>
          <a:p>
            <a:pPr algn="ctr"/>
            <a:r>
              <a:rPr lang="en-US" dirty="0"/>
              <a:t>Wavelength (nm)</a:t>
            </a:r>
          </a:p>
        </p:txBody>
      </p:sp>
      <p:sp>
        <p:nvSpPr>
          <p:cNvPr id="12" name="TextBox 11">
            <a:extLst>
              <a:ext uri="{FF2B5EF4-FFF2-40B4-BE49-F238E27FC236}">
                <a16:creationId xmlns:a16="http://schemas.microsoft.com/office/drawing/2014/main" id="{A92078D5-016B-DB47-73C3-8E0AACAD8062}"/>
              </a:ext>
            </a:extLst>
          </p:cNvPr>
          <p:cNvSpPr txBox="1"/>
          <p:nvPr/>
        </p:nvSpPr>
        <p:spPr>
          <a:xfrm rot="16200000">
            <a:off x="4076700" y="4465303"/>
            <a:ext cx="1905001" cy="369332"/>
          </a:xfrm>
          <a:prstGeom prst="rect">
            <a:avLst/>
          </a:prstGeom>
          <a:noFill/>
        </p:spPr>
        <p:txBody>
          <a:bodyPr wrap="square" rtlCol="0">
            <a:spAutoFit/>
          </a:bodyPr>
          <a:lstStyle/>
          <a:p>
            <a:pPr algn="ctr"/>
            <a:r>
              <a:rPr lang="en-US" dirty="0"/>
              <a:t>RI or EC</a:t>
            </a:r>
          </a:p>
        </p:txBody>
      </p:sp>
    </p:spTree>
    <p:extLst>
      <p:ext uri="{BB962C8B-B14F-4D97-AF65-F5344CB8AC3E}">
        <p14:creationId xmlns:p14="http://schemas.microsoft.com/office/powerpoint/2010/main" val="12660492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F7669-9390-68F5-028D-C7F1A71BE5B3}"/>
              </a:ext>
            </a:extLst>
          </p:cNvPr>
          <p:cNvSpPr>
            <a:spLocks noGrp="1"/>
          </p:cNvSpPr>
          <p:nvPr>
            <p:ph type="title"/>
          </p:nvPr>
        </p:nvSpPr>
        <p:spPr>
          <a:xfrm>
            <a:off x="78739" y="14986"/>
            <a:ext cx="10328275" cy="492443"/>
          </a:xfrm>
        </p:spPr>
        <p:txBody>
          <a:bodyPr/>
          <a:lstStyle/>
          <a:p>
            <a:r>
              <a:rPr lang="en-US" dirty="0"/>
              <a:t>Waveguides </a:t>
            </a:r>
          </a:p>
        </p:txBody>
      </p:sp>
      <p:sp>
        <p:nvSpPr>
          <p:cNvPr id="3" name="Text Placeholder 2">
            <a:extLst>
              <a:ext uri="{FF2B5EF4-FFF2-40B4-BE49-F238E27FC236}">
                <a16:creationId xmlns:a16="http://schemas.microsoft.com/office/drawing/2014/main" id="{4A35B64D-6108-11BE-8F85-FFB21F9587B7}"/>
              </a:ext>
            </a:extLst>
          </p:cNvPr>
          <p:cNvSpPr>
            <a:spLocks noGrp="1"/>
          </p:cNvSpPr>
          <p:nvPr>
            <p:ph type="body" idx="1"/>
          </p:nvPr>
        </p:nvSpPr>
        <p:spPr>
          <a:xfrm>
            <a:off x="373912" y="4800600"/>
            <a:ext cx="11805286" cy="1723549"/>
          </a:xfrm>
        </p:spPr>
        <p:txBody>
          <a:bodyPr/>
          <a:lstStyle/>
          <a:p>
            <a:r>
              <a:rPr lang="en-US" dirty="0"/>
              <a:t>If light is incident on an interface at an angle beyond the critical angle, then it is reflected back. It will also be incident on the lower surface at an angle that enables total internal reflection. This allows us to create a waveguide, where light will just propagate in a confined guide as long as possible.</a:t>
            </a:r>
          </a:p>
        </p:txBody>
      </p:sp>
      <p:pic>
        <p:nvPicPr>
          <p:cNvPr id="1026" name="Picture 2" descr="1. Total internal reflection in a slab waveguide. Light is trapped in the higher index material or core section of the waveguide. ">
            <a:extLst>
              <a:ext uri="{FF2B5EF4-FFF2-40B4-BE49-F238E27FC236}">
                <a16:creationId xmlns:a16="http://schemas.microsoft.com/office/drawing/2014/main" id="{FC4A01A1-F168-D9C1-424A-0903809A57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93240" y="838200"/>
            <a:ext cx="8096250" cy="37814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8508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27569-0636-2241-2CF1-77D52518F9F1}"/>
              </a:ext>
            </a:extLst>
          </p:cNvPr>
          <p:cNvSpPr>
            <a:spLocks noGrp="1"/>
          </p:cNvSpPr>
          <p:nvPr>
            <p:ph type="title"/>
          </p:nvPr>
        </p:nvSpPr>
        <p:spPr>
          <a:xfrm>
            <a:off x="78739" y="14986"/>
            <a:ext cx="10328275" cy="492443"/>
          </a:xfrm>
        </p:spPr>
        <p:txBody>
          <a:bodyPr/>
          <a:lstStyle/>
          <a:p>
            <a:r>
              <a:rPr lang="en-US" dirty="0"/>
              <a:t>Optical Fiber Transmission Speeds</a:t>
            </a:r>
          </a:p>
        </p:txBody>
      </p:sp>
      <p:pic>
        <p:nvPicPr>
          <p:cNvPr id="5" name="Picture 4">
            <a:extLst>
              <a:ext uri="{FF2B5EF4-FFF2-40B4-BE49-F238E27FC236}">
                <a16:creationId xmlns:a16="http://schemas.microsoft.com/office/drawing/2014/main" id="{DC7F60C8-DD89-B81D-703F-EFCC1FA84902}"/>
              </a:ext>
            </a:extLst>
          </p:cNvPr>
          <p:cNvPicPr>
            <a:picLocks noChangeAspect="1"/>
          </p:cNvPicPr>
          <p:nvPr/>
        </p:nvPicPr>
        <p:blipFill>
          <a:blip r:embed="rId2"/>
          <a:stretch>
            <a:fillRect/>
          </a:stretch>
        </p:blipFill>
        <p:spPr>
          <a:xfrm>
            <a:off x="1447800" y="609600"/>
            <a:ext cx="9231013" cy="6192114"/>
          </a:xfrm>
          <a:prstGeom prst="rect">
            <a:avLst/>
          </a:prstGeom>
        </p:spPr>
      </p:pic>
    </p:spTree>
    <p:extLst>
      <p:ext uri="{BB962C8B-B14F-4D97-AF65-F5344CB8AC3E}">
        <p14:creationId xmlns:p14="http://schemas.microsoft.com/office/powerpoint/2010/main" val="221219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F896C6-2245-AC01-6DD1-EDBA70B81D04}"/>
              </a:ext>
            </a:extLst>
          </p:cNvPr>
          <p:cNvSpPr>
            <a:spLocks noGrp="1"/>
          </p:cNvSpPr>
          <p:nvPr>
            <p:ph type="title"/>
          </p:nvPr>
        </p:nvSpPr>
        <p:spPr>
          <a:xfrm>
            <a:off x="78739" y="14986"/>
            <a:ext cx="10328275" cy="492443"/>
          </a:xfrm>
        </p:spPr>
        <p:txBody>
          <a:bodyPr/>
          <a:lstStyle/>
          <a:p>
            <a:r>
              <a:rPr lang="en-US" dirty="0"/>
              <a:t>Optical Modulation Techniques</a:t>
            </a:r>
          </a:p>
        </p:txBody>
      </p:sp>
      <p:sp>
        <p:nvSpPr>
          <p:cNvPr id="3" name="Text Placeholder 2">
            <a:extLst>
              <a:ext uri="{FF2B5EF4-FFF2-40B4-BE49-F238E27FC236}">
                <a16:creationId xmlns:a16="http://schemas.microsoft.com/office/drawing/2014/main" id="{6AC6C300-8920-5023-1210-C635CBA7A540}"/>
              </a:ext>
            </a:extLst>
          </p:cNvPr>
          <p:cNvSpPr>
            <a:spLocks noGrp="1"/>
          </p:cNvSpPr>
          <p:nvPr>
            <p:ph type="body" idx="1"/>
          </p:nvPr>
        </p:nvSpPr>
        <p:spPr>
          <a:xfrm>
            <a:off x="1204366" y="1368933"/>
            <a:ext cx="9378315" cy="2154436"/>
          </a:xfrm>
        </p:spPr>
        <p:txBody>
          <a:bodyPr/>
          <a:lstStyle/>
          <a:p>
            <a:r>
              <a:rPr lang="en-US" dirty="0"/>
              <a:t>Intensity Modulation: Where you modulate the intensity of the light, and have predetermined values for each intensity of light.</a:t>
            </a:r>
          </a:p>
          <a:p>
            <a:endParaRPr lang="en-US" dirty="0"/>
          </a:p>
          <a:p>
            <a:r>
              <a:rPr lang="en-US" dirty="0"/>
              <a:t>On-off keying is where you have two values that represent 1 and 0, allowing you to transmit binary information</a:t>
            </a:r>
          </a:p>
        </p:txBody>
      </p:sp>
      <p:pic>
        <p:nvPicPr>
          <p:cNvPr id="5" name="Picture 4">
            <a:extLst>
              <a:ext uri="{FF2B5EF4-FFF2-40B4-BE49-F238E27FC236}">
                <a16:creationId xmlns:a16="http://schemas.microsoft.com/office/drawing/2014/main" id="{00916C88-9259-F5E4-58DF-2CE2BED63B63}"/>
              </a:ext>
            </a:extLst>
          </p:cNvPr>
          <p:cNvPicPr>
            <a:picLocks noChangeAspect="1"/>
          </p:cNvPicPr>
          <p:nvPr/>
        </p:nvPicPr>
        <p:blipFill>
          <a:blip r:embed="rId2"/>
          <a:stretch>
            <a:fillRect/>
          </a:stretch>
        </p:blipFill>
        <p:spPr>
          <a:xfrm>
            <a:off x="838200" y="3733800"/>
            <a:ext cx="9412013" cy="2591162"/>
          </a:xfrm>
          <a:prstGeom prst="rect">
            <a:avLst/>
          </a:prstGeom>
        </p:spPr>
      </p:pic>
    </p:spTree>
    <p:extLst>
      <p:ext uri="{BB962C8B-B14F-4D97-AF65-F5344CB8AC3E}">
        <p14:creationId xmlns:p14="http://schemas.microsoft.com/office/powerpoint/2010/main" val="27263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2140" y="3532123"/>
            <a:ext cx="10283825" cy="249428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Let’s</a:t>
            </a:r>
            <a:r>
              <a:rPr sz="1800" spc="-35" dirty="0">
                <a:latin typeface="Arial"/>
                <a:cs typeface="Arial"/>
              </a:rPr>
              <a:t> </a:t>
            </a:r>
            <a:r>
              <a:rPr sz="1800" dirty="0">
                <a:latin typeface="Arial"/>
                <a:cs typeface="Arial"/>
              </a:rPr>
              <a:t>imagine</a:t>
            </a:r>
            <a:r>
              <a:rPr sz="1800" spc="-1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system</a:t>
            </a:r>
            <a:r>
              <a:rPr sz="1800" spc="-10" dirty="0">
                <a:latin typeface="Arial"/>
                <a:cs typeface="Arial"/>
              </a:rPr>
              <a:t> </a:t>
            </a:r>
            <a:r>
              <a:rPr sz="1800" dirty="0">
                <a:latin typeface="Arial"/>
                <a:cs typeface="Arial"/>
              </a:rPr>
              <a:t>where</a:t>
            </a:r>
            <a:r>
              <a:rPr sz="1800" spc="15"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would</a:t>
            </a:r>
            <a:r>
              <a:rPr sz="1800" spc="10" dirty="0">
                <a:latin typeface="Arial"/>
                <a:cs typeface="Arial"/>
              </a:rPr>
              <a:t> </a:t>
            </a:r>
            <a:r>
              <a:rPr sz="1800" dirty="0">
                <a:latin typeface="Arial"/>
                <a:cs typeface="Arial"/>
              </a:rPr>
              <a:t>like</a:t>
            </a:r>
            <a:r>
              <a:rPr sz="1800" spc="-20"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send</a:t>
            </a:r>
            <a:r>
              <a:rPr sz="1800" spc="-35" dirty="0">
                <a:latin typeface="Arial"/>
                <a:cs typeface="Arial"/>
              </a:rPr>
              <a:t> </a:t>
            </a:r>
            <a:r>
              <a:rPr sz="1800" dirty="0">
                <a:latin typeface="Arial"/>
                <a:cs typeface="Arial"/>
              </a:rPr>
              <a:t>information</a:t>
            </a:r>
            <a:r>
              <a:rPr sz="1800" spc="-15" dirty="0">
                <a:latin typeface="Arial"/>
                <a:cs typeface="Arial"/>
              </a:rPr>
              <a:t> </a:t>
            </a:r>
            <a:r>
              <a:rPr sz="1800" dirty="0">
                <a:latin typeface="Arial"/>
                <a:cs typeface="Arial"/>
              </a:rPr>
              <a:t>from</a:t>
            </a:r>
            <a:r>
              <a:rPr sz="1800" spc="-40" dirty="0">
                <a:latin typeface="Arial"/>
                <a:cs typeface="Arial"/>
              </a:rPr>
              <a:t> </a:t>
            </a:r>
            <a:r>
              <a:rPr sz="1800" dirty="0">
                <a:latin typeface="Arial"/>
                <a:cs typeface="Arial"/>
              </a:rPr>
              <a:t>one</a:t>
            </a:r>
            <a:r>
              <a:rPr sz="1800" spc="-20" dirty="0">
                <a:latin typeface="Arial"/>
                <a:cs typeface="Arial"/>
              </a:rPr>
              <a:t> </a:t>
            </a:r>
            <a:r>
              <a:rPr sz="1800" dirty="0">
                <a:latin typeface="Arial"/>
                <a:cs typeface="Arial"/>
              </a:rPr>
              <a:t>place</a:t>
            </a:r>
            <a:r>
              <a:rPr sz="1800" spc="-20"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another</a:t>
            </a:r>
            <a:r>
              <a:rPr sz="1800" spc="-15" dirty="0">
                <a:latin typeface="Arial"/>
                <a:cs typeface="Arial"/>
              </a:rPr>
              <a:t> </a:t>
            </a:r>
            <a:r>
              <a:rPr sz="1800" dirty="0">
                <a:latin typeface="Arial"/>
                <a:cs typeface="Arial"/>
              </a:rPr>
              <a:t>using</a:t>
            </a:r>
            <a:r>
              <a:rPr sz="1800" spc="-20" dirty="0">
                <a:latin typeface="Arial"/>
                <a:cs typeface="Arial"/>
              </a:rPr>
              <a:t> </a:t>
            </a:r>
            <a:r>
              <a:rPr sz="1800" spc="-10" dirty="0">
                <a:latin typeface="Arial"/>
                <a:cs typeface="Arial"/>
              </a:rPr>
              <a:t>light.</a:t>
            </a:r>
            <a:endParaRPr sz="1800">
              <a:latin typeface="Arial"/>
              <a:cs typeface="Arial"/>
            </a:endParaRPr>
          </a:p>
          <a:p>
            <a:pPr marL="12700" marR="1554480">
              <a:lnSpc>
                <a:spcPct val="200000"/>
              </a:lnSpc>
            </a:pPr>
            <a:r>
              <a:rPr sz="1800" dirty="0">
                <a:latin typeface="Arial"/>
                <a:cs typeface="Arial"/>
              </a:rPr>
              <a:t>Seems</a:t>
            </a:r>
            <a:r>
              <a:rPr sz="1800" spc="-25" dirty="0">
                <a:latin typeface="Arial"/>
                <a:cs typeface="Arial"/>
              </a:rPr>
              <a:t> </a:t>
            </a:r>
            <a:r>
              <a:rPr sz="1800" dirty="0">
                <a:latin typeface="Arial"/>
                <a:cs typeface="Arial"/>
              </a:rPr>
              <a:t>easy, right?</a:t>
            </a:r>
            <a:r>
              <a:rPr sz="1800" spc="-15" dirty="0">
                <a:latin typeface="Arial"/>
                <a:cs typeface="Arial"/>
              </a:rPr>
              <a:t> </a:t>
            </a:r>
            <a:r>
              <a:rPr sz="1800" dirty="0">
                <a:latin typeface="Arial"/>
                <a:cs typeface="Arial"/>
              </a:rPr>
              <a:t>We</a:t>
            </a:r>
            <a:r>
              <a:rPr sz="1800" spc="-30" dirty="0">
                <a:latin typeface="Arial"/>
                <a:cs typeface="Arial"/>
              </a:rPr>
              <a:t> </a:t>
            </a:r>
            <a:r>
              <a:rPr sz="1800" dirty="0">
                <a:latin typeface="Arial"/>
                <a:cs typeface="Arial"/>
              </a:rPr>
              <a:t>just</a:t>
            </a:r>
            <a:r>
              <a:rPr sz="1800" spc="-20" dirty="0">
                <a:latin typeface="Arial"/>
                <a:cs typeface="Arial"/>
              </a:rPr>
              <a:t> </a:t>
            </a:r>
            <a:r>
              <a:rPr sz="1800" dirty="0">
                <a:latin typeface="Arial"/>
                <a:cs typeface="Arial"/>
              </a:rPr>
              <a:t>flash</a:t>
            </a:r>
            <a:r>
              <a:rPr sz="1800" spc="-30" dirty="0">
                <a:latin typeface="Arial"/>
                <a:cs typeface="Arial"/>
              </a:rPr>
              <a:t> </a:t>
            </a:r>
            <a:r>
              <a:rPr sz="1800" dirty="0">
                <a:latin typeface="Arial"/>
                <a:cs typeface="Arial"/>
              </a:rPr>
              <a:t>an</a:t>
            </a:r>
            <a:r>
              <a:rPr sz="1800" spc="-30" dirty="0">
                <a:latin typeface="Arial"/>
                <a:cs typeface="Arial"/>
              </a:rPr>
              <a:t> </a:t>
            </a:r>
            <a:r>
              <a:rPr sz="1800" dirty="0">
                <a:latin typeface="Arial"/>
                <a:cs typeface="Arial"/>
              </a:rPr>
              <a:t>LED,</a:t>
            </a:r>
            <a:r>
              <a:rPr sz="1800" spc="-20" dirty="0">
                <a:latin typeface="Arial"/>
                <a:cs typeface="Arial"/>
              </a:rPr>
              <a:t> </a:t>
            </a:r>
            <a:r>
              <a:rPr sz="1800" dirty="0">
                <a:latin typeface="Arial"/>
                <a:cs typeface="Arial"/>
              </a:rPr>
              <a:t>detect</a:t>
            </a:r>
            <a:r>
              <a:rPr sz="1800" spc="-20" dirty="0">
                <a:latin typeface="Arial"/>
                <a:cs typeface="Arial"/>
              </a:rPr>
              <a:t> </a:t>
            </a:r>
            <a:r>
              <a:rPr sz="1800" dirty="0">
                <a:latin typeface="Arial"/>
                <a:cs typeface="Arial"/>
              </a:rPr>
              <a:t>those</a:t>
            </a:r>
            <a:r>
              <a:rPr sz="1800" spc="-15" dirty="0">
                <a:latin typeface="Arial"/>
                <a:cs typeface="Arial"/>
              </a:rPr>
              <a:t> </a:t>
            </a:r>
            <a:r>
              <a:rPr sz="1800" dirty="0">
                <a:latin typeface="Arial"/>
                <a:cs typeface="Arial"/>
              </a:rPr>
              <a:t>flashes,</a:t>
            </a:r>
            <a:r>
              <a:rPr sz="1800" spc="-20"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then</a:t>
            </a:r>
            <a:r>
              <a:rPr sz="1800" spc="-3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are</a:t>
            </a:r>
            <a:r>
              <a:rPr sz="1800" spc="-15" dirty="0">
                <a:latin typeface="Arial"/>
                <a:cs typeface="Arial"/>
              </a:rPr>
              <a:t> </a:t>
            </a:r>
            <a:r>
              <a:rPr sz="1800" spc="-10" dirty="0">
                <a:latin typeface="Arial"/>
                <a:cs typeface="Arial"/>
              </a:rPr>
              <a:t>done. </a:t>
            </a:r>
            <a:r>
              <a:rPr sz="1800" dirty="0">
                <a:latin typeface="Arial"/>
                <a:cs typeface="Arial"/>
              </a:rPr>
              <a:t>But</a:t>
            </a:r>
            <a:r>
              <a:rPr sz="1800" spc="-20" dirty="0">
                <a:latin typeface="Arial"/>
                <a:cs typeface="Arial"/>
              </a:rPr>
              <a:t> </a:t>
            </a:r>
            <a:r>
              <a:rPr sz="1800" dirty="0">
                <a:latin typeface="Arial"/>
                <a:cs typeface="Arial"/>
              </a:rPr>
              <a:t>how</a:t>
            </a:r>
            <a:r>
              <a:rPr sz="1800" spc="-20" dirty="0">
                <a:latin typeface="Arial"/>
                <a:cs typeface="Arial"/>
              </a:rPr>
              <a:t> </a:t>
            </a:r>
            <a:r>
              <a:rPr sz="1800" dirty="0">
                <a:latin typeface="Arial"/>
                <a:cs typeface="Arial"/>
              </a:rPr>
              <a:t>much</a:t>
            </a:r>
            <a:r>
              <a:rPr sz="1800" spc="-15" dirty="0">
                <a:latin typeface="Arial"/>
                <a:cs typeface="Arial"/>
              </a:rPr>
              <a:t> </a:t>
            </a:r>
            <a:r>
              <a:rPr sz="1800" dirty="0">
                <a:latin typeface="Arial"/>
                <a:cs typeface="Arial"/>
              </a:rPr>
              <a:t>data</a:t>
            </a:r>
            <a:r>
              <a:rPr sz="1800" spc="-25" dirty="0">
                <a:latin typeface="Arial"/>
                <a:cs typeface="Arial"/>
              </a:rPr>
              <a:t> </a:t>
            </a:r>
            <a:r>
              <a:rPr sz="1800" dirty="0">
                <a:latin typeface="Arial"/>
                <a:cs typeface="Arial"/>
              </a:rPr>
              <a:t>could</a:t>
            </a:r>
            <a:r>
              <a:rPr sz="1800" spc="-15" dirty="0">
                <a:latin typeface="Arial"/>
                <a:cs typeface="Arial"/>
              </a:rPr>
              <a:t> </a:t>
            </a:r>
            <a:r>
              <a:rPr sz="1800" dirty="0">
                <a:latin typeface="Arial"/>
                <a:cs typeface="Arial"/>
              </a:rPr>
              <a:t>we</a:t>
            </a:r>
            <a:r>
              <a:rPr sz="1800" spc="10" dirty="0">
                <a:latin typeface="Arial"/>
                <a:cs typeface="Arial"/>
              </a:rPr>
              <a:t> </a:t>
            </a:r>
            <a:r>
              <a:rPr sz="1800" dirty="0">
                <a:latin typeface="Arial"/>
                <a:cs typeface="Arial"/>
              </a:rPr>
              <a:t>send</a:t>
            </a:r>
            <a:r>
              <a:rPr sz="1800" spc="-15" dirty="0">
                <a:latin typeface="Arial"/>
                <a:cs typeface="Arial"/>
              </a:rPr>
              <a:t> </a:t>
            </a:r>
            <a:r>
              <a:rPr sz="1800" dirty="0">
                <a:latin typeface="Arial"/>
                <a:cs typeface="Arial"/>
              </a:rPr>
              <a:t>with</a:t>
            </a:r>
            <a:r>
              <a:rPr sz="1800" spc="10" dirty="0">
                <a:latin typeface="Arial"/>
                <a:cs typeface="Arial"/>
              </a:rPr>
              <a:t> </a:t>
            </a:r>
            <a:r>
              <a:rPr sz="1800" dirty="0">
                <a:latin typeface="Arial"/>
                <a:cs typeface="Arial"/>
              </a:rPr>
              <a:t>such</a:t>
            </a:r>
            <a:r>
              <a:rPr sz="1800" spc="-15" dirty="0">
                <a:latin typeface="Arial"/>
                <a:cs typeface="Arial"/>
              </a:rPr>
              <a:t> </a:t>
            </a:r>
            <a:r>
              <a:rPr sz="1800" dirty="0">
                <a:latin typeface="Arial"/>
                <a:cs typeface="Arial"/>
              </a:rPr>
              <a:t>a</a:t>
            </a:r>
            <a:r>
              <a:rPr sz="1800" spc="-25" dirty="0">
                <a:latin typeface="Arial"/>
                <a:cs typeface="Arial"/>
              </a:rPr>
              <a:t> </a:t>
            </a:r>
            <a:r>
              <a:rPr sz="1800" spc="-10" dirty="0">
                <a:latin typeface="Arial"/>
                <a:cs typeface="Arial"/>
              </a:rPr>
              <a:t>signal?</a:t>
            </a:r>
            <a:endParaRPr sz="1800">
              <a:latin typeface="Arial"/>
              <a:cs typeface="Arial"/>
            </a:endParaRPr>
          </a:p>
          <a:p>
            <a:pPr marL="12700" marR="6709409">
              <a:lnSpc>
                <a:spcPct val="200000"/>
              </a:lnSpc>
            </a:pPr>
            <a:r>
              <a:rPr sz="1800" dirty="0">
                <a:latin typeface="Arial"/>
                <a:cs typeface="Arial"/>
              </a:rPr>
              <a:t>What</a:t>
            </a:r>
            <a:r>
              <a:rPr sz="1800" spc="-45" dirty="0">
                <a:latin typeface="Arial"/>
                <a:cs typeface="Arial"/>
              </a:rPr>
              <a:t> </a:t>
            </a:r>
            <a:r>
              <a:rPr sz="1800" dirty="0">
                <a:latin typeface="Arial"/>
                <a:cs typeface="Arial"/>
              </a:rPr>
              <a:t>components</a:t>
            </a:r>
            <a:r>
              <a:rPr sz="1800" spc="-35" dirty="0">
                <a:latin typeface="Arial"/>
                <a:cs typeface="Arial"/>
              </a:rPr>
              <a:t> </a:t>
            </a:r>
            <a:r>
              <a:rPr sz="1800" dirty="0">
                <a:latin typeface="Arial"/>
                <a:cs typeface="Arial"/>
              </a:rPr>
              <a:t>would</a:t>
            </a:r>
            <a:r>
              <a:rPr sz="1800" spc="-5" dirty="0">
                <a:latin typeface="Arial"/>
                <a:cs typeface="Arial"/>
              </a:rPr>
              <a:t> </a:t>
            </a:r>
            <a:r>
              <a:rPr sz="1800" dirty="0">
                <a:latin typeface="Arial"/>
                <a:cs typeface="Arial"/>
              </a:rPr>
              <a:t>we</a:t>
            </a:r>
            <a:r>
              <a:rPr sz="1800" spc="-5" dirty="0">
                <a:latin typeface="Arial"/>
                <a:cs typeface="Arial"/>
              </a:rPr>
              <a:t> </a:t>
            </a:r>
            <a:r>
              <a:rPr sz="1800" spc="-10" dirty="0">
                <a:latin typeface="Arial"/>
                <a:cs typeface="Arial"/>
              </a:rPr>
              <a:t>need? </a:t>
            </a:r>
            <a:r>
              <a:rPr sz="1800" dirty="0">
                <a:latin typeface="Arial"/>
                <a:cs typeface="Arial"/>
              </a:rPr>
              <a:t>How</a:t>
            </a:r>
            <a:r>
              <a:rPr sz="1800" spc="-25" dirty="0">
                <a:latin typeface="Arial"/>
                <a:cs typeface="Arial"/>
              </a:rPr>
              <a:t> </a:t>
            </a:r>
            <a:r>
              <a:rPr sz="1800" dirty="0">
                <a:latin typeface="Arial"/>
                <a:cs typeface="Arial"/>
              </a:rPr>
              <a:t>can</a:t>
            </a:r>
            <a:r>
              <a:rPr sz="1800" spc="-3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accomplish</a:t>
            </a:r>
            <a:r>
              <a:rPr sz="1800" spc="-10" dirty="0">
                <a:latin typeface="Arial"/>
                <a:cs typeface="Arial"/>
              </a:rPr>
              <a:t> </a:t>
            </a:r>
            <a:r>
              <a:rPr sz="1800" spc="-20" dirty="0">
                <a:latin typeface="Arial"/>
                <a:cs typeface="Arial"/>
              </a:rPr>
              <a:t>this?</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What</a:t>
            </a:r>
            <a:r>
              <a:rPr spc="-25" dirty="0"/>
              <a:t> </a:t>
            </a:r>
            <a:r>
              <a:rPr dirty="0"/>
              <a:t>is</a:t>
            </a:r>
            <a:r>
              <a:rPr spc="-25" dirty="0"/>
              <a:t> </a:t>
            </a:r>
            <a:r>
              <a:rPr spc="-10" dirty="0"/>
              <a:t>noise?</a:t>
            </a:r>
          </a:p>
        </p:txBody>
      </p:sp>
      <p:pic>
        <p:nvPicPr>
          <p:cNvPr id="3" name="object 3"/>
          <p:cNvPicPr/>
          <p:nvPr/>
        </p:nvPicPr>
        <p:blipFill>
          <a:blip r:embed="rId2" cstate="print"/>
          <a:stretch>
            <a:fillRect/>
          </a:stretch>
        </p:blipFill>
        <p:spPr>
          <a:xfrm>
            <a:off x="1066099" y="914057"/>
            <a:ext cx="9488221" cy="50203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Types</a:t>
            </a:r>
            <a:r>
              <a:rPr spc="165" dirty="0"/>
              <a:t> </a:t>
            </a:r>
            <a:r>
              <a:rPr dirty="0"/>
              <a:t>of</a:t>
            </a:r>
            <a:r>
              <a:rPr spc="140" dirty="0"/>
              <a:t> </a:t>
            </a:r>
            <a:r>
              <a:rPr spc="-20" dirty="0"/>
              <a:t>Noise</a:t>
            </a:r>
          </a:p>
        </p:txBody>
      </p:sp>
      <p:sp>
        <p:nvSpPr>
          <p:cNvPr id="3" name="object 3"/>
          <p:cNvSpPr txBox="1"/>
          <p:nvPr/>
        </p:nvSpPr>
        <p:spPr>
          <a:xfrm>
            <a:off x="921263" y="957224"/>
            <a:ext cx="9436735" cy="4649470"/>
          </a:xfrm>
          <a:prstGeom prst="rect">
            <a:avLst/>
          </a:prstGeom>
        </p:spPr>
        <p:txBody>
          <a:bodyPr vert="horz" wrap="square" lIns="0" tIns="64135" rIns="0" bIns="0" rtlCol="0">
            <a:spAutoFit/>
          </a:bodyPr>
          <a:lstStyle/>
          <a:p>
            <a:pPr marL="240029" indent="-227329">
              <a:lnSpc>
                <a:spcPct val="100000"/>
              </a:lnSpc>
              <a:spcBef>
                <a:spcPts val="505"/>
              </a:spcBef>
              <a:buFont typeface="Arial"/>
              <a:buChar char="•"/>
              <a:tabLst>
                <a:tab pos="240029" algn="l"/>
              </a:tabLst>
            </a:pPr>
            <a:r>
              <a:rPr sz="2800" dirty="0">
                <a:latin typeface="Calibri"/>
                <a:cs typeface="Calibri"/>
              </a:rPr>
              <a:t>Noise</a:t>
            </a:r>
            <a:r>
              <a:rPr sz="2800" spc="-40" dirty="0">
                <a:latin typeface="Calibri"/>
                <a:cs typeface="Calibri"/>
              </a:rPr>
              <a:t> </a:t>
            </a:r>
            <a:r>
              <a:rPr sz="2800" dirty="0">
                <a:latin typeface="Calibri"/>
                <a:cs typeface="Calibri"/>
              </a:rPr>
              <a:t>refers</a:t>
            </a:r>
            <a:r>
              <a:rPr sz="2800" spc="-35" dirty="0">
                <a:latin typeface="Calibri"/>
                <a:cs typeface="Calibri"/>
              </a:rPr>
              <a:t> </a:t>
            </a:r>
            <a:r>
              <a:rPr sz="2800" dirty="0">
                <a:latin typeface="Calibri"/>
                <a:cs typeface="Calibri"/>
              </a:rPr>
              <a:t>to</a:t>
            </a:r>
            <a:r>
              <a:rPr sz="2800" spc="-50" dirty="0">
                <a:latin typeface="Calibri"/>
                <a:cs typeface="Calibri"/>
              </a:rPr>
              <a:t> </a:t>
            </a:r>
            <a:r>
              <a:rPr sz="2800" dirty="0">
                <a:latin typeface="Calibri"/>
                <a:cs typeface="Calibri"/>
              </a:rPr>
              <a:t>anything</a:t>
            </a:r>
            <a:r>
              <a:rPr sz="2800" spc="-20" dirty="0">
                <a:latin typeface="Calibri"/>
                <a:cs typeface="Calibri"/>
              </a:rPr>
              <a:t> </a:t>
            </a:r>
            <a:r>
              <a:rPr sz="2800" dirty="0">
                <a:latin typeface="Calibri"/>
                <a:cs typeface="Calibri"/>
              </a:rPr>
              <a:t>that</a:t>
            </a:r>
            <a:r>
              <a:rPr sz="2800" spc="-40" dirty="0">
                <a:latin typeface="Calibri"/>
                <a:cs typeface="Calibri"/>
              </a:rPr>
              <a:t> </a:t>
            </a:r>
            <a:r>
              <a:rPr sz="2800" dirty="0">
                <a:latin typeface="Calibri"/>
                <a:cs typeface="Calibri"/>
              </a:rPr>
              <a:t>you</a:t>
            </a:r>
            <a:r>
              <a:rPr sz="2800" spc="-40" dirty="0">
                <a:latin typeface="Calibri"/>
                <a:cs typeface="Calibri"/>
              </a:rPr>
              <a:t> </a:t>
            </a:r>
            <a:r>
              <a:rPr sz="2800" dirty="0">
                <a:latin typeface="Calibri"/>
                <a:cs typeface="Calibri"/>
              </a:rPr>
              <a:t>don’t</a:t>
            </a:r>
            <a:r>
              <a:rPr sz="2800" spc="-30" dirty="0">
                <a:latin typeface="Calibri"/>
                <a:cs typeface="Calibri"/>
              </a:rPr>
              <a:t> </a:t>
            </a:r>
            <a:r>
              <a:rPr sz="2800" dirty="0">
                <a:latin typeface="Calibri"/>
                <a:cs typeface="Calibri"/>
              </a:rPr>
              <a:t>want</a:t>
            </a:r>
            <a:r>
              <a:rPr sz="2800" spc="-35" dirty="0">
                <a:latin typeface="Calibri"/>
                <a:cs typeface="Calibri"/>
              </a:rPr>
              <a:t> </a:t>
            </a:r>
            <a:r>
              <a:rPr sz="2800" dirty="0">
                <a:latin typeface="Calibri"/>
                <a:cs typeface="Calibri"/>
              </a:rPr>
              <a:t>in</a:t>
            </a:r>
            <a:r>
              <a:rPr sz="2800" spc="-40" dirty="0">
                <a:latin typeface="Calibri"/>
                <a:cs typeface="Calibri"/>
              </a:rPr>
              <a:t> </a:t>
            </a:r>
            <a:r>
              <a:rPr sz="2800" dirty="0">
                <a:latin typeface="Calibri"/>
                <a:cs typeface="Calibri"/>
              </a:rPr>
              <a:t>your</a:t>
            </a:r>
            <a:r>
              <a:rPr sz="2800" spc="-40" dirty="0">
                <a:latin typeface="Calibri"/>
                <a:cs typeface="Calibri"/>
              </a:rPr>
              <a:t> </a:t>
            </a:r>
            <a:r>
              <a:rPr sz="2800" spc="-10" dirty="0">
                <a:latin typeface="Calibri"/>
                <a:cs typeface="Calibri"/>
              </a:rPr>
              <a:t>signal</a:t>
            </a:r>
            <a:endParaRPr sz="2800">
              <a:latin typeface="Calibri"/>
              <a:cs typeface="Calibri"/>
            </a:endParaRPr>
          </a:p>
          <a:p>
            <a:pPr marL="240029" marR="5080" indent="-227329">
              <a:lnSpc>
                <a:spcPct val="100000"/>
              </a:lnSpc>
              <a:spcBef>
                <a:spcPts val="409"/>
              </a:spcBef>
              <a:buFont typeface="Arial"/>
              <a:buChar char="•"/>
              <a:tabLst>
                <a:tab pos="241300" algn="l"/>
              </a:tabLst>
            </a:pPr>
            <a:r>
              <a:rPr sz="2800" dirty="0">
                <a:latin typeface="Calibri"/>
                <a:cs typeface="Calibri"/>
              </a:rPr>
              <a:t>It</a:t>
            </a:r>
            <a:r>
              <a:rPr sz="2800" spc="-50" dirty="0">
                <a:latin typeface="Calibri"/>
                <a:cs typeface="Calibri"/>
              </a:rPr>
              <a:t> </a:t>
            </a:r>
            <a:r>
              <a:rPr sz="2800" dirty="0">
                <a:latin typeface="Calibri"/>
                <a:cs typeface="Calibri"/>
              </a:rPr>
              <a:t>can</a:t>
            </a:r>
            <a:r>
              <a:rPr sz="2800" spc="-50" dirty="0">
                <a:latin typeface="Calibri"/>
                <a:cs typeface="Calibri"/>
              </a:rPr>
              <a:t> </a:t>
            </a:r>
            <a:r>
              <a:rPr sz="2800" dirty="0">
                <a:latin typeface="Calibri"/>
                <a:cs typeface="Calibri"/>
              </a:rPr>
              <a:t>have</a:t>
            </a:r>
            <a:r>
              <a:rPr sz="2800" spc="-50" dirty="0">
                <a:latin typeface="Calibri"/>
                <a:cs typeface="Calibri"/>
              </a:rPr>
              <a:t> </a:t>
            </a:r>
            <a:r>
              <a:rPr sz="2800" dirty="0">
                <a:latin typeface="Calibri"/>
                <a:cs typeface="Calibri"/>
              </a:rPr>
              <a:t>many</a:t>
            </a:r>
            <a:r>
              <a:rPr sz="2800" spc="-30" dirty="0">
                <a:latin typeface="Calibri"/>
                <a:cs typeface="Calibri"/>
              </a:rPr>
              <a:t> </a:t>
            </a:r>
            <a:r>
              <a:rPr sz="2800" dirty="0">
                <a:latin typeface="Calibri"/>
                <a:cs typeface="Calibri"/>
              </a:rPr>
              <a:t>different</a:t>
            </a:r>
            <a:r>
              <a:rPr sz="2800" spc="-35" dirty="0">
                <a:latin typeface="Calibri"/>
                <a:cs typeface="Calibri"/>
              </a:rPr>
              <a:t> </a:t>
            </a:r>
            <a:r>
              <a:rPr sz="2800" dirty="0">
                <a:latin typeface="Calibri"/>
                <a:cs typeface="Calibri"/>
              </a:rPr>
              <a:t>sources</a:t>
            </a:r>
            <a:r>
              <a:rPr sz="2800" spc="-25" dirty="0">
                <a:latin typeface="Calibri"/>
                <a:cs typeface="Calibri"/>
              </a:rPr>
              <a:t> </a:t>
            </a:r>
            <a:r>
              <a:rPr sz="2800" dirty="0">
                <a:latin typeface="Calibri"/>
                <a:cs typeface="Calibri"/>
              </a:rPr>
              <a:t>and</a:t>
            </a:r>
            <a:r>
              <a:rPr sz="2800" spc="-40" dirty="0">
                <a:latin typeface="Calibri"/>
                <a:cs typeface="Calibri"/>
              </a:rPr>
              <a:t> </a:t>
            </a:r>
            <a:r>
              <a:rPr sz="2800" dirty="0">
                <a:latin typeface="Calibri"/>
                <a:cs typeface="Calibri"/>
              </a:rPr>
              <a:t>many</a:t>
            </a:r>
            <a:r>
              <a:rPr sz="2800" spc="-30" dirty="0">
                <a:latin typeface="Calibri"/>
                <a:cs typeface="Calibri"/>
              </a:rPr>
              <a:t> </a:t>
            </a:r>
            <a:r>
              <a:rPr sz="2800" dirty="0">
                <a:latin typeface="Calibri"/>
                <a:cs typeface="Calibri"/>
              </a:rPr>
              <a:t>different</a:t>
            </a:r>
            <a:r>
              <a:rPr sz="2800" spc="-35" dirty="0">
                <a:latin typeface="Calibri"/>
                <a:cs typeface="Calibri"/>
              </a:rPr>
              <a:t> </a:t>
            </a:r>
            <a:r>
              <a:rPr sz="2800" spc="-10" dirty="0">
                <a:latin typeface="Calibri"/>
                <a:cs typeface="Calibri"/>
              </a:rPr>
              <a:t>resulting 	</a:t>
            </a:r>
            <a:r>
              <a:rPr sz="2800" dirty="0">
                <a:latin typeface="Calibri"/>
                <a:cs typeface="Calibri"/>
              </a:rPr>
              <a:t>affects</a:t>
            </a:r>
            <a:r>
              <a:rPr sz="2800" spc="-35" dirty="0">
                <a:latin typeface="Calibri"/>
                <a:cs typeface="Calibri"/>
              </a:rPr>
              <a:t> </a:t>
            </a:r>
            <a:r>
              <a:rPr sz="2800" dirty="0">
                <a:latin typeface="Calibri"/>
                <a:cs typeface="Calibri"/>
              </a:rPr>
              <a:t>on</a:t>
            </a:r>
            <a:r>
              <a:rPr sz="2800" spc="-25" dirty="0">
                <a:latin typeface="Calibri"/>
                <a:cs typeface="Calibri"/>
              </a:rPr>
              <a:t> </a:t>
            </a:r>
            <a:r>
              <a:rPr sz="2800" dirty="0">
                <a:latin typeface="Calibri"/>
                <a:cs typeface="Calibri"/>
              </a:rPr>
              <a:t>your</a:t>
            </a:r>
            <a:r>
              <a:rPr sz="2800" spc="-25" dirty="0">
                <a:latin typeface="Calibri"/>
                <a:cs typeface="Calibri"/>
              </a:rPr>
              <a:t> </a:t>
            </a:r>
            <a:r>
              <a:rPr sz="2800" spc="-10" dirty="0">
                <a:latin typeface="Calibri"/>
                <a:cs typeface="Calibri"/>
              </a:rPr>
              <a:t>system</a:t>
            </a:r>
            <a:endParaRPr sz="2800">
              <a:latin typeface="Calibri"/>
              <a:cs typeface="Calibri"/>
            </a:endParaRPr>
          </a:p>
          <a:p>
            <a:pPr>
              <a:lnSpc>
                <a:spcPct val="100000"/>
              </a:lnSpc>
              <a:spcBef>
                <a:spcPts val="735"/>
              </a:spcBef>
              <a:buFont typeface="Arial"/>
              <a:buChar char="•"/>
            </a:pPr>
            <a:endParaRPr sz="2800">
              <a:latin typeface="Calibri"/>
              <a:cs typeface="Calibri"/>
            </a:endParaRPr>
          </a:p>
          <a:p>
            <a:pPr marL="240029" marR="1607185" indent="-227329">
              <a:lnSpc>
                <a:spcPct val="100000"/>
              </a:lnSpc>
              <a:buFont typeface="Arial"/>
              <a:buChar char="•"/>
              <a:tabLst>
                <a:tab pos="241300" algn="l"/>
              </a:tabLst>
            </a:pPr>
            <a:r>
              <a:rPr sz="2800" dirty="0">
                <a:latin typeface="Calibri"/>
                <a:cs typeface="Calibri"/>
              </a:rPr>
              <a:t>At</a:t>
            </a:r>
            <a:r>
              <a:rPr sz="2800" spc="-30" dirty="0">
                <a:latin typeface="Calibri"/>
                <a:cs typeface="Calibri"/>
              </a:rPr>
              <a:t> </a:t>
            </a:r>
            <a:r>
              <a:rPr sz="2800" dirty="0">
                <a:latin typeface="Calibri"/>
                <a:cs typeface="Calibri"/>
              </a:rPr>
              <a:t>the</a:t>
            </a:r>
            <a:r>
              <a:rPr sz="2800" spc="-35" dirty="0">
                <a:latin typeface="Calibri"/>
                <a:cs typeface="Calibri"/>
              </a:rPr>
              <a:t> </a:t>
            </a:r>
            <a:r>
              <a:rPr sz="2800" dirty="0">
                <a:latin typeface="Calibri"/>
                <a:cs typeface="Calibri"/>
              </a:rPr>
              <a:t>component level,</a:t>
            </a:r>
            <a:r>
              <a:rPr sz="2800" spc="-30" dirty="0">
                <a:latin typeface="Calibri"/>
                <a:cs typeface="Calibri"/>
              </a:rPr>
              <a:t> </a:t>
            </a:r>
            <a:r>
              <a:rPr sz="2800" dirty="0">
                <a:latin typeface="Calibri"/>
                <a:cs typeface="Calibri"/>
              </a:rPr>
              <a:t>here</a:t>
            </a:r>
            <a:r>
              <a:rPr sz="2800" spc="-35" dirty="0">
                <a:latin typeface="Calibri"/>
                <a:cs typeface="Calibri"/>
              </a:rPr>
              <a:t> </a:t>
            </a:r>
            <a:r>
              <a:rPr sz="2800" dirty="0">
                <a:latin typeface="Calibri"/>
                <a:cs typeface="Calibri"/>
              </a:rPr>
              <a:t>are</a:t>
            </a:r>
            <a:r>
              <a:rPr sz="2800" spc="-35" dirty="0">
                <a:latin typeface="Calibri"/>
                <a:cs typeface="Calibri"/>
              </a:rPr>
              <a:t> </a:t>
            </a:r>
            <a:r>
              <a:rPr sz="2800" dirty="0">
                <a:latin typeface="Calibri"/>
                <a:cs typeface="Calibri"/>
              </a:rPr>
              <a:t>a</a:t>
            </a:r>
            <a:r>
              <a:rPr sz="2800" spc="-40" dirty="0">
                <a:latin typeface="Calibri"/>
                <a:cs typeface="Calibri"/>
              </a:rPr>
              <a:t> </a:t>
            </a:r>
            <a:r>
              <a:rPr sz="2800" dirty="0">
                <a:latin typeface="Calibri"/>
                <a:cs typeface="Calibri"/>
              </a:rPr>
              <a:t>few</a:t>
            </a:r>
            <a:r>
              <a:rPr sz="2800" spc="-40" dirty="0">
                <a:latin typeface="Calibri"/>
                <a:cs typeface="Calibri"/>
              </a:rPr>
              <a:t> </a:t>
            </a:r>
            <a:r>
              <a:rPr sz="2800" spc="-10" dirty="0">
                <a:latin typeface="Calibri"/>
                <a:cs typeface="Calibri"/>
              </a:rPr>
              <a:t>fundamental 	</a:t>
            </a:r>
            <a:r>
              <a:rPr sz="2800" dirty="0">
                <a:latin typeface="Calibri"/>
                <a:cs typeface="Calibri"/>
              </a:rPr>
              <a:t>mechanisms</a:t>
            </a:r>
            <a:r>
              <a:rPr sz="2800" spc="-50" dirty="0">
                <a:latin typeface="Calibri"/>
                <a:cs typeface="Calibri"/>
              </a:rPr>
              <a:t> </a:t>
            </a:r>
            <a:r>
              <a:rPr sz="2800" dirty="0">
                <a:latin typeface="Calibri"/>
                <a:cs typeface="Calibri"/>
              </a:rPr>
              <a:t>of</a:t>
            </a:r>
            <a:r>
              <a:rPr sz="2800" spc="-75" dirty="0">
                <a:latin typeface="Calibri"/>
                <a:cs typeface="Calibri"/>
              </a:rPr>
              <a:t> </a:t>
            </a:r>
            <a:r>
              <a:rPr sz="2800" spc="-10" dirty="0">
                <a:latin typeface="Calibri"/>
                <a:cs typeface="Calibri"/>
              </a:rPr>
              <a:t>noise:</a:t>
            </a:r>
            <a:endParaRPr sz="2800">
              <a:latin typeface="Calibri"/>
              <a:cs typeface="Calibri"/>
            </a:endParaRPr>
          </a:p>
          <a:p>
            <a:pPr marL="240029" marR="705485" indent="-227329">
              <a:lnSpc>
                <a:spcPct val="100000"/>
              </a:lnSpc>
              <a:spcBef>
                <a:spcPts val="405"/>
              </a:spcBef>
              <a:buFont typeface="Arial"/>
              <a:buChar char="•"/>
              <a:tabLst>
                <a:tab pos="241300" algn="l"/>
                <a:tab pos="1598930" algn="l"/>
              </a:tabLst>
            </a:pPr>
            <a:r>
              <a:rPr sz="2800" spc="-10" dirty="0">
                <a:latin typeface="Calibri"/>
                <a:cs typeface="Calibri"/>
              </a:rPr>
              <a:t>Thermal</a:t>
            </a:r>
            <a:r>
              <a:rPr sz="2800" dirty="0">
                <a:latin typeface="Calibri"/>
                <a:cs typeface="Calibri"/>
              </a:rPr>
              <a:t>	Noise</a:t>
            </a:r>
            <a:r>
              <a:rPr sz="2800" spc="-45" dirty="0">
                <a:latin typeface="Calibri"/>
                <a:cs typeface="Calibri"/>
              </a:rPr>
              <a:t> </a:t>
            </a:r>
            <a:r>
              <a:rPr sz="2800" spc="-20" dirty="0">
                <a:latin typeface="Calibri"/>
                <a:cs typeface="Calibri"/>
              </a:rPr>
              <a:t>(Johnson-</a:t>
            </a:r>
            <a:r>
              <a:rPr sz="2800" dirty="0">
                <a:latin typeface="Calibri"/>
                <a:cs typeface="Calibri"/>
              </a:rPr>
              <a:t>Nyquist):</a:t>
            </a:r>
            <a:r>
              <a:rPr sz="2800" spc="5" dirty="0">
                <a:latin typeface="Calibri"/>
                <a:cs typeface="Calibri"/>
              </a:rPr>
              <a:t> </a:t>
            </a:r>
            <a:r>
              <a:rPr sz="2800" dirty="0">
                <a:latin typeface="Calibri"/>
                <a:cs typeface="Calibri"/>
              </a:rPr>
              <a:t>Arises</a:t>
            </a:r>
            <a:r>
              <a:rPr sz="2800" spc="-45" dirty="0">
                <a:latin typeface="Calibri"/>
                <a:cs typeface="Calibri"/>
              </a:rPr>
              <a:t> </a:t>
            </a:r>
            <a:r>
              <a:rPr sz="2800" dirty="0">
                <a:latin typeface="Calibri"/>
                <a:cs typeface="Calibri"/>
              </a:rPr>
              <a:t>from</a:t>
            </a:r>
            <a:r>
              <a:rPr sz="2800" spc="-45" dirty="0">
                <a:latin typeface="Calibri"/>
                <a:cs typeface="Calibri"/>
              </a:rPr>
              <a:t> </a:t>
            </a:r>
            <a:r>
              <a:rPr sz="2800" dirty="0">
                <a:latin typeface="Calibri"/>
                <a:cs typeface="Calibri"/>
              </a:rPr>
              <a:t>the</a:t>
            </a:r>
            <a:r>
              <a:rPr sz="2800" spc="-45" dirty="0">
                <a:latin typeface="Calibri"/>
                <a:cs typeface="Calibri"/>
              </a:rPr>
              <a:t> </a:t>
            </a:r>
            <a:r>
              <a:rPr sz="2800" spc="-10" dirty="0">
                <a:latin typeface="Calibri"/>
                <a:cs typeface="Calibri"/>
              </a:rPr>
              <a:t>random 	</a:t>
            </a:r>
            <a:r>
              <a:rPr sz="2800" dirty="0">
                <a:latin typeface="Calibri"/>
                <a:cs typeface="Calibri"/>
              </a:rPr>
              <a:t>motion</a:t>
            </a:r>
            <a:r>
              <a:rPr sz="2800" spc="-35" dirty="0">
                <a:latin typeface="Calibri"/>
                <a:cs typeface="Calibri"/>
              </a:rPr>
              <a:t> </a:t>
            </a:r>
            <a:r>
              <a:rPr sz="2800" dirty="0">
                <a:latin typeface="Calibri"/>
                <a:cs typeface="Calibri"/>
              </a:rPr>
              <a:t>of</a:t>
            </a:r>
            <a:r>
              <a:rPr sz="2800" spc="-65" dirty="0">
                <a:latin typeface="Calibri"/>
                <a:cs typeface="Calibri"/>
              </a:rPr>
              <a:t> </a:t>
            </a:r>
            <a:r>
              <a:rPr sz="2800" dirty="0">
                <a:latin typeface="Calibri"/>
                <a:cs typeface="Calibri"/>
              </a:rPr>
              <a:t>charge</a:t>
            </a:r>
            <a:r>
              <a:rPr sz="2800" spc="-55" dirty="0">
                <a:latin typeface="Calibri"/>
                <a:cs typeface="Calibri"/>
              </a:rPr>
              <a:t> </a:t>
            </a:r>
            <a:r>
              <a:rPr sz="2800" dirty="0">
                <a:latin typeface="Calibri"/>
                <a:cs typeface="Calibri"/>
              </a:rPr>
              <a:t>carriers</a:t>
            </a:r>
            <a:r>
              <a:rPr sz="2800" spc="-40" dirty="0">
                <a:latin typeface="Calibri"/>
                <a:cs typeface="Calibri"/>
              </a:rPr>
              <a:t> </a:t>
            </a:r>
            <a:r>
              <a:rPr sz="2800" dirty="0">
                <a:latin typeface="Calibri"/>
                <a:cs typeface="Calibri"/>
              </a:rPr>
              <a:t>in</a:t>
            </a:r>
            <a:r>
              <a:rPr sz="2800" spc="-45" dirty="0">
                <a:latin typeface="Calibri"/>
                <a:cs typeface="Calibri"/>
              </a:rPr>
              <a:t> </a:t>
            </a:r>
            <a:r>
              <a:rPr sz="2800" dirty="0">
                <a:latin typeface="Calibri"/>
                <a:cs typeface="Calibri"/>
              </a:rPr>
              <a:t>resistive</a:t>
            </a:r>
            <a:r>
              <a:rPr sz="2800" spc="-30" dirty="0">
                <a:latin typeface="Calibri"/>
                <a:cs typeface="Calibri"/>
              </a:rPr>
              <a:t> </a:t>
            </a:r>
            <a:r>
              <a:rPr sz="2800" spc="-10" dirty="0">
                <a:latin typeface="Calibri"/>
                <a:cs typeface="Calibri"/>
              </a:rPr>
              <a:t>materials.</a:t>
            </a:r>
            <a:endParaRPr sz="2800">
              <a:latin typeface="Calibri"/>
              <a:cs typeface="Calibri"/>
            </a:endParaRPr>
          </a:p>
          <a:p>
            <a:pPr marL="240029" indent="-227329">
              <a:lnSpc>
                <a:spcPct val="100000"/>
              </a:lnSpc>
              <a:spcBef>
                <a:spcPts val="400"/>
              </a:spcBef>
              <a:buFont typeface="Arial"/>
              <a:buChar char="•"/>
              <a:tabLst>
                <a:tab pos="240029" algn="l"/>
              </a:tabLst>
            </a:pPr>
            <a:r>
              <a:rPr sz="2800" dirty="0">
                <a:latin typeface="Calibri"/>
                <a:cs typeface="Calibri"/>
              </a:rPr>
              <a:t>Flicker</a:t>
            </a:r>
            <a:r>
              <a:rPr sz="2800" spc="-45" dirty="0">
                <a:latin typeface="Calibri"/>
                <a:cs typeface="Calibri"/>
              </a:rPr>
              <a:t> </a:t>
            </a:r>
            <a:r>
              <a:rPr sz="2800" dirty="0">
                <a:latin typeface="Calibri"/>
                <a:cs typeface="Calibri"/>
              </a:rPr>
              <a:t>Noise:</a:t>
            </a:r>
            <a:r>
              <a:rPr sz="2800" spc="-30" dirty="0">
                <a:latin typeface="Calibri"/>
                <a:cs typeface="Calibri"/>
              </a:rPr>
              <a:t> </a:t>
            </a:r>
            <a:r>
              <a:rPr sz="2800" dirty="0">
                <a:latin typeface="Calibri"/>
                <a:cs typeface="Calibri"/>
              </a:rPr>
              <a:t>Generally</a:t>
            </a:r>
            <a:r>
              <a:rPr sz="2800" spc="-55" dirty="0">
                <a:latin typeface="Calibri"/>
                <a:cs typeface="Calibri"/>
              </a:rPr>
              <a:t> </a:t>
            </a:r>
            <a:r>
              <a:rPr sz="2800" dirty="0">
                <a:latin typeface="Calibri"/>
                <a:cs typeface="Calibri"/>
              </a:rPr>
              <a:t>related</a:t>
            </a:r>
            <a:r>
              <a:rPr sz="2800" spc="-55" dirty="0">
                <a:latin typeface="Calibri"/>
                <a:cs typeface="Calibri"/>
              </a:rPr>
              <a:t> </a:t>
            </a:r>
            <a:r>
              <a:rPr sz="2800" dirty="0">
                <a:latin typeface="Calibri"/>
                <a:cs typeface="Calibri"/>
              </a:rPr>
              <a:t>to</a:t>
            </a:r>
            <a:r>
              <a:rPr sz="2800" spc="-35" dirty="0">
                <a:latin typeface="Calibri"/>
                <a:cs typeface="Calibri"/>
              </a:rPr>
              <a:t> </a:t>
            </a:r>
            <a:r>
              <a:rPr sz="2800" dirty="0">
                <a:latin typeface="Calibri"/>
                <a:cs typeface="Calibri"/>
              </a:rPr>
              <a:t>defects</a:t>
            </a:r>
            <a:r>
              <a:rPr sz="2800" spc="-55" dirty="0">
                <a:latin typeface="Calibri"/>
                <a:cs typeface="Calibri"/>
              </a:rPr>
              <a:t> </a:t>
            </a:r>
            <a:r>
              <a:rPr sz="2800" dirty="0">
                <a:latin typeface="Calibri"/>
                <a:cs typeface="Calibri"/>
              </a:rPr>
              <a:t>and</a:t>
            </a:r>
            <a:r>
              <a:rPr sz="2800" spc="-30" dirty="0">
                <a:latin typeface="Calibri"/>
                <a:cs typeface="Calibri"/>
              </a:rPr>
              <a:t> </a:t>
            </a:r>
            <a:r>
              <a:rPr sz="2800" spc="-10" dirty="0">
                <a:latin typeface="Calibri"/>
                <a:cs typeface="Calibri"/>
              </a:rPr>
              <a:t>impurities</a:t>
            </a:r>
            <a:endParaRPr sz="2800">
              <a:latin typeface="Calibri"/>
              <a:cs typeface="Calibri"/>
            </a:endParaRPr>
          </a:p>
          <a:p>
            <a:pPr marL="240029" indent="-227329">
              <a:lnSpc>
                <a:spcPct val="100000"/>
              </a:lnSpc>
              <a:spcBef>
                <a:spcPts val="395"/>
              </a:spcBef>
              <a:buFont typeface="Arial"/>
              <a:buChar char="•"/>
              <a:tabLst>
                <a:tab pos="240029" algn="l"/>
              </a:tabLst>
            </a:pPr>
            <a:r>
              <a:rPr sz="2800" dirty="0">
                <a:latin typeface="Calibri"/>
                <a:cs typeface="Calibri"/>
              </a:rPr>
              <a:t>Shot</a:t>
            </a:r>
            <a:r>
              <a:rPr sz="2800" spc="-45" dirty="0">
                <a:latin typeface="Calibri"/>
                <a:cs typeface="Calibri"/>
              </a:rPr>
              <a:t> </a:t>
            </a:r>
            <a:r>
              <a:rPr sz="2800" dirty="0">
                <a:latin typeface="Calibri"/>
                <a:cs typeface="Calibri"/>
              </a:rPr>
              <a:t>Noise:</a:t>
            </a:r>
            <a:r>
              <a:rPr sz="2800" spc="-35" dirty="0">
                <a:latin typeface="Calibri"/>
                <a:cs typeface="Calibri"/>
              </a:rPr>
              <a:t> </a:t>
            </a:r>
            <a:r>
              <a:rPr sz="2800" dirty="0">
                <a:latin typeface="Calibri"/>
                <a:cs typeface="Calibri"/>
              </a:rPr>
              <a:t>Arises</a:t>
            </a:r>
            <a:r>
              <a:rPr sz="2800" spc="-30" dirty="0">
                <a:latin typeface="Calibri"/>
                <a:cs typeface="Calibri"/>
              </a:rPr>
              <a:t> </a:t>
            </a:r>
            <a:r>
              <a:rPr sz="2800" dirty="0">
                <a:latin typeface="Calibri"/>
                <a:cs typeface="Calibri"/>
              </a:rPr>
              <a:t>from</a:t>
            </a:r>
            <a:r>
              <a:rPr sz="2800" spc="-45" dirty="0">
                <a:latin typeface="Calibri"/>
                <a:cs typeface="Calibri"/>
              </a:rPr>
              <a:t> </a:t>
            </a:r>
            <a:r>
              <a:rPr sz="2800" dirty="0">
                <a:latin typeface="Calibri"/>
                <a:cs typeface="Calibri"/>
              </a:rPr>
              <a:t>the</a:t>
            </a:r>
            <a:r>
              <a:rPr sz="2800" spc="-40" dirty="0">
                <a:latin typeface="Calibri"/>
                <a:cs typeface="Calibri"/>
              </a:rPr>
              <a:t> </a:t>
            </a:r>
            <a:r>
              <a:rPr sz="2800" dirty="0">
                <a:latin typeface="Calibri"/>
                <a:cs typeface="Calibri"/>
              </a:rPr>
              <a:t>discrete</a:t>
            </a:r>
            <a:r>
              <a:rPr sz="2800" spc="-40" dirty="0">
                <a:latin typeface="Calibri"/>
                <a:cs typeface="Calibri"/>
              </a:rPr>
              <a:t> </a:t>
            </a:r>
            <a:r>
              <a:rPr sz="2800" dirty="0">
                <a:latin typeface="Calibri"/>
                <a:cs typeface="Calibri"/>
              </a:rPr>
              <a:t>nature</a:t>
            </a:r>
            <a:r>
              <a:rPr sz="2800" spc="-40" dirty="0">
                <a:latin typeface="Calibri"/>
                <a:cs typeface="Calibri"/>
              </a:rPr>
              <a:t> </a:t>
            </a:r>
            <a:r>
              <a:rPr sz="2800" dirty="0">
                <a:latin typeface="Calibri"/>
                <a:cs typeface="Calibri"/>
              </a:rPr>
              <a:t>of</a:t>
            </a:r>
            <a:r>
              <a:rPr sz="2800" spc="-55" dirty="0">
                <a:latin typeface="Calibri"/>
                <a:cs typeface="Calibri"/>
              </a:rPr>
              <a:t> </a:t>
            </a:r>
            <a:r>
              <a:rPr sz="2800" dirty="0">
                <a:latin typeface="Calibri"/>
                <a:cs typeface="Calibri"/>
              </a:rPr>
              <a:t>charge</a:t>
            </a:r>
            <a:r>
              <a:rPr sz="2800" spc="-55" dirty="0">
                <a:latin typeface="Calibri"/>
                <a:cs typeface="Calibri"/>
              </a:rPr>
              <a:t> </a:t>
            </a:r>
            <a:r>
              <a:rPr sz="2800" spc="-10" dirty="0">
                <a:latin typeface="Calibri"/>
                <a:cs typeface="Calibri"/>
              </a:rPr>
              <a:t>carriers</a:t>
            </a:r>
            <a:endParaRPr sz="2800">
              <a:latin typeface="Calibri"/>
              <a:cs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Thermal</a:t>
            </a:r>
            <a:r>
              <a:rPr spc="204" dirty="0"/>
              <a:t> </a:t>
            </a:r>
            <a:r>
              <a:rPr spc="-20" dirty="0"/>
              <a:t>Noise</a:t>
            </a:r>
          </a:p>
        </p:txBody>
      </p:sp>
      <p:pic>
        <p:nvPicPr>
          <p:cNvPr id="3" name="object 3"/>
          <p:cNvPicPr/>
          <p:nvPr/>
        </p:nvPicPr>
        <p:blipFill>
          <a:blip r:embed="rId2" cstate="print"/>
          <a:stretch>
            <a:fillRect/>
          </a:stretch>
        </p:blipFill>
        <p:spPr>
          <a:xfrm>
            <a:off x="228600" y="427089"/>
            <a:ext cx="9677399" cy="3369168"/>
          </a:xfrm>
          <a:prstGeom prst="rect">
            <a:avLst/>
          </a:prstGeom>
        </p:spPr>
      </p:pic>
      <p:pic>
        <p:nvPicPr>
          <p:cNvPr id="6" name="Picture 5" descr="A white background with black text and black text&#10;&#10;AI-generated content may be incorrect.">
            <a:extLst>
              <a:ext uri="{FF2B5EF4-FFF2-40B4-BE49-F238E27FC236}">
                <a16:creationId xmlns:a16="http://schemas.microsoft.com/office/drawing/2014/main" id="{02D960A0-92C9-7812-04BF-6116F3315D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0193" y="2286000"/>
            <a:ext cx="6771835" cy="4191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Shot</a:t>
            </a:r>
            <a:r>
              <a:rPr spc="155" dirty="0"/>
              <a:t> </a:t>
            </a:r>
            <a:r>
              <a:rPr spc="-10" dirty="0"/>
              <a:t>Noise</a:t>
            </a:r>
          </a:p>
        </p:txBody>
      </p:sp>
      <p:sp>
        <p:nvSpPr>
          <p:cNvPr id="4" name="object 4"/>
          <p:cNvSpPr txBox="1"/>
          <p:nvPr/>
        </p:nvSpPr>
        <p:spPr>
          <a:xfrm>
            <a:off x="303846" y="585151"/>
            <a:ext cx="9878060" cy="2228815"/>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Shot</a:t>
            </a:r>
            <a:r>
              <a:rPr sz="1800" spc="-25"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caused</a:t>
            </a:r>
            <a:r>
              <a:rPr sz="1800" spc="-15" dirty="0">
                <a:latin typeface="Arial"/>
                <a:cs typeface="Arial"/>
              </a:rPr>
              <a:t> </a:t>
            </a:r>
            <a:r>
              <a:rPr sz="1800" dirty="0">
                <a:latin typeface="Arial"/>
                <a:cs typeface="Arial"/>
              </a:rPr>
              <a:t>by</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random</a:t>
            </a:r>
            <a:r>
              <a:rPr sz="1800" spc="-10" dirty="0">
                <a:latin typeface="Arial"/>
                <a:cs typeface="Arial"/>
              </a:rPr>
              <a:t> </a:t>
            </a:r>
            <a:r>
              <a:rPr sz="1800" dirty="0">
                <a:latin typeface="Arial"/>
                <a:cs typeface="Arial"/>
              </a:rPr>
              <a:t>arrival</a:t>
            </a:r>
            <a:r>
              <a:rPr sz="1800" spc="-1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charge</a:t>
            </a:r>
            <a:r>
              <a:rPr sz="1800" spc="-15" dirty="0">
                <a:latin typeface="Arial"/>
                <a:cs typeface="Arial"/>
              </a:rPr>
              <a:t> </a:t>
            </a:r>
            <a:r>
              <a:rPr sz="1800" dirty="0">
                <a:latin typeface="Arial"/>
                <a:cs typeface="Arial"/>
              </a:rPr>
              <a:t>carriers</a:t>
            </a:r>
            <a:r>
              <a:rPr sz="1800" spc="-25" dirty="0">
                <a:latin typeface="Arial"/>
                <a:cs typeface="Arial"/>
              </a:rPr>
              <a:t> </a:t>
            </a:r>
            <a:r>
              <a:rPr sz="1800" dirty="0">
                <a:latin typeface="Arial"/>
                <a:cs typeface="Arial"/>
              </a:rPr>
              <a:t>(e.g.,</a:t>
            </a:r>
            <a:r>
              <a:rPr sz="1800" spc="-20" dirty="0">
                <a:latin typeface="Arial"/>
                <a:cs typeface="Arial"/>
              </a:rPr>
              <a:t> </a:t>
            </a:r>
            <a:r>
              <a:rPr sz="1800" dirty="0">
                <a:latin typeface="Arial"/>
                <a:cs typeface="Arial"/>
              </a:rPr>
              <a:t>electrons</a:t>
            </a:r>
            <a:r>
              <a:rPr sz="1800" spc="-10" dirty="0">
                <a:latin typeface="Arial"/>
                <a:cs typeface="Arial"/>
              </a:rPr>
              <a:t> </a:t>
            </a:r>
            <a:r>
              <a:rPr sz="1800" dirty="0">
                <a:latin typeface="Arial"/>
                <a:cs typeface="Arial"/>
              </a:rPr>
              <a:t>or</a:t>
            </a:r>
            <a:r>
              <a:rPr sz="1800" spc="-25" dirty="0">
                <a:latin typeface="Arial"/>
                <a:cs typeface="Arial"/>
              </a:rPr>
              <a:t> </a:t>
            </a:r>
            <a:r>
              <a:rPr sz="1800" dirty="0">
                <a:latin typeface="Arial"/>
                <a:cs typeface="Arial"/>
              </a:rPr>
              <a:t>holes)</a:t>
            </a:r>
            <a:r>
              <a:rPr sz="1800" spc="-10" dirty="0">
                <a:latin typeface="Arial"/>
                <a:cs typeface="Arial"/>
              </a:rPr>
              <a:t> </a:t>
            </a:r>
            <a:r>
              <a:rPr sz="1800" dirty="0">
                <a:latin typeface="Arial"/>
                <a:cs typeface="Arial"/>
              </a:rPr>
              <a:t>at</a:t>
            </a:r>
            <a:r>
              <a:rPr sz="1800" spc="-30" dirty="0">
                <a:latin typeface="Arial"/>
                <a:cs typeface="Arial"/>
              </a:rPr>
              <a:t> </a:t>
            </a:r>
            <a:r>
              <a:rPr sz="1800" spc="-50" dirty="0">
                <a:latin typeface="Arial"/>
                <a:cs typeface="Arial"/>
              </a:rPr>
              <a:t>a </a:t>
            </a:r>
            <a:r>
              <a:rPr sz="1800" dirty="0">
                <a:latin typeface="Arial"/>
                <a:cs typeface="Arial"/>
              </a:rPr>
              <a:t>potential</a:t>
            </a:r>
            <a:r>
              <a:rPr sz="1800" spc="-30" dirty="0">
                <a:latin typeface="Arial"/>
                <a:cs typeface="Arial"/>
              </a:rPr>
              <a:t> </a:t>
            </a:r>
            <a:r>
              <a:rPr sz="1800" dirty="0">
                <a:latin typeface="Arial"/>
                <a:cs typeface="Arial"/>
              </a:rPr>
              <a:t>barrier</a:t>
            </a:r>
            <a:r>
              <a:rPr sz="1800" spc="-30" dirty="0">
                <a:latin typeface="Arial"/>
                <a:cs typeface="Arial"/>
              </a:rPr>
              <a:t> </a:t>
            </a:r>
            <a:r>
              <a:rPr sz="1800" dirty="0">
                <a:latin typeface="Arial"/>
                <a:cs typeface="Arial"/>
              </a:rPr>
              <a:t>or</a:t>
            </a:r>
            <a:r>
              <a:rPr sz="1800" spc="-35" dirty="0">
                <a:latin typeface="Arial"/>
                <a:cs typeface="Arial"/>
              </a:rPr>
              <a:t> </a:t>
            </a:r>
            <a:r>
              <a:rPr sz="1800" dirty="0">
                <a:latin typeface="Arial"/>
                <a:cs typeface="Arial"/>
              </a:rPr>
              <a:t>through</a:t>
            </a:r>
            <a:r>
              <a:rPr sz="1800" spc="-30" dirty="0">
                <a:latin typeface="Arial"/>
                <a:cs typeface="Arial"/>
              </a:rPr>
              <a:t> </a:t>
            </a:r>
            <a:r>
              <a:rPr sz="1800" dirty="0">
                <a:latin typeface="Arial"/>
                <a:cs typeface="Arial"/>
              </a:rPr>
              <a:t>a</a:t>
            </a:r>
            <a:r>
              <a:rPr sz="1800" spc="-45" dirty="0">
                <a:latin typeface="Arial"/>
                <a:cs typeface="Arial"/>
              </a:rPr>
              <a:t> </a:t>
            </a:r>
            <a:r>
              <a:rPr sz="1800" dirty="0">
                <a:latin typeface="Arial"/>
                <a:cs typeface="Arial"/>
              </a:rPr>
              <a:t>quantum</a:t>
            </a:r>
            <a:r>
              <a:rPr sz="1800" spc="-25" dirty="0">
                <a:latin typeface="Arial"/>
                <a:cs typeface="Arial"/>
              </a:rPr>
              <a:t> </a:t>
            </a:r>
            <a:r>
              <a:rPr sz="1800" dirty="0">
                <a:latin typeface="Arial"/>
                <a:cs typeface="Arial"/>
              </a:rPr>
              <a:t>tunneling</a:t>
            </a:r>
            <a:r>
              <a:rPr sz="1800" spc="-20" dirty="0">
                <a:latin typeface="Arial"/>
                <a:cs typeface="Arial"/>
              </a:rPr>
              <a:t> </a:t>
            </a:r>
            <a:r>
              <a:rPr sz="1800" dirty="0">
                <a:latin typeface="Arial"/>
                <a:cs typeface="Arial"/>
              </a:rPr>
              <a:t>process.</a:t>
            </a:r>
            <a:r>
              <a:rPr sz="1800" spc="-20" dirty="0">
                <a:latin typeface="Arial"/>
                <a:cs typeface="Arial"/>
              </a:rPr>
              <a:t> </a:t>
            </a:r>
            <a:r>
              <a:rPr sz="1800" dirty="0">
                <a:latin typeface="Arial"/>
                <a:cs typeface="Arial"/>
              </a:rPr>
              <a:t>Unlike</a:t>
            </a:r>
            <a:r>
              <a:rPr sz="1800" spc="-30" dirty="0">
                <a:latin typeface="Arial"/>
                <a:cs typeface="Arial"/>
              </a:rPr>
              <a:t> </a:t>
            </a:r>
            <a:r>
              <a:rPr sz="1800" dirty="0">
                <a:latin typeface="Arial"/>
                <a:cs typeface="Arial"/>
              </a:rPr>
              <a:t>thermal</a:t>
            </a:r>
            <a:r>
              <a:rPr sz="1800" spc="-30" dirty="0">
                <a:latin typeface="Arial"/>
                <a:cs typeface="Arial"/>
              </a:rPr>
              <a:t> </a:t>
            </a:r>
            <a:r>
              <a:rPr sz="1800" dirty="0">
                <a:latin typeface="Arial"/>
                <a:cs typeface="Arial"/>
              </a:rPr>
              <a:t>noise,</a:t>
            </a:r>
            <a:r>
              <a:rPr sz="1800" spc="-35" dirty="0">
                <a:latin typeface="Arial"/>
                <a:cs typeface="Arial"/>
              </a:rPr>
              <a:t> </a:t>
            </a:r>
            <a:r>
              <a:rPr sz="1800" dirty="0">
                <a:latin typeface="Arial"/>
                <a:cs typeface="Arial"/>
              </a:rPr>
              <a:t>which depends</a:t>
            </a:r>
            <a:r>
              <a:rPr sz="1800" spc="-15" dirty="0">
                <a:latin typeface="Arial"/>
                <a:cs typeface="Arial"/>
              </a:rPr>
              <a:t> </a:t>
            </a:r>
            <a:r>
              <a:rPr sz="1800" spc="-25" dirty="0">
                <a:latin typeface="Arial"/>
                <a:cs typeface="Arial"/>
              </a:rPr>
              <a:t>on </a:t>
            </a:r>
            <a:r>
              <a:rPr sz="1800" dirty="0">
                <a:latin typeface="Arial"/>
                <a:cs typeface="Arial"/>
              </a:rPr>
              <a:t>temperature,</a:t>
            </a:r>
            <a:r>
              <a:rPr sz="1800" spc="-15" dirty="0">
                <a:latin typeface="Arial"/>
                <a:cs typeface="Arial"/>
              </a:rPr>
              <a:t> </a:t>
            </a: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arises</a:t>
            </a:r>
            <a:r>
              <a:rPr sz="1800" spc="-25" dirty="0">
                <a:latin typeface="Arial"/>
                <a:cs typeface="Arial"/>
              </a:rPr>
              <a:t> </a:t>
            </a:r>
            <a:r>
              <a:rPr sz="1800" dirty="0">
                <a:latin typeface="Arial"/>
                <a:cs typeface="Arial"/>
              </a:rPr>
              <a:t>solely</a:t>
            </a:r>
            <a:r>
              <a:rPr sz="1800" spc="-15" dirty="0">
                <a:latin typeface="Arial"/>
                <a:cs typeface="Arial"/>
              </a:rPr>
              <a:t> </a:t>
            </a:r>
            <a:r>
              <a:rPr sz="1800" dirty="0">
                <a:latin typeface="Arial"/>
                <a:cs typeface="Arial"/>
              </a:rPr>
              <a:t>due</a:t>
            </a:r>
            <a:r>
              <a:rPr sz="1800" spc="-2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quantization</a:t>
            </a:r>
            <a:r>
              <a:rPr sz="1800" spc="-5" dirty="0">
                <a:latin typeface="Arial"/>
                <a:cs typeface="Arial"/>
              </a:rPr>
              <a:t> </a:t>
            </a:r>
            <a:r>
              <a:rPr sz="1800" dirty="0">
                <a:latin typeface="Arial"/>
                <a:cs typeface="Arial"/>
              </a:rPr>
              <a:t>of</a:t>
            </a:r>
            <a:r>
              <a:rPr sz="1800" spc="-35" dirty="0">
                <a:latin typeface="Arial"/>
                <a:cs typeface="Arial"/>
              </a:rPr>
              <a:t> </a:t>
            </a:r>
            <a:r>
              <a:rPr sz="1800" spc="-10" dirty="0">
                <a:latin typeface="Arial"/>
                <a:cs typeface="Arial"/>
              </a:rPr>
              <a:t>charge.</a:t>
            </a:r>
            <a:endParaRPr sz="1800" dirty="0">
              <a:latin typeface="Arial"/>
              <a:cs typeface="Arial"/>
            </a:endParaRPr>
          </a:p>
          <a:p>
            <a:pPr marL="12700">
              <a:lnSpc>
                <a:spcPct val="100000"/>
              </a:lnSpc>
            </a:pPr>
            <a:r>
              <a:rPr sz="1800" b="1" dirty="0">
                <a:latin typeface="Arial"/>
                <a:cs typeface="Arial"/>
              </a:rPr>
              <a:t>Key</a:t>
            </a:r>
            <a:r>
              <a:rPr sz="1800" b="1" spc="-20" dirty="0">
                <a:latin typeface="Arial"/>
                <a:cs typeface="Arial"/>
              </a:rPr>
              <a:t> </a:t>
            </a:r>
            <a:r>
              <a:rPr sz="1800" b="1" spc="-10" dirty="0">
                <a:latin typeface="Arial"/>
                <a:cs typeface="Arial"/>
              </a:rPr>
              <a:t>Characteristics:</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independent</a:t>
            </a:r>
            <a:r>
              <a:rPr sz="1800" spc="10" dirty="0">
                <a:latin typeface="Arial"/>
                <a:cs typeface="Arial"/>
              </a:rPr>
              <a:t> </a:t>
            </a:r>
            <a:r>
              <a:rPr sz="1800" dirty="0">
                <a:latin typeface="Arial"/>
                <a:cs typeface="Arial"/>
              </a:rPr>
              <a:t>of</a:t>
            </a:r>
            <a:r>
              <a:rPr sz="1800" spc="-35" dirty="0">
                <a:latin typeface="Arial"/>
                <a:cs typeface="Arial"/>
              </a:rPr>
              <a:t> </a:t>
            </a:r>
            <a:r>
              <a:rPr sz="1800" spc="-10" dirty="0">
                <a:latin typeface="Arial"/>
                <a:cs typeface="Arial"/>
              </a:rPr>
              <a:t>temperature.</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proportional</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average</a:t>
            </a:r>
            <a:r>
              <a:rPr sz="1800" spc="-20" dirty="0">
                <a:latin typeface="Arial"/>
                <a:cs typeface="Arial"/>
              </a:rPr>
              <a:t> </a:t>
            </a:r>
            <a:r>
              <a:rPr sz="1800" dirty="0">
                <a:latin typeface="Arial"/>
                <a:cs typeface="Arial"/>
              </a:rPr>
              <a:t>current</a:t>
            </a:r>
            <a:r>
              <a:rPr sz="1800" spc="-10" dirty="0">
                <a:latin typeface="Arial"/>
                <a:cs typeface="Arial"/>
              </a:rPr>
              <a:t> </a:t>
            </a:r>
            <a:r>
              <a:rPr sz="1800" dirty="0">
                <a:latin typeface="Arial"/>
                <a:cs typeface="Arial"/>
              </a:rPr>
              <a:t>and</a:t>
            </a:r>
            <a:r>
              <a:rPr sz="1800" spc="-35" dirty="0">
                <a:latin typeface="Arial"/>
                <a:cs typeface="Arial"/>
              </a:rPr>
              <a:t> </a:t>
            </a:r>
            <a:r>
              <a:rPr sz="1800" dirty="0">
                <a:latin typeface="Arial"/>
                <a:cs typeface="Arial"/>
              </a:rPr>
              <a:t>depends</a:t>
            </a:r>
            <a:r>
              <a:rPr sz="1800" spc="-5" dirty="0">
                <a:latin typeface="Arial"/>
                <a:cs typeface="Arial"/>
              </a:rPr>
              <a:t> </a:t>
            </a:r>
            <a:r>
              <a:rPr sz="1800" dirty="0">
                <a:latin typeface="Arial"/>
                <a:cs typeface="Arial"/>
              </a:rPr>
              <a:t>on</a:t>
            </a:r>
            <a:r>
              <a:rPr sz="1800" spc="-3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bandwidth</a:t>
            </a:r>
            <a:r>
              <a:rPr sz="1800" spc="15" dirty="0">
                <a:latin typeface="Arial"/>
                <a:cs typeface="Arial"/>
              </a:rPr>
              <a:t> </a:t>
            </a:r>
            <a:r>
              <a:rPr sz="1800" dirty="0">
                <a:latin typeface="Arial"/>
                <a:cs typeface="Arial"/>
              </a:rPr>
              <a:t>of</a:t>
            </a:r>
            <a:r>
              <a:rPr sz="1800" spc="-25" dirty="0">
                <a:latin typeface="Arial"/>
                <a:cs typeface="Arial"/>
              </a:rPr>
              <a:t> </a:t>
            </a:r>
            <a:r>
              <a:rPr sz="1800" spc="-10" dirty="0">
                <a:latin typeface="Arial"/>
                <a:cs typeface="Arial"/>
              </a:rPr>
              <a:t>observation.</a:t>
            </a:r>
            <a:endParaRPr sz="1800" dirty="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50" dirty="0">
                <a:latin typeface="Arial"/>
                <a:cs typeface="Arial"/>
              </a:rPr>
              <a:t> </a:t>
            </a:r>
            <a:r>
              <a:rPr sz="1800" dirty="0">
                <a:latin typeface="Arial"/>
                <a:cs typeface="Arial"/>
              </a:rPr>
              <a:t>is</a:t>
            </a:r>
            <a:r>
              <a:rPr sz="1800" spc="-40" dirty="0">
                <a:latin typeface="Arial"/>
                <a:cs typeface="Arial"/>
              </a:rPr>
              <a:t> </a:t>
            </a:r>
            <a:r>
              <a:rPr sz="1800" dirty="0">
                <a:latin typeface="Arial"/>
                <a:cs typeface="Arial"/>
              </a:rPr>
              <a:t>most</a:t>
            </a:r>
            <a:r>
              <a:rPr sz="1800" spc="-40" dirty="0">
                <a:latin typeface="Arial"/>
                <a:cs typeface="Arial"/>
              </a:rPr>
              <a:t> </a:t>
            </a:r>
            <a:r>
              <a:rPr sz="1800" dirty="0">
                <a:latin typeface="Arial"/>
                <a:cs typeface="Arial"/>
              </a:rPr>
              <a:t>commonly</a:t>
            </a:r>
            <a:r>
              <a:rPr sz="1800" spc="-30" dirty="0">
                <a:latin typeface="Arial"/>
                <a:cs typeface="Arial"/>
              </a:rPr>
              <a:t> </a:t>
            </a:r>
            <a:r>
              <a:rPr sz="1800" dirty="0">
                <a:latin typeface="Arial"/>
                <a:cs typeface="Arial"/>
              </a:rPr>
              <a:t>observed</a:t>
            </a:r>
            <a:r>
              <a:rPr sz="1800" spc="-35" dirty="0">
                <a:latin typeface="Arial"/>
                <a:cs typeface="Arial"/>
              </a:rPr>
              <a:t> </a:t>
            </a:r>
            <a:r>
              <a:rPr sz="1800" dirty="0">
                <a:latin typeface="Arial"/>
                <a:cs typeface="Arial"/>
              </a:rPr>
              <a:t>in</a:t>
            </a:r>
            <a:r>
              <a:rPr sz="1800" spc="-45" dirty="0">
                <a:latin typeface="Arial"/>
                <a:cs typeface="Arial"/>
              </a:rPr>
              <a:t> </a:t>
            </a:r>
            <a:r>
              <a:rPr sz="1800" b="1" dirty="0">
                <a:latin typeface="Arial"/>
                <a:cs typeface="Arial"/>
              </a:rPr>
              <a:t>semiconductor</a:t>
            </a:r>
            <a:r>
              <a:rPr sz="1800" b="1" spc="-50" dirty="0">
                <a:latin typeface="Arial"/>
                <a:cs typeface="Arial"/>
              </a:rPr>
              <a:t> </a:t>
            </a:r>
            <a:r>
              <a:rPr sz="1800" b="1" dirty="0">
                <a:latin typeface="Arial"/>
                <a:cs typeface="Arial"/>
              </a:rPr>
              <a:t>junctions</a:t>
            </a:r>
            <a:r>
              <a:rPr sz="1800" dirty="0">
                <a:latin typeface="Arial"/>
                <a:cs typeface="Arial"/>
              </a:rPr>
              <a:t>,</a:t>
            </a:r>
            <a:r>
              <a:rPr sz="1800" spc="-60" dirty="0">
                <a:latin typeface="Arial"/>
                <a:cs typeface="Arial"/>
              </a:rPr>
              <a:t> </a:t>
            </a:r>
            <a:r>
              <a:rPr sz="1800" b="1" dirty="0">
                <a:latin typeface="Arial"/>
                <a:cs typeface="Arial"/>
              </a:rPr>
              <a:t>vacuum</a:t>
            </a:r>
            <a:r>
              <a:rPr sz="1800" b="1" spc="-10" dirty="0">
                <a:latin typeface="Arial"/>
                <a:cs typeface="Arial"/>
              </a:rPr>
              <a:t> </a:t>
            </a:r>
            <a:r>
              <a:rPr sz="1800" b="1" dirty="0">
                <a:latin typeface="Arial"/>
                <a:cs typeface="Arial"/>
              </a:rPr>
              <a:t>diodes</a:t>
            </a:r>
            <a:r>
              <a:rPr sz="1800" dirty="0">
                <a:latin typeface="Arial"/>
                <a:cs typeface="Arial"/>
              </a:rPr>
              <a:t>,</a:t>
            </a:r>
            <a:r>
              <a:rPr sz="1800" spc="-45" dirty="0">
                <a:latin typeface="Arial"/>
                <a:cs typeface="Arial"/>
              </a:rPr>
              <a:t> </a:t>
            </a:r>
            <a:r>
              <a:rPr sz="1800" spc="-25" dirty="0">
                <a:latin typeface="Arial"/>
                <a:cs typeface="Arial"/>
              </a:rPr>
              <a:t>and</a:t>
            </a:r>
            <a:endParaRPr sz="1800" dirty="0">
              <a:latin typeface="Arial"/>
              <a:cs typeface="Arial"/>
            </a:endParaRPr>
          </a:p>
          <a:p>
            <a:pPr marL="12700">
              <a:lnSpc>
                <a:spcPct val="100000"/>
              </a:lnSpc>
            </a:pPr>
            <a:r>
              <a:rPr sz="1800" b="1" spc="-10" dirty="0">
                <a:latin typeface="Arial"/>
                <a:cs typeface="Arial"/>
              </a:rPr>
              <a:t>photodetectors</a:t>
            </a:r>
            <a:r>
              <a:rPr sz="1800" spc="-10" dirty="0">
                <a:latin typeface="Arial"/>
                <a:cs typeface="Arial"/>
              </a:rPr>
              <a:t>.</a:t>
            </a:r>
            <a:endParaRPr sz="1800" dirty="0">
              <a:latin typeface="Arial"/>
              <a:cs typeface="Arial"/>
            </a:endParaRPr>
          </a:p>
        </p:txBody>
      </p:sp>
      <p:pic>
        <p:nvPicPr>
          <p:cNvPr id="6" name="Picture 5" descr="A white paper with black text&#10;&#10;AI-generated content may be incorrect.">
            <a:extLst>
              <a:ext uri="{FF2B5EF4-FFF2-40B4-BE49-F238E27FC236}">
                <a16:creationId xmlns:a16="http://schemas.microsoft.com/office/drawing/2014/main" id="{035BDF26-1475-A030-85D6-3DF15105D5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5248" y="2514600"/>
            <a:ext cx="6733386" cy="423174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Shot</a:t>
            </a:r>
            <a:r>
              <a:rPr spc="155" dirty="0"/>
              <a:t> </a:t>
            </a:r>
            <a:r>
              <a:rPr spc="-10" dirty="0"/>
              <a:t>Noise</a:t>
            </a:r>
          </a:p>
        </p:txBody>
      </p:sp>
      <p:sp>
        <p:nvSpPr>
          <p:cNvPr id="3" name="object 3"/>
          <p:cNvSpPr txBox="1"/>
          <p:nvPr/>
        </p:nvSpPr>
        <p:spPr>
          <a:xfrm>
            <a:off x="1145463" y="1238310"/>
            <a:ext cx="9915525" cy="4140200"/>
          </a:xfrm>
          <a:prstGeom prst="rect">
            <a:avLst/>
          </a:prstGeom>
        </p:spPr>
        <p:txBody>
          <a:bodyPr vert="horz" wrap="square" lIns="0" tIns="12700" rIns="0" bIns="0" rtlCol="0">
            <a:spAutoFit/>
          </a:bodyPr>
          <a:lstStyle/>
          <a:p>
            <a:pPr marL="91440" indent="-88900">
              <a:lnSpc>
                <a:spcPct val="100000"/>
              </a:lnSpc>
              <a:spcBef>
                <a:spcPts val="100"/>
              </a:spcBef>
              <a:buSzPct val="94444"/>
              <a:buFont typeface="Arial"/>
              <a:buChar char="•"/>
              <a:tabLst>
                <a:tab pos="91440" algn="l"/>
              </a:tabLst>
            </a:pPr>
            <a:r>
              <a:rPr sz="1800" b="1" dirty="0">
                <a:latin typeface="Arial"/>
                <a:cs typeface="Arial"/>
              </a:rPr>
              <a:t>Proportional</a:t>
            </a:r>
            <a:r>
              <a:rPr sz="1800" b="1" spc="-70" dirty="0">
                <a:latin typeface="Arial"/>
                <a:cs typeface="Arial"/>
              </a:rPr>
              <a:t> </a:t>
            </a:r>
            <a:r>
              <a:rPr sz="1800" b="1" dirty="0">
                <a:latin typeface="Arial"/>
                <a:cs typeface="Arial"/>
              </a:rPr>
              <a:t>to</a:t>
            </a:r>
            <a:r>
              <a:rPr sz="1800" b="1" spc="-45" dirty="0">
                <a:latin typeface="Arial"/>
                <a:cs typeface="Arial"/>
              </a:rPr>
              <a:t> </a:t>
            </a:r>
            <a:r>
              <a:rPr sz="1800" b="1" spc="-10" dirty="0">
                <a:latin typeface="Arial"/>
                <a:cs typeface="Arial"/>
              </a:rPr>
              <a:t>Current:</a:t>
            </a:r>
            <a:endParaRPr sz="1800">
              <a:latin typeface="Arial"/>
              <a:cs typeface="Arial"/>
            </a:endParaRPr>
          </a:p>
          <a:p>
            <a:pPr marL="12700" marR="5080">
              <a:lnSpc>
                <a:spcPct val="100000"/>
              </a:lnSpc>
            </a:pPr>
            <a:r>
              <a:rPr sz="1800" dirty="0">
                <a:latin typeface="Arial"/>
                <a:cs typeface="Arial"/>
              </a:rPr>
              <a:t>Shot</a:t>
            </a:r>
            <a:r>
              <a:rPr sz="1800" spc="-35" dirty="0">
                <a:latin typeface="Arial"/>
                <a:cs typeface="Arial"/>
              </a:rPr>
              <a:t> </a:t>
            </a:r>
            <a:r>
              <a:rPr sz="1800" dirty="0">
                <a:latin typeface="Arial"/>
                <a:cs typeface="Arial"/>
              </a:rPr>
              <a:t>noise</a:t>
            </a:r>
            <a:r>
              <a:rPr sz="1800" spc="-25" dirty="0">
                <a:latin typeface="Arial"/>
                <a:cs typeface="Arial"/>
              </a:rPr>
              <a:t> </a:t>
            </a:r>
            <a:r>
              <a:rPr sz="1800" dirty="0">
                <a:latin typeface="Arial"/>
                <a:cs typeface="Arial"/>
              </a:rPr>
              <a:t>increases</a:t>
            </a:r>
            <a:r>
              <a:rPr sz="1800" spc="-20" dirty="0">
                <a:latin typeface="Arial"/>
                <a:cs typeface="Arial"/>
              </a:rPr>
              <a:t> </a:t>
            </a:r>
            <a:r>
              <a:rPr sz="1800" dirty="0">
                <a:latin typeface="Arial"/>
                <a:cs typeface="Arial"/>
              </a:rPr>
              <a:t>linearly</a:t>
            </a:r>
            <a:r>
              <a:rPr sz="1800" spc="-10" dirty="0">
                <a:latin typeface="Arial"/>
                <a:cs typeface="Arial"/>
              </a:rPr>
              <a:t> </a:t>
            </a:r>
            <a:r>
              <a:rPr sz="1800" dirty="0">
                <a:latin typeface="Arial"/>
                <a:cs typeface="Arial"/>
              </a:rPr>
              <a:t>with</a:t>
            </a:r>
            <a:r>
              <a:rPr sz="1800" spc="-1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current</a:t>
            </a:r>
            <a:r>
              <a:rPr sz="1800" spc="-15" dirty="0">
                <a:latin typeface="Arial"/>
                <a:cs typeface="Arial"/>
              </a:rPr>
              <a:t> </a:t>
            </a:r>
            <a:r>
              <a:rPr sz="1800" dirty="0">
                <a:latin typeface="Arial"/>
                <a:cs typeface="Arial"/>
              </a:rPr>
              <a:t>III.</a:t>
            </a:r>
            <a:r>
              <a:rPr sz="1800" spc="-55" dirty="0">
                <a:latin typeface="Arial"/>
                <a:cs typeface="Arial"/>
              </a:rPr>
              <a:t> </a:t>
            </a:r>
            <a:r>
              <a:rPr sz="1800" dirty="0">
                <a:latin typeface="Arial"/>
                <a:cs typeface="Arial"/>
              </a:rPr>
              <a:t>Systems</a:t>
            </a:r>
            <a:r>
              <a:rPr sz="1800" spc="-10" dirty="0">
                <a:latin typeface="Arial"/>
                <a:cs typeface="Arial"/>
              </a:rPr>
              <a:t> </a:t>
            </a:r>
            <a:r>
              <a:rPr sz="1800" dirty="0">
                <a:latin typeface="Arial"/>
                <a:cs typeface="Arial"/>
              </a:rPr>
              <a:t>with</a:t>
            </a:r>
            <a:r>
              <a:rPr sz="1800" spc="-5" dirty="0">
                <a:latin typeface="Arial"/>
                <a:cs typeface="Arial"/>
              </a:rPr>
              <a:t> </a:t>
            </a:r>
            <a:r>
              <a:rPr sz="1800" dirty="0">
                <a:latin typeface="Arial"/>
                <a:cs typeface="Arial"/>
              </a:rPr>
              <a:t>higher</a:t>
            </a:r>
            <a:r>
              <a:rPr sz="1800" spc="-25" dirty="0">
                <a:latin typeface="Arial"/>
                <a:cs typeface="Arial"/>
              </a:rPr>
              <a:t> </a:t>
            </a:r>
            <a:r>
              <a:rPr sz="1800" dirty="0">
                <a:latin typeface="Arial"/>
                <a:cs typeface="Arial"/>
              </a:rPr>
              <a:t>currents</a:t>
            </a:r>
            <a:r>
              <a:rPr sz="1800" spc="-20" dirty="0">
                <a:latin typeface="Arial"/>
                <a:cs typeface="Arial"/>
              </a:rPr>
              <a:t> </a:t>
            </a:r>
            <a:r>
              <a:rPr sz="1800" dirty="0">
                <a:latin typeface="Arial"/>
                <a:cs typeface="Arial"/>
              </a:rPr>
              <a:t>generate</a:t>
            </a:r>
            <a:r>
              <a:rPr sz="1800" spc="-25" dirty="0">
                <a:latin typeface="Arial"/>
                <a:cs typeface="Arial"/>
              </a:rPr>
              <a:t> </a:t>
            </a:r>
            <a:r>
              <a:rPr sz="1800" dirty="0">
                <a:latin typeface="Arial"/>
                <a:cs typeface="Arial"/>
              </a:rPr>
              <a:t>more</a:t>
            </a:r>
            <a:r>
              <a:rPr sz="1800" spc="-40" dirty="0">
                <a:latin typeface="Arial"/>
                <a:cs typeface="Arial"/>
              </a:rPr>
              <a:t> </a:t>
            </a:r>
            <a:r>
              <a:rPr sz="1800" spc="-20" dirty="0">
                <a:latin typeface="Arial"/>
                <a:cs typeface="Arial"/>
              </a:rPr>
              <a:t>shot </a:t>
            </a:r>
            <a:r>
              <a:rPr sz="1800" spc="-10" dirty="0">
                <a:latin typeface="Arial"/>
                <a:cs typeface="Arial"/>
              </a:rPr>
              <a:t>noise.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Statistical</a:t>
            </a:r>
            <a:r>
              <a:rPr sz="1800" b="1" spc="-50" dirty="0">
                <a:latin typeface="Arial"/>
                <a:cs typeface="Arial"/>
              </a:rPr>
              <a:t> </a:t>
            </a:r>
            <a:r>
              <a:rPr sz="1800" b="1" spc="-10" dirty="0">
                <a:latin typeface="Arial"/>
                <a:cs typeface="Arial"/>
              </a:rPr>
              <a:t>Nature:</a:t>
            </a:r>
            <a:endParaRPr sz="1800">
              <a:latin typeface="Arial"/>
              <a:cs typeface="Arial"/>
            </a:endParaRPr>
          </a:p>
          <a:p>
            <a:pPr marL="12700" marR="219710">
              <a:lnSpc>
                <a:spcPct val="100000"/>
              </a:lnSpc>
            </a:pPr>
            <a:r>
              <a:rPr sz="1800" dirty="0">
                <a:latin typeface="Arial"/>
                <a:cs typeface="Arial"/>
              </a:rPr>
              <a:t>Shot</a:t>
            </a:r>
            <a:r>
              <a:rPr sz="1800" spc="-30"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is</a:t>
            </a:r>
            <a:r>
              <a:rPr sz="1800" spc="-35" dirty="0">
                <a:latin typeface="Arial"/>
                <a:cs typeface="Arial"/>
              </a:rPr>
              <a:t> </a:t>
            </a:r>
            <a:r>
              <a:rPr sz="1800" dirty="0">
                <a:latin typeface="Arial"/>
                <a:cs typeface="Arial"/>
              </a:rPr>
              <a:t>inherently</a:t>
            </a:r>
            <a:r>
              <a:rPr sz="1800" spc="-5" dirty="0">
                <a:latin typeface="Arial"/>
                <a:cs typeface="Arial"/>
              </a:rPr>
              <a:t> </a:t>
            </a:r>
            <a:r>
              <a:rPr sz="1800" dirty="0">
                <a:latin typeface="Arial"/>
                <a:cs typeface="Arial"/>
              </a:rPr>
              <a:t>random</a:t>
            </a:r>
            <a:r>
              <a:rPr sz="1800" spc="-20" dirty="0">
                <a:latin typeface="Arial"/>
                <a:cs typeface="Arial"/>
              </a:rPr>
              <a:t> </a:t>
            </a:r>
            <a:r>
              <a:rPr sz="1800" dirty="0">
                <a:latin typeface="Arial"/>
                <a:cs typeface="Arial"/>
              </a:rPr>
              <a:t>and</a:t>
            </a:r>
            <a:r>
              <a:rPr sz="1800" spc="-35" dirty="0">
                <a:latin typeface="Arial"/>
                <a:cs typeface="Arial"/>
              </a:rPr>
              <a:t> </a:t>
            </a:r>
            <a:r>
              <a:rPr sz="1800" dirty="0">
                <a:latin typeface="Arial"/>
                <a:cs typeface="Arial"/>
              </a:rPr>
              <a:t>follows</a:t>
            </a:r>
            <a:r>
              <a:rPr sz="1800" spc="15"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Poisson</a:t>
            </a:r>
            <a:r>
              <a:rPr sz="1800" spc="-25" dirty="0">
                <a:latin typeface="Arial"/>
                <a:cs typeface="Arial"/>
              </a:rPr>
              <a:t> </a:t>
            </a:r>
            <a:r>
              <a:rPr sz="1800" dirty="0">
                <a:latin typeface="Arial"/>
                <a:cs typeface="Arial"/>
              </a:rPr>
              <a:t>distribution</a:t>
            </a:r>
            <a:r>
              <a:rPr sz="1800" spc="-10" dirty="0">
                <a:latin typeface="Arial"/>
                <a:cs typeface="Arial"/>
              </a:rPr>
              <a:t> </a:t>
            </a:r>
            <a:r>
              <a:rPr sz="1800" dirty="0">
                <a:latin typeface="Arial"/>
                <a:cs typeface="Arial"/>
              </a:rPr>
              <a:t>because</a:t>
            </a:r>
            <a:r>
              <a:rPr sz="1800" spc="-25" dirty="0">
                <a:latin typeface="Arial"/>
                <a:cs typeface="Arial"/>
              </a:rPr>
              <a:t> </a:t>
            </a:r>
            <a:r>
              <a:rPr sz="1800" dirty="0">
                <a:latin typeface="Arial"/>
                <a:cs typeface="Arial"/>
              </a:rPr>
              <a:t>it</a:t>
            </a:r>
            <a:r>
              <a:rPr sz="1800" spc="-2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governed</a:t>
            </a:r>
            <a:r>
              <a:rPr sz="1800" spc="-15" dirty="0">
                <a:latin typeface="Arial"/>
                <a:cs typeface="Arial"/>
              </a:rPr>
              <a:t> </a:t>
            </a:r>
            <a:r>
              <a:rPr sz="1800" dirty="0">
                <a:latin typeface="Arial"/>
                <a:cs typeface="Arial"/>
              </a:rPr>
              <a:t>by</a:t>
            </a:r>
            <a:r>
              <a:rPr sz="1800" spc="-30" dirty="0">
                <a:latin typeface="Arial"/>
                <a:cs typeface="Arial"/>
              </a:rPr>
              <a:t> </a:t>
            </a:r>
            <a:r>
              <a:rPr sz="1800" spc="-25" dirty="0">
                <a:latin typeface="Arial"/>
                <a:cs typeface="Arial"/>
              </a:rPr>
              <a:t>the </a:t>
            </a:r>
            <a:r>
              <a:rPr sz="1800" dirty="0">
                <a:latin typeface="Arial"/>
                <a:cs typeface="Arial"/>
              </a:rPr>
              <a:t>discrete</a:t>
            </a:r>
            <a:r>
              <a:rPr sz="1800" spc="-40" dirty="0">
                <a:latin typeface="Arial"/>
                <a:cs typeface="Arial"/>
              </a:rPr>
              <a:t> </a:t>
            </a:r>
            <a:r>
              <a:rPr sz="1800" dirty="0">
                <a:latin typeface="Arial"/>
                <a:cs typeface="Arial"/>
              </a:rPr>
              <a:t>and</a:t>
            </a:r>
            <a:r>
              <a:rPr sz="1800" spc="-40" dirty="0">
                <a:latin typeface="Arial"/>
                <a:cs typeface="Arial"/>
              </a:rPr>
              <a:t> </a:t>
            </a:r>
            <a:r>
              <a:rPr sz="1800" dirty="0">
                <a:latin typeface="Arial"/>
                <a:cs typeface="Arial"/>
              </a:rPr>
              <a:t>independent arrival</a:t>
            </a:r>
            <a:r>
              <a:rPr sz="1800" spc="-30"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charge</a:t>
            </a:r>
            <a:r>
              <a:rPr sz="1800" spc="-25" dirty="0">
                <a:latin typeface="Arial"/>
                <a:cs typeface="Arial"/>
              </a:rPr>
              <a:t> </a:t>
            </a:r>
            <a:r>
              <a:rPr sz="1800" spc="-10" dirty="0">
                <a:latin typeface="Arial"/>
                <a:cs typeface="Arial"/>
              </a:rPr>
              <a:t>carriers.</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Independence</a:t>
            </a:r>
            <a:r>
              <a:rPr sz="1800" b="1" spc="-75" dirty="0">
                <a:latin typeface="Arial"/>
                <a:cs typeface="Arial"/>
              </a:rPr>
              <a:t> </a:t>
            </a:r>
            <a:r>
              <a:rPr sz="1800" b="1" dirty="0">
                <a:latin typeface="Arial"/>
                <a:cs typeface="Arial"/>
              </a:rPr>
              <a:t>from</a:t>
            </a:r>
            <a:r>
              <a:rPr sz="1800" b="1" spc="-65" dirty="0">
                <a:latin typeface="Arial"/>
                <a:cs typeface="Arial"/>
              </a:rPr>
              <a:t> </a:t>
            </a:r>
            <a:r>
              <a:rPr sz="1800" b="1" spc="-10" dirty="0">
                <a:latin typeface="Arial"/>
                <a:cs typeface="Arial"/>
              </a:rPr>
              <a:t>Temperature:</a:t>
            </a:r>
            <a:endParaRPr sz="1800">
              <a:latin typeface="Arial"/>
              <a:cs typeface="Arial"/>
            </a:endParaRPr>
          </a:p>
          <a:p>
            <a:pPr marL="12700" marR="789940">
              <a:lnSpc>
                <a:spcPct val="100000"/>
              </a:lnSpc>
            </a:pPr>
            <a:r>
              <a:rPr sz="1800" dirty="0">
                <a:latin typeface="Arial"/>
                <a:cs typeface="Arial"/>
              </a:rPr>
              <a:t>Unlike</a:t>
            </a:r>
            <a:r>
              <a:rPr sz="1800" spc="-35" dirty="0">
                <a:latin typeface="Arial"/>
                <a:cs typeface="Arial"/>
              </a:rPr>
              <a:t> </a:t>
            </a:r>
            <a:r>
              <a:rPr sz="1800" dirty="0">
                <a:latin typeface="Arial"/>
                <a:cs typeface="Arial"/>
              </a:rPr>
              <a:t>thermal</a:t>
            </a:r>
            <a:r>
              <a:rPr sz="1800" spc="-20"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does</a:t>
            </a:r>
            <a:r>
              <a:rPr sz="1800" spc="-35" dirty="0">
                <a:latin typeface="Arial"/>
                <a:cs typeface="Arial"/>
              </a:rPr>
              <a:t> </a:t>
            </a:r>
            <a:r>
              <a:rPr sz="1800" dirty="0">
                <a:latin typeface="Arial"/>
                <a:cs typeface="Arial"/>
              </a:rPr>
              <a:t>not</a:t>
            </a:r>
            <a:r>
              <a:rPr sz="1800" spc="-25" dirty="0">
                <a:latin typeface="Arial"/>
                <a:cs typeface="Arial"/>
              </a:rPr>
              <a:t> </a:t>
            </a:r>
            <a:r>
              <a:rPr sz="1800" dirty="0">
                <a:latin typeface="Arial"/>
                <a:cs typeface="Arial"/>
              </a:rPr>
              <a:t>depend</a:t>
            </a:r>
            <a:r>
              <a:rPr sz="1800" spc="-10" dirty="0">
                <a:latin typeface="Arial"/>
                <a:cs typeface="Arial"/>
              </a:rPr>
              <a:t> </a:t>
            </a:r>
            <a:r>
              <a:rPr sz="1800" dirty="0">
                <a:latin typeface="Arial"/>
                <a:cs typeface="Arial"/>
              </a:rPr>
              <a:t>on</a:t>
            </a:r>
            <a:r>
              <a:rPr sz="1800" spc="-4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ambient</a:t>
            </a:r>
            <a:r>
              <a:rPr sz="1800" spc="-10" dirty="0">
                <a:latin typeface="Arial"/>
                <a:cs typeface="Arial"/>
              </a:rPr>
              <a:t> </a:t>
            </a:r>
            <a:r>
              <a:rPr sz="1800" dirty="0">
                <a:latin typeface="Arial"/>
                <a:cs typeface="Arial"/>
              </a:rPr>
              <a:t>temperature,</a:t>
            </a:r>
            <a:r>
              <a:rPr sz="1800" spc="-15" dirty="0">
                <a:latin typeface="Arial"/>
                <a:cs typeface="Arial"/>
              </a:rPr>
              <a:t> </a:t>
            </a:r>
            <a:r>
              <a:rPr sz="1800" dirty="0">
                <a:latin typeface="Arial"/>
                <a:cs typeface="Arial"/>
              </a:rPr>
              <a:t>making</a:t>
            </a:r>
            <a:r>
              <a:rPr sz="1800" spc="-20" dirty="0">
                <a:latin typeface="Arial"/>
                <a:cs typeface="Arial"/>
              </a:rPr>
              <a:t> </a:t>
            </a:r>
            <a:r>
              <a:rPr sz="1800" dirty="0">
                <a:latin typeface="Arial"/>
                <a:cs typeface="Arial"/>
              </a:rPr>
              <a:t>it</a:t>
            </a:r>
            <a:r>
              <a:rPr sz="1800" spc="-25" dirty="0">
                <a:latin typeface="Arial"/>
                <a:cs typeface="Arial"/>
              </a:rPr>
              <a:t> </a:t>
            </a:r>
            <a:r>
              <a:rPr sz="1800" spc="-50" dirty="0">
                <a:latin typeface="Arial"/>
                <a:cs typeface="Arial"/>
              </a:rPr>
              <a:t>a </a:t>
            </a:r>
            <a:r>
              <a:rPr sz="1800" dirty="0">
                <a:latin typeface="Arial"/>
                <a:cs typeface="Arial"/>
              </a:rPr>
              <a:t>fundamental</a:t>
            </a:r>
            <a:r>
              <a:rPr sz="1800" spc="-30" dirty="0">
                <a:latin typeface="Arial"/>
                <a:cs typeface="Arial"/>
              </a:rPr>
              <a:t> </a:t>
            </a:r>
            <a:r>
              <a:rPr sz="1800" dirty="0">
                <a:latin typeface="Arial"/>
                <a:cs typeface="Arial"/>
              </a:rPr>
              <a:t>noise</a:t>
            </a:r>
            <a:r>
              <a:rPr sz="1800" spc="-35" dirty="0">
                <a:latin typeface="Arial"/>
                <a:cs typeface="Arial"/>
              </a:rPr>
              <a:t> </a:t>
            </a:r>
            <a:r>
              <a:rPr sz="1800" spc="-10" dirty="0">
                <a:latin typeface="Arial"/>
                <a:cs typeface="Arial"/>
              </a:rPr>
              <a:t>source.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Quantum</a:t>
            </a:r>
            <a:r>
              <a:rPr sz="1800" b="1" spc="-65" dirty="0">
                <a:latin typeface="Arial"/>
                <a:cs typeface="Arial"/>
              </a:rPr>
              <a:t> </a:t>
            </a:r>
            <a:r>
              <a:rPr sz="1800" b="1" spc="-10" dirty="0">
                <a:latin typeface="Arial"/>
                <a:cs typeface="Arial"/>
              </a:rPr>
              <a:t>Nature:</a:t>
            </a:r>
            <a:endParaRPr sz="1800">
              <a:latin typeface="Arial"/>
              <a:cs typeface="Arial"/>
            </a:endParaRPr>
          </a:p>
          <a:p>
            <a:pPr marL="12700" marR="412115">
              <a:lnSpc>
                <a:spcPct val="100000"/>
              </a:lnSpc>
            </a:pPr>
            <a:r>
              <a:rPr sz="1800" dirty="0">
                <a:latin typeface="Arial"/>
                <a:cs typeface="Arial"/>
              </a:rPr>
              <a:t>Shot</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direct</a:t>
            </a:r>
            <a:r>
              <a:rPr sz="1800" spc="-25" dirty="0">
                <a:latin typeface="Arial"/>
                <a:cs typeface="Arial"/>
              </a:rPr>
              <a:t> </a:t>
            </a:r>
            <a:r>
              <a:rPr sz="1800" dirty="0">
                <a:latin typeface="Arial"/>
                <a:cs typeface="Arial"/>
              </a:rPr>
              <a:t>consequence of</a:t>
            </a:r>
            <a:r>
              <a:rPr sz="1800" spc="-3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quantized</a:t>
            </a:r>
            <a:r>
              <a:rPr sz="1800" spc="-10" dirty="0">
                <a:latin typeface="Arial"/>
                <a:cs typeface="Arial"/>
              </a:rPr>
              <a:t> </a:t>
            </a:r>
            <a:r>
              <a:rPr sz="1800" dirty="0">
                <a:latin typeface="Arial"/>
                <a:cs typeface="Arial"/>
              </a:rPr>
              <a:t>nature</a:t>
            </a:r>
            <a:r>
              <a:rPr sz="1800" spc="-20" dirty="0">
                <a:latin typeface="Arial"/>
                <a:cs typeface="Arial"/>
              </a:rPr>
              <a:t> </a:t>
            </a:r>
            <a:r>
              <a:rPr sz="1800" dirty="0">
                <a:latin typeface="Arial"/>
                <a:cs typeface="Arial"/>
              </a:rPr>
              <a:t>of</a:t>
            </a:r>
            <a:r>
              <a:rPr sz="1800" spc="-35" dirty="0">
                <a:latin typeface="Arial"/>
                <a:cs typeface="Arial"/>
              </a:rPr>
              <a:t> </a:t>
            </a:r>
            <a:r>
              <a:rPr sz="1800" dirty="0">
                <a:latin typeface="Arial"/>
                <a:cs typeface="Arial"/>
              </a:rPr>
              <a:t>charge,</a:t>
            </a:r>
            <a:r>
              <a:rPr sz="1800" spc="-15" dirty="0">
                <a:latin typeface="Arial"/>
                <a:cs typeface="Arial"/>
              </a:rPr>
              <a:t> </a:t>
            </a:r>
            <a:r>
              <a:rPr sz="1800" dirty="0">
                <a:latin typeface="Arial"/>
                <a:cs typeface="Arial"/>
              </a:rPr>
              <a:t>highlighting its</a:t>
            </a:r>
            <a:r>
              <a:rPr sz="1800" spc="-30" dirty="0">
                <a:latin typeface="Arial"/>
                <a:cs typeface="Arial"/>
              </a:rPr>
              <a:t> </a:t>
            </a:r>
            <a:r>
              <a:rPr sz="1800" spc="-10" dirty="0">
                <a:latin typeface="Arial"/>
                <a:cs typeface="Arial"/>
              </a:rPr>
              <a:t>quantum </a:t>
            </a:r>
            <a:r>
              <a:rPr sz="1800" dirty="0">
                <a:latin typeface="Arial"/>
                <a:cs typeface="Arial"/>
              </a:rPr>
              <a:t>mechanical</a:t>
            </a:r>
            <a:r>
              <a:rPr sz="1800" spc="-50" dirty="0">
                <a:latin typeface="Arial"/>
                <a:cs typeface="Arial"/>
              </a:rPr>
              <a:t> </a:t>
            </a:r>
            <a:r>
              <a:rPr sz="1800" spc="-10" dirty="0">
                <a:latin typeface="Arial"/>
                <a:cs typeface="Arial"/>
              </a:rPr>
              <a:t>origin.</a:t>
            </a:r>
            <a:endParaRPr sz="1800">
              <a:latin typeface="Arial"/>
              <a:cs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Flicker</a:t>
            </a:r>
            <a:r>
              <a:rPr spc="250" dirty="0"/>
              <a:t> </a:t>
            </a:r>
            <a:r>
              <a:rPr spc="-20" dirty="0"/>
              <a:t>Noise</a:t>
            </a:r>
          </a:p>
        </p:txBody>
      </p:sp>
      <p:sp>
        <p:nvSpPr>
          <p:cNvPr id="3" name="object 3"/>
          <p:cNvSpPr txBox="1"/>
          <p:nvPr/>
        </p:nvSpPr>
        <p:spPr>
          <a:xfrm>
            <a:off x="109219" y="762000"/>
            <a:ext cx="10439400" cy="4335161"/>
          </a:xfrm>
          <a:prstGeom prst="rect">
            <a:avLst/>
          </a:prstGeom>
        </p:spPr>
        <p:txBody>
          <a:bodyPr vert="horz" wrap="square" lIns="0" tIns="13335" rIns="0" bIns="0" rtlCol="0">
            <a:spAutoFit/>
          </a:bodyPr>
          <a:lstStyle/>
          <a:p>
            <a:pPr marL="50800">
              <a:lnSpc>
                <a:spcPct val="100000"/>
              </a:lnSpc>
              <a:spcBef>
                <a:spcPts val="105"/>
              </a:spcBef>
            </a:pPr>
            <a:r>
              <a:rPr sz="2000" b="1" spc="-10" dirty="0">
                <a:latin typeface="Arial"/>
                <a:cs typeface="Arial"/>
              </a:rPr>
              <a:t>Definition:</a:t>
            </a:r>
            <a:endParaRPr sz="2000" dirty="0">
              <a:latin typeface="Arial"/>
              <a:cs typeface="Arial"/>
            </a:endParaRPr>
          </a:p>
          <a:p>
            <a:pPr marL="50800" marR="58419">
              <a:lnSpc>
                <a:spcPct val="100000"/>
              </a:lnSpc>
            </a:pPr>
            <a:r>
              <a:rPr sz="2000" dirty="0">
                <a:latin typeface="Arial"/>
                <a:cs typeface="Arial"/>
              </a:rPr>
              <a:t>Flicker</a:t>
            </a:r>
            <a:r>
              <a:rPr sz="2000" spc="-40" dirty="0">
                <a:latin typeface="Arial"/>
                <a:cs typeface="Arial"/>
              </a:rPr>
              <a:t> </a:t>
            </a:r>
            <a:r>
              <a:rPr sz="2000" dirty="0">
                <a:latin typeface="Arial"/>
                <a:cs typeface="Arial"/>
              </a:rPr>
              <a:t>noise,</a:t>
            </a:r>
            <a:r>
              <a:rPr sz="2000" spc="-40" dirty="0">
                <a:latin typeface="Arial"/>
                <a:cs typeface="Arial"/>
              </a:rPr>
              <a:t> </a:t>
            </a:r>
            <a:r>
              <a:rPr sz="2000" dirty="0">
                <a:latin typeface="Arial"/>
                <a:cs typeface="Arial"/>
              </a:rPr>
              <a:t>also</a:t>
            </a:r>
            <a:r>
              <a:rPr sz="2000" spc="-30" dirty="0">
                <a:latin typeface="Arial"/>
                <a:cs typeface="Arial"/>
              </a:rPr>
              <a:t> </a:t>
            </a:r>
            <a:r>
              <a:rPr sz="2000" dirty="0">
                <a:latin typeface="Arial"/>
                <a:cs typeface="Arial"/>
              </a:rPr>
              <a:t>known</a:t>
            </a:r>
            <a:r>
              <a:rPr sz="2000" spc="-45" dirty="0">
                <a:latin typeface="Arial"/>
                <a:cs typeface="Arial"/>
              </a:rPr>
              <a:t> </a:t>
            </a:r>
            <a:r>
              <a:rPr sz="2000" dirty="0">
                <a:latin typeface="Arial"/>
                <a:cs typeface="Arial"/>
              </a:rPr>
              <a:t>as</a:t>
            </a:r>
            <a:r>
              <a:rPr sz="2000" spc="-25" dirty="0">
                <a:latin typeface="Arial"/>
                <a:cs typeface="Arial"/>
              </a:rPr>
              <a:t> </a:t>
            </a:r>
            <a:r>
              <a:rPr sz="2000" dirty="0">
                <a:latin typeface="Arial"/>
                <a:cs typeface="Arial"/>
              </a:rPr>
              <a:t>1/</a:t>
            </a:r>
            <a:r>
              <a:rPr lang="en-US" sz="2000" dirty="0">
                <a:latin typeface="Arial"/>
                <a:cs typeface="Arial"/>
              </a:rPr>
              <a:t>f </a:t>
            </a:r>
            <a:r>
              <a:rPr sz="2000" dirty="0">
                <a:latin typeface="Arial"/>
                <a:cs typeface="Arial"/>
              </a:rPr>
              <a:t>noise,</a:t>
            </a:r>
            <a:r>
              <a:rPr sz="2000" spc="-40" dirty="0">
                <a:latin typeface="Arial"/>
                <a:cs typeface="Arial"/>
              </a:rPr>
              <a:t> </a:t>
            </a:r>
            <a:r>
              <a:rPr sz="2000" dirty="0">
                <a:latin typeface="Arial"/>
                <a:cs typeface="Arial"/>
              </a:rPr>
              <a:t>is</a:t>
            </a:r>
            <a:r>
              <a:rPr sz="2000" spc="-25" dirty="0">
                <a:latin typeface="Arial"/>
                <a:cs typeface="Arial"/>
              </a:rPr>
              <a:t> </a:t>
            </a:r>
            <a:r>
              <a:rPr sz="2000" dirty="0">
                <a:latin typeface="Arial"/>
                <a:cs typeface="Arial"/>
              </a:rPr>
              <a:t>a</a:t>
            </a:r>
            <a:r>
              <a:rPr sz="2000" spc="-20" dirty="0">
                <a:latin typeface="Arial"/>
                <a:cs typeface="Arial"/>
              </a:rPr>
              <a:t> </a:t>
            </a:r>
            <a:r>
              <a:rPr sz="2000" dirty="0">
                <a:latin typeface="Arial"/>
                <a:cs typeface="Arial"/>
              </a:rPr>
              <a:t>type</a:t>
            </a:r>
            <a:r>
              <a:rPr sz="2000" spc="-30" dirty="0">
                <a:latin typeface="Arial"/>
                <a:cs typeface="Arial"/>
              </a:rPr>
              <a:t> </a:t>
            </a:r>
            <a:r>
              <a:rPr sz="2000" dirty="0">
                <a:latin typeface="Arial"/>
                <a:cs typeface="Arial"/>
              </a:rPr>
              <a:t>of</a:t>
            </a:r>
            <a:r>
              <a:rPr sz="2000" spc="-25" dirty="0">
                <a:latin typeface="Arial"/>
                <a:cs typeface="Arial"/>
              </a:rPr>
              <a:t> </a:t>
            </a:r>
            <a:r>
              <a:rPr sz="2000" dirty="0">
                <a:latin typeface="Arial"/>
                <a:cs typeface="Arial"/>
              </a:rPr>
              <a:t>electrical</a:t>
            </a:r>
            <a:r>
              <a:rPr sz="2000" spc="-40" dirty="0">
                <a:latin typeface="Arial"/>
                <a:cs typeface="Arial"/>
              </a:rPr>
              <a:t> </a:t>
            </a:r>
            <a:r>
              <a:rPr sz="2000" dirty="0">
                <a:latin typeface="Arial"/>
                <a:cs typeface="Arial"/>
              </a:rPr>
              <a:t>noise</a:t>
            </a:r>
            <a:r>
              <a:rPr sz="2000" spc="-30" dirty="0">
                <a:latin typeface="Arial"/>
                <a:cs typeface="Arial"/>
              </a:rPr>
              <a:t> </a:t>
            </a:r>
            <a:r>
              <a:rPr sz="2000" dirty="0">
                <a:latin typeface="Arial"/>
                <a:cs typeface="Arial"/>
              </a:rPr>
              <a:t>that</a:t>
            </a:r>
            <a:r>
              <a:rPr sz="2000" spc="-40" dirty="0">
                <a:latin typeface="Arial"/>
                <a:cs typeface="Arial"/>
              </a:rPr>
              <a:t> </a:t>
            </a:r>
            <a:r>
              <a:rPr sz="2000" spc="-25" dirty="0">
                <a:latin typeface="Arial"/>
                <a:cs typeface="Arial"/>
              </a:rPr>
              <a:t>is </a:t>
            </a:r>
            <a:r>
              <a:rPr sz="2000" dirty="0">
                <a:latin typeface="Arial"/>
                <a:cs typeface="Arial"/>
              </a:rPr>
              <a:t>dominant</a:t>
            </a:r>
            <a:r>
              <a:rPr sz="2000" spc="-45" dirty="0">
                <a:latin typeface="Arial"/>
                <a:cs typeface="Arial"/>
              </a:rPr>
              <a:t> </a:t>
            </a:r>
            <a:r>
              <a:rPr sz="2000" dirty="0">
                <a:latin typeface="Arial"/>
                <a:cs typeface="Arial"/>
              </a:rPr>
              <a:t>at</a:t>
            </a:r>
            <a:r>
              <a:rPr sz="2000" spc="-20" dirty="0">
                <a:latin typeface="Arial"/>
                <a:cs typeface="Arial"/>
              </a:rPr>
              <a:t> </a:t>
            </a:r>
            <a:r>
              <a:rPr sz="2000" dirty="0">
                <a:latin typeface="Arial"/>
                <a:cs typeface="Arial"/>
              </a:rPr>
              <a:t>low</a:t>
            </a:r>
            <a:r>
              <a:rPr sz="2000" spc="-10" dirty="0">
                <a:latin typeface="Arial"/>
                <a:cs typeface="Arial"/>
              </a:rPr>
              <a:t> </a:t>
            </a:r>
            <a:r>
              <a:rPr sz="2000" dirty="0">
                <a:latin typeface="Arial"/>
                <a:cs typeface="Arial"/>
              </a:rPr>
              <a:t>frequencies.</a:t>
            </a:r>
            <a:r>
              <a:rPr sz="2000" spc="-55" dirty="0">
                <a:latin typeface="Arial"/>
                <a:cs typeface="Arial"/>
              </a:rPr>
              <a:t> </a:t>
            </a:r>
            <a:r>
              <a:rPr sz="2000" dirty="0">
                <a:latin typeface="Arial"/>
                <a:cs typeface="Arial"/>
              </a:rPr>
              <a:t>It</a:t>
            </a:r>
            <a:r>
              <a:rPr sz="2000" spc="-35" dirty="0">
                <a:latin typeface="Arial"/>
                <a:cs typeface="Arial"/>
              </a:rPr>
              <a:t> </a:t>
            </a:r>
            <a:r>
              <a:rPr sz="2000" dirty="0">
                <a:latin typeface="Arial"/>
                <a:cs typeface="Arial"/>
              </a:rPr>
              <a:t>is</a:t>
            </a:r>
            <a:r>
              <a:rPr sz="2000" spc="-10" dirty="0">
                <a:latin typeface="Arial"/>
                <a:cs typeface="Arial"/>
              </a:rPr>
              <a:t> </a:t>
            </a:r>
            <a:r>
              <a:rPr sz="2000" dirty="0">
                <a:latin typeface="Arial"/>
                <a:cs typeface="Arial"/>
              </a:rPr>
              <a:t>caused</a:t>
            </a:r>
            <a:r>
              <a:rPr sz="2000" spc="-45" dirty="0">
                <a:latin typeface="Arial"/>
                <a:cs typeface="Arial"/>
              </a:rPr>
              <a:t> </a:t>
            </a:r>
            <a:r>
              <a:rPr sz="2000" dirty="0">
                <a:latin typeface="Arial"/>
                <a:cs typeface="Arial"/>
              </a:rPr>
              <a:t>by</a:t>
            </a:r>
            <a:r>
              <a:rPr sz="2000" spc="-20" dirty="0">
                <a:latin typeface="Arial"/>
                <a:cs typeface="Arial"/>
              </a:rPr>
              <a:t> </a:t>
            </a:r>
            <a:r>
              <a:rPr sz="2000" dirty="0">
                <a:latin typeface="Arial"/>
                <a:cs typeface="Arial"/>
              </a:rPr>
              <a:t>imperfections</a:t>
            </a:r>
            <a:r>
              <a:rPr sz="2000" spc="-60" dirty="0">
                <a:latin typeface="Arial"/>
                <a:cs typeface="Arial"/>
              </a:rPr>
              <a:t> </a:t>
            </a:r>
            <a:r>
              <a:rPr sz="2000" dirty="0">
                <a:latin typeface="Arial"/>
                <a:cs typeface="Arial"/>
              </a:rPr>
              <a:t>and</a:t>
            </a:r>
            <a:r>
              <a:rPr sz="2000" spc="-25" dirty="0">
                <a:latin typeface="Arial"/>
                <a:cs typeface="Arial"/>
              </a:rPr>
              <a:t> </a:t>
            </a:r>
            <a:r>
              <a:rPr sz="2000" dirty="0">
                <a:latin typeface="Arial"/>
                <a:cs typeface="Arial"/>
              </a:rPr>
              <a:t>defects</a:t>
            </a:r>
            <a:r>
              <a:rPr sz="2000" spc="-35" dirty="0">
                <a:latin typeface="Arial"/>
                <a:cs typeface="Arial"/>
              </a:rPr>
              <a:t> </a:t>
            </a:r>
            <a:r>
              <a:rPr sz="2000" dirty="0">
                <a:latin typeface="Arial"/>
                <a:cs typeface="Arial"/>
              </a:rPr>
              <a:t>in</a:t>
            </a:r>
            <a:r>
              <a:rPr sz="2000" spc="-15" dirty="0">
                <a:latin typeface="Arial"/>
                <a:cs typeface="Arial"/>
              </a:rPr>
              <a:t> </a:t>
            </a:r>
            <a:r>
              <a:rPr sz="2000" spc="-10" dirty="0">
                <a:latin typeface="Arial"/>
                <a:cs typeface="Arial"/>
              </a:rPr>
              <a:t>materials </a:t>
            </a:r>
            <a:r>
              <a:rPr sz="2000" dirty="0">
                <a:latin typeface="Arial"/>
                <a:cs typeface="Arial"/>
              </a:rPr>
              <a:t>or</a:t>
            </a:r>
            <a:r>
              <a:rPr sz="2000" spc="-30" dirty="0">
                <a:latin typeface="Arial"/>
                <a:cs typeface="Arial"/>
              </a:rPr>
              <a:t> </a:t>
            </a:r>
            <a:r>
              <a:rPr sz="2000" dirty="0">
                <a:latin typeface="Arial"/>
                <a:cs typeface="Arial"/>
              </a:rPr>
              <a:t>processes</a:t>
            </a:r>
            <a:r>
              <a:rPr sz="2000" spc="-60" dirty="0">
                <a:latin typeface="Arial"/>
                <a:cs typeface="Arial"/>
              </a:rPr>
              <a:t> </a:t>
            </a:r>
            <a:r>
              <a:rPr sz="2000" dirty="0">
                <a:latin typeface="Arial"/>
                <a:cs typeface="Arial"/>
              </a:rPr>
              <a:t>and</a:t>
            </a:r>
            <a:r>
              <a:rPr sz="2000" spc="-30" dirty="0">
                <a:latin typeface="Arial"/>
                <a:cs typeface="Arial"/>
              </a:rPr>
              <a:t> </a:t>
            </a:r>
            <a:r>
              <a:rPr sz="2000" dirty="0">
                <a:latin typeface="Arial"/>
                <a:cs typeface="Arial"/>
              </a:rPr>
              <a:t>is</a:t>
            </a:r>
            <a:r>
              <a:rPr sz="2000" spc="-10" dirty="0">
                <a:latin typeface="Arial"/>
                <a:cs typeface="Arial"/>
              </a:rPr>
              <a:t> </a:t>
            </a:r>
            <a:r>
              <a:rPr sz="2000" dirty="0">
                <a:latin typeface="Arial"/>
                <a:cs typeface="Arial"/>
              </a:rPr>
              <a:t>observed</a:t>
            </a:r>
            <a:r>
              <a:rPr sz="2000" spc="-55" dirty="0">
                <a:latin typeface="Arial"/>
                <a:cs typeface="Arial"/>
              </a:rPr>
              <a:t> </a:t>
            </a:r>
            <a:r>
              <a:rPr sz="2000" dirty="0">
                <a:latin typeface="Arial"/>
                <a:cs typeface="Arial"/>
              </a:rPr>
              <a:t>in</a:t>
            </a:r>
            <a:r>
              <a:rPr sz="2000" spc="-15" dirty="0">
                <a:latin typeface="Arial"/>
                <a:cs typeface="Arial"/>
              </a:rPr>
              <a:t> </a:t>
            </a:r>
            <a:r>
              <a:rPr sz="2000" dirty="0">
                <a:latin typeface="Arial"/>
                <a:cs typeface="Arial"/>
              </a:rPr>
              <a:t>electronic</a:t>
            </a:r>
            <a:r>
              <a:rPr sz="2000" spc="-45" dirty="0">
                <a:latin typeface="Arial"/>
                <a:cs typeface="Arial"/>
              </a:rPr>
              <a:t> </a:t>
            </a:r>
            <a:r>
              <a:rPr sz="2000" dirty="0">
                <a:latin typeface="Arial"/>
                <a:cs typeface="Arial"/>
              </a:rPr>
              <a:t>devices</a:t>
            </a:r>
            <a:r>
              <a:rPr sz="2000" spc="-25" dirty="0">
                <a:latin typeface="Arial"/>
                <a:cs typeface="Arial"/>
              </a:rPr>
              <a:t> </a:t>
            </a:r>
            <a:r>
              <a:rPr sz="2000" dirty="0">
                <a:latin typeface="Arial"/>
                <a:cs typeface="Arial"/>
              </a:rPr>
              <a:t>like</a:t>
            </a:r>
            <a:r>
              <a:rPr sz="2000" spc="-15" dirty="0">
                <a:latin typeface="Arial"/>
                <a:cs typeface="Arial"/>
              </a:rPr>
              <a:t> </a:t>
            </a:r>
            <a:r>
              <a:rPr sz="2000" dirty="0">
                <a:latin typeface="Arial"/>
                <a:cs typeface="Arial"/>
              </a:rPr>
              <a:t>resistors,</a:t>
            </a:r>
            <a:r>
              <a:rPr sz="2000" spc="-75" dirty="0">
                <a:latin typeface="Arial"/>
                <a:cs typeface="Arial"/>
              </a:rPr>
              <a:t> </a:t>
            </a:r>
            <a:r>
              <a:rPr sz="2000" dirty="0">
                <a:latin typeface="Arial"/>
                <a:cs typeface="Arial"/>
              </a:rPr>
              <a:t>transistors,</a:t>
            </a:r>
            <a:r>
              <a:rPr sz="2000" spc="-55" dirty="0">
                <a:latin typeface="Arial"/>
                <a:cs typeface="Arial"/>
              </a:rPr>
              <a:t> </a:t>
            </a:r>
            <a:r>
              <a:rPr sz="2000" spc="-25" dirty="0">
                <a:latin typeface="Arial"/>
                <a:cs typeface="Arial"/>
              </a:rPr>
              <a:t>and </a:t>
            </a:r>
            <a:r>
              <a:rPr sz="2000" spc="-10" dirty="0">
                <a:latin typeface="Arial"/>
                <a:cs typeface="Arial"/>
              </a:rPr>
              <a:t>semiconductors.</a:t>
            </a:r>
            <a:endParaRPr sz="2000" dirty="0">
              <a:latin typeface="Arial"/>
              <a:cs typeface="Arial"/>
            </a:endParaRPr>
          </a:p>
          <a:p>
            <a:pPr>
              <a:lnSpc>
                <a:spcPct val="100000"/>
              </a:lnSpc>
              <a:spcBef>
                <a:spcPts val="100"/>
              </a:spcBef>
            </a:pPr>
            <a:endParaRPr sz="2000" dirty="0">
              <a:latin typeface="Arial"/>
              <a:cs typeface="Arial"/>
            </a:endParaRPr>
          </a:p>
          <a:p>
            <a:pPr marL="50800">
              <a:lnSpc>
                <a:spcPts val="2400"/>
              </a:lnSpc>
            </a:pPr>
            <a:r>
              <a:rPr sz="2000" b="1" dirty="0">
                <a:latin typeface="Arial"/>
                <a:cs typeface="Arial"/>
              </a:rPr>
              <a:t>Key</a:t>
            </a:r>
            <a:r>
              <a:rPr sz="2000" b="1" spc="-30" dirty="0">
                <a:latin typeface="Arial"/>
                <a:cs typeface="Arial"/>
              </a:rPr>
              <a:t> </a:t>
            </a:r>
            <a:r>
              <a:rPr sz="2000" b="1" spc="-10" dirty="0">
                <a:latin typeface="Arial"/>
                <a:cs typeface="Arial"/>
              </a:rPr>
              <a:t>Characteristics:</a:t>
            </a:r>
            <a:endParaRPr sz="2000" dirty="0">
              <a:latin typeface="Arial"/>
              <a:cs typeface="Arial"/>
            </a:endParaRPr>
          </a:p>
          <a:p>
            <a:pPr marL="138430" indent="-97155">
              <a:lnSpc>
                <a:spcPts val="2400"/>
              </a:lnSpc>
              <a:buSzPct val="95000"/>
              <a:buFont typeface="Arial"/>
              <a:buChar char="•"/>
              <a:tabLst>
                <a:tab pos="138430" algn="l"/>
              </a:tabLst>
            </a:pPr>
            <a:r>
              <a:rPr sz="2000" b="1" dirty="0">
                <a:latin typeface="Arial"/>
                <a:cs typeface="Arial"/>
              </a:rPr>
              <a:t>Frequency</a:t>
            </a:r>
            <a:r>
              <a:rPr sz="2000" b="1" spc="-40" dirty="0">
                <a:latin typeface="Arial"/>
                <a:cs typeface="Arial"/>
              </a:rPr>
              <a:t> </a:t>
            </a:r>
            <a:r>
              <a:rPr sz="2000" b="1" spc="-10" dirty="0">
                <a:latin typeface="Arial"/>
                <a:cs typeface="Arial"/>
              </a:rPr>
              <a:t>Dependence:</a:t>
            </a:r>
            <a:endParaRPr sz="2000" dirty="0">
              <a:latin typeface="Arial"/>
              <a:cs typeface="Arial"/>
            </a:endParaRPr>
          </a:p>
          <a:p>
            <a:pPr marL="50800" marR="43180">
              <a:lnSpc>
                <a:spcPct val="100000"/>
              </a:lnSpc>
            </a:pPr>
            <a:r>
              <a:rPr sz="2000" dirty="0">
                <a:latin typeface="Arial"/>
                <a:cs typeface="Arial"/>
              </a:rPr>
              <a:t>The</a:t>
            </a:r>
            <a:r>
              <a:rPr sz="2000" spc="-25" dirty="0">
                <a:latin typeface="Arial"/>
                <a:cs typeface="Arial"/>
              </a:rPr>
              <a:t> </a:t>
            </a:r>
            <a:r>
              <a:rPr sz="2000" dirty="0">
                <a:latin typeface="Arial"/>
                <a:cs typeface="Arial"/>
              </a:rPr>
              <a:t>power</a:t>
            </a:r>
            <a:r>
              <a:rPr sz="2000" spc="-30" dirty="0">
                <a:latin typeface="Arial"/>
                <a:cs typeface="Arial"/>
              </a:rPr>
              <a:t> </a:t>
            </a:r>
            <a:r>
              <a:rPr sz="2000" dirty="0">
                <a:latin typeface="Arial"/>
                <a:cs typeface="Arial"/>
              </a:rPr>
              <a:t>spectral</a:t>
            </a:r>
            <a:r>
              <a:rPr sz="2000" spc="-35" dirty="0">
                <a:latin typeface="Arial"/>
                <a:cs typeface="Arial"/>
              </a:rPr>
              <a:t> </a:t>
            </a:r>
            <a:r>
              <a:rPr sz="2000" dirty="0">
                <a:latin typeface="Arial"/>
                <a:cs typeface="Arial"/>
              </a:rPr>
              <a:t>density</a:t>
            </a:r>
            <a:r>
              <a:rPr sz="2000" spc="-40" dirty="0">
                <a:latin typeface="Arial"/>
                <a:cs typeface="Arial"/>
              </a:rPr>
              <a:t> </a:t>
            </a:r>
            <a:r>
              <a:rPr sz="2000" dirty="0">
                <a:latin typeface="Arial"/>
                <a:cs typeface="Arial"/>
              </a:rPr>
              <a:t>(PSD)</a:t>
            </a:r>
            <a:r>
              <a:rPr sz="2000" spc="-25" dirty="0">
                <a:latin typeface="Arial"/>
                <a:cs typeface="Arial"/>
              </a:rPr>
              <a:t> </a:t>
            </a:r>
            <a:r>
              <a:rPr sz="2000" dirty="0">
                <a:latin typeface="Arial"/>
                <a:cs typeface="Arial"/>
              </a:rPr>
              <a:t>decreases</a:t>
            </a:r>
            <a:r>
              <a:rPr sz="2000" spc="-55" dirty="0">
                <a:latin typeface="Arial"/>
                <a:cs typeface="Arial"/>
              </a:rPr>
              <a:t> </a:t>
            </a:r>
            <a:r>
              <a:rPr sz="2000" dirty="0">
                <a:latin typeface="Arial"/>
                <a:cs typeface="Arial"/>
              </a:rPr>
              <a:t>as</a:t>
            </a:r>
            <a:r>
              <a:rPr sz="2000" spc="-15" dirty="0">
                <a:latin typeface="Arial"/>
                <a:cs typeface="Arial"/>
              </a:rPr>
              <a:t> </a:t>
            </a:r>
            <a:r>
              <a:rPr sz="2000" dirty="0">
                <a:latin typeface="Arial"/>
                <a:cs typeface="Arial"/>
              </a:rPr>
              <a:t>the</a:t>
            </a:r>
            <a:r>
              <a:rPr sz="2000" spc="-20" dirty="0">
                <a:latin typeface="Arial"/>
                <a:cs typeface="Arial"/>
              </a:rPr>
              <a:t> </a:t>
            </a:r>
            <a:r>
              <a:rPr sz="2000" dirty="0">
                <a:latin typeface="Arial"/>
                <a:cs typeface="Arial"/>
              </a:rPr>
              <a:t>frequency</a:t>
            </a:r>
            <a:r>
              <a:rPr sz="2000" spc="-55" dirty="0">
                <a:latin typeface="Arial"/>
                <a:cs typeface="Arial"/>
              </a:rPr>
              <a:t> </a:t>
            </a:r>
            <a:r>
              <a:rPr sz="2000" dirty="0">
                <a:latin typeface="Arial"/>
                <a:cs typeface="Arial"/>
              </a:rPr>
              <a:t>increases,</a:t>
            </a:r>
            <a:r>
              <a:rPr sz="2000" spc="-65" dirty="0">
                <a:latin typeface="Arial"/>
                <a:cs typeface="Arial"/>
              </a:rPr>
              <a:t> </a:t>
            </a:r>
            <a:r>
              <a:rPr sz="2000" spc="-10" dirty="0">
                <a:latin typeface="Arial"/>
                <a:cs typeface="Arial"/>
              </a:rPr>
              <a:t>following </a:t>
            </a:r>
            <a:r>
              <a:rPr sz="2000" dirty="0">
                <a:latin typeface="Arial"/>
                <a:cs typeface="Arial"/>
              </a:rPr>
              <a:t>a</a:t>
            </a:r>
            <a:r>
              <a:rPr sz="2000" spc="-25" dirty="0">
                <a:latin typeface="Arial"/>
                <a:cs typeface="Arial"/>
              </a:rPr>
              <a:t> </a:t>
            </a:r>
            <a:r>
              <a:rPr sz="2000" dirty="0">
                <a:latin typeface="Arial"/>
                <a:cs typeface="Arial"/>
              </a:rPr>
              <a:t>1/f</a:t>
            </a:r>
            <a:r>
              <a:rPr sz="1950" baseline="25641" dirty="0">
                <a:latin typeface="Arial"/>
                <a:cs typeface="Arial"/>
              </a:rPr>
              <a:t>α</a:t>
            </a:r>
            <a:r>
              <a:rPr sz="1950" spc="525" baseline="25641" dirty="0">
                <a:latin typeface="Arial"/>
                <a:cs typeface="Arial"/>
              </a:rPr>
              <a:t> </a:t>
            </a:r>
            <a:r>
              <a:rPr sz="2000" dirty="0">
                <a:latin typeface="Arial"/>
                <a:cs typeface="Arial"/>
              </a:rPr>
              <a:t>relationship</a:t>
            </a:r>
            <a:r>
              <a:rPr sz="2000" spc="-45" dirty="0">
                <a:latin typeface="Arial"/>
                <a:cs typeface="Arial"/>
              </a:rPr>
              <a:t> </a:t>
            </a:r>
            <a:r>
              <a:rPr sz="2000" dirty="0">
                <a:latin typeface="Arial"/>
                <a:cs typeface="Arial"/>
              </a:rPr>
              <a:t>where</a:t>
            </a:r>
            <a:r>
              <a:rPr sz="2000" spc="-45" dirty="0">
                <a:latin typeface="Arial"/>
                <a:cs typeface="Arial"/>
              </a:rPr>
              <a:t> </a:t>
            </a:r>
            <a:r>
              <a:rPr sz="2000" dirty="0">
                <a:latin typeface="Arial"/>
                <a:cs typeface="Arial"/>
              </a:rPr>
              <a:t>α</a:t>
            </a:r>
            <a:r>
              <a:rPr sz="2000" spc="-20" dirty="0">
                <a:latin typeface="Arial"/>
                <a:cs typeface="Arial"/>
              </a:rPr>
              <a:t> </a:t>
            </a:r>
            <a:r>
              <a:rPr sz="2000" dirty="0">
                <a:latin typeface="Arial"/>
                <a:cs typeface="Arial"/>
              </a:rPr>
              <a:t>is</a:t>
            </a:r>
            <a:r>
              <a:rPr sz="2000" spc="-25" dirty="0">
                <a:latin typeface="Arial"/>
                <a:cs typeface="Arial"/>
              </a:rPr>
              <a:t> </a:t>
            </a:r>
            <a:r>
              <a:rPr sz="2000" dirty="0">
                <a:latin typeface="Arial"/>
                <a:cs typeface="Arial"/>
              </a:rPr>
              <a:t>typically</a:t>
            </a:r>
            <a:r>
              <a:rPr sz="2000" spc="-15" dirty="0">
                <a:latin typeface="Arial"/>
                <a:cs typeface="Arial"/>
              </a:rPr>
              <a:t> </a:t>
            </a:r>
            <a:r>
              <a:rPr sz="2000" dirty="0">
                <a:latin typeface="Arial"/>
                <a:cs typeface="Arial"/>
              </a:rPr>
              <a:t>between</a:t>
            </a:r>
            <a:r>
              <a:rPr sz="2000" spc="-50" dirty="0">
                <a:latin typeface="Arial"/>
                <a:cs typeface="Arial"/>
              </a:rPr>
              <a:t> </a:t>
            </a:r>
            <a:r>
              <a:rPr sz="2000" dirty="0">
                <a:latin typeface="Arial"/>
                <a:cs typeface="Arial"/>
              </a:rPr>
              <a:t>0.8</a:t>
            </a:r>
            <a:r>
              <a:rPr sz="2000" spc="-30" dirty="0">
                <a:latin typeface="Arial"/>
                <a:cs typeface="Arial"/>
              </a:rPr>
              <a:t> </a:t>
            </a:r>
            <a:r>
              <a:rPr sz="2000" dirty="0">
                <a:latin typeface="Arial"/>
                <a:cs typeface="Arial"/>
              </a:rPr>
              <a:t>and</a:t>
            </a:r>
            <a:r>
              <a:rPr sz="2000" spc="-30" dirty="0">
                <a:latin typeface="Arial"/>
                <a:cs typeface="Arial"/>
              </a:rPr>
              <a:t> </a:t>
            </a:r>
            <a:r>
              <a:rPr sz="2000" spc="-20" dirty="0">
                <a:latin typeface="Arial"/>
                <a:cs typeface="Arial"/>
              </a:rPr>
              <a:t>1.2.</a:t>
            </a:r>
            <a:endParaRPr sz="2000" dirty="0">
              <a:latin typeface="Arial"/>
              <a:cs typeface="Arial"/>
            </a:endParaRPr>
          </a:p>
          <a:p>
            <a:pPr marL="138430" indent="-97155">
              <a:lnSpc>
                <a:spcPct val="100000"/>
              </a:lnSpc>
              <a:buSzPct val="95000"/>
              <a:buFont typeface="Arial"/>
              <a:buChar char="•"/>
              <a:tabLst>
                <a:tab pos="138430" algn="l"/>
              </a:tabLst>
            </a:pPr>
            <a:r>
              <a:rPr sz="2000" b="1" dirty="0">
                <a:latin typeface="Arial"/>
                <a:cs typeface="Arial"/>
              </a:rPr>
              <a:t>Low-Frequency</a:t>
            </a:r>
            <a:r>
              <a:rPr sz="2000" b="1" spc="-90" dirty="0">
                <a:latin typeface="Arial"/>
                <a:cs typeface="Arial"/>
              </a:rPr>
              <a:t> </a:t>
            </a:r>
            <a:r>
              <a:rPr sz="2000" b="1" spc="-10" dirty="0">
                <a:latin typeface="Arial"/>
                <a:cs typeface="Arial"/>
              </a:rPr>
              <a:t>Dominance:</a:t>
            </a:r>
            <a:endParaRPr sz="2000" dirty="0">
              <a:latin typeface="Arial"/>
              <a:cs typeface="Arial"/>
            </a:endParaRPr>
          </a:p>
          <a:p>
            <a:pPr marL="50800" marR="448945">
              <a:lnSpc>
                <a:spcPct val="100000"/>
              </a:lnSpc>
            </a:pPr>
            <a:r>
              <a:rPr sz="2000" dirty="0">
                <a:latin typeface="Arial"/>
                <a:cs typeface="Arial"/>
              </a:rPr>
              <a:t>Flicker</a:t>
            </a:r>
            <a:r>
              <a:rPr sz="2000" spc="-45" dirty="0">
                <a:latin typeface="Arial"/>
                <a:cs typeface="Arial"/>
              </a:rPr>
              <a:t> </a:t>
            </a:r>
            <a:r>
              <a:rPr sz="2000" dirty="0">
                <a:latin typeface="Arial"/>
                <a:cs typeface="Arial"/>
              </a:rPr>
              <a:t>noise</a:t>
            </a:r>
            <a:r>
              <a:rPr sz="2000" spc="-35" dirty="0">
                <a:latin typeface="Arial"/>
                <a:cs typeface="Arial"/>
              </a:rPr>
              <a:t> </a:t>
            </a:r>
            <a:r>
              <a:rPr sz="2000" dirty="0">
                <a:latin typeface="Arial"/>
                <a:cs typeface="Arial"/>
              </a:rPr>
              <a:t>is</a:t>
            </a:r>
            <a:r>
              <a:rPr sz="2000" spc="-15" dirty="0">
                <a:latin typeface="Arial"/>
                <a:cs typeface="Arial"/>
              </a:rPr>
              <a:t> </a:t>
            </a:r>
            <a:r>
              <a:rPr sz="2000" dirty="0">
                <a:latin typeface="Arial"/>
                <a:cs typeface="Arial"/>
              </a:rPr>
              <a:t>most</a:t>
            </a:r>
            <a:r>
              <a:rPr sz="2000" spc="-55" dirty="0">
                <a:latin typeface="Arial"/>
                <a:cs typeface="Arial"/>
              </a:rPr>
              <a:t> </a:t>
            </a:r>
            <a:r>
              <a:rPr sz="2000" dirty="0">
                <a:latin typeface="Arial"/>
                <a:cs typeface="Arial"/>
              </a:rPr>
              <a:t>prominent</a:t>
            </a:r>
            <a:r>
              <a:rPr sz="2000" spc="-55" dirty="0">
                <a:latin typeface="Arial"/>
                <a:cs typeface="Arial"/>
              </a:rPr>
              <a:t> </a:t>
            </a:r>
            <a:r>
              <a:rPr sz="2000" dirty="0">
                <a:latin typeface="Arial"/>
                <a:cs typeface="Arial"/>
              </a:rPr>
              <a:t>at</a:t>
            </a:r>
            <a:r>
              <a:rPr sz="2000" spc="-40" dirty="0">
                <a:latin typeface="Arial"/>
                <a:cs typeface="Arial"/>
              </a:rPr>
              <a:t> </a:t>
            </a:r>
            <a:r>
              <a:rPr sz="2000" dirty="0">
                <a:latin typeface="Arial"/>
                <a:cs typeface="Arial"/>
              </a:rPr>
              <a:t>lower</a:t>
            </a:r>
            <a:r>
              <a:rPr sz="2000" spc="-35" dirty="0">
                <a:latin typeface="Arial"/>
                <a:cs typeface="Arial"/>
              </a:rPr>
              <a:t> </a:t>
            </a:r>
            <a:r>
              <a:rPr sz="2000" dirty="0">
                <a:latin typeface="Arial"/>
                <a:cs typeface="Arial"/>
              </a:rPr>
              <a:t>frequencies</a:t>
            </a:r>
            <a:r>
              <a:rPr sz="2000" spc="-65" dirty="0">
                <a:latin typeface="Arial"/>
                <a:cs typeface="Arial"/>
              </a:rPr>
              <a:t> </a:t>
            </a:r>
            <a:r>
              <a:rPr sz="2000" dirty="0">
                <a:latin typeface="Arial"/>
                <a:cs typeface="Arial"/>
              </a:rPr>
              <a:t>and</a:t>
            </a:r>
            <a:r>
              <a:rPr sz="2000" spc="-35" dirty="0">
                <a:latin typeface="Arial"/>
                <a:cs typeface="Arial"/>
              </a:rPr>
              <a:t> </a:t>
            </a:r>
            <a:r>
              <a:rPr sz="2000" dirty="0">
                <a:latin typeface="Arial"/>
                <a:cs typeface="Arial"/>
              </a:rPr>
              <a:t>becomes</a:t>
            </a:r>
            <a:r>
              <a:rPr sz="2000" spc="-50" dirty="0">
                <a:latin typeface="Arial"/>
                <a:cs typeface="Arial"/>
              </a:rPr>
              <a:t> </a:t>
            </a:r>
            <a:r>
              <a:rPr sz="2000" dirty="0">
                <a:latin typeface="Arial"/>
                <a:cs typeface="Arial"/>
              </a:rPr>
              <a:t>negligible</a:t>
            </a:r>
            <a:r>
              <a:rPr sz="2000" spc="-25" dirty="0">
                <a:latin typeface="Arial"/>
                <a:cs typeface="Arial"/>
              </a:rPr>
              <a:t> at </a:t>
            </a:r>
            <a:r>
              <a:rPr sz="2000" dirty="0">
                <a:latin typeface="Arial"/>
                <a:cs typeface="Arial"/>
              </a:rPr>
              <a:t>higher</a:t>
            </a:r>
            <a:r>
              <a:rPr sz="2000" spc="-50" dirty="0">
                <a:latin typeface="Arial"/>
                <a:cs typeface="Arial"/>
              </a:rPr>
              <a:t> </a:t>
            </a:r>
            <a:r>
              <a:rPr sz="2000" spc="-10" dirty="0">
                <a:latin typeface="Arial"/>
                <a:cs typeface="Arial"/>
              </a:rPr>
              <a:t>frequencies.</a:t>
            </a:r>
            <a:endParaRPr sz="2000" dirty="0">
              <a:latin typeface="Arial"/>
              <a:cs typeface="Arial"/>
            </a:endParaRPr>
          </a:p>
          <a:p>
            <a:pPr marL="138430" indent="-97155">
              <a:lnSpc>
                <a:spcPct val="100000"/>
              </a:lnSpc>
              <a:buSzPct val="95000"/>
              <a:buFont typeface="Arial"/>
              <a:buChar char="•"/>
              <a:tabLst>
                <a:tab pos="138430" algn="l"/>
              </a:tabLst>
            </a:pPr>
            <a:r>
              <a:rPr sz="2000" b="1" spc="-10" dirty="0">
                <a:latin typeface="Arial"/>
                <a:cs typeface="Arial"/>
              </a:rPr>
              <a:t>Material-Dependent:</a:t>
            </a:r>
            <a:endParaRPr sz="2000" dirty="0">
              <a:latin typeface="Arial"/>
              <a:cs typeface="Arial"/>
            </a:endParaRPr>
          </a:p>
          <a:p>
            <a:pPr marL="50800">
              <a:lnSpc>
                <a:spcPct val="100000"/>
              </a:lnSpc>
            </a:pPr>
            <a:r>
              <a:rPr sz="2000" dirty="0">
                <a:latin typeface="Arial"/>
                <a:cs typeface="Arial"/>
              </a:rPr>
              <a:t>It</a:t>
            </a:r>
            <a:r>
              <a:rPr sz="2000" spc="-30" dirty="0">
                <a:latin typeface="Arial"/>
                <a:cs typeface="Arial"/>
              </a:rPr>
              <a:t> </a:t>
            </a:r>
            <a:r>
              <a:rPr sz="2000" dirty="0">
                <a:latin typeface="Arial"/>
                <a:cs typeface="Arial"/>
              </a:rPr>
              <a:t>arises</a:t>
            </a:r>
            <a:r>
              <a:rPr sz="2000" spc="-30" dirty="0">
                <a:latin typeface="Arial"/>
                <a:cs typeface="Arial"/>
              </a:rPr>
              <a:t> </a:t>
            </a:r>
            <a:r>
              <a:rPr sz="2000" dirty="0">
                <a:latin typeface="Arial"/>
                <a:cs typeface="Arial"/>
              </a:rPr>
              <a:t>from</a:t>
            </a:r>
            <a:r>
              <a:rPr sz="2000" spc="-35" dirty="0">
                <a:latin typeface="Arial"/>
                <a:cs typeface="Arial"/>
              </a:rPr>
              <a:t> </a:t>
            </a:r>
            <a:r>
              <a:rPr sz="2000" dirty="0">
                <a:latin typeface="Arial"/>
                <a:cs typeface="Arial"/>
              </a:rPr>
              <a:t>defects,</a:t>
            </a:r>
            <a:r>
              <a:rPr sz="2000" spc="-45" dirty="0">
                <a:latin typeface="Arial"/>
                <a:cs typeface="Arial"/>
              </a:rPr>
              <a:t> </a:t>
            </a:r>
            <a:r>
              <a:rPr sz="2000" dirty="0">
                <a:latin typeface="Arial"/>
                <a:cs typeface="Arial"/>
              </a:rPr>
              <a:t>impurities,</a:t>
            </a:r>
            <a:r>
              <a:rPr sz="2000" spc="-30" dirty="0">
                <a:latin typeface="Arial"/>
                <a:cs typeface="Arial"/>
              </a:rPr>
              <a:t> </a:t>
            </a:r>
            <a:r>
              <a:rPr sz="2000" dirty="0">
                <a:latin typeface="Arial"/>
                <a:cs typeface="Arial"/>
              </a:rPr>
              <a:t>and</a:t>
            </a:r>
            <a:r>
              <a:rPr sz="2000" spc="-20" dirty="0">
                <a:latin typeface="Arial"/>
                <a:cs typeface="Arial"/>
              </a:rPr>
              <a:t> </a:t>
            </a:r>
            <a:r>
              <a:rPr sz="2000" dirty="0">
                <a:latin typeface="Arial"/>
                <a:cs typeface="Arial"/>
              </a:rPr>
              <a:t>surface</a:t>
            </a:r>
            <a:r>
              <a:rPr sz="2000" spc="-55" dirty="0">
                <a:latin typeface="Arial"/>
                <a:cs typeface="Arial"/>
              </a:rPr>
              <a:t> </a:t>
            </a:r>
            <a:r>
              <a:rPr sz="2000" dirty="0">
                <a:latin typeface="Arial"/>
                <a:cs typeface="Arial"/>
              </a:rPr>
              <a:t>traps</a:t>
            </a:r>
            <a:r>
              <a:rPr sz="2000" spc="-30" dirty="0">
                <a:latin typeface="Arial"/>
                <a:cs typeface="Arial"/>
              </a:rPr>
              <a:t> </a:t>
            </a:r>
            <a:r>
              <a:rPr sz="2000" dirty="0">
                <a:latin typeface="Arial"/>
                <a:cs typeface="Arial"/>
              </a:rPr>
              <a:t>in</a:t>
            </a:r>
            <a:r>
              <a:rPr sz="2000" spc="-10" dirty="0">
                <a:latin typeface="Arial"/>
                <a:cs typeface="Arial"/>
              </a:rPr>
              <a:t> materials.</a:t>
            </a:r>
            <a:endParaRPr sz="2000" dirty="0">
              <a:latin typeface="Arial"/>
              <a:cs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Time</a:t>
            </a:r>
            <a:r>
              <a:rPr spc="185" dirty="0"/>
              <a:t> </a:t>
            </a:r>
            <a:r>
              <a:rPr dirty="0"/>
              <a:t>and</a:t>
            </a:r>
            <a:r>
              <a:rPr spc="185" dirty="0"/>
              <a:t> </a:t>
            </a:r>
            <a:r>
              <a:rPr dirty="0"/>
              <a:t>Frequency</a:t>
            </a:r>
            <a:r>
              <a:rPr spc="190" dirty="0"/>
              <a:t> </a:t>
            </a:r>
            <a:r>
              <a:rPr dirty="0"/>
              <a:t>Domain</a:t>
            </a:r>
            <a:r>
              <a:rPr spc="215" dirty="0"/>
              <a:t> </a:t>
            </a:r>
            <a:r>
              <a:rPr spc="-10" dirty="0"/>
              <a:t>Visualizations</a:t>
            </a:r>
          </a:p>
        </p:txBody>
      </p:sp>
      <p:pic>
        <p:nvPicPr>
          <p:cNvPr id="3" name="object 3"/>
          <p:cNvPicPr/>
          <p:nvPr/>
        </p:nvPicPr>
        <p:blipFill>
          <a:blip r:embed="rId2" cstate="print"/>
          <a:stretch>
            <a:fillRect/>
          </a:stretch>
        </p:blipFill>
        <p:spPr>
          <a:xfrm>
            <a:off x="153573" y="1532531"/>
            <a:ext cx="11714216" cy="492287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24765">
              <a:lnSpc>
                <a:spcPct val="100000"/>
              </a:lnSpc>
              <a:spcBef>
                <a:spcPts val="100"/>
              </a:spcBef>
            </a:pPr>
            <a:r>
              <a:rPr dirty="0"/>
              <a:t>Time</a:t>
            </a:r>
            <a:r>
              <a:rPr spc="185" dirty="0"/>
              <a:t> </a:t>
            </a:r>
            <a:r>
              <a:rPr dirty="0"/>
              <a:t>and</a:t>
            </a:r>
            <a:r>
              <a:rPr spc="185" dirty="0"/>
              <a:t> </a:t>
            </a:r>
            <a:r>
              <a:rPr dirty="0"/>
              <a:t>Frequency</a:t>
            </a:r>
            <a:r>
              <a:rPr spc="190" dirty="0"/>
              <a:t> </a:t>
            </a:r>
            <a:r>
              <a:rPr dirty="0"/>
              <a:t>Domain</a:t>
            </a:r>
            <a:r>
              <a:rPr spc="215" dirty="0"/>
              <a:t> </a:t>
            </a:r>
            <a:r>
              <a:rPr spc="-10" dirty="0"/>
              <a:t>Visualizations</a:t>
            </a:r>
          </a:p>
        </p:txBody>
      </p:sp>
      <p:pic>
        <p:nvPicPr>
          <p:cNvPr id="3" name="object 3"/>
          <p:cNvPicPr/>
          <p:nvPr/>
        </p:nvPicPr>
        <p:blipFill>
          <a:blip r:embed="rId2" cstate="print"/>
          <a:stretch>
            <a:fillRect/>
          </a:stretch>
        </p:blipFill>
        <p:spPr>
          <a:xfrm>
            <a:off x="312420" y="1235677"/>
            <a:ext cx="11270565" cy="486907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How</a:t>
            </a:r>
            <a:r>
              <a:rPr spc="-55" dirty="0"/>
              <a:t> </a:t>
            </a:r>
            <a:r>
              <a:rPr dirty="0"/>
              <a:t>do</a:t>
            </a:r>
            <a:r>
              <a:rPr spc="-45" dirty="0"/>
              <a:t> </a:t>
            </a:r>
            <a:r>
              <a:rPr dirty="0"/>
              <a:t>different</a:t>
            </a:r>
            <a:r>
              <a:rPr spc="-35" dirty="0"/>
              <a:t> </a:t>
            </a:r>
            <a:r>
              <a:rPr dirty="0"/>
              <a:t>noise</a:t>
            </a:r>
            <a:r>
              <a:rPr spc="-55" dirty="0"/>
              <a:t> </a:t>
            </a:r>
            <a:r>
              <a:rPr dirty="0"/>
              <a:t>sources</a:t>
            </a:r>
            <a:r>
              <a:rPr spc="-60" dirty="0"/>
              <a:t> </a:t>
            </a:r>
            <a:r>
              <a:rPr spc="-20" dirty="0"/>
              <a:t>add?</a:t>
            </a:r>
          </a:p>
        </p:txBody>
      </p:sp>
      <p:pic>
        <p:nvPicPr>
          <p:cNvPr id="3" name="object 3"/>
          <p:cNvPicPr/>
          <p:nvPr/>
        </p:nvPicPr>
        <p:blipFill>
          <a:blip r:embed="rId2" cstate="print"/>
          <a:stretch>
            <a:fillRect/>
          </a:stretch>
        </p:blipFill>
        <p:spPr>
          <a:xfrm>
            <a:off x="1619630" y="1044320"/>
            <a:ext cx="8385809" cy="54684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Power</a:t>
            </a:r>
            <a:r>
              <a:rPr spc="-60" dirty="0"/>
              <a:t> </a:t>
            </a:r>
            <a:r>
              <a:rPr dirty="0"/>
              <a:t>perspective</a:t>
            </a:r>
            <a:r>
              <a:rPr spc="-35" dirty="0"/>
              <a:t> </a:t>
            </a:r>
            <a:r>
              <a:rPr dirty="0"/>
              <a:t>of</a:t>
            </a:r>
            <a:r>
              <a:rPr spc="-45" dirty="0"/>
              <a:t> </a:t>
            </a:r>
            <a:r>
              <a:rPr dirty="0"/>
              <a:t>noise</a:t>
            </a:r>
            <a:r>
              <a:rPr spc="-20" dirty="0"/>
              <a:t> </a:t>
            </a:r>
            <a:r>
              <a:rPr spc="-10" dirty="0"/>
              <a:t>addition</a:t>
            </a:r>
          </a:p>
        </p:txBody>
      </p:sp>
      <p:pic>
        <p:nvPicPr>
          <p:cNvPr id="3" name="object 3"/>
          <p:cNvPicPr/>
          <p:nvPr/>
        </p:nvPicPr>
        <p:blipFill>
          <a:blip r:embed="rId2" cstate="print"/>
          <a:stretch>
            <a:fillRect/>
          </a:stretch>
        </p:blipFill>
        <p:spPr>
          <a:xfrm>
            <a:off x="1772710" y="1130995"/>
            <a:ext cx="8306713" cy="424695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Examples</a:t>
            </a:r>
            <a:r>
              <a:rPr spc="-80" dirty="0"/>
              <a:t> </a:t>
            </a:r>
            <a:r>
              <a:rPr dirty="0"/>
              <a:t>of</a:t>
            </a:r>
            <a:r>
              <a:rPr spc="-80" dirty="0"/>
              <a:t> </a:t>
            </a:r>
            <a:r>
              <a:rPr dirty="0"/>
              <a:t>calculating</a:t>
            </a:r>
            <a:r>
              <a:rPr spc="-50" dirty="0"/>
              <a:t> </a:t>
            </a:r>
            <a:r>
              <a:rPr spc="-10" dirty="0"/>
              <a:t>Noise</a:t>
            </a:r>
          </a:p>
        </p:txBody>
      </p:sp>
      <p:pic>
        <p:nvPicPr>
          <p:cNvPr id="3" name="object 3"/>
          <p:cNvPicPr/>
          <p:nvPr/>
        </p:nvPicPr>
        <p:blipFill>
          <a:blip r:embed="rId2" cstate="print"/>
          <a:stretch>
            <a:fillRect/>
          </a:stretch>
        </p:blipFill>
        <p:spPr>
          <a:xfrm>
            <a:off x="2045165" y="1104370"/>
            <a:ext cx="7945222" cy="5039788"/>
          </a:xfrm>
          <a:prstGeom prst="rect">
            <a:avLst/>
          </a:prstGeom>
        </p:spPr>
      </p:pic>
      <p:pic>
        <p:nvPicPr>
          <p:cNvPr id="4" name="Picture 3" descr="A white background with black text and black text&#10;&#10;AI-generated content may be incorrect.">
            <a:extLst>
              <a:ext uri="{FF2B5EF4-FFF2-40B4-BE49-F238E27FC236}">
                <a16:creationId xmlns:a16="http://schemas.microsoft.com/office/drawing/2014/main" id="{7B2E21C2-7E6B-32C8-9982-C679465D2A98}"/>
              </a:ext>
            </a:extLst>
          </p:cNvPr>
          <p:cNvPicPr>
            <a:picLocks noChangeAspect="1"/>
          </p:cNvPicPr>
          <p:nvPr/>
        </p:nvPicPr>
        <p:blipFill>
          <a:blip r:embed="rId3">
            <a:extLst>
              <a:ext uri="{28A0092B-C50C-407E-A947-70E740481C1C}">
                <a14:useLocalDpi xmlns:a14="http://schemas.microsoft.com/office/drawing/2010/main" val="0"/>
              </a:ext>
            </a:extLst>
          </a:blip>
          <a:srcRect l="37133" r="35861" b="89091"/>
          <a:stretch>
            <a:fillRect/>
          </a:stretch>
        </p:blipFill>
        <p:spPr>
          <a:xfrm>
            <a:off x="4724400" y="2362200"/>
            <a:ext cx="2743200" cy="685800"/>
          </a:xfrm>
          <a:prstGeom prst="rect">
            <a:avLst/>
          </a:prstGeom>
        </p:spPr>
      </p:pic>
      <p:pic>
        <p:nvPicPr>
          <p:cNvPr id="5" name="Picture 4" descr="A white paper with black text&#10;&#10;AI-generated content may be incorrect.">
            <a:extLst>
              <a:ext uri="{FF2B5EF4-FFF2-40B4-BE49-F238E27FC236}">
                <a16:creationId xmlns:a16="http://schemas.microsoft.com/office/drawing/2014/main" id="{1BD31B50-0092-3635-F1F0-1845044ECE01}"/>
              </a:ext>
            </a:extLst>
          </p:cNvPr>
          <p:cNvPicPr>
            <a:picLocks noChangeAspect="1"/>
          </p:cNvPicPr>
          <p:nvPr/>
        </p:nvPicPr>
        <p:blipFill>
          <a:blip r:embed="rId4">
            <a:extLst>
              <a:ext uri="{28A0092B-C50C-407E-A947-70E740481C1C}">
                <a14:useLocalDpi xmlns:a14="http://schemas.microsoft.com/office/drawing/2010/main" val="0"/>
              </a:ext>
            </a:extLst>
          </a:blip>
          <a:srcRect l="37345" t="-483" r="36626" b="87878"/>
          <a:stretch>
            <a:fillRect/>
          </a:stretch>
        </p:blipFill>
        <p:spPr>
          <a:xfrm>
            <a:off x="4763589" y="3078480"/>
            <a:ext cx="2704011" cy="822960"/>
          </a:xfrm>
          <a:prstGeom prst="rect">
            <a:avLst/>
          </a:prstGeom>
        </p:spPr>
      </p:pic>
      <p:pic>
        <p:nvPicPr>
          <p:cNvPr id="6" name="Picture 5" descr="A white paper with black text&#10;&#10;AI-generated content may be incorrect.">
            <a:extLst>
              <a:ext uri="{FF2B5EF4-FFF2-40B4-BE49-F238E27FC236}">
                <a16:creationId xmlns:a16="http://schemas.microsoft.com/office/drawing/2014/main" id="{B2C4D2E3-3665-3BFA-36B3-78A4D9F35A51}"/>
              </a:ext>
            </a:extLst>
          </p:cNvPr>
          <p:cNvPicPr>
            <a:picLocks noChangeAspect="1"/>
          </p:cNvPicPr>
          <p:nvPr/>
        </p:nvPicPr>
        <p:blipFill>
          <a:blip r:embed="rId4">
            <a:extLst>
              <a:ext uri="{28A0092B-C50C-407E-A947-70E740481C1C}">
                <a14:useLocalDpi xmlns:a14="http://schemas.microsoft.com/office/drawing/2010/main" val="0"/>
              </a:ext>
            </a:extLst>
          </a:blip>
          <a:srcRect l="52015" t="82" r="36626" b="87878"/>
          <a:stretch>
            <a:fillRect/>
          </a:stretch>
        </p:blipFill>
        <p:spPr>
          <a:xfrm>
            <a:off x="6934200" y="4522829"/>
            <a:ext cx="1180011" cy="78607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Power</a:t>
            </a:r>
            <a:r>
              <a:rPr spc="-70" dirty="0"/>
              <a:t> </a:t>
            </a:r>
            <a:r>
              <a:rPr dirty="0"/>
              <a:t>perspective</a:t>
            </a:r>
            <a:r>
              <a:rPr spc="-45" dirty="0"/>
              <a:t> </a:t>
            </a:r>
            <a:r>
              <a:rPr dirty="0"/>
              <a:t>of</a:t>
            </a:r>
            <a:r>
              <a:rPr spc="-45" dirty="0"/>
              <a:t> </a:t>
            </a:r>
            <a:r>
              <a:rPr dirty="0"/>
              <a:t>noise</a:t>
            </a:r>
            <a:r>
              <a:rPr spc="-30" dirty="0"/>
              <a:t> </a:t>
            </a:r>
            <a:r>
              <a:rPr spc="-10" dirty="0"/>
              <a:t>addition</a:t>
            </a:r>
          </a:p>
        </p:txBody>
      </p:sp>
      <p:pic>
        <p:nvPicPr>
          <p:cNvPr id="3" name="object 3"/>
          <p:cNvPicPr/>
          <p:nvPr/>
        </p:nvPicPr>
        <p:blipFill>
          <a:blip r:embed="rId2" cstate="print"/>
          <a:stretch>
            <a:fillRect/>
          </a:stretch>
        </p:blipFill>
        <p:spPr>
          <a:xfrm>
            <a:off x="2085025" y="1326018"/>
            <a:ext cx="6747267" cy="36359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78739" y="14986"/>
            <a:ext cx="10328275" cy="505267"/>
          </a:xfrm>
          <a:prstGeom prst="rect">
            <a:avLst/>
          </a:prstGeom>
        </p:spPr>
        <p:txBody>
          <a:bodyPr vert="horz" wrap="square" lIns="0" tIns="12700" rIns="0" bIns="0" rtlCol="0">
            <a:spAutoFit/>
          </a:bodyPr>
          <a:lstStyle/>
          <a:p>
            <a:pPr marL="12700">
              <a:lnSpc>
                <a:spcPct val="100000"/>
              </a:lnSpc>
              <a:spcBef>
                <a:spcPts val="100"/>
              </a:spcBef>
            </a:pPr>
            <a:r>
              <a:rPr dirty="0"/>
              <a:t>How</a:t>
            </a:r>
            <a:r>
              <a:rPr spc="-45" dirty="0"/>
              <a:t> </a:t>
            </a:r>
            <a:r>
              <a:rPr dirty="0"/>
              <a:t>do</a:t>
            </a:r>
            <a:r>
              <a:rPr spc="-25" dirty="0"/>
              <a:t> </a:t>
            </a:r>
            <a:r>
              <a:rPr dirty="0"/>
              <a:t>we</a:t>
            </a:r>
            <a:r>
              <a:rPr spc="-50" dirty="0"/>
              <a:t> </a:t>
            </a:r>
            <a:r>
              <a:rPr dirty="0"/>
              <a:t>calculate</a:t>
            </a:r>
            <a:r>
              <a:rPr spc="-25" dirty="0"/>
              <a:t> </a:t>
            </a:r>
            <a:r>
              <a:rPr lang="en-US" spc="-25" dirty="0">
                <a:latin typeface="Symbol"/>
                <a:cs typeface="Symbol"/>
              </a:rPr>
              <a:t>B</a:t>
            </a:r>
            <a:endParaRPr spc="-25" dirty="0"/>
          </a:p>
        </p:txBody>
      </p:sp>
      <p:pic>
        <p:nvPicPr>
          <p:cNvPr id="3" name="object 3"/>
          <p:cNvPicPr/>
          <p:nvPr/>
        </p:nvPicPr>
        <p:blipFill>
          <a:blip r:embed="rId2" cstate="print"/>
          <a:stretch>
            <a:fillRect/>
          </a:stretch>
        </p:blipFill>
        <p:spPr>
          <a:xfrm>
            <a:off x="1546794" y="1736969"/>
            <a:ext cx="7647679" cy="2450448"/>
          </a:xfrm>
          <a:prstGeom prst="rect">
            <a:avLst/>
          </a:prstGeom>
        </p:spPr>
      </p:pic>
      <p:sp>
        <p:nvSpPr>
          <p:cNvPr id="5" name="TextBox 4">
            <a:extLst>
              <a:ext uri="{FF2B5EF4-FFF2-40B4-BE49-F238E27FC236}">
                <a16:creationId xmlns:a16="http://schemas.microsoft.com/office/drawing/2014/main" id="{0AE27B1C-BA84-6D9E-50E7-F859B8584E1C}"/>
              </a:ext>
            </a:extLst>
          </p:cNvPr>
          <p:cNvSpPr txBox="1"/>
          <p:nvPr/>
        </p:nvSpPr>
        <p:spPr>
          <a:xfrm>
            <a:off x="4191000" y="1676400"/>
            <a:ext cx="609600" cy="369332"/>
          </a:xfrm>
          <a:prstGeom prst="rect">
            <a:avLst/>
          </a:prstGeom>
          <a:solidFill>
            <a:schemeClr val="bg1"/>
          </a:solidFill>
        </p:spPr>
        <p:txBody>
          <a:bodyPr wrap="square" rtlCol="0">
            <a:spAutoFit/>
          </a:bodyPr>
          <a:lstStyle/>
          <a:p>
            <a:pPr algn="ctr"/>
            <a:r>
              <a:rPr lang="en-US" dirty="0"/>
              <a:t>B</a:t>
            </a:r>
          </a:p>
        </p:txBody>
      </p:sp>
      <p:sp>
        <p:nvSpPr>
          <p:cNvPr id="7" name="TextBox 6">
            <a:extLst>
              <a:ext uri="{FF2B5EF4-FFF2-40B4-BE49-F238E27FC236}">
                <a16:creationId xmlns:a16="http://schemas.microsoft.com/office/drawing/2014/main" id="{CEBA34BB-6C96-8597-F58C-96DC7F4E7F1E}"/>
              </a:ext>
            </a:extLst>
          </p:cNvPr>
          <p:cNvSpPr txBox="1"/>
          <p:nvPr/>
        </p:nvSpPr>
        <p:spPr>
          <a:xfrm>
            <a:off x="2667000" y="2133600"/>
            <a:ext cx="279073" cy="381000"/>
          </a:xfrm>
          <a:prstGeom prst="rect">
            <a:avLst/>
          </a:prstGeom>
          <a:solidFill>
            <a:schemeClr val="bg1"/>
          </a:solidFill>
        </p:spPr>
        <p:txBody>
          <a:bodyPr wrap="square" rtlCol="0">
            <a:spAutoFit/>
          </a:bodyPr>
          <a:lstStyle/>
          <a:p>
            <a:pPr algn="ctr"/>
            <a:r>
              <a:rPr lang="en-US" dirty="0"/>
              <a:t>B</a:t>
            </a:r>
          </a:p>
        </p:txBody>
      </p:sp>
      <p:sp>
        <p:nvSpPr>
          <p:cNvPr id="8" name="TextBox 7">
            <a:extLst>
              <a:ext uri="{FF2B5EF4-FFF2-40B4-BE49-F238E27FC236}">
                <a16:creationId xmlns:a16="http://schemas.microsoft.com/office/drawing/2014/main" id="{A71B28AA-2AB7-BD2F-04C4-67518145D742}"/>
              </a:ext>
            </a:extLst>
          </p:cNvPr>
          <p:cNvSpPr txBox="1"/>
          <p:nvPr/>
        </p:nvSpPr>
        <p:spPr>
          <a:xfrm>
            <a:off x="4495800" y="2881448"/>
            <a:ext cx="381000" cy="381000"/>
          </a:xfrm>
          <a:prstGeom prst="rect">
            <a:avLst/>
          </a:prstGeom>
          <a:solidFill>
            <a:schemeClr val="bg1"/>
          </a:solidFill>
        </p:spPr>
        <p:txBody>
          <a:bodyPr wrap="square" rtlCol="0">
            <a:spAutoFit/>
          </a:bodyPr>
          <a:lstStyle/>
          <a:p>
            <a:pPr algn="ctr"/>
            <a:r>
              <a:rPr lang="en-US" dirty="0"/>
              <a:t>B</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78739" y="14986"/>
            <a:ext cx="10328275" cy="505267"/>
          </a:xfrm>
          <a:prstGeom prst="rect">
            <a:avLst/>
          </a:prstGeom>
        </p:spPr>
        <p:txBody>
          <a:bodyPr vert="horz" wrap="square" lIns="0" tIns="12700" rIns="0" bIns="0" rtlCol="0">
            <a:spAutoFit/>
          </a:bodyPr>
          <a:lstStyle/>
          <a:p>
            <a:pPr marL="12700">
              <a:lnSpc>
                <a:spcPct val="100000"/>
              </a:lnSpc>
              <a:spcBef>
                <a:spcPts val="100"/>
              </a:spcBef>
            </a:pPr>
            <a:r>
              <a:rPr dirty="0"/>
              <a:t>How</a:t>
            </a:r>
            <a:r>
              <a:rPr spc="-45" dirty="0"/>
              <a:t> </a:t>
            </a:r>
            <a:r>
              <a:rPr dirty="0"/>
              <a:t>do</a:t>
            </a:r>
            <a:r>
              <a:rPr spc="-25" dirty="0"/>
              <a:t> </a:t>
            </a:r>
            <a:r>
              <a:rPr dirty="0"/>
              <a:t>we</a:t>
            </a:r>
            <a:r>
              <a:rPr spc="-50" dirty="0"/>
              <a:t> </a:t>
            </a:r>
            <a:r>
              <a:rPr dirty="0"/>
              <a:t>calculate</a:t>
            </a:r>
            <a:r>
              <a:rPr spc="-25" dirty="0"/>
              <a:t> </a:t>
            </a:r>
            <a:r>
              <a:rPr spc="-25" dirty="0">
                <a:latin typeface="Symbol"/>
                <a:cs typeface="Symbol"/>
              </a:rPr>
              <a:t></a:t>
            </a:r>
            <a:r>
              <a:rPr spc="-25" dirty="0"/>
              <a:t>f</a:t>
            </a:r>
            <a:r>
              <a:rPr lang="en-US" spc="-25" dirty="0"/>
              <a:t> / B</a:t>
            </a:r>
            <a:endParaRPr spc="-25" dirty="0"/>
          </a:p>
        </p:txBody>
      </p:sp>
      <p:sp>
        <p:nvSpPr>
          <p:cNvPr id="3" name="object 3"/>
          <p:cNvSpPr txBox="1"/>
          <p:nvPr/>
        </p:nvSpPr>
        <p:spPr>
          <a:xfrm>
            <a:off x="307239" y="1169924"/>
            <a:ext cx="11685270" cy="5147310"/>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There</a:t>
            </a:r>
            <a:r>
              <a:rPr sz="1400" spc="-45" dirty="0">
                <a:latin typeface="Arial"/>
                <a:cs typeface="Arial"/>
              </a:rPr>
              <a:t> </a:t>
            </a:r>
            <a:r>
              <a:rPr sz="1400" dirty="0">
                <a:latin typeface="Arial"/>
                <a:cs typeface="Arial"/>
              </a:rPr>
              <a:t>are</a:t>
            </a:r>
            <a:r>
              <a:rPr sz="1400" spc="-35" dirty="0">
                <a:latin typeface="Arial"/>
                <a:cs typeface="Arial"/>
              </a:rPr>
              <a:t> </a:t>
            </a:r>
            <a:r>
              <a:rPr sz="1400" dirty="0">
                <a:latin typeface="Arial"/>
                <a:cs typeface="Arial"/>
              </a:rPr>
              <a:t>different</a:t>
            </a:r>
            <a:r>
              <a:rPr sz="1400" spc="-65" dirty="0">
                <a:latin typeface="Arial"/>
                <a:cs typeface="Arial"/>
              </a:rPr>
              <a:t> </a:t>
            </a:r>
            <a:r>
              <a:rPr sz="1400" dirty="0">
                <a:latin typeface="Arial"/>
                <a:cs typeface="Arial"/>
              </a:rPr>
              <a:t>bandwidths</a:t>
            </a:r>
            <a:r>
              <a:rPr sz="1400" spc="-35" dirty="0">
                <a:latin typeface="Arial"/>
                <a:cs typeface="Arial"/>
              </a:rPr>
              <a:t> </a:t>
            </a:r>
            <a:r>
              <a:rPr sz="1400" dirty="0">
                <a:latin typeface="Arial"/>
                <a:cs typeface="Arial"/>
              </a:rPr>
              <a:t>to</a:t>
            </a:r>
            <a:r>
              <a:rPr sz="1400" spc="-25" dirty="0">
                <a:latin typeface="Arial"/>
                <a:cs typeface="Arial"/>
              </a:rPr>
              <a:t> </a:t>
            </a:r>
            <a:r>
              <a:rPr sz="1400" dirty="0">
                <a:latin typeface="Arial"/>
                <a:cs typeface="Arial"/>
              </a:rPr>
              <a:t>consider,</a:t>
            </a:r>
            <a:r>
              <a:rPr sz="1400" spc="-55" dirty="0">
                <a:latin typeface="Arial"/>
                <a:cs typeface="Arial"/>
              </a:rPr>
              <a:t> </a:t>
            </a:r>
            <a:r>
              <a:rPr sz="1400" dirty="0">
                <a:latin typeface="Arial"/>
                <a:cs typeface="Arial"/>
              </a:rPr>
              <a:t>depending</a:t>
            </a:r>
            <a:r>
              <a:rPr sz="1400" spc="-55" dirty="0">
                <a:latin typeface="Arial"/>
                <a:cs typeface="Arial"/>
              </a:rPr>
              <a:t> </a:t>
            </a:r>
            <a:r>
              <a:rPr sz="1400" dirty="0">
                <a:latin typeface="Arial"/>
                <a:cs typeface="Arial"/>
              </a:rPr>
              <a:t>on</a:t>
            </a:r>
            <a:r>
              <a:rPr sz="1400" spc="-35"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context</a:t>
            </a:r>
            <a:r>
              <a:rPr sz="1400" spc="-40" dirty="0">
                <a:latin typeface="Arial"/>
                <a:cs typeface="Arial"/>
              </a:rPr>
              <a:t> </a:t>
            </a:r>
            <a:r>
              <a:rPr sz="1400" dirty="0">
                <a:latin typeface="Arial"/>
                <a:cs typeface="Arial"/>
              </a:rPr>
              <a:t>of</a:t>
            </a:r>
            <a:r>
              <a:rPr sz="1400" spc="-30" dirty="0">
                <a:latin typeface="Arial"/>
                <a:cs typeface="Arial"/>
              </a:rPr>
              <a:t> </a:t>
            </a:r>
            <a:r>
              <a:rPr sz="1400" dirty="0">
                <a:latin typeface="Arial"/>
                <a:cs typeface="Arial"/>
              </a:rPr>
              <a:t>the</a:t>
            </a:r>
            <a:r>
              <a:rPr sz="1400" spc="-30" dirty="0">
                <a:latin typeface="Arial"/>
                <a:cs typeface="Arial"/>
              </a:rPr>
              <a:t> </a:t>
            </a:r>
            <a:r>
              <a:rPr sz="1400" spc="-10" dirty="0">
                <a:latin typeface="Arial"/>
                <a:cs typeface="Arial"/>
              </a:rPr>
              <a:t>system:</a:t>
            </a:r>
            <a:endParaRPr sz="1400" dirty="0">
              <a:latin typeface="Arial"/>
              <a:cs typeface="Arial"/>
            </a:endParaRPr>
          </a:p>
          <a:p>
            <a:pPr>
              <a:lnSpc>
                <a:spcPct val="100000"/>
              </a:lnSpc>
              <a:spcBef>
                <a:spcPts val="65"/>
              </a:spcBef>
            </a:pPr>
            <a:endParaRPr sz="1400" dirty="0">
              <a:latin typeface="Arial"/>
              <a:cs typeface="Arial"/>
            </a:endParaRPr>
          </a:p>
          <a:p>
            <a:pPr marL="12700">
              <a:lnSpc>
                <a:spcPct val="100000"/>
              </a:lnSpc>
            </a:pPr>
            <a:r>
              <a:rPr sz="1400" b="1" dirty="0">
                <a:latin typeface="Arial"/>
                <a:cs typeface="Arial"/>
              </a:rPr>
              <a:t>Signal</a:t>
            </a:r>
            <a:r>
              <a:rPr sz="1400" b="1" spc="-60" dirty="0">
                <a:latin typeface="Arial"/>
                <a:cs typeface="Arial"/>
              </a:rPr>
              <a:t> </a:t>
            </a:r>
            <a:r>
              <a:rPr sz="1400" b="1" spc="-10" dirty="0">
                <a:latin typeface="Arial"/>
                <a:cs typeface="Arial"/>
              </a:rPr>
              <a:t>Bandwidth</a:t>
            </a:r>
            <a:endParaRPr sz="1400" dirty="0">
              <a:latin typeface="Arial"/>
              <a:cs typeface="Arial"/>
            </a:endParaRPr>
          </a:p>
          <a:p>
            <a:pPr marL="74930" indent="-69850">
              <a:lnSpc>
                <a:spcPct val="100000"/>
              </a:lnSpc>
              <a:spcBef>
                <a:spcPts val="5"/>
              </a:spcBef>
              <a:buSzPct val="92857"/>
              <a:buChar char="•"/>
              <a:tabLst>
                <a:tab pos="74930" algn="l"/>
              </a:tabLst>
            </a:pPr>
            <a:r>
              <a:rPr sz="1400" dirty="0">
                <a:latin typeface="Arial"/>
                <a:cs typeface="Arial"/>
              </a:rPr>
              <a:t>This</a:t>
            </a:r>
            <a:r>
              <a:rPr sz="1400" spc="-30" dirty="0">
                <a:latin typeface="Arial"/>
                <a:cs typeface="Arial"/>
              </a:rPr>
              <a:t> </a:t>
            </a:r>
            <a:r>
              <a:rPr sz="1400" dirty="0">
                <a:latin typeface="Arial"/>
                <a:cs typeface="Arial"/>
              </a:rPr>
              <a:t>is</a:t>
            </a:r>
            <a:r>
              <a:rPr sz="1400" spc="-10"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frequency</a:t>
            </a:r>
            <a:r>
              <a:rPr sz="1400" spc="-65" dirty="0">
                <a:latin typeface="Arial"/>
                <a:cs typeface="Arial"/>
              </a:rPr>
              <a:t> </a:t>
            </a:r>
            <a:r>
              <a:rPr sz="1400" dirty="0">
                <a:latin typeface="Arial"/>
                <a:cs typeface="Arial"/>
              </a:rPr>
              <a:t>range</a:t>
            </a:r>
            <a:r>
              <a:rPr sz="1400" spc="-40" dirty="0">
                <a:latin typeface="Arial"/>
                <a:cs typeface="Arial"/>
              </a:rPr>
              <a:t> </a:t>
            </a:r>
            <a:r>
              <a:rPr sz="1400" dirty="0">
                <a:latin typeface="Arial"/>
                <a:cs typeface="Arial"/>
              </a:rPr>
              <a:t>over</a:t>
            </a:r>
            <a:r>
              <a:rPr sz="1400" spc="-5" dirty="0">
                <a:latin typeface="Arial"/>
                <a:cs typeface="Arial"/>
              </a:rPr>
              <a:t> </a:t>
            </a:r>
            <a:r>
              <a:rPr sz="1400" dirty="0">
                <a:latin typeface="Arial"/>
                <a:cs typeface="Arial"/>
              </a:rPr>
              <a:t>which</a:t>
            </a:r>
            <a:r>
              <a:rPr sz="1400" spc="-2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actual</a:t>
            </a:r>
            <a:r>
              <a:rPr sz="1400" spc="-55" dirty="0">
                <a:latin typeface="Arial"/>
                <a:cs typeface="Arial"/>
              </a:rPr>
              <a:t> </a:t>
            </a:r>
            <a:r>
              <a:rPr sz="1400" dirty="0">
                <a:latin typeface="Arial"/>
                <a:cs typeface="Arial"/>
              </a:rPr>
              <a:t>signal</a:t>
            </a:r>
            <a:r>
              <a:rPr sz="1400" spc="-30"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transmitted</a:t>
            </a:r>
            <a:r>
              <a:rPr sz="1400" spc="-55" dirty="0">
                <a:latin typeface="Arial"/>
                <a:cs typeface="Arial"/>
              </a:rPr>
              <a:t> </a:t>
            </a:r>
            <a:r>
              <a:rPr sz="1400" dirty="0">
                <a:latin typeface="Arial"/>
                <a:cs typeface="Arial"/>
              </a:rPr>
              <a:t>or</a:t>
            </a:r>
            <a:r>
              <a:rPr sz="1400" spc="-30" dirty="0">
                <a:latin typeface="Arial"/>
                <a:cs typeface="Arial"/>
              </a:rPr>
              <a:t> </a:t>
            </a:r>
            <a:r>
              <a:rPr sz="1400" spc="-10" dirty="0">
                <a:latin typeface="Arial"/>
                <a:cs typeface="Arial"/>
              </a:rPr>
              <a:t>detected.</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If</a:t>
            </a:r>
            <a:r>
              <a:rPr sz="1400" spc="-25" dirty="0">
                <a:latin typeface="Arial"/>
                <a:cs typeface="Arial"/>
              </a:rPr>
              <a:t> </a:t>
            </a:r>
            <a:r>
              <a:rPr sz="1400" dirty="0">
                <a:latin typeface="Arial"/>
                <a:cs typeface="Arial"/>
              </a:rPr>
              <a:t>you are</a:t>
            </a:r>
            <a:r>
              <a:rPr sz="1400" spc="-25" dirty="0">
                <a:latin typeface="Arial"/>
                <a:cs typeface="Arial"/>
              </a:rPr>
              <a:t> </a:t>
            </a:r>
            <a:r>
              <a:rPr sz="1400" dirty="0">
                <a:latin typeface="Arial"/>
                <a:cs typeface="Arial"/>
              </a:rPr>
              <a:t>analyzing</a:t>
            </a:r>
            <a:r>
              <a:rPr sz="1400" spc="-25"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noise</a:t>
            </a:r>
            <a:r>
              <a:rPr sz="1400" spc="-25" dirty="0">
                <a:latin typeface="Arial"/>
                <a:cs typeface="Arial"/>
              </a:rPr>
              <a:t> </a:t>
            </a:r>
            <a:r>
              <a:rPr sz="1400" dirty="0">
                <a:latin typeface="Arial"/>
                <a:cs typeface="Arial"/>
              </a:rPr>
              <a:t>in</a:t>
            </a:r>
            <a:r>
              <a:rPr sz="1400" spc="-15" dirty="0">
                <a:latin typeface="Arial"/>
                <a:cs typeface="Arial"/>
              </a:rPr>
              <a:t> </a:t>
            </a:r>
            <a:r>
              <a:rPr sz="1400" dirty="0">
                <a:latin typeface="Arial"/>
                <a:cs typeface="Arial"/>
              </a:rPr>
              <a:t>a</a:t>
            </a:r>
            <a:r>
              <a:rPr sz="1400" spc="-15" dirty="0">
                <a:latin typeface="Arial"/>
                <a:cs typeface="Arial"/>
              </a:rPr>
              <a:t> </a:t>
            </a:r>
            <a:r>
              <a:rPr sz="1400" spc="-10" dirty="0">
                <a:latin typeface="Arial"/>
                <a:cs typeface="Arial"/>
              </a:rPr>
              <a:t>communication</a:t>
            </a:r>
            <a:r>
              <a:rPr sz="1400" spc="-50" dirty="0">
                <a:latin typeface="Arial"/>
                <a:cs typeface="Arial"/>
              </a:rPr>
              <a:t> </a:t>
            </a:r>
            <a:r>
              <a:rPr sz="1400" dirty="0">
                <a:latin typeface="Arial"/>
                <a:cs typeface="Arial"/>
              </a:rPr>
              <a:t>system,</a:t>
            </a:r>
            <a:r>
              <a:rPr sz="1400" spc="-20"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signal</a:t>
            </a:r>
            <a:r>
              <a:rPr sz="1400" spc="-25"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is</a:t>
            </a:r>
            <a:r>
              <a:rPr sz="1400" spc="-5" dirty="0">
                <a:latin typeface="Arial"/>
                <a:cs typeface="Arial"/>
              </a:rPr>
              <a:t> </a:t>
            </a:r>
            <a:r>
              <a:rPr sz="1400" dirty="0">
                <a:latin typeface="Arial"/>
                <a:cs typeface="Arial"/>
              </a:rPr>
              <a:t>often</a:t>
            </a:r>
            <a:r>
              <a:rPr sz="1400" spc="-35" dirty="0">
                <a:latin typeface="Arial"/>
                <a:cs typeface="Arial"/>
              </a:rPr>
              <a:t> </a:t>
            </a:r>
            <a:r>
              <a:rPr sz="1400" dirty="0">
                <a:latin typeface="Arial"/>
                <a:cs typeface="Arial"/>
              </a:rPr>
              <a:t>used</a:t>
            </a:r>
            <a:r>
              <a:rPr sz="1400" spc="-40" dirty="0">
                <a:latin typeface="Arial"/>
                <a:cs typeface="Arial"/>
              </a:rPr>
              <a:t> </a:t>
            </a:r>
            <a:r>
              <a:rPr sz="1400" dirty="0">
                <a:latin typeface="Arial"/>
                <a:cs typeface="Arial"/>
              </a:rPr>
              <a:t>as</a:t>
            </a:r>
            <a:r>
              <a:rPr sz="1400" spc="-20" dirty="0">
                <a:latin typeface="Arial"/>
                <a:cs typeface="Arial"/>
              </a:rPr>
              <a:t> </a:t>
            </a:r>
            <a:r>
              <a:rPr sz="1400" spc="-25" dirty="0">
                <a:latin typeface="Arial"/>
                <a:cs typeface="Arial"/>
              </a:rPr>
              <a:t>Δf</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50" dirty="0">
                <a:latin typeface="Arial"/>
                <a:cs typeface="Arial"/>
              </a:rPr>
              <a:t> </a:t>
            </a:r>
            <a:r>
              <a:rPr sz="1400" dirty="0">
                <a:latin typeface="Arial"/>
                <a:cs typeface="Arial"/>
              </a:rPr>
              <a:t>For</a:t>
            </a:r>
            <a:r>
              <a:rPr sz="1400" spc="-30"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radio</a:t>
            </a:r>
            <a:r>
              <a:rPr sz="1400" spc="-35" dirty="0">
                <a:latin typeface="Arial"/>
                <a:cs typeface="Arial"/>
              </a:rPr>
              <a:t> </a:t>
            </a:r>
            <a:r>
              <a:rPr sz="1400" dirty="0">
                <a:latin typeface="Arial"/>
                <a:cs typeface="Arial"/>
              </a:rPr>
              <a:t>signal</a:t>
            </a:r>
            <a:r>
              <a:rPr sz="1400" spc="-40" dirty="0">
                <a:latin typeface="Arial"/>
                <a:cs typeface="Arial"/>
              </a:rPr>
              <a:t> </a:t>
            </a:r>
            <a:r>
              <a:rPr sz="1400" dirty="0">
                <a:latin typeface="Arial"/>
                <a:cs typeface="Arial"/>
              </a:rPr>
              <a:t>modulated</a:t>
            </a:r>
            <a:r>
              <a:rPr sz="1400" spc="-55" dirty="0">
                <a:latin typeface="Arial"/>
                <a:cs typeface="Arial"/>
              </a:rPr>
              <a:t> </a:t>
            </a:r>
            <a:r>
              <a:rPr sz="1400" dirty="0">
                <a:latin typeface="Arial"/>
                <a:cs typeface="Arial"/>
              </a:rPr>
              <a:t>over</a:t>
            </a:r>
            <a:r>
              <a:rPr sz="1400" spc="-20"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frequency</a:t>
            </a:r>
            <a:r>
              <a:rPr sz="1400" spc="-50" dirty="0">
                <a:latin typeface="Arial"/>
                <a:cs typeface="Arial"/>
              </a:rPr>
              <a:t> </a:t>
            </a:r>
            <a:r>
              <a:rPr sz="1400" dirty="0">
                <a:latin typeface="Arial"/>
                <a:cs typeface="Arial"/>
              </a:rPr>
              <a:t>range</a:t>
            </a:r>
            <a:r>
              <a:rPr sz="1400" spc="-4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10</a:t>
            </a:r>
            <a:r>
              <a:rPr sz="1400" spc="-25" dirty="0">
                <a:latin typeface="Arial"/>
                <a:cs typeface="Arial"/>
              </a:rPr>
              <a:t> </a:t>
            </a:r>
            <a:r>
              <a:rPr sz="1400" dirty="0">
                <a:latin typeface="Arial"/>
                <a:cs typeface="Arial"/>
              </a:rPr>
              <a:t>kHz,</a:t>
            </a:r>
            <a:r>
              <a:rPr sz="1400" spc="-35"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signal</a:t>
            </a:r>
            <a:r>
              <a:rPr sz="1400" spc="-30"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is</a:t>
            </a:r>
            <a:r>
              <a:rPr sz="1400" spc="-10" dirty="0">
                <a:latin typeface="Arial"/>
                <a:cs typeface="Arial"/>
              </a:rPr>
              <a:t> Δf=10</a:t>
            </a:r>
            <a:r>
              <a:rPr sz="1400" spc="-114" dirty="0">
                <a:latin typeface="Arial"/>
                <a:cs typeface="Arial"/>
              </a:rPr>
              <a:t> </a:t>
            </a:r>
            <a:r>
              <a:rPr sz="1400" spc="-25" dirty="0">
                <a:latin typeface="Arial"/>
                <a:cs typeface="Arial"/>
              </a:rPr>
              <a:t>kHz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dirty="0">
                <a:latin typeface="Arial"/>
                <a:cs typeface="Arial"/>
              </a:rPr>
              <a:t>Amplifier</a:t>
            </a:r>
            <a:r>
              <a:rPr sz="1400" b="1" spc="-70" dirty="0">
                <a:latin typeface="Arial"/>
                <a:cs typeface="Arial"/>
              </a:rPr>
              <a:t> </a:t>
            </a:r>
            <a:r>
              <a:rPr sz="1400" b="1" spc="-10" dirty="0">
                <a:latin typeface="Arial"/>
                <a:cs typeface="Arial"/>
              </a:rPr>
              <a:t>Bandwidth</a:t>
            </a:r>
            <a:endParaRPr sz="1400" dirty="0">
              <a:latin typeface="Arial"/>
              <a:cs typeface="Arial"/>
            </a:endParaRPr>
          </a:p>
          <a:p>
            <a:pPr marL="12700" marR="236220" indent="-7620">
              <a:lnSpc>
                <a:spcPct val="100000"/>
              </a:lnSpc>
              <a:buSzPct val="92857"/>
              <a:buChar char="•"/>
              <a:tabLst>
                <a:tab pos="74930" algn="l"/>
              </a:tabLst>
            </a:pPr>
            <a:r>
              <a:rPr sz="1400" dirty="0">
                <a:latin typeface="Arial"/>
                <a:cs typeface="Arial"/>
              </a:rPr>
              <a:t>	In</a:t>
            </a:r>
            <a:r>
              <a:rPr sz="1400" spc="-35" dirty="0">
                <a:latin typeface="Arial"/>
                <a:cs typeface="Arial"/>
              </a:rPr>
              <a:t> </a:t>
            </a:r>
            <a:r>
              <a:rPr sz="1400" dirty="0">
                <a:latin typeface="Arial"/>
                <a:cs typeface="Arial"/>
              </a:rPr>
              <a:t>systems</a:t>
            </a:r>
            <a:r>
              <a:rPr sz="1400" spc="-30" dirty="0">
                <a:latin typeface="Arial"/>
                <a:cs typeface="Arial"/>
              </a:rPr>
              <a:t> </a:t>
            </a:r>
            <a:r>
              <a:rPr sz="1400" dirty="0">
                <a:latin typeface="Arial"/>
                <a:cs typeface="Arial"/>
              </a:rPr>
              <a:t>where</a:t>
            </a:r>
            <a:r>
              <a:rPr sz="1400" spc="-35" dirty="0">
                <a:latin typeface="Arial"/>
                <a:cs typeface="Arial"/>
              </a:rPr>
              <a:t> </a:t>
            </a:r>
            <a:r>
              <a:rPr sz="1400" dirty="0">
                <a:latin typeface="Arial"/>
                <a:cs typeface="Arial"/>
              </a:rPr>
              <a:t>an</a:t>
            </a:r>
            <a:r>
              <a:rPr sz="1400" spc="-25" dirty="0">
                <a:latin typeface="Arial"/>
                <a:cs typeface="Arial"/>
              </a:rPr>
              <a:t> </a:t>
            </a:r>
            <a:r>
              <a:rPr sz="1400" b="1" dirty="0">
                <a:latin typeface="Arial"/>
                <a:cs typeface="Arial"/>
              </a:rPr>
              <a:t>amplifier</a:t>
            </a:r>
            <a:r>
              <a:rPr sz="1400" b="1" spc="-45" dirty="0">
                <a:latin typeface="Arial"/>
                <a:cs typeface="Arial"/>
              </a:rPr>
              <a:t> </a:t>
            </a:r>
            <a:r>
              <a:rPr sz="1400" dirty="0">
                <a:latin typeface="Arial"/>
                <a:cs typeface="Arial"/>
              </a:rPr>
              <a:t>(e.g.,</a:t>
            </a:r>
            <a:r>
              <a:rPr sz="1400" spc="-55" dirty="0">
                <a:latin typeface="Arial"/>
                <a:cs typeface="Arial"/>
              </a:rPr>
              <a:t> </a:t>
            </a:r>
            <a:r>
              <a:rPr sz="1400" dirty="0">
                <a:latin typeface="Arial"/>
                <a:cs typeface="Arial"/>
              </a:rPr>
              <a:t>a</a:t>
            </a:r>
            <a:r>
              <a:rPr sz="1400" spc="-35" dirty="0">
                <a:latin typeface="Arial"/>
                <a:cs typeface="Arial"/>
              </a:rPr>
              <a:t> </a:t>
            </a:r>
            <a:r>
              <a:rPr sz="1400" dirty="0">
                <a:latin typeface="Arial"/>
                <a:cs typeface="Arial"/>
              </a:rPr>
              <a:t>TIA,</a:t>
            </a:r>
            <a:r>
              <a:rPr sz="1400" spc="-30" dirty="0">
                <a:latin typeface="Arial"/>
                <a:cs typeface="Arial"/>
              </a:rPr>
              <a:t> </a:t>
            </a:r>
            <a:r>
              <a:rPr sz="1400" dirty="0">
                <a:latin typeface="Arial"/>
                <a:cs typeface="Arial"/>
              </a:rPr>
              <a:t>voltage</a:t>
            </a:r>
            <a:r>
              <a:rPr sz="1400" spc="-25" dirty="0">
                <a:latin typeface="Arial"/>
                <a:cs typeface="Arial"/>
              </a:rPr>
              <a:t> </a:t>
            </a:r>
            <a:r>
              <a:rPr sz="1400" dirty="0">
                <a:latin typeface="Arial"/>
                <a:cs typeface="Arial"/>
              </a:rPr>
              <a:t>amplifier,</a:t>
            </a:r>
            <a:r>
              <a:rPr sz="1400" spc="-50" dirty="0">
                <a:latin typeface="Arial"/>
                <a:cs typeface="Arial"/>
              </a:rPr>
              <a:t> </a:t>
            </a:r>
            <a:r>
              <a:rPr sz="1400" dirty="0">
                <a:latin typeface="Arial"/>
                <a:cs typeface="Arial"/>
              </a:rPr>
              <a:t>or</a:t>
            </a:r>
            <a:r>
              <a:rPr sz="1400" spc="-35" dirty="0">
                <a:latin typeface="Arial"/>
                <a:cs typeface="Arial"/>
              </a:rPr>
              <a:t> </a:t>
            </a:r>
            <a:r>
              <a:rPr sz="1400" dirty="0">
                <a:latin typeface="Arial"/>
                <a:cs typeface="Arial"/>
              </a:rPr>
              <a:t>operational</a:t>
            </a:r>
            <a:r>
              <a:rPr sz="1400" spc="-60" dirty="0">
                <a:latin typeface="Arial"/>
                <a:cs typeface="Arial"/>
              </a:rPr>
              <a:t> </a:t>
            </a:r>
            <a:r>
              <a:rPr sz="1400" dirty="0">
                <a:latin typeface="Arial"/>
                <a:cs typeface="Arial"/>
              </a:rPr>
              <a:t>amplifier)</a:t>
            </a:r>
            <a:r>
              <a:rPr sz="1400" spc="-45"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present,</a:t>
            </a:r>
            <a:r>
              <a:rPr sz="1400" spc="-5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bandwidth</a:t>
            </a:r>
            <a:r>
              <a:rPr sz="1400" spc="-35" dirty="0">
                <a:latin typeface="Arial"/>
                <a:cs typeface="Arial"/>
              </a:rPr>
              <a:t> </a:t>
            </a:r>
            <a:r>
              <a:rPr sz="1400" dirty="0">
                <a:latin typeface="Arial"/>
                <a:cs typeface="Arial"/>
              </a:rPr>
              <a:t>of</a:t>
            </a:r>
            <a:r>
              <a:rPr sz="1400" spc="-30" dirty="0">
                <a:latin typeface="Arial"/>
                <a:cs typeface="Arial"/>
              </a:rPr>
              <a:t> </a:t>
            </a:r>
            <a:r>
              <a:rPr sz="1400" dirty="0">
                <a:latin typeface="Arial"/>
                <a:cs typeface="Arial"/>
              </a:rPr>
              <a:t>the</a:t>
            </a:r>
            <a:r>
              <a:rPr sz="1400" spc="-35" dirty="0">
                <a:latin typeface="Arial"/>
                <a:cs typeface="Arial"/>
              </a:rPr>
              <a:t> </a:t>
            </a:r>
            <a:r>
              <a:rPr sz="1400" dirty="0">
                <a:latin typeface="Arial"/>
                <a:cs typeface="Arial"/>
              </a:rPr>
              <a:t>amplifier</a:t>
            </a:r>
            <a:r>
              <a:rPr sz="1400" spc="-40" dirty="0">
                <a:latin typeface="Arial"/>
                <a:cs typeface="Arial"/>
              </a:rPr>
              <a:t> </a:t>
            </a:r>
            <a:r>
              <a:rPr sz="1400" dirty="0">
                <a:latin typeface="Arial"/>
                <a:cs typeface="Arial"/>
              </a:rPr>
              <a:t>limits</a:t>
            </a:r>
            <a:r>
              <a:rPr sz="1400" spc="-30"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range</a:t>
            </a:r>
            <a:r>
              <a:rPr sz="1400" spc="-45" dirty="0">
                <a:latin typeface="Arial"/>
                <a:cs typeface="Arial"/>
              </a:rPr>
              <a:t> </a:t>
            </a:r>
            <a:r>
              <a:rPr sz="1400" spc="-25" dirty="0">
                <a:latin typeface="Arial"/>
                <a:cs typeface="Arial"/>
              </a:rPr>
              <a:t>of </a:t>
            </a:r>
            <a:r>
              <a:rPr sz="1400" dirty="0">
                <a:latin typeface="Arial"/>
                <a:cs typeface="Arial"/>
              </a:rPr>
              <a:t>frequencies</a:t>
            </a:r>
            <a:r>
              <a:rPr sz="1400" spc="-65" dirty="0">
                <a:latin typeface="Arial"/>
                <a:cs typeface="Arial"/>
              </a:rPr>
              <a:t> </a:t>
            </a:r>
            <a:r>
              <a:rPr sz="1400" dirty="0">
                <a:latin typeface="Arial"/>
                <a:cs typeface="Arial"/>
              </a:rPr>
              <a:t>over</a:t>
            </a:r>
            <a:r>
              <a:rPr sz="1400" spc="-15" dirty="0">
                <a:latin typeface="Arial"/>
                <a:cs typeface="Arial"/>
              </a:rPr>
              <a:t> </a:t>
            </a:r>
            <a:r>
              <a:rPr sz="1400" dirty="0">
                <a:latin typeface="Arial"/>
                <a:cs typeface="Arial"/>
              </a:rPr>
              <a:t>which</a:t>
            </a:r>
            <a:r>
              <a:rPr sz="1400" spc="-25" dirty="0">
                <a:latin typeface="Arial"/>
                <a:cs typeface="Arial"/>
              </a:rPr>
              <a:t> </a:t>
            </a:r>
            <a:r>
              <a:rPr sz="1400" dirty="0">
                <a:latin typeface="Arial"/>
                <a:cs typeface="Arial"/>
              </a:rPr>
              <a:t>noise</a:t>
            </a:r>
            <a:r>
              <a:rPr sz="1400" spc="-50" dirty="0">
                <a:latin typeface="Arial"/>
                <a:cs typeface="Arial"/>
              </a:rPr>
              <a:t> </a:t>
            </a:r>
            <a:r>
              <a:rPr sz="1400" dirty="0">
                <a:latin typeface="Arial"/>
                <a:cs typeface="Arial"/>
              </a:rPr>
              <a:t>can</a:t>
            </a:r>
            <a:r>
              <a:rPr sz="1400" spc="-35" dirty="0">
                <a:latin typeface="Arial"/>
                <a:cs typeface="Arial"/>
              </a:rPr>
              <a:t> </a:t>
            </a:r>
            <a:r>
              <a:rPr sz="1400" dirty="0">
                <a:latin typeface="Arial"/>
                <a:cs typeface="Arial"/>
              </a:rPr>
              <a:t>be</a:t>
            </a:r>
            <a:r>
              <a:rPr sz="1400" spc="-25" dirty="0">
                <a:latin typeface="Arial"/>
                <a:cs typeface="Arial"/>
              </a:rPr>
              <a:t> </a:t>
            </a:r>
            <a:r>
              <a:rPr sz="1400" spc="-10" dirty="0">
                <a:latin typeface="Arial"/>
                <a:cs typeface="Arial"/>
              </a:rPr>
              <a:t>amplified.</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The</a:t>
            </a:r>
            <a:r>
              <a:rPr sz="1400" spc="-35" dirty="0">
                <a:latin typeface="Arial"/>
                <a:cs typeface="Arial"/>
              </a:rPr>
              <a:t> </a:t>
            </a:r>
            <a:r>
              <a:rPr sz="1400" dirty="0">
                <a:latin typeface="Arial"/>
                <a:cs typeface="Arial"/>
              </a:rPr>
              <a:t>amplifier</a:t>
            </a:r>
            <a:r>
              <a:rPr sz="1400" spc="-40"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typically</a:t>
            </a:r>
            <a:r>
              <a:rPr sz="1400" spc="-25" dirty="0">
                <a:latin typeface="Arial"/>
                <a:cs typeface="Arial"/>
              </a:rPr>
              <a:t> </a:t>
            </a:r>
            <a:r>
              <a:rPr sz="1400" dirty="0">
                <a:latin typeface="Arial"/>
                <a:cs typeface="Arial"/>
              </a:rPr>
              <a:t>specified</a:t>
            </a:r>
            <a:r>
              <a:rPr sz="1400" spc="-55" dirty="0">
                <a:latin typeface="Arial"/>
                <a:cs typeface="Arial"/>
              </a:rPr>
              <a:t> </a:t>
            </a:r>
            <a:r>
              <a:rPr sz="1400" dirty="0">
                <a:latin typeface="Arial"/>
                <a:cs typeface="Arial"/>
              </a:rPr>
              <a:t>as</a:t>
            </a:r>
            <a:r>
              <a:rPr sz="1400" spc="-30" dirty="0">
                <a:latin typeface="Arial"/>
                <a:cs typeface="Arial"/>
              </a:rPr>
              <a:t> </a:t>
            </a:r>
            <a:r>
              <a:rPr sz="1400" dirty="0">
                <a:latin typeface="Arial"/>
                <a:cs typeface="Arial"/>
              </a:rPr>
              <a:t>the</a:t>
            </a:r>
            <a:r>
              <a:rPr sz="1400" spc="-40" dirty="0">
                <a:latin typeface="Arial"/>
                <a:cs typeface="Arial"/>
              </a:rPr>
              <a:t> </a:t>
            </a:r>
            <a:r>
              <a:rPr sz="1400" b="1" dirty="0">
                <a:latin typeface="Arial"/>
                <a:cs typeface="Arial"/>
              </a:rPr>
              <a:t>-3</a:t>
            </a:r>
            <a:r>
              <a:rPr sz="1400" b="1" spc="-25" dirty="0">
                <a:latin typeface="Arial"/>
                <a:cs typeface="Arial"/>
              </a:rPr>
              <a:t> </a:t>
            </a:r>
            <a:r>
              <a:rPr sz="1400" b="1" dirty="0">
                <a:latin typeface="Arial"/>
                <a:cs typeface="Arial"/>
              </a:rPr>
              <a:t>dB</a:t>
            </a:r>
            <a:r>
              <a:rPr sz="1400" b="1" spc="-25" dirty="0">
                <a:latin typeface="Arial"/>
                <a:cs typeface="Arial"/>
              </a:rPr>
              <a:t> </a:t>
            </a:r>
            <a:r>
              <a:rPr sz="1400" b="1" dirty="0">
                <a:latin typeface="Arial"/>
                <a:cs typeface="Arial"/>
              </a:rPr>
              <a:t>bandwidth</a:t>
            </a:r>
            <a:r>
              <a:rPr sz="1400" dirty="0">
                <a:latin typeface="Arial"/>
                <a:cs typeface="Arial"/>
              </a:rPr>
              <a:t>,</a:t>
            </a:r>
            <a:r>
              <a:rPr sz="1400" spc="-60" dirty="0">
                <a:latin typeface="Arial"/>
                <a:cs typeface="Arial"/>
              </a:rPr>
              <a:t> </a:t>
            </a:r>
            <a:r>
              <a:rPr sz="1400" dirty="0">
                <a:latin typeface="Arial"/>
                <a:cs typeface="Arial"/>
              </a:rPr>
              <a:t>is</a:t>
            </a:r>
            <a:r>
              <a:rPr sz="1400" spc="-15" dirty="0">
                <a:latin typeface="Arial"/>
                <a:cs typeface="Arial"/>
              </a:rPr>
              <a:t> </a:t>
            </a:r>
            <a:r>
              <a:rPr sz="1400" dirty="0">
                <a:latin typeface="Arial"/>
                <a:cs typeface="Arial"/>
              </a:rPr>
              <a:t>often</a:t>
            </a:r>
            <a:r>
              <a:rPr sz="1400" spc="-55" dirty="0">
                <a:latin typeface="Arial"/>
                <a:cs typeface="Arial"/>
              </a:rPr>
              <a:t> </a:t>
            </a:r>
            <a:r>
              <a:rPr sz="1400" dirty="0">
                <a:latin typeface="Arial"/>
                <a:cs typeface="Arial"/>
              </a:rPr>
              <a:t>used</a:t>
            </a:r>
            <a:r>
              <a:rPr sz="1400" spc="-30" dirty="0">
                <a:latin typeface="Arial"/>
                <a:cs typeface="Arial"/>
              </a:rPr>
              <a:t> </a:t>
            </a:r>
            <a:r>
              <a:rPr sz="1400" dirty="0">
                <a:latin typeface="Arial"/>
                <a:cs typeface="Arial"/>
              </a:rPr>
              <a:t>as</a:t>
            </a:r>
            <a:r>
              <a:rPr sz="1400" spc="-30" dirty="0">
                <a:latin typeface="Arial"/>
                <a:cs typeface="Arial"/>
              </a:rPr>
              <a:t> </a:t>
            </a:r>
            <a:r>
              <a:rPr sz="1400" dirty="0">
                <a:latin typeface="Arial"/>
                <a:cs typeface="Arial"/>
              </a:rPr>
              <a:t>Δf</a:t>
            </a:r>
            <a:r>
              <a:rPr sz="1400" spc="-10" dirty="0">
                <a:latin typeface="Arial"/>
                <a:cs typeface="Arial"/>
              </a:rPr>
              <a:t> </a:t>
            </a:r>
            <a:r>
              <a:rPr sz="1400" dirty="0">
                <a:latin typeface="Arial"/>
                <a:cs typeface="Arial"/>
              </a:rPr>
              <a:t>in</a:t>
            </a:r>
            <a:r>
              <a:rPr sz="1400" spc="-25" dirty="0">
                <a:latin typeface="Arial"/>
                <a:cs typeface="Arial"/>
              </a:rPr>
              <a:t> </a:t>
            </a:r>
            <a:r>
              <a:rPr sz="1400" dirty="0">
                <a:latin typeface="Arial"/>
                <a:cs typeface="Arial"/>
              </a:rPr>
              <a:t>noise</a:t>
            </a:r>
            <a:r>
              <a:rPr sz="1400" spc="-40" dirty="0">
                <a:latin typeface="Arial"/>
                <a:cs typeface="Arial"/>
              </a:rPr>
              <a:t> </a:t>
            </a:r>
            <a:r>
              <a:rPr sz="1400" spc="-10" dirty="0">
                <a:latin typeface="Arial"/>
                <a:cs typeface="Arial"/>
              </a:rPr>
              <a:t>calculations.</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35" dirty="0">
                <a:latin typeface="Arial"/>
                <a:cs typeface="Arial"/>
              </a:rPr>
              <a:t> </a:t>
            </a:r>
            <a:r>
              <a:rPr sz="1400" dirty="0">
                <a:latin typeface="Arial"/>
                <a:cs typeface="Arial"/>
              </a:rPr>
              <a:t>If</a:t>
            </a:r>
            <a:r>
              <a:rPr sz="1400" spc="-20" dirty="0">
                <a:latin typeface="Arial"/>
                <a:cs typeface="Arial"/>
              </a:rPr>
              <a:t> </a:t>
            </a:r>
            <a:r>
              <a:rPr sz="1400" dirty="0">
                <a:latin typeface="Arial"/>
                <a:cs typeface="Arial"/>
              </a:rPr>
              <a:t>a</a:t>
            </a:r>
            <a:r>
              <a:rPr sz="1400" spc="-25" dirty="0">
                <a:latin typeface="Arial"/>
                <a:cs typeface="Arial"/>
              </a:rPr>
              <a:t> </a:t>
            </a:r>
            <a:r>
              <a:rPr sz="1400" spc="-10" dirty="0">
                <a:latin typeface="Arial"/>
                <a:cs typeface="Arial"/>
              </a:rPr>
              <a:t>transimpedance</a:t>
            </a:r>
            <a:r>
              <a:rPr sz="1400" spc="-45" dirty="0">
                <a:latin typeface="Arial"/>
                <a:cs typeface="Arial"/>
              </a:rPr>
              <a:t> </a:t>
            </a:r>
            <a:r>
              <a:rPr sz="1400" dirty="0">
                <a:latin typeface="Arial"/>
                <a:cs typeface="Arial"/>
              </a:rPr>
              <a:t>amplifier</a:t>
            </a:r>
            <a:r>
              <a:rPr sz="1400" spc="-35" dirty="0">
                <a:latin typeface="Arial"/>
                <a:cs typeface="Arial"/>
              </a:rPr>
              <a:t> </a:t>
            </a:r>
            <a:r>
              <a:rPr sz="1400" dirty="0">
                <a:latin typeface="Arial"/>
                <a:cs typeface="Arial"/>
              </a:rPr>
              <a:t>(TIA)</a:t>
            </a:r>
            <a:r>
              <a:rPr sz="1400" spc="-35" dirty="0">
                <a:latin typeface="Arial"/>
                <a:cs typeface="Arial"/>
              </a:rPr>
              <a:t> </a:t>
            </a:r>
            <a:r>
              <a:rPr sz="1400" dirty="0">
                <a:latin typeface="Arial"/>
                <a:cs typeface="Arial"/>
              </a:rPr>
              <a:t>has</a:t>
            </a:r>
            <a:r>
              <a:rPr sz="1400" spc="-20" dirty="0">
                <a:latin typeface="Arial"/>
                <a:cs typeface="Arial"/>
              </a:rPr>
              <a:t> </a:t>
            </a:r>
            <a:r>
              <a:rPr sz="1400" dirty="0">
                <a:latin typeface="Arial"/>
                <a:cs typeface="Arial"/>
              </a:rPr>
              <a:t>a</a:t>
            </a:r>
            <a:r>
              <a:rPr sz="1400" spc="-10" dirty="0">
                <a:latin typeface="Arial"/>
                <a:cs typeface="Arial"/>
              </a:rPr>
              <a:t> </a:t>
            </a:r>
            <a:r>
              <a:rPr sz="1400" dirty="0">
                <a:latin typeface="Arial"/>
                <a:cs typeface="Arial"/>
              </a:rPr>
              <a:t>-3</a:t>
            </a:r>
            <a:r>
              <a:rPr sz="1400" spc="-20" dirty="0">
                <a:latin typeface="Arial"/>
                <a:cs typeface="Arial"/>
              </a:rPr>
              <a:t> </a:t>
            </a:r>
            <a:r>
              <a:rPr sz="1400" dirty="0">
                <a:latin typeface="Arial"/>
                <a:cs typeface="Arial"/>
              </a:rPr>
              <a:t>dB</a:t>
            </a:r>
            <a:r>
              <a:rPr sz="1400" spc="-15" dirty="0">
                <a:latin typeface="Arial"/>
                <a:cs typeface="Arial"/>
              </a:rPr>
              <a:t> </a:t>
            </a:r>
            <a:r>
              <a:rPr sz="1400" dirty="0">
                <a:latin typeface="Arial"/>
                <a:cs typeface="Arial"/>
              </a:rPr>
              <a:t>bandwidth</a:t>
            </a:r>
            <a:r>
              <a:rPr sz="1400" spc="-25" dirty="0">
                <a:latin typeface="Arial"/>
                <a:cs typeface="Arial"/>
              </a:rPr>
              <a:t> </a:t>
            </a:r>
            <a:r>
              <a:rPr sz="1400" dirty="0">
                <a:latin typeface="Arial"/>
                <a:cs typeface="Arial"/>
              </a:rPr>
              <a:t>of</a:t>
            </a:r>
            <a:r>
              <a:rPr sz="1400" spc="-20" dirty="0">
                <a:latin typeface="Arial"/>
                <a:cs typeface="Arial"/>
              </a:rPr>
              <a:t> </a:t>
            </a:r>
            <a:r>
              <a:rPr sz="1400" dirty="0">
                <a:latin typeface="Arial"/>
                <a:cs typeface="Arial"/>
              </a:rPr>
              <a:t>1</a:t>
            </a:r>
            <a:r>
              <a:rPr sz="1400" spc="-15" dirty="0">
                <a:latin typeface="Arial"/>
                <a:cs typeface="Arial"/>
              </a:rPr>
              <a:t> </a:t>
            </a:r>
            <a:r>
              <a:rPr sz="1400" dirty="0">
                <a:latin typeface="Arial"/>
                <a:cs typeface="Arial"/>
              </a:rPr>
              <a:t>MHz,</a:t>
            </a:r>
            <a:r>
              <a:rPr sz="1400" spc="-20" dirty="0">
                <a:latin typeface="Arial"/>
                <a:cs typeface="Arial"/>
              </a:rPr>
              <a:t> </a:t>
            </a:r>
            <a:r>
              <a:rPr sz="1400" dirty="0">
                <a:latin typeface="Arial"/>
                <a:cs typeface="Arial"/>
              </a:rPr>
              <a:t>the</a:t>
            </a:r>
            <a:r>
              <a:rPr sz="1400" spc="-2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calculation</a:t>
            </a:r>
            <a:r>
              <a:rPr sz="1400" spc="-50" dirty="0">
                <a:latin typeface="Arial"/>
                <a:cs typeface="Arial"/>
              </a:rPr>
              <a:t> </a:t>
            </a:r>
            <a:r>
              <a:rPr sz="1400" dirty="0">
                <a:latin typeface="Arial"/>
                <a:cs typeface="Arial"/>
              </a:rPr>
              <a:t>should</a:t>
            </a:r>
            <a:r>
              <a:rPr sz="1400" spc="-35" dirty="0">
                <a:latin typeface="Arial"/>
                <a:cs typeface="Arial"/>
              </a:rPr>
              <a:t> </a:t>
            </a:r>
            <a:r>
              <a:rPr sz="1400" dirty="0">
                <a:latin typeface="Arial"/>
                <a:cs typeface="Arial"/>
              </a:rPr>
              <a:t>use</a:t>
            </a:r>
            <a:r>
              <a:rPr sz="1400" spc="-35" dirty="0">
                <a:latin typeface="Arial"/>
                <a:cs typeface="Arial"/>
              </a:rPr>
              <a:t> </a:t>
            </a:r>
            <a:r>
              <a:rPr sz="1400" spc="-10" dirty="0">
                <a:latin typeface="Arial"/>
                <a:cs typeface="Arial"/>
              </a:rPr>
              <a:t>Δf=1</a:t>
            </a:r>
            <a:r>
              <a:rPr sz="1400" spc="-114" dirty="0">
                <a:latin typeface="Arial"/>
                <a:cs typeface="Arial"/>
              </a:rPr>
              <a:t> </a:t>
            </a:r>
            <a:r>
              <a:rPr sz="1400" spc="-25" dirty="0">
                <a:latin typeface="Arial"/>
                <a:cs typeface="Arial"/>
              </a:rPr>
              <a:t>MHz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dirty="0">
                <a:latin typeface="Arial"/>
                <a:cs typeface="Arial"/>
              </a:rPr>
              <a:t>Filter</a:t>
            </a:r>
            <a:r>
              <a:rPr sz="1400" b="1" spc="-40" dirty="0">
                <a:latin typeface="Arial"/>
                <a:cs typeface="Arial"/>
              </a:rPr>
              <a:t> </a:t>
            </a:r>
            <a:r>
              <a:rPr sz="1400" b="1" spc="-10" dirty="0">
                <a:latin typeface="Arial"/>
                <a:cs typeface="Arial"/>
              </a:rPr>
              <a:t>Bandwidth</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If</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signal</a:t>
            </a:r>
            <a:r>
              <a:rPr sz="1400" spc="-40" dirty="0">
                <a:latin typeface="Arial"/>
                <a:cs typeface="Arial"/>
              </a:rPr>
              <a:t> </a:t>
            </a:r>
            <a:r>
              <a:rPr sz="1400" dirty="0">
                <a:latin typeface="Arial"/>
                <a:cs typeface="Arial"/>
              </a:rPr>
              <a:t>passes</a:t>
            </a:r>
            <a:r>
              <a:rPr sz="1400" spc="-40" dirty="0">
                <a:latin typeface="Arial"/>
                <a:cs typeface="Arial"/>
              </a:rPr>
              <a:t> </a:t>
            </a:r>
            <a:r>
              <a:rPr sz="1400" dirty="0">
                <a:latin typeface="Arial"/>
                <a:cs typeface="Arial"/>
              </a:rPr>
              <a:t>through</a:t>
            </a:r>
            <a:r>
              <a:rPr sz="1400" spc="-55" dirty="0">
                <a:latin typeface="Arial"/>
                <a:cs typeface="Arial"/>
              </a:rPr>
              <a:t> </a:t>
            </a:r>
            <a:r>
              <a:rPr sz="1400" dirty="0">
                <a:latin typeface="Arial"/>
                <a:cs typeface="Arial"/>
              </a:rPr>
              <a:t>an</a:t>
            </a:r>
            <a:r>
              <a:rPr sz="1400" spc="-15" dirty="0">
                <a:latin typeface="Arial"/>
                <a:cs typeface="Arial"/>
              </a:rPr>
              <a:t> </a:t>
            </a:r>
            <a:r>
              <a:rPr sz="1400" b="1" dirty="0">
                <a:latin typeface="Arial"/>
                <a:cs typeface="Arial"/>
              </a:rPr>
              <a:t>electronic</a:t>
            </a:r>
            <a:r>
              <a:rPr sz="1400" b="1" spc="-55" dirty="0">
                <a:latin typeface="Arial"/>
                <a:cs typeface="Arial"/>
              </a:rPr>
              <a:t> </a:t>
            </a:r>
            <a:r>
              <a:rPr sz="1400" b="1" dirty="0">
                <a:latin typeface="Arial"/>
                <a:cs typeface="Arial"/>
              </a:rPr>
              <a:t>filter</a:t>
            </a:r>
            <a:r>
              <a:rPr sz="1400" dirty="0">
                <a:latin typeface="Arial"/>
                <a:cs typeface="Arial"/>
              </a:rPr>
              <a:t>,</a:t>
            </a:r>
            <a:r>
              <a:rPr sz="1400" spc="-50"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bandwidth</a:t>
            </a:r>
            <a:r>
              <a:rPr sz="1400" spc="-3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that</a:t>
            </a:r>
            <a:r>
              <a:rPr sz="1400" spc="-35" dirty="0">
                <a:latin typeface="Arial"/>
                <a:cs typeface="Arial"/>
              </a:rPr>
              <a:t> </a:t>
            </a:r>
            <a:r>
              <a:rPr sz="1400" dirty="0">
                <a:latin typeface="Arial"/>
                <a:cs typeface="Arial"/>
              </a:rPr>
              <a:t>filter</a:t>
            </a:r>
            <a:r>
              <a:rPr sz="1400" spc="-40" dirty="0">
                <a:latin typeface="Arial"/>
                <a:cs typeface="Arial"/>
              </a:rPr>
              <a:t> </a:t>
            </a:r>
            <a:r>
              <a:rPr sz="1400" dirty="0">
                <a:latin typeface="Arial"/>
                <a:cs typeface="Arial"/>
              </a:rPr>
              <a:t>determines</a:t>
            </a:r>
            <a:r>
              <a:rPr sz="1400" spc="-55" dirty="0">
                <a:latin typeface="Arial"/>
                <a:cs typeface="Arial"/>
              </a:rPr>
              <a:t> </a:t>
            </a:r>
            <a:r>
              <a:rPr sz="1400" spc="-25" dirty="0">
                <a:latin typeface="Arial"/>
                <a:cs typeface="Arial"/>
              </a:rPr>
              <a:t>Δf</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Filters</a:t>
            </a:r>
            <a:r>
              <a:rPr sz="1400" spc="-35" dirty="0">
                <a:latin typeface="Arial"/>
                <a:cs typeface="Arial"/>
              </a:rPr>
              <a:t> </a:t>
            </a:r>
            <a:r>
              <a:rPr sz="1400" dirty="0">
                <a:latin typeface="Arial"/>
                <a:cs typeface="Arial"/>
              </a:rPr>
              <a:t>are</a:t>
            </a:r>
            <a:r>
              <a:rPr sz="1400" spc="-30" dirty="0">
                <a:latin typeface="Arial"/>
                <a:cs typeface="Arial"/>
              </a:rPr>
              <a:t> </a:t>
            </a:r>
            <a:r>
              <a:rPr sz="1400" dirty="0">
                <a:latin typeface="Arial"/>
                <a:cs typeface="Arial"/>
              </a:rPr>
              <a:t>used</a:t>
            </a:r>
            <a:r>
              <a:rPr sz="1400" spc="-35"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limit</a:t>
            </a:r>
            <a:r>
              <a:rPr sz="1400" spc="-10" dirty="0">
                <a:latin typeface="Arial"/>
                <a:cs typeface="Arial"/>
              </a:rPr>
              <a:t> </a:t>
            </a:r>
            <a:r>
              <a:rPr sz="1400" dirty="0">
                <a:latin typeface="Arial"/>
                <a:cs typeface="Arial"/>
              </a:rPr>
              <a:t>noise</a:t>
            </a:r>
            <a:r>
              <a:rPr sz="1400" spc="-25" dirty="0">
                <a:latin typeface="Arial"/>
                <a:cs typeface="Arial"/>
              </a:rPr>
              <a:t> </a:t>
            </a:r>
            <a:r>
              <a:rPr sz="1400" dirty="0">
                <a:latin typeface="Arial"/>
                <a:cs typeface="Arial"/>
              </a:rPr>
              <a:t>contributions</a:t>
            </a:r>
            <a:r>
              <a:rPr sz="1400" spc="-60" dirty="0">
                <a:latin typeface="Arial"/>
                <a:cs typeface="Arial"/>
              </a:rPr>
              <a:t> </a:t>
            </a:r>
            <a:r>
              <a:rPr sz="1400" dirty="0">
                <a:latin typeface="Arial"/>
                <a:cs typeface="Arial"/>
              </a:rPr>
              <a:t>by</a:t>
            </a:r>
            <a:r>
              <a:rPr sz="1400" spc="-25" dirty="0">
                <a:latin typeface="Arial"/>
                <a:cs typeface="Arial"/>
              </a:rPr>
              <a:t> </a:t>
            </a:r>
            <a:r>
              <a:rPr sz="1400" dirty="0">
                <a:latin typeface="Arial"/>
                <a:cs typeface="Arial"/>
              </a:rPr>
              <a:t>restricting</a:t>
            </a:r>
            <a:r>
              <a:rPr sz="1400" spc="-5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frequency</a:t>
            </a:r>
            <a:r>
              <a:rPr sz="1400" spc="-55" dirty="0">
                <a:latin typeface="Arial"/>
                <a:cs typeface="Arial"/>
              </a:rPr>
              <a:t> </a:t>
            </a:r>
            <a:r>
              <a:rPr sz="1400" dirty="0">
                <a:latin typeface="Arial"/>
                <a:cs typeface="Arial"/>
              </a:rPr>
              <a:t>range</a:t>
            </a:r>
            <a:r>
              <a:rPr sz="1400" spc="-45" dirty="0">
                <a:latin typeface="Arial"/>
                <a:cs typeface="Arial"/>
              </a:rPr>
              <a:t> </a:t>
            </a:r>
            <a:r>
              <a:rPr sz="1400" dirty="0">
                <a:latin typeface="Arial"/>
                <a:cs typeface="Arial"/>
              </a:rPr>
              <a:t>that</a:t>
            </a:r>
            <a:r>
              <a:rPr sz="1400" spc="-25" dirty="0">
                <a:latin typeface="Arial"/>
                <a:cs typeface="Arial"/>
              </a:rPr>
              <a:t> </a:t>
            </a:r>
            <a:r>
              <a:rPr sz="1400" dirty="0">
                <a:latin typeface="Arial"/>
                <a:cs typeface="Arial"/>
              </a:rPr>
              <a:t>can</a:t>
            </a:r>
            <a:r>
              <a:rPr sz="1400" spc="-35" dirty="0">
                <a:latin typeface="Arial"/>
                <a:cs typeface="Arial"/>
              </a:rPr>
              <a:t> </a:t>
            </a:r>
            <a:r>
              <a:rPr sz="1400" dirty="0">
                <a:latin typeface="Arial"/>
                <a:cs typeface="Arial"/>
              </a:rPr>
              <a:t>pass</a:t>
            </a:r>
            <a:r>
              <a:rPr sz="1400" spc="-35" dirty="0">
                <a:latin typeface="Arial"/>
                <a:cs typeface="Arial"/>
              </a:rPr>
              <a:t> </a:t>
            </a:r>
            <a:r>
              <a:rPr sz="1400" spc="-10" dirty="0">
                <a:latin typeface="Arial"/>
                <a:cs typeface="Arial"/>
              </a:rPr>
              <a:t>through.</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40" dirty="0">
                <a:latin typeface="Arial"/>
                <a:cs typeface="Arial"/>
              </a:rPr>
              <a:t> </a:t>
            </a:r>
            <a:r>
              <a:rPr sz="1400" dirty="0">
                <a:latin typeface="Arial"/>
                <a:cs typeface="Arial"/>
              </a:rPr>
              <a:t>A</a:t>
            </a:r>
            <a:r>
              <a:rPr sz="1400" spc="-15" dirty="0">
                <a:latin typeface="Arial"/>
                <a:cs typeface="Arial"/>
              </a:rPr>
              <a:t> </a:t>
            </a:r>
            <a:r>
              <a:rPr sz="1400" spc="-10" dirty="0">
                <a:latin typeface="Arial"/>
                <a:cs typeface="Arial"/>
              </a:rPr>
              <a:t>low-</a:t>
            </a:r>
            <a:r>
              <a:rPr sz="1400" dirty="0">
                <a:latin typeface="Arial"/>
                <a:cs typeface="Arial"/>
              </a:rPr>
              <a:t>pass</a:t>
            </a:r>
            <a:r>
              <a:rPr sz="1400" spc="-20" dirty="0">
                <a:latin typeface="Arial"/>
                <a:cs typeface="Arial"/>
              </a:rPr>
              <a:t> </a:t>
            </a:r>
            <a:r>
              <a:rPr sz="1400" dirty="0">
                <a:latin typeface="Arial"/>
                <a:cs typeface="Arial"/>
              </a:rPr>
              <a:t>filter</a:t>
            </a:r>
            <a:r>
              <a:rPr sz="1400" spc="-40" dirty="0">
                <a:latin typeface="Arial"/>
                <a:cs typeface="Arial"/>
              </a:rPr>
              <a:t> </a:t>
            </a:r>
            <a:r>
              <a:rPr sz="1400" dirty="0">
                <a:latin typeface="Arial"/>
                <a:cs typeface="Arial"/>
              </a:rPr>
              <a:t>with</a:t>
            </a:r>
            <a:r>
              <a:rPr sz="1400" spc="-5" dirty="0">
                <a:latin typeface="Arial"/>
                <a:cs typeface="Arial"/>
              </a:rPr>
              <a:t> </a:t>
            </a:r>
            <a:r>
              <a:rPr sz="1400" dirty="0">
                <a:latin typeface="Arial"/>
                <a:cs typeface="Arial"/>
              </a:rPr>
              <a:t>a</a:t>
            </a:r>
            <a:r>
              <a:rPr sz="1400" spc="-25" dirty="0">
                <a:latin typeface="Arial"/>
                <a:cs typeface="Arial"/>
              </a:rPr>
              <a:t> </a:t>
            </a:r>
            <a:r>
              <a:rPr sz="1400" dirty="0">
                <a:latin typeface="Arial"/>
                <a:cs typeface="Arial"/>
              </a:rPr>
              <a:t>cutoff</a:t>
            </a:r>
            <a:r>
              <a:rPr sz="1400" spc="-50" dirty="0">
                <a:latin typeface="Arial"/>
                <a:cs typeface="Arial"/>
              </a:rPr>
              <a:t> </a:t>
            </a:r>
            <a:r>
              <a:rPr sz="1400" dirty="0">
                <a:latin typeface="Arial"/>
                <a:cs typeface="Arial"/>
              </a:rPr>
              <a:t>frequency</a:t>
            </a:r>
            <a:r>
              <a:rPr sz="1400" spc="-4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100</a:t>
            </a:r>
            <a:r>
              <a:rPr sz="1400" spc="-25" dirty="0">
                <a:latin typeface="Arial"/>
                <a:cs typeface="Arial"/>
              </a:rPr>
              <a:t> </a:t>
            </a:r>
            <a:r>
              <a:rPr sz="1400" dirty="0">
                <a:latin typeface="Arial"/>
                <a:cs typeface="Arial"/>
              </a:rPr>
              <a:t>kHz</a:t>
            </a:r>
            <a:r>
              <a:rPr sz="1400" spc="-25"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15" dirty="0">
                <a:latin typeface="Arial"/>
                <a:cs typeface="Arial"/>
              </a:rPr>
              <a:t> </a:t>
            </a:r>
            <a:r>
              <a:rPr sz="1400" dirty="0">
                <a:latin typeface="Arial"/>
                <a:cs typeface="Arial"/>
              </a:rPr>
              <a:t>bandwidth</a:t>
            </a:r>
            <a:r>
              <a:rPr sz="1400" spc="-40" dirty="0">
                <a:latin typeface="Arial"/>
                <a:cs typeface="Arial"/>
              </a:rPr>
              <a:t> </a:t>
            </a:r>
            <a:r>
              <a:rPr sz="1400" dirty="0">
                <a:latin typeface="Arial"/>
                <a:cs typeface="Arial"/>
              </a:rPr>
              <a:t>of </a:t>
            </a:r>
            <a:r>
              <a:rPr sz="1400" spc="-10" dirty="0">
                <a:latin typeface="Arial"/>
                <a:cs typeface="Arial"/>
              </a:rPr>
              <a:t>Δf=100</a:t>
            </a:r>
            <a:r>
              <a:rPr sz="1400" spc="-114" dirty="0">
                <a:latin typeface="Arial"/>
                <a:cs typeface="Arial"/>
              </a:rPr>
              <a:t> </a:t>
            </a:r>
            <a:r>
              <a:rPr sz="1400" spc="-25" dirty="0">
                <a:latin typeface="Arial"/>
                <a:cs typeface="Arial"/>
              </a:rPr>
              <a:t>kHz</a:t>
            </a:r>
            <a:endParaRPr sz="1400" dirty="0">
              <a:latin typeface="Arial"/>
              <a:cs typeface="Arial"/>
            </a:endParaRPr>
          </a:p>
          <a:p>
            <a:pPr>
              <a:lnSpc>
                <a:spcPct val="100000"/>
              </a:lnSpc>
              <a:spcBef>
                <a:spcPts val="65"/>
              </a:spcBef>
              <a:buFont typeface="Arial"/>
              <a:buChar char="•"/>
            </a:pPr>
            <a:endParaRPr sz="1400" dirty="0">
              <a:latin typeface="Arial"/>
              <a:cs typeface="Arial"/>
            </a:endParaRPr>
          </a:p>
          <a:p>
            <a:pPr marL="12700">
              <a:lnSpc>
                <a:spcPct val="100000"/>
              </a:lnSpc>
              <a:spcBef>
                <a:spcPts val="5"/>
              </a:spcBef>
            </a:pPr>
            <a:r>
              <a:rPr sz="1400" b="1" spc="-10" dirty="0">
                <a:latin typeface="Arial"/>
                <a:cs typeface="Arial"/>
              </a:rPr>
              <a:t>Measurement</a:t>
            </a:r>
            <a:r>
              <a:rPr sz="1400" b="1" spc="-35" dirty="0">
                <a:latin typeface="Arial"/>
                <a:cs typeface="Arial"/>
              </a:rPr>
              <a:t> </a:t>
            </a:r>
            <a:r>
              <a:rPr sz="1400" b="1" dirty="0">
                <a:latin typeface="Arial"/>
                <a:cs typeface="Arial"/>
              </a:rPr>
              <a:t>Instrument</a:t>
            </a:r>
            <a:r>
              <a:rPr sz="1400" b="1" spc="-25" dirty="0">
                <a:latin typeface="Arial"/>
                <a:cs typeface="Arial"/>
              </a:rPr>
              <a:t> </a:t>
            </a:r>
            <a:r>
              <a:rPr sz="1400" b="1" spc="-10" dirty="0">
                <a:latin typeface="Arial"/>
                <a:cs typeface="Arial"/>
              </a:rPr>
              <a:t>Bandwidth</a:t>
            </a:r>
            <a:endParaRPr sz="1400" dirty="0">
              <a:latin typeface="Arial"/>
              <a:cs typeface="Arial"/>
            </a:endParaRPr>
          </a:p>
          <a:p>
            <a:pPr marL="12700" marR="5080" indent="-8255">
              <a:lnSpc>
                <a:spcPct val="100000"/>
              </a:lnSpc>
              <a:buSzPct val="92857"/>
              <a:buChar char="•"/>
              <a:tabLst>
                <a:tab pos="12700" algn="l"/>
                <a:tab pos="74295" algn="l"/>
              </a:tabLst>
            </a:pPr>
            <a:r>
              <a:rPr sz="1400" dirty="0">
                <a:latin typeface="Arial"/>
                <a:cs typeface="Arial"/>
              </a:rPr>
              <a:t>	When</a:t>
            </a:r>
            <a:r>
              <a:rPr sz="1400" spc="-55" dirty="0">
                <a:latin typeface="Arial"/>
                <a:cs typeface="Arial"/>
              </a:rPr>
              <a:t> </a:t>
            </a:r>
            <a:r>
              <a:rPr sz="1400" dirty="0">
                <a:latin typeface="Arial"/>
                <a:cs typeface="Arial"/>
              </a:rPr>
              <a:t>using</a:t>
            </a:r>
            <a:r>
              <a:rPr sz="1400" spc="-30" dirty="0">
                <a:latin typeface="Arial"/>
                <a:cs typeface="Arial"/>
              </a:rPr>
              <a:t> </a:t>
            </a:r>
            <a:r>
              <a:rPr sz="1400" dirty="0">
                <a:latin typeface="Arial"/>
                <a:cs typeface="Arial"/>
              </a:rPr>
              <a:t>instruments</a:t>
            </a:r>
            <a:r>
              <a:rPr sz="1400" spc="-60" dirty="0">
                <a:latin typeface="Arial"/>
                <a:cs typeface="Arial"/>
              </a:rPr>
              <a:t> </a:t>
            </a:r>
            <a:r>
              <a:rPr sz="1400" dirty="0">
                <a:latin typeface="Arial"/>
                <a:cs typeface="Arial"/>
              </a:rPr>
              <a:t>like</a:t>
            </a:r>
            <a:r>
              <a:rPr sz="1400" spc="-10" dirty="0">
                <a:latin typeface="Arial"/>
                <a:cs typeface="Arial"/>
              </a:rPr>
              <a:t> </a:t>
            </a:r>
            <a:r>
              <a:rPr sz="1400" b="1" spc="-10" dirty="0">
                <a:latin typeface="Arial"/>
                <a:cs typeface="Arial"/>
              </a:rPr>
              <a:t>oscilloscopes</a:t>
            </a:r>
            <a:r>
              <a:rPr sz="1400" b="1" spc="-55" dirty="0">
                <a:latin typeface="Arial"/>
                <a:cs typeface="Arial"/>
              </a:rPr>
              <a:t> </a:t>
            </a:r>
            <a:r>
              <a:rPr sz="1400" dirty="0">
                <a:latin typeface="Arial"/>
                <a:cs typeface="Arial"/>
              </a:rPr>
              <a:t>or</a:t>
            </a:r>
            <a:r>
              <a:rPr sz="1400" spc="-30" dirty="0">
                <a:latin typeface="Arial"/>
                <a:cs typeface="Arial"/>
              </a:rPr>
              <a:t> </a:t>
            </a:r>
            <a:r>
              <a:rPr sz="1400" b="1" dirty="0">
                <a:latin typeface="Arial"/>
                <a:cs typeface="Arial"/>
              </a:rPr>
              <a:t>spectrum</a:t>
            </a:r>
            <a:r>
              <a:rPr sz="1400" b="1" spc="-40" dirty="0">
                <a:latin typeface="Arial"/>
                <a:cs typeface="Arial"/>
              </a:rPr>
              <a:t> </a:t>
            </a:r>
            <a:r>
              <a:rPr sz="1400" b="1" dirty="0">
                <a:latin typeface="Arial"/>
                <a:cs typeface="Arial"/>
              </a:rPr>
              <a:t>analyzers</a:t>
            </a:r>
            <a:r>
              <a:rPr sz="1400" dirty="0">
                <a:latin typeface="Arial"/>
                <a:cs typeface="Arial"/>
              </a:rPr>
              <a:t>,</a:t>
            </a:r>
            <a:r>
              <a:rPr sz="1400" spc="-10"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measurement</a:t>
            </a:r>
            <a:r>
              <a:rPr sz="1400" spc="-60" dirty="0">
                <a:latin typeface="Arial"/>
                <a:cs typeface="Arial"/>
              </a:rPr>
              <a:t> </a:t>
            </a:r>
            <a:r>
              <a:rPr sz="1400" dirty="0">
                <a:latin typeface="Arial"/>
                <a:cs typeface="Arial"/>
              </a:rPr>
              <a:t>device</a:t>
            </a:r>
            <a:r>
              <a:rPr sz="1400" spc="-20" dirty="0">
                <a:latin typeface="Arial"/>
                <a:cs typeface="Arial"/>
              </a:rPr>
              <a:t> </a:t>
            </a:r>
            <a:r>
              <a:rPr sz="1400" dirty="0">
                <a:latin typeface="Arial"/>
                <a:cs typeface="Arial"/>
              </a:rPr>
              <a:t>itself</a:t>
            </a:r>
            <a:r>
              <a:rPr sz="1400" spc="-35"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15" dirty="0">
                <a:latin typeface="Arial"/>
                <a:cs typeface="Arial"/>
              </a:rPr>
              <a:t> </a:t>
            </a:r>
            <a:r>
              <a:rPr sz="1400" dirty="0">
                <a:latin typeface="Arial"/>
                <a:cs typeface="Arial"/>
              </a:rPr>
              <a:t>limited</a:t>
            </a:r>
            <a:r>
              <a:rPr sz="1400" spc="-45" dirty="0">
                <a:latin typeface="Arial"/>
                <a:cs typeface="Arial"/>
              </a:rPr>
              <a:t> </a:t>
            </a:r>
            <a:r>
              <a:rPr sz="1400" dirty="0">
                <a:latin typeface="Arial"/>
                <a:cs typeface="Arial"/>
              </a:rPr>
              <a:t>bandwidth,</a:t>
            </a:r>
            <a:r>
              <a:rPr sz="1400" spc="-35" dirty="0">
                <a:latin typeface="Arial"/>
                <a:cs typeface="Arial"/>
              </a:rPr>
              <a:t> </a:t>
            </a:r>
            <a:r>
              <a:rPr sz="1400" dirty="0">
                <a:latin typeface="Arial"/>
                <a:cs typeface="Arial"/>
              </a:rPr>
              <a:t>which</a:t>
            </a:r>
            <a:r>
              <a:rPr sz="1400" spc="-20" dirty="0">
                <a:latin typeface="Arial"/>
                <a:cs typeface="Arial"/>
              </a:rPr>
              <a:t> </a:t>
            </a:r>
            <a:r>
              <a:rPr sz="1400" dirty="0">
                <a:latin typeface="Arial"/>
                <a:cs typeface="Arial"/>
              </a:rPr>
              <a:t>may</a:t>
            </a:r>
            <a:r>
              <a:rPr sz="1400" spc="-10" dirty="0">
                <a:latin typeface="Arial"/>
                <a:cs typeface="Arial"/>
              </a:rPr>
              <a:t> </a:t>
            </a:r>
            <a:r>
              <a:rPr sz="1400" dirty="0">
                <a:latin typeface="Arial"/>
                <a:cs typeface="Arial"/>
              </a:rPr>
              <a:t>affect</a:t>
            </a:r>
            <a:r>
              <a:rPr sz="1400" spc="-55" dirty="0">
                <a:latin typeface="Arial"/>
                <a:cs typeface="Arial"/>
              </a:rPr>
              <a:t> </a:t>
            </a:r>
            <a:r>
              <a:rPr sz="1400" spc="-10" dirty="0">
                <a:latin typeface="Arial"/>
                <a:cs typeface="Arial"/>
              </a:rPr>
              <a:t>noise readings.</a:t>
            </a:r>
            <a:endParaRPr sz="1400" dirty="0">
              <a:latin typeface="Arial"/>
              <a:cs typeface="Arial"/>
            </a:endParaRPr>
          </a:p>
          <a:p>
            <a:pPr marL="74930" indent="-69850">
              <a:lnSpc>
                <a:spcPct val="100000"/>
              </a:lnSpc>
              <a:buSzPct val="92857"/>
              <a:buChar char="•"/>
              <a:tabLst>
                <a:tab pos="74930" algn="l"/>
              </a:tabLst>
            </a:pPr>
            <a:r>
              <a:rPr sz="1400" dirty="0">
                <a:latin typeface="Arial"/>
                <a:cs typeface="Arial"/>
              </a:rPr>
              <a:t>The</a:t>
            </a:r>
            <a:r>
              <a:rPr sz="1400" spc="-40" dirty="0">
                <a:latin typeface="Arial"/>
                <a:cs typeface="Arial"/>
              </a:rPr>
              <a:t> </a:t>
            </a:r>
            <a:r>
              <a:rPr sz="1400" b="1" dirty="0">
                <a:latin typeface="Arial"/>
                <a:cs typeface="Arial"/>
              </a:rPr>
              <a:t>instrument</a:t>
            </a:r>
            <a:r>
              <a:rPr sz="1400" b="1" spc="-45" dirty="0">
                <a:latin typeface="Arial"/>
                <a:cs typeface="Arial"/>
              </a:rPr>
              <a:t> </a:t>
            </a:r>
            <a:r>
              <a:rPr sz="1400" b="1" dirty="0">
                <a:latin typeface="Arial"/>
                <a:cs typeface="Arial"/>
              </a:rPr>
              <a:t>bandwidth</a:t>
            </a:r>
            <a:r>
              <a:rPr sz="1400" b="1" spc="-70" dirty="0">
                <a:latin typeface="Arial"/>
                <a:cs typeface="Arial"/>
              </a:rPr>
              <a:t> </a:t>
            </a:r>
            <a:r>
              <a:rPr sz="1400" dirty="0">
                <a:latin typeface="Arial"/>
                <a:cs typeface="Arial"/>
              </a:rPr>
              <a:t>may</a:t>
            </a:r>
            <a:r>
              <a:rPr sz="1400" spc="-30" dirty="0">
                <a:latin typeface="Arial"/>
                <a:cs typeface="Arial"/>
              </a:rPr>
              <a:t> </a:t>
            </a:r>
            <a:r>
              <a:rPr sz="1400" dirty="0">
                <a:latin typeface="Arial"/>
                <a:cs typeface="Arial"/>
              </a:rPr>
              <a:t>be</a:t>
            </a:r>
            <a:r>
              <a:rPr sz="1400" spc="-30" dirty="0">
                <a:latin typeface="Arial"/>
                <a:cs typeface="Arial"/>
              </a:rPr>
              <a:t> </a:t>
            </a:r>
            <a:r>
              <a:rPr sz="1400" dirty="0">
                <a:latin typeface="Arial"/>
                <a:cs typeface="Arial"/>
              </a:rPr>
              <a:t>specified</a:t>
            </a:r>
            <a:r>
              <a:rPr sz="1400" spc="-60" dirty="0">
                <a:latin typeface="Arial"/>
                <a:cs typeface="Arial"/>
              </a:rPr>
              <a:t> </a:t>
            </a:r>
            <a:r>
              <a:rPr sz="1400" dirty="0">
                <a:latin typeface="Arial"/>
                <a:cs typeface="Arial"/>
              </a:rPr>
              <a:t>and</a:t>
            </a:r>
            <a:r>
              <a:rPr sz="1400" spc="-40" dirty="0">
                <a:latin typeface="Arial"/>
                <a:cs typeface="Arial"/>
              </a:rPr>
              <a:t> </a:t>
            </a:r>
            <a:r>
              <a:rPr sz="1400" dirty="0">
                <a:latin typeface="Arial"/>
                <a:cs typeface="Arial"/>
              </a:rPr>
              <a:t>needs</a:t>
            </a:r>
            <a:r>
              <a:rPr sz="1400" spc="-4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be</a:t>
            </a:r>
            <a:r>
              <a:rPr sz="1400" spc="-35" dirty="0">
                <a:latin typeface="Arial"/>
                <a:cs typeface="Arial"/>
              </a:rPr>
              <a:t> </a:t>
            </a:r>
            <a:r>
              <a:rPr sz="1400" dirty="0">
                <a:latin typeface="Arial"/>
                <a:cs typeface="Arial"/>
              </a:rPr>
              <a:t>considered</a:t>
            </a:r>
            <a:r>
              <a:rPr sz="1400" spc="-60" dirty="0">
                <a:latin typeface="Arial"/>
                <a:cs typeface="Arial"/>
              </a:rPr>
              <a:t> </a:t>
            </a:r>
            <a:r>
              <a:rPr sz="1400" dirty="0">
                <a:latin typeface="Arial"/>
                <a:cs typeface="Arial"/>
              </a:rPr>
              <a:t>when</a:t>
            </a:r>
            <a:r>
              <a:rPr sz="1400" spc="-30" dirty="0">
                <a:latin typeface="Arial"/>
                <a:cs typeface="Arial"/>
              </a:rPr>
              <a:t> </a:t>
            </a:r>
            <a:r>
              <a:rPr sz="1400" dirty="0">
                <a:latin typeface="Arial"/>
                <a:cs typeface="Arial"/>
              </a:rPr>
              <a:t>interpreting</a:t>
            </a:r>
            <a:r>
              <a:rPr sz="1400" spc="-60" dirty="0">
                <a:latin typeface="Arial"/>
                <a:cs typeface="Arial"/>
              </a:rPr>
              <a:t> </a:t>
            </a:r>
            <a:r>
              <a:rPr sz="1400" dirty="0">
                <a:latin typeface="Arial"/>
                <a:cs typeface="Arial"/>
              </a:rPr>
              <a:t>noise</a:t>
            </a:r>
            <a:r>
              <a:rPr sz="1400" spc="-55" dirty="0">
                <a:latin typeface="Arial"/>
                <a:cs typeface="Arial"/>
              </a:rPr>
              <a:t> </a:t>
            </a:r>
            <a:r>
              <a:rPr sz="1400" spc="-10" dirty="0">
                <a:latin typeface="Arial"/>
                <a:cs typeface="Arial"/>
              </a:rPr>
              <a:t>measurements.</a:t>
            </a:r>
            <a:endParaRPr sz="1400" dirty="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Example</a:t>
            </a:r>
            <a:r>
              <a:rPr sz="1400" dirty="0">
                <a:latin typeface="Arial"/>
                <a:cs typeface="Arial"/>
              </a:rPr>
              <a:t>:</a:t>
            </a:r>
            <a:r>
              <a:rPr sz="1400" spc="-45" dirty="0">
                <a:latin typeface="Arial"/>
                <a:cs typeface="Arial"/>
              </a:rPr>
              <a:t> </a:t>
            </a:r>
            <a:r>
              <a:rPr sz="1400" dirty="0">
                <a:latin typeface="Arial"/>
                <a:cs typeface="Arial"/>
              </a:rPr>
              <a:t>If</a:t>
            </a:r>
            <a:r>
              <a:rPr sz="1400" spc="-25" dirty="0">
                <a:latin typeface="Arial"/>
                <a:cs typeface="Arial"/>
              </a:rPr>
              <a:t> </a:t>
            </a:r>
            <a:r>
              <a:rPr sz="1400" dirty="0">
                <a:latin typeface="Arial"/>
                <a:cs typeface="Arial"/>
              </a:rPr>
              <a:t>an</a:t>
            </a:r>
            <a:r>
              <a:rPr sz="1400" spc="-30" dirty="0">
                <a:latin typeface="Arial"/>
                <a:cs typeface="Arial"/>
              </a:rPr>
              <a:t> </a:t>
            </a:r>
            <a:r>
              <a:rPr sz="1400" dirty="0">
                <a:latin typeface="Arial"/>
                <a:cs typeface="Arial"/>
              </a:rPr>
              <a:t>oscilloscope</a:t>
            </a:r>
            <a:r>
              <a:rPr sz="1400" spc="-50" dirty="0">
                <a:latin typeface="Arial"/>
                <a:cs typeface="Arial"/>
              </a:rPr>
              <a:t> </a:t>
            </a:r>
            <a:r>
              <a:rPr sz="1400" dirty="0">
                <a:latin typeface="Arial"/>
                <a:cs typeface="Arial"/>
              </a:rPr>
              <a:t>has</a:t>
            </a:r>
            <a:r>
              <a:rPr sz="1400" spc="-25" dirty="0">
                <a:latin typeface="Arial"/>
                <a:cs typeface="Arial"/>
              </a:rPr>
              <a:t> </a:t>
            </a:r>
            <a:r>
              <a:rPr sz="1400" dirty="0">
                <a:latin typeface="Arial"/>
                <a:cs typeface="Arial"/>
              </a:rPr>
              <a:t>a</a:t>
            </a:r>
            <a:r>
              <a:rPr sz="1400" spc="-30" dirty="0">
                <a:latin typeface="Arial"/>
                <a:cs typeface="Arial"/>
              </a:rPr>
              <a:t> </a:t>
            </a:r>
            <a:r>
              <a:rPr sz="1400" dirty="0">
                <a:latin typeface="Arial"/>
                <a:cs typeface="Arial"/>
              </a:rPr>
              <a:t>bandwidth</a:t>
            </a:r>
            <a:r>
              <a:rPr sz="1400" spc="-3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20</a:t>
            </a:r>
            <a:r>
              <a:rPr sz="1400" spc="-20" dirty="0">
                <a:latin typeface="Arial"/>
                <a:cs typeface="Arial"/>
              </a:rPr>
              <a:t> </a:t>
            </a:r>
            <a:r>
              <a:rPr sz="1400" dirty="0">
                <a:latin typeface="Arial"/>
                <a:cs typeface="Arial"/>
              </a:rPr>
              <a:t>MHz,</a:t>
            </a:r>
            <a:r>
              <a:rPr sz="1400" spc="-25" dirty="0">
                <a:latin typeface="Arial"/>
                <a:cs typeface="Arial"/>
              </a:rPr>
              <a:t> </a:t>
            </a:r>
            <a:r>
              <a:rPr sz="1400" dirty="0">
                <a:latin typeface="Arial"/>
                <a:cs typeface="Arial"/>
              </a:rPr>
              <a:t>then</a:t>
            </a:r>
            <a:r>
              <a:rPr sz="1400" spc="-4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observed</a:t>
            </a:r>
            <a:r>
              <a:rPr sz="1400" spc="-25" dirty="0">
                <a:latin typeface="Arial"/>
                <a:cs typeface="Arial"/>
              </a:rPr>
              <a:t> </a:t>
            </a:r>
            <a:r>
              <a:rPr sz="1400" dirty="0">
                <a:latin typeface="Arial"/>
                <a:cs typeface="Arial"/>
              </a:rPr>
              <a:t>on</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oscilloscope</a:t>
            </a:r>
            <a:r>
              <a:rPr sz="1400" spc="-55" dirty="0">
                <a:latin typeface="Arial"/>
                <a:cs typeface="Arial"/>
              </a:rPr>
              <a:t> </a:t>
            </a:r>
            <a:r>
              <a:rPr sz="1400" dirty="0">
                <a:latin typeface="Arial"/>
                <a:cs typeface="Arial"/>
              </a:rPr>
              <a:t>is</a:t>
            </a:r>
            <a:r>
              <a:rPr sz="1400" spc="-25" dirty="0">
                <a:latin typeface="Arial"/>
                <a:cs typeface="Arial"/>
              </a:rPr>
              <a:t> </a:t>
            </a:r>
            <a:r>
              <a:rPr sz="1400" dirty="0">
                <a:latin typeface="Arial"/>
                <a:cs typeface="Arial"/>
              </a:rPr>
              <a:t>limited</a:t>
            </a:r>
            <a:r>
              <a:rPr sz="1400" spc="-30" dirty="0">
                <a:latin typeface="Arial"/>
                <a:cs typeface="Arial"/>
              </a:rPr>
              <a:t> </a:t>
            </a:r>
            <a:r>
              <a:rPr sz="1400" dirty="0">
                <a:latin typeface="Arial"/>
                <a:cs typeface="Arial"/>
              </a:rPr>
              <a:t>by</a:t>
            </a:r>
            <a:r>
              <a:rPr sz="1400" spc="-15" dirty="0">
                <a:latin typeface="Arial"/>
                <a:cs typeface="Arial"/>
              </a:rPr>
              <a:t> </a:t>
            </a:r>
            <a:r>
              <a:rPr sz="1400" spc="-10" dirty="0">
                <a:latin typeface="Arial"/>
                <a:cs typeface="Arial"/>
              </a:rPr>
              <a:t>Δf=20</a:t>
            </a:r>
            <a:r>
              <a:rPr sz="1400" spc="-114" dirty="0">
                <a:latin typeface="Arial"/>
                <a:cs typeface="Arial"/>
              </a:rPr>
              <a:t> </a:t>
            </a:r>
            <a:r>
              <a:rPr sz="1400" dirty="0">
                <a:latin typeface="Arial"/>
                <a:cs typeface="Arial"/>
              </a:rPr>
              <a:t>MHz\Delta</a:t>
            </a:r>
            <a:r>
              <a:rPr sz="1400" spc="-65" dirty="0">
                <a:latin typeface="Arial"/>
                <a:cs typeface="Arial"/>
              </a:rPr>
              <a:t> </a:t>
            </a:r>
            <a:r>
              <a:rPr sz="1400" dirty="0">
                <a:latin typeface="Arial"/>
                <a:cs typeface="Arial"/>
              </a:rPr>
              <a:t>f</a:t>
            </a:r>
            <a:r>
              <a:rPr sz="1400" spc="-10" dirty="0">
                <a:latin typeface="Arial"/>
                <a:cs typeface="Arial"/>
              </a:rPr>
              <a:t> </a:t>
            </a:r>
            <a:r>
              <a:rPr sz="1400" dirty="0">
                <a:latin typeface="Arial"/>
                <a:cs typeface="Arial"/>
              </a:rPr>
              <a:t>=</a:t>
            </a:r>
            <a:r>
              <a:rPr sz="1400" spc="-20" dirty="0">
                <a:latin typeface="Arial"/>
                <a:cs typeface="Arial"/>
              </a:rPr>
              <a:t> </a:t>
            </a:r>
            <a:r>
              <a:rPr sz="1400" dirty="0">
                <a:latin typeface="Arial"/>
                <a:cs typeface="Arial"/>
              </a:rPr>
              <a:t>20</a:t>
            </a:r>
            <a:r>
              <a:rPr sz="1400" spc="-25" dirty="0">
                <a:latin typeface="Arial"/>
                <a:cs typeface="Arial"/>
              </a:rPr>
              <a:t> \,</a:t>
            </a:r>
            <a:endParaRPr sz="1400" dirty="0">
              <a:latin typeface="Arial"/>
              <a:cs typeface="Arial"/>
            </a:endParaRPr>
          </a:p>
          <a:p>
            <a:pPr marL="12700">
              <a:lnSpc>
                <a:spcPct val="100000"/>
              </a:lnSpc>
            </a:pPr>
            <a:r>
              <a:rPr sz="1400" spc="-10" dirty="0">
                <a:latin typeface="Arial"/>
                <a:cs typeface="Arial"/>
              </a:rPr>
              <a:t>\text{MHz}Δf=20MHz.</a:t>
            </a:r>
            <a:endParaRPr sz="1400" dirty="0">
              <a:latin typeface="Arial"/>
              <a:cs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8D113-2BB5-C2E1-1921-A82163A4241C}"/>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39661C3D-5C71-2CFF-BCE6-CE6630D57301}"/>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7" name="Picture 6" descr="A white background with black text and numbers&#10;&#10;AI-generated content may be incorrect.">
            <a:extLst>
              <a:ext uri="{FF2B5EF4-FFF2-40B4-BE49-F238E27FC236}">
                <a16:creationId xmlns:a16="http://schemas.microsoft.com/office/drawing/2014/main" id="{B943794F-4CCE-0869-9D0B-976FDAF2AF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7400" y="2514600"/>
            <a:ext cx="4833258" cy="3657600"/>
          </a:xfrm>
          <a:prstGeom prst="rect">
            <a:avLst/>
          </a:prstGeom>
        </p:spPr>
      </p:pic>
    </p:spTree>
    <p:extLst>
      <p:ext uri="{BB962C8B-B14F-4D97-AF65-F5344CB8AC3E}">
        <p14:creationId xmlns:p14="http://schemas.microsoft.com/office/powerpoint/2010/main" val="35149476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D4E89-CA01-C4AB-DBCB-1DDDAFAAE0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9D013-FFBD-0846-0E78-C85098A08F82}"/>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59B99BD8-B815-2782-3B26-6AC6927C55AF}"/>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4" name="Picture 3" descr="A screenshot of a math problem&#10;&#10;AI-generated content may be incorrect.">
            <a:extLst>
              <a:ext uri="{FF2B5EF4-FFF2-40B4-BE49-F238E27FC236}">
                <a16:creationId xmlns:a16="http://schemas.microsoft.com/office/drawing/2014/main" id="{24AC4F29-68AD-CE89-E4C1-86D16423A7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00200" y="2209800"/>
            <a:ext cx="4495800" cy="4121149"/>
          </a:xfrm>
          <a:prstGeom prst="rect">
            <a:avLst/>
          </a:prstGeom>
        </p:spPr>
      </p:pic>
    </p:spTree>
    <p:extLst>
      <p:ext uri="{BB962C8B-B14F-4D97-AF65-F5344CB8AC3E}">
        <p14:creationId xmlns:p14="http://schemas.microsoft.com/office/powerpoint/2010/main" val="3238369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58F19-E2F5-52DA-183D-32962EE4B5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643053-7041-3957-11A9-49A733D7D338}"/>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DE87BCBF-3852-D2C6-3DEF-597472F77930}"/>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6" name="Picture 5" descr="A white paper with black text and numbers&#10;&#10;AI-generated content may be incorrect.">
            <a:extLst>
              <a:ext uri="{FF2B5EF4-FFF2-40B4-BE49-F238E27FC236}">
                <a16:creationId xmlns:a16="http://schemas.microsoft.com/office/drawing/2014/main" id="{13CD4334-1A01-DE24-5B75-783B628D89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05600" y="2374821"/>
            <a:ext cx="4724692" cy="4252223"/>
          </a:xfrm>
          <a:prstGeom prst="rect">
            <a:avLst/>
          </a:prstGeom>
        </p:spPr>
      </p:pic>
    </p:spTree>
    <p:extLst>
      <p:ext uri="{BB962C8B-B14F-4D97-AF65-F5344CB8AC3E}">
        <p14:creationId xmlns:p14="http://schemas.microsoft.com/office/powerpoint/2010/main" val="2528050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BA7B1-6ABD-0DCB-8D7B-9B3A6CFA6C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331899-A9BF-A760-19DE-E8899F281A9A}"/>
              </a:ext>
            </a:extLst>
          </p:cNvPr>
          <p:cNvSpPr>
            <a:spLocks noGrp="1"/>
          </p:cNvSpPr>
          <p:nvPr>
            <p:ph type="title"/>
          </p:nvPr>
        </p:nvSpPr>
        <p:spPr>
          <a:xfrm>
            <a:off x="78739" y="14986"/>
            <a:ext cx="10328275" cy="492443"/>
          </a:xfrm>
        </p:spPr>
        <p:txBody>
          <a:bodyPr/>
          <a:lstStyle/>
          <a:p>
            <a:r>
              <a:rPr lang="en-US" dirty="0"/>
              <a:t>Example</a:t>
            </a:r>
          </a:p>
        </p:txBody>
      </p:sp>
      <p:sp>
        <p:nvSpPr>
          <p:cNvPr id="5" name="TextBox 4">
            <a:extLst>
              <a:ext uri="{FF2B5EF4-FFF2-40B4-BE49-F238E27FC236}">
                <a16:creationId xmlns:a16="http://schemas.microsoft.com/office/drawing/2014/main" id="{BAD9FDC9-A3B8-758E-F8C7-0C2E493ED830}"/>
              </a:ext>
            </a:extLst>
          </p:cNvPr>
          <p:cNvSpPr txBox="1"/>
          <p:nvPr/>
        </p:nvSpPr>
        <p:spPr>
          <a:xfrm>
            <a:off x="381000" y="304800"/>
            <a:ext cx="10667999" cy="2092881"/>
          </a:xfrm>
          <a:prstGeom prst="rect">
            <a:avLst/>
          </a:prstGeom>
          <a:noFill/>
        </p:spPr>
        <p:txBody>
          <a:bodyPr wrap="square">
            <a:spAutoFit/>
          </a:bodyPr>
          <a:lstStyle/>
          <a:p>
            <a:pPr algn="l"/>
            <a:endParaRPr lang="en-US" sz="2000" b="0" i="0" u="none" strike="noStrike" baseline="0" dirty="0">
              <a:solidFill>
                <a:srgbClr val="000000"/>
              </a:solidFill>
              <a:latin typeface="Aptos" panose="020B0004020202020204" pitchFamily="34" charset="0"/>
            </a:endParaRPr>
          </a:p>
          <a:p>
            <a:r>
              <a:rPr lang="en-US" sz="2000" b="0" i="0" u="none" strike="noStrike" baseline="0" dirty="0">
                <a:solidFill>
                  <a:srgbClr val="000000"/>
                </a:solidFill>
                <a:latin typeface="Aptos" panose="020B0004020202020204" pitchFamily="34" charset="0"/>
              </a:rPr>
              <a:t> </a:t>
            </a:r>
          </a:p>
          <a:p>
            <a:r>
              <a:rPr lang="en-US" sz="1800" b="0" i="0" u="none" strike="noStrike" baseline="0" dirty="0">
                <a:solidFill>
                  <a:srgbClr val="000000"/>
                </a:solidFill>
                <a:latin typeface="Aptos" panose="020B0004020202020204" pitchFamily="34" charset="0"/>
              </a:rPr>
              <a:t>Imagine I had a photodetector in reverse bias with light shining on it connected to a 10 </a:t>
            </a:r>
            <a:r>
              <a:rPr lang="en-US" sz="1800" b="0" i="0" u="none" strike="noStrike" baseline="0" dirty="0" err="1">
                <a:solidFill>
                  <a:srgbClr val="000000"/>
                </a:solidFill>
                <a:latin typeface="Aptos" panose="020B0004020202020204" pitchFamily="34" charset="0"/>
              </a:rPr>
              <a:t>kOhm</a:t>
            </a:r>
            <a:r>
              <a:rPr lang="en-US" sz="1800" b="0" i="0" u="none" strike="noStrike" baseline="0" dirty="0">
                <a:solidFill>
                  <a:srgbClr val="000000"/>
                </a:solidFill>
                <a:latin typeface="Aptos" panose="020B0004020202020204" pitchFamily="34" charset="0"/>
              </a:rPr>
              <a:t> resistor. We measure the voltage across this resistor. A) What are the sources of noise for the voltage measured across the device? B) If I have 1 mA of photocurrent in my photodetector, what will the actual RMS noise level of the voltage measured across the resistor be? Assume a sampling rate of 200 kHz (leading to a bandwidth of 100 </a:t>
            </a:r>
            <a:r>
              <a:rPr lang="en-US" sz="1800" b="0" i="0" u="none" strike="noStrike" baseline="0" dirty="0" err="1">
                <a:solidFill>
                  <a:srgbClr val="000000"/>
                </a:solidFill>
                <a:latin typeface="Aptos" panose="020B0004020202020204" pitchFamily="34" charset="0"/>
              </a:rPr>
              <a:t>KHz</a:t>
            </a:r>
            <a:r>
              <a:rPr lang="en-US" sz="1800" b="0" i="0" u="none" strike="noStrike" baseline="0" dirty="0">
                <a:solidFill>
                  <a:srgbClr val="000000"/>
                </a:solidFill>
                <a:latin typeface="Aptos" panose="020B0004020202020204" pitchFamily="34" charset="0"/>
              </a:rPr>
              <a:t>). </a:t>
            </a:r>
          </a:p>
        </p:txBody>
      </p:sp>
      <p:pic>
        <p:nvPicPr>
          <p:cNvPr id="4" name="Picture 3" descr="A math equations and formulas&#10;&#10;AI-generated content may be incorrect.">
            <a:extLst>
              <a:ext uri="{FF2B5EF4-FFF2-40B4-BE49-F238E27FC236}">
                <a16:creationId xmlns:a16="http://schemas.microsoft.com/office/drawing/2014/main" id="{FC66EA40-5319-FAA9-5251-4029605744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2971800"/>
            <a:ext cx="7001036" cy="2286053"/>
          </a:xfrm>
          <a:prstGeom prst="rect">
            <a:avLst/>
          </a:prstGeom>
        </p:spPr>
      </p:pic>
    </p:spTree>
    <p:extLst>
      <p:ext uri="{BB962C8B-B14F-4D97-AF65-F5344CB8AC3E}">
        <p14:creationId xmlns:p14="http://schemas.microsoft.com/office/powerpoint/2010/main" val="19638869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548640" y="3303523"/>
            <a:ext cx="10956290" cy="3317240"/>
          </a:xfrm>
          <a:prstGeom prst="rect">
            <a:avLst/>
          </a:prstGeom>
        </p:spPr>
        <p:txBody>
          <a:bodyPr vert="horz" wrap="square" lIns="0" tIns="12700" rIns="0" bIns="0" rtlCol="0">
            <a:spAutoFit/>
          </a:bodyPr>
          <a:lstStyle/>
          <a:p>
            <a:pPr marL="76200">
              <a:lnSpc>
                <a:spcPct val="100000"/>
              </a:lnSpc>
              <a:spcBef>
                <a:spcPts val="100"/>
              </a:spcBef>
            </a:pPr>
            <a:r>
              <a:rPr sz="1800" dirty="0">
                <a:latin typeface="Arial"/>
                <a:cs typeface="Arial"/>
              </a:rPr>
              <a:t>In</a:t>
            </a:r>
            <a:r>
              <a:rPr sz="1800" spc="-25"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computer,</a:t>
            </a:r>
            <a:r>
              <a:rPr sz="1800" spc="-15" dirty="0">
                <a:latin typeface="Arial"/>
                <a:cs typeface="Arial"/>
              </a:rPr>
              <a:t> </a:t>
            </a:r>
            <a:r>
              <a:rPr sz="1800" dirty="0">
                <a:latin typeface="Arial"/>
                <a:cs typeface="Arial"/>
              </a:rPr>
              <a:t>we</a:t>
            </a:r>
            <a:r>
              <a:rPr sz="1800" spc="10" dirty="0">
                <a:latin typeface="Arial"/>
                <a:cs typeface="Arial"/>
              </a:rPr>
              <a:t> </a:t>
            </a:r>
            <a:r>
              <a:rPr sz="1800" dirty="0">
                <a:latin typeface="Arial"/>
                <a:cs typeface="Arial"/>
              </a:rPr>
              <a:t>can</a:t>
            </a:r>
            <a:r>
              <a:rPr sz="1800" spc="-10" dirty="0">
                <a:latin typeface="Arial"/>
                <a:cs typeface="Arial"/>
              </a:rPr>
              <a:t> </a:t>
            </a:r>
            <a:r>
              <a:rPr sz="1800" dirty="0">
                <a:latin typeface="Arial"/>
                <a:cs typeface="Arial"/>
              </a:rPr>
              <a:t>define</a:t>
            </a:r>
            <a:r>
              <a:rPr sz="1800" spc="-1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signal</a:t>
            </a:r>
            <a:r>
              <a:rPr sz="1800" spc="-10" dirty="0">
                <a:latin typeface="Arial"/>
                <a:cs typeface="Arial"/>
              </a:rPr>
              <a:t> </a:t>
            </a:r>
            <a:r>
              <a:rPr sz="1800" dirty="0">
                <a:latin typeface="Arial"/>
                <a:cs typeface="Arial"/>
              </a:rPr>
              <a:t>as</a:t>
            </a:r>
            <a:r>
              <a:rPr sz="1800" spc="-20" dirty="0">
                <a:latin typeface="Arial"/>
                <a:cs typeface="Arial"/>
              </a:rPr>
              <a:t> </a:t>
            </a:r>
            <a:r>
              <a:rPr sz="1800" dirty="0">
                <a:latin typeface="Arial"/>
                <a:cs typeface="Arial"/>
              </a:rPr>
              <a:t>an</a:t>
            </a:r>
            <a:r>
              <a:rPr sz="1800" spc="-20" dirty="0">
                <a:latin typeface="Arial"/>
                <a:cs typeface="Arial"/>
              </a:rPr>
              <a:t> </a:t>
            </a:r>
            <a:r>
              <a:rPr sz="1800" dirty="0">
                <a:latin typeface="Arial"/>
                <a:cs typeface="Arial"/>
              </a:rPr>
              <a:t>array</a:t>
            </a:r>
            <a:r>
              <a:rPr sz="1800" spc="-5" dirty="0">
                <a:latin typeface="Arial"/>
                <a:cs typeface="Arial"/>
              </a:rPr>
              <a:t> </a:t>
            </a:r>
            <a:r>
              <a:rPr sz="1800" dirty="0">
                <a:latin typeface="Arial"/>
                <a:cs typeface="Arial"/>
              </a:rPr>
              <a:t>of</a:t>
            </a:r>
            <a:r>
              <a:rPr sz="1800" spc="-25" dirty="0">
                <a:latin typeface="Arial"/>
                <a:cs typeface="Arial"/>
              </a:rPr>
              <a:t> </a:t>
            </a:r>
            <a:r>
              <a:rPr sz="1800" spc="-10" dirty="0">
                <a:latin typeface="Arial"/>
                <a:cs typeface="Arial"/>
              </a:rPr>
              <a:t>numbers.</a:t>
            </a:r>
            <a:endParaRPr sz="1800">
              <a:latin typeface="Arial"/>
              <a:cs typeface="Arial"/>
            </a:endParaRPr>
          </a:p>
          <a:p>
            <a:pPr>
              <a:lnSpc>
                <a:spcPct val="100000"/>
              </a:lnSpc>
              <a:spcBef>
                <a:spcPts val="90"/>
              </a:spcBef>
            </a:pPr>
            <a:endParaRPr sz="1800">
              <a:latin typeface="Arial"/>
              <a:cs typeface="Arial"/>
            </a:endParaRPr>
          </a:p>
          <a:p>
            <a:pPr marL="76200" marR="43180">
              <a:lnSpc>
                <a:spcPct val="100000"/>
              </a:lnSpc>
            </a:pPr>
            <a:r>
              <a:rPr sz="1800" dirty="0">
                <a:latin typeface="Arial"/>
                <a:cs typeface="Arial"/>
              </a:rPr>
              <a:t>If</a:t>
            </a:r>
            <a:r>
              <a:rPr sz="1800" spc="-45" dirty="0">
                <a:latin typeface="Arial"/>
                <a:cs typeface="Arial"/>
              </a:rPr>
              <a:t> </a:t>
            </a:r>
            <a:r>
              <a:rPr sz="1800" dirty="0">
                <a:latin typeface="Arial"/>
                <a:cs typeface="Arial"/>
              </a:rPr>
              <a:t>we wanted</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define</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sine</a:t>
            </a:r>
            <a:r>
              <a:rPr sz="1800" spc="-20" dirty="0">
                <a:latin typeface="Arial"/>
                <a:cs typeface="Arial"/>
              </a:rPr>
              <a:t> </a:t>
            </a:r>
            <a:r>
              <a:rPr sz="1800" dirty="0">
                <a:latin typeface="Arial"/>
                <a:cs typeface="Arial"/>
              </a:rPr>
              <a:t>wave,</a:t>
            </a:r>
            <a:r>
              <a:rPr sz="1800" spc="10" dirty="0">
                <a:latin typeface="Arial"/>
                <a:cs typeface="Arial"/>
              </a:rPr>
              <a:t> </a:t>
            </a:r>
            <a:r>
              <a:rPr sz="1800" dirty="0">
                <a:latin typeface="Arial"/>
                <a:cs typeface="Arial"/>
              </a:rPr>
              <a:t>we could</a:t>
            </a:r>
            <a:r>
              <a:rPr sz="1800" spc="-20" dirty="0">
                <a:latin typeface="Arial"/>
                <a:cs typeface="Arial"/>
              </a:rPr>
              <a:t> </a:t>
            </a:r>
            <a:r>
              <a:rPr sz="1800" dirty="0">
                <a:latin typeface="Arial"/>
                <a:cs typeface="Arial"/>
              </a:rPr>
              <a:t>define</a:t>
            </a:r>
            <a:r>
              <a:rPr sz="1800" spc="-20" dirty="0">
                <a:latin typeface="Arial"/>
                <a:cs typeface="Arial"/>
              </a:rPr>
              <a:t> </a:t>
            </a:r>
            <a:r>
              <a:rPr sz="1800" dirty="0">
                <a:latin typeface="Arial"/>
                <a:cs typeface="Arial"/>
              </a:rPr>
              <a:t>it</a:t>
            </a:r>
            <a:r>
              <a:rPr sz="1800" spc="-20" dirty="0">
                <a:latin typeface="Arial"/>
                <a:cs typeface="Arial"/>
              </a:rPr>
              <a:t> </a:t>
            </a:r>
            <a:r>
              <a:rPr sz="1800" dirty="0">
                <a:latin typeface="Arial"/>
                <a:cs typeface="Arial"/>
              </a:rPr>
              <a:t>as</a:t>
            </a:r>
            <a:r>
              <a:rPr sz="1800" spc="-30" dirty="0">
                <a:latin typeface="Arial"/>
                <a:cs typeface="Arial"/>
              </a:rPr>
              <a:t> </a:t>
            </a:r>
            <a:r>
              <a:rPr sz="1800" dirty="0">
                <a:latin typeface="Arial"/>
                <a:cs typeface="Arial"/>
              </a:rPr>
              <a:t>an</a:t>
            </a:r>
            <a:r>
              <a:rPr sz="1800" spc="-35" dirty="0">
                <a:latin typeface="Arial"/>
                <a:cs typeface="Arial"/>
              </a:rPr>
              <a:t> </a:t>
            </a:r>
            <a:r>
              <a:rPr sz="1800" dirty="0">
                <a:latin typeface="Arial"/>
                <a:cs typeface="Arial"/>
              </a:rPr>
              <a:t>array</a:t>
            </a:r>
            <a:r>
              <a:rPr sz="1800" spc="-1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double</a:t>
            </a:r>
            <a:r>
              <a:rPr sz="1800" spc="-10" dirty="0">
                <a:latin typeface="Arial"/>
                <a:cs typeface="Arial"/>
              </a:rPr>
              <a:t> </a:t>
            </a:r>
            <a:r>
              <a:rPr sz="1800" dirty="0">
                <a:latin typeface="Arial"/>
                <a:cs typeface="Arial"/>
              </a:rPr>
              <a:t>precision</a:t>
            </a:r>
            <a:r>
              <a:rPr sz="1800" spc="-10" dirty="0">
                <a:latin typeface="Arial"/>
                <a:cs typeface="Arial"/>
              </a:rPr>
              <a:t> </a:t>
            </a:r>
            <a:r>
              <a:rPr sz="1800" dirty="0">
                <a:latin typeface="Arial"/>
                <a:cs typeface="Arial"/>
              </a:rPr>
              <a:t>numbers,</a:t>
            </a:r>
            <a:r>
              <a:rPr sz="1800" spc="-25" dirty="0">
                <a:latin typeface="Arial"/>
                <a:cs typeface="Arial"/>
              </a:rPr>
              <a:t> </a:t>
            </a:r>
            <a:r>
              <a:rPr sz="1800" dirty="0">
                <a:latin typeface="Arial"/>
                <a:cs typeface="Arial"/>
              </a:rPr>
              <a:t>where</a:t>
            </a:r>
            <a:r>
              <a:rPr sz="1800" spc="15" dirty="0">
                <a:latin typeface="Arial"/>
                <a:cs typeface="Arial"/>
              </a:rPr>
              <a:t> </a:t>
            </a:r>
            <a:r>
              <a:rPr sz="1800" spc="-20" dirty="0">
                <a:latin typeface="Arial"/>
                <a:cs typeface="Arial"/>
              </a:rPr>
              <a:t>each </a:t>
            </a:r>
            <a:r>
              <a:rPr sz="1800" dirty="0">
                <a:latin typeface="Arial"/>
                <a:cs typeface="Arial"/>
              </a:rPr>
              <a:t>point</a:t>
            </a:r>
            <a:r>
              <a:rPr sz="1800" spc="-10" dirty="0">
                <a:latin typeface="Arial"/>
                <a:cs typeface="Arial"/>
              </a:rPr>
              <a:t> </a:t>
            </a:r>
            <a:r>
              <a:rPr sz="1800" dirty="0">
                <a:latin typeface="Arial"/>
                <a:cs typeface="Arial"/>
              </a:rPr>
              <a:t>in</a:t>
            </a:r>
            <a:r>
              <a:rPr sz="1800" spc="-3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array</a:t>
            </a:r>
            <a:r>
              <a:rPr sz="1800" spc="-25" dirty="0">
                <a:latin typeface="Arial"/>
                <a:cs typeface="Arial"/>
              </a:rPr>
              <a:t> </a:t>
            </a:r>
            <a:r>
              <a:rPr sz="1800" dirty="0">
                <a:latin typeface="Arial"/>
                <a:cs typeface="Arial"/>
              </a:rPr>
              <a:t>corresponded</a:t>
            </a:r>
            <a:r>
              <a:rPr sz="1800" spc="10"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given</a:t>
            </a:r>
            <a:r>
              <a:rPr sz="1800" spc="-15" dirty="0">
                <a:latin typeface="Arial"/>
                <a:cs typeface="Arial"/>
              </a:rPr>
              <a:t> </a:t>
            </a:r>
            <a:r>
              <a:rPr sz="1800" spc="-10" dirty="0">
                <a:latin typeface="Arial"/>
                <a:cs typeface="Arial"/>
              </a:rPr>
              <a:t>time.</a:t>
            </a:r>
            <a:endParaRPr sz="1800">
              <a:latin typeface="Arial"/>
              <a:cs typeface="Arial"/>
            </a:endParaRPr>
          </a:p>
          <a:p>
            <a:pPr>
              <a:lnSpc>
                <a:spcPct val="100000"/>
              </a:lnSpc>
              <a:spcBef>
                <a:spcPts val="90"/>
              </a:spcBef>
            </a:pPr>
            <a:endParaRPr sz="1800">
              <a:latin typeface="Arial"/>
              <a:cs typeface="Arial"/>
            </a:endParaRPr>
          </a:p>
          <a:p>
            <a:pPr marL="76200">
              <a:lnSpc>
                <a:spcPct val="100000"/>
              </a:lnSpc>
            </a:pPr>
            <a:r>
              <a:rPr sz="1800" dirty="0">
                <a:solidFill>
                  <a:srgbClr val="1F2021"/>
                </a:solidFill>
                <a:latin typeface="Arial"/>
                <a:cs typeface="Arial"/>
              </a:rPr>
              <a:t>Integers</a:t>
            </a:r>
            <a:r>
              <a:rPr sz="1800" spc="-20" dirty="0">
                <a:solidFill>
                  <a:srgbClr val="1F2021"/>
                </a:solidFill>
                <a:latin typeface="Arial"/>
                <a:cs typeface="Arial"/>
              </a:rPr>
              <a:t> </a:t>
            </a:r>
            <a:r>
              <a:rPr sz="1800" dirty="0">
                <a:solidFill>
                  <a:srgbClr val="1F2021"/>
                </a:solidFill>
                <a:latin typeface="Arial"/>
                <a:cs typeface="Arial"/>
              </a:rPr>
              <a:t>from</a:t>
            </a:r>
            <a:r>
              <a:rPr sz="1800" spc="-20" dirty="0">
                <a:solidFill>
                  <a:srgbClr val="1F2021"/>
                </a:solidFill>
                <a:latin typeface="Arial"/>
                <a:cs typeface="Arial"/>
              </a:rPr>
              <a:t> </a:t>
            </a:r>
            <a:r>
              <a:rPr sz="1800" dirty="0">
                <a:solidFill>
                  <a:srgbClr val="1F2021"/>
                </a:solidFill>
                <a:latin typeface="Arial"/>
                <a:cs typeface="Arial"/>
              </a:rPr>
              <a:t>−2</a:t>
            </a:r>
            <a:r>
              <a:rPr sz="1800" baseline="25462" dirty="0">
                <a:solidFill>
                  <a:srgbClr val="1F2021"/>
                </a:solidFill>
                <a:latin typeface="Arial"/>
                <a:cs typeface="Arial"/>
              </a:rPr>
              <a:t>53</a:t>
            </a:r>
            <a:r>
              <a:rPr sz="1800" spc="195" baseline="25462" dirty="0">
                <a:solidFill>
                  <a:srgbClr val="1F2021"/>
                </a:solidFill>
                <a:latin typeface="Arial"/>
                <a:cs typeface="Arial"/>
              </a:rPr>
              <a:t> </a:t>
            </a:r>
            <a:r>
              <a:rPr sz="1800" dirty="0">
                <a:solidFill>
                  <a:srgbClr val="1F2021"/>
                </a:solidFill>
                <a:latin typeface="Arial"/>
                <a:cs typeface="Arial"/>
              </a:rPr>
              <a:t>to</a:t>
            </a:r>
            <a:r>
              <a:rPr sz="1800" spc="-25" dirty="0">
                <a:solidFill>
                  <a:srgbClr val="1F2021"/>
                </a:solidFill>
                <a:latin typeface="Arial"/>
                <a:cs typeface="Arial"/>
              </a:rPr>
              <a:t> </a:t>
            </a:r>
            <a:r>
              <a:rPr sz="1800" dirty="0">
                <a:solidFill>
                  <a:srgbClr val="1F2021"/>
                </a:solidFill>
                <a:latin typeface="Arial"/>
                <a:cs typeface="Arial"/>
              </a:rPr>
              <a:t>2</a:t>
            </a:r>
            <a:r>
              <a:rPr sz="1800" baseline="25462" dirty="0">
                <a:solidFill>
                  <a:srgbClr val="1F2021"/>
                </a:solidFill>
                <a:latin typeface="Arial"/>
                <a:cs typeface="Arial"/>
              </a:rPr>
              <a:t>53</a:t>
            </a:r>
            <a:r>
              <a:rPr sz="1800" spc="195" baseline="25462" dirty="0">
                <a:solidFill>
                  <a:srgbClr val="1F2021"/>
                </a:solidFill>
                <a:latin typeface="Arial"/>
                <a:cs typeface="Arial"/>
              </a:rPr>
              <a:t> </a:t>
            </a:r>
            <a:r>
              <a:rPr sz="1800" spc="-10" dirty="0">
                <a:solidFill>
                  <a:srgbClr val="1F2021"/>
                </a:solidFill>
                <a:latin typeface="Arial"/>
                <a:cs typeface="Arial"/>
              </a:rPr>
              <a:t>(−9,007,199,254,740,992</a:t>
            </a:r>
            <a:r>
              <a:rPr sz="1800" spc="10" dirty="0">
                <a:solidFill>
                  <a:srgbClr val="1F2021"/>
                </a:solidFill>
                <a:latin typeface="Arial"/>
                <a:cs typeface="Arial"/>
              </a:rPr>
              <a:t> </a:t>
            </a:r>
            <a:r>
              <a:rPr sz="1800" dirty="0">
                <a:solidFill>
                  <a:srgbClr val="1F2021"/>
                </a:solidFill>
                <a:latin typeface="Arial"/>
                <a:cs typeface="Arial"/>
              </a:rPr>
              <a:t>to</a:t>
            </a:r>
            <a:r>
              <a:rPr sz="1800" spc="-25" dirty="0">
                <a:solidFill>
                  <a:srgbClr val="1F2021"/>
                </a:solidFill>
                <a:latin typeface="Arial"/>
                <a:cs typeface="Arial"/>
              </a:rPr>
              <a:t> </a:t>
            </a:r>
            <a:r>
              <a:rPr sz="1800" dirty="0">
                <a:solidFill>
                  <a:srgbClr val="1F2021"/>
                </a:solidFill>
                <a:latin typeface="Arial"/>
                <a:cs typeface="Arial"/>
              </a:rPr>
              <a:t>9,007,199,254,740,992)</a:t>
            </a:r>
            <a:r>
              <a:rPr sz="1800" spc="20" dirty="0">
                <a:solidFill>
                  <a:srgbClr val="1F2021"/>
                </a:solidFill>
                <a:latin typeface="Arial"/>
                <a:cs typeface="Arial"/>
              </a:rPr>
              <a:t> </a:t>
            </a:r>
            <a:r>
              <a:rPr sz="1800" dirty="0">
                <a:solidFill>
                  <a:srgbClr val="1F2021"/>
                </a:solidFill>
                <a:latin typeface="Arial"/>
                <a:cs typeface="Arial"/>
              </a:rPr>
              <a:t>can</a:t>
            </a:r>
            <a:r>
              <a:rPr sz="1800" spc="-25" dirty="0">
                <a:solidFill>
                  <a:srgbClr val="1F2021"/>
                </a:solidFill>
                <a:latin typeface="Arial"/>
                <a:cs typeface="Arial"/>
              </a:rPr>
              <a:t> </a:t>
            </a:r>
            <a:r>
              <a:rPr sz="1800" dirty="0">
                <a:solidFill>
                  <a:srgbClr val="1F2021"/>
                </a:solidFill>
                <a:latin typeface="Arial"/>
                <a:cs typeface="Arial"/>
              </a:rPr>
              <a:t>be</a:t>
            </a:r>
            <a:r>
              <a:rPr sz="1800" spc="-10" dirty="0">
                <a:solidFill>
                  <a:srgbClr val="1F2021"/>
                </a:solidFill>
                <a:latin typeface="Arial"/>
                <a:cs typeface="Arial"/>
              </a:rPr>
              <a:t> </a:t>
            </a:r>
            <a:r>
              <a:rPr sz="1800" dirty="0">
                <a:solidFill>
                  <a:srgbClr val="1F2021"/>
                </a:solidFill>
                <a:latin typeface="Arial"/>
                <a:cs typeface="Arial"/>
              </a:rPr>
              <a:t>exactly</a:t>
            </a:r>
            <a:r>
              <a:rPr sz="1800" spc="-5" dirty="0">
                <a:solidFill>
                  <a:srgbClr val="1F2021"/>
                </a:solidFill>
                <a:latin typeface="Arial"/>
                <a:cs typeface="Arial"/>
              </a:rPr>
              <a:t> </a:t>
            </a:r>
            <a:r>
              <a:rPr sz="1800" spc="-10" dirty="0">
                <a:solidFill>
                  <a:srgbClr val="1F2021"/>
                </a:solidFill>
                <a:latin typeface="Arial"/>
                <a:cs typeface="Arial"/>
              </a:rPr>
              <a:t>represented</a:t>
            </a:r>
            <a:endParaRPr sz="1800">
              <a:latin typeface="Arial"/>
              <a:cs typeface="Arial"/>
            </a:endParaRPr>
          </a:p>
          <a:p>
            <a:pPr>
              <a:lnSpc>
                <a:spcPct val="100000"/>
              </a:lnSpc>
              <a:spcBef>
                <a:spcPts val="90"/>
              </a:spcBef>
            </a:pPr>
            <a:endParaRPr sz="1800">
              <a:latin typeface="Arial"/>
              <a:cs typeface="Arial"/>
            </a:endParaRPr>
          </a:p>
          <a:p>
            <a:pPr marL="75565" marR="405765">
              <a:lnSpc>
                <a:spcPct val="100000"/>
              </a:lnSpc>
            </a:pPr>
            <a:r>
              <a:rPr sz="1800" dirty="0">
                <a:latin typeface="Arial"/>
                <a:cs typeface="Arial"/>
              </a:rPr>
              <a:t>We</a:t>
            </a:r>
            <a:r>
              <a:rPr sz="1800" spc="-30" dirty="0">
                <a:latin typeface="Arial"/>
                <a:cs typeface="Arial"/>
              </a:rPr>
              <a:t> </a:t>
            </a:r>
            <a:r>
              <a:rPr sz="1800" dirty="0">
                <a:latin typeface="Arial"/>
                <a:cs typeface="Arial"/>
              </a:rPr>
              <a:t>could</a:t>
            </a:r>
            <a:r>
              <a:rPr sz="1800" spc="-15" dirty="0">
                <a:latin typeface="Arial"/>
                <a:cs typeface="Arial"/>
              </a:rPr>
              <a:t> </a:t>
            </a:r>
            <a:r>
              <a:rPr sz="1800" dirty="0">
                <a:latin typeface="Arial"/>
                <a:cs typeface="Arial"/>
              </a:rPr>
              <a:t>then</a:t>
            </a:r>
            <a:r>
              <a:rPr sz="1800" spc="-30" dirty="0">
                <a:latin typeface="Arial"/>
                <a:cs typeface="Arial"/>
              </a:rPr>
              <a:t> </a:t>
            </a:r>
            <a:r>
              <a:rPr sz="1800" dirty="0">
                <a:latin typeface="Arial"/>
                <a:cs typeface="Arial"/>
              </a:rPr>
              <a:t>take</a:t>
            </a:r>
            <a:r>
              <a:rPr sz="1800" spc="-30" dirty="0">
                <a:latin typeface="Arial"/>
                <a:cs typeface="Arial"/>
              </a:rPr>
              <a:t> </a:t>
            </a:r>
            <a:r>
              <a:rPr sz="1800" dirty="0">
                <a:latin typeface="Arial"/>
                <a:cs typeface="Arial"/>
              </a:rPr>
              <a:t>this</a:t>
            </a:r>
            <a:r>
              <a:rPr sz="1800" spc="-25" dirty="0">
                <a:latin typeface="Arial"/>
                <a:cs typeface="Arial"/>
              </a:rPr>
              <a:t> </a:t>
            </a:r>
            <a:r>
              <a:rPr sz="1800" dirty="0">
                <a:latin typeface="Arial"/>
                <a:cs typeface="Arial"/>
              </a:rPr>
              <a:t>range,</a:t>
            </a:r>
            <a:r>
              <a:rPr sz="1800" spc="-10" dirty="0">
                <a:latin typeface="Arial"/>
                <a:cs typeface="Arial"/>
              </a:rPr>
              <a:t> </a:t>
            </a:r>
            <a:r>
              <a:rPr sz="1800" dirty="0">
                <a:latin typeface="Arial"/>
                <a:cs typeface="Arial"/>
              </a:rPr>
              <a:t>which</a:t>
            </a:r>
            <a:r>
              <a:rPr sz="1800" spc="2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2</a:t>
            </a:r>
            <a:r>
              <a:rPr sz="1800" baseline="25462" dirty="0">
                <a:latin typeface="Arial"/>
                <a:cs typeface="Arial"/>
              </a:rPr>
              <a:t>54</a:t>
            </a:r>
            <a:r>
              <a:rPr sz="1800" spc="187" baseline="25462"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spread</a:t>
            </a:r>
            <a:r>
              <a:rPr sz="1800" spc="-15" dirty="0">
                <a:latin typeface="Arial"/>
                <a:cs typeface="Arial"/>
              </a:rPr>
              <a:t> </a:t>
            </a:r>
            <a:r>
              <a:rPr sz="1800" dirty="0">
                <a:latin typeface="Arial"/>
                <a:cs typeface="Arial"/>
              </a:rPr>
              <a:t>our</a:t>
            </a:r>
            <a:r>
              <a:rPr sz="1800" spc="-25" dirty="0">
                <a:latin typeface="Arial"/>
                <a:cs typeface="Arial"/>
              </a:rPr>
              <a:t> </a:t>
            </a:r>
            <a:r>
              <a:rPr sz="1800" dirty="0">
                <a:latin typeface="Arial"/>
                <a:cs typeface="Arial"/>
              </a:rPr>
              <a:t>output</a:t>
            </a:r>
            <a:r>
              <a:rPr sz="1800" spc="-15" dirty="0">
                <a:latin typeface="Arial"/>
                <a:cs typeface="Arial"/>
              </a:rPr>
              <a:t> </a:t>
            </a:r>
            <a:r>
              <a:rPr sz="1800" dirty="0">
                <a:latin typeface="Arial"/>
                <a:cs typeface="Arial"/>
              </a:rPr>
              <a:t>voltage</a:t>
            </a:r>
            <a:r>
              <a:rPr sz="1800" spc="-15" dirty="0">
                <a:latin typeface="Arial"/>
                <a:cs typeface="Arial"/>
              </a:rPr>
              <a:t> </a:t>
            </a:r>
            <a:r>
              <a:rPr sz="1800" dirty="0">
                <a:latin typeface="Arial"/>
                <a:cs typeface="Arial"/>
              </a:rPr>
              <a:t>range</a:t>
            </a:r>
            <a:r>
              <a:rPr sz="1800" spc="-15" dirty="0">
                <a:latin typeface="Arial"/>
                <a:cs typeface="Arial"/>
              </a:rPr>
              <a:t> </a:t>
            </a:r>
            <a:r>
              <a:rPr sz="1800" dirty="0">
                <a:latin typeface="Arial"/>
                <a:cs typeface="Arial"/>
              </a:rPr>
              <a:t>across</a:t>
            </a:r>
            <a:r>
              <a:rPr sz="1800" spc="-10" dirty="0">
                <a:latin typeface="Arial"/>
                <a:cs typeface="Arial"/>
              </a:rPr>
              <a:t> </a:t>
            </a:r>
            <a:r>
              <a:rPr sz="1800" dirty="0">
                <a:latin typeface="Arial"/>
                <a:cs typeface="Arial"/>
              </a:rPr>
              <a:t>that,</a:t>
            </a:r>
            <a:r>
              <a:rPr sz="1800" spc="-30" dirty="0">
                <a:latin typeface="Arial"/>
                <a:cs typeface="Arial"/>
              </a:rPr>
              <a:t> </a:t>
            </a:r>
            <a:r>
              <a:rPr sz="1800" dirty="0">
                <a:latin typeface="Arial"/>
                <a:cs typeface="Arial"/>
              </a:rPr>
              <a:t>giving</a:t>
            </a:r>
            <a:r>
              <a:rPr sz="1800" spc="-15" dirty="0">
                <a:latin typeface="Arial"/>
                <a:cs typeface="Arial"/>
              </a:rPr>
              <a:t> </a:t>
            </a:r>
            <a:r>
              <a:rPr sz="1800" dirty="0">
                <a:latin typeface="Arial"/>
                <a:cs typeface="Arial"/>
              </a:rPr>
              <a:t>us</a:t>
            </a:r>
            <a:r>
              <a:rPr sz="1800" spc="-25" dirty="0">
                <a:latin typeface="Arial"/>
                <a:cs typeface="Arial"/>
              </a:rPr>
              <a:t> </a:t>
            </a:r>
            <a:r>
              <a:rPr sz="1800" spc="-50" dirty="0">
                <a:latin typeface="Arial"/>
                <a:cs typeface="Arial"/>
              </a:rPr>
              <a:t>a </a:t>
            </a:r>
            <a:r>
              <a:rPr sz="1800" dirty="0">
                <a:latin typeface="Arial"/>
                <a:cs typeface="Arial"/>
              </a:rPr>
              <a:t>very</a:t>
            </a:r>
            <a:r>
              <a:rPr sz="1800" spc="-25" dirty="0">
                <a:latin typeface="Arial"/>
                <a:cs typeface="Arial"/>
              </a:rPr>
              <a:t> </a:t>
            </a:r>
            <a:r>
              <a:rPr sz="1800" dirty="0">
                <a:latin typeface="Arial"/>
                <a:cs typeface="Arial"/>
              </a:rPr>
              <a:t>precise</a:t>
            </a:r>
            <a:r>
              <a:rPr sz="1800" spc="-10" dirty="0">
                <a:latin typeface="Arial"/>
                <a:cs typeface="Arial"/>
              </a:rPr>
              <a:t> </a:t>
            </a:r>
            <a:r>
              <a:rPr sz="1800" dirty="0">
                <a:latin typeface="Arial"/>
                <a:cs typeface="Arial"/>
              </a:rPr>
              <a:t>number</a:t>
            </a:r>
            <a:r>
              <a:rPr sz="1800" spc="-10" dirty="0">
                <a:latin typeface="Arial"/>
                <a:cs typeface="Arial"/>
              </a:rPr>
              <a:t> </a:t>
            </a:r>
            <a:r>
              <a:rPr sz="1800" dirty="0">
                <a:latin typeface="Arial"/>
                <a:cs typeface="Arial"/>
              </a:rPr>
              <a:t>for</a:t>
            </a:r>
            <a:r>
              <a:rPr sz="1800" spc="-20" dirty="0">
                <a:latin typeface="Arial"/>
                <a:cs typeface="Arial"/>
              </a:rPr>
              <a:t> </a:t>
            </a:r>
            <a:r>
              <a:rPr sz="1800" dirty="0">
                <a:latin typeface="Arial"/>
                <a:cs typeface="Arial"/>
              </a:rPr>
              <a:t>each</a:t>
            </a:r>
            <a:r>
              <a:rPr sz="1800" spc="-30" dirty="0">
                <a:latin typeface="Arial"/>
                <a:cs typeface="Arial"/>
              </a:rPr>
              <a:t> </a:t>
            </a:r>
            <a:r>
              <a:rPr sz="1800" dirty="0">
                <a:latin typeface="Arial"/>
                <a:cs typeface="Arial"/>
              </a:rPr>
              <a:t>time</a:t>
            </a:r>
            <a:r>
              <a:rPr sz="1800" spc="-25" dirty="0">
                <a:latin typeface="Arial"/>
                <a:cs typeface="Arial"/>
              </a:rPr>
              <a:t> </a:t>
            </a:r>
            <a:r>
              <a:rPr sz="1800" spc="-10" dirty="0">
                <a:latin typeface="Arial"/>
                <a:cs typeface="Arial"/>
              </a:rPr>
              <a:t>step.</a:t>
            </a:r>
            <a:endParaRPr sz="1800">
              <a:latin typeface="Arial"/>
              <a:cs typeface="Arial"/>
            </a:endParaRPr>
          </a:p>
          <a:p>
            <a:pPr>
              <a:lnSpc>
                <a:spcPct val="100000"/>
              </a:lnSpc>
              <a:spcBef>
                <a:spcPts val="90"/>
              </a:spcBef>
            </a:pPr>
            <a:endParaRPr sz="1800">
              <a:latin typeface="Arial"/>
              <a:cs typeface="Arial"/>
            </a:endParaRPr>
          </a:p>
          <a:p>
            <a:pPr marL="75565" marR="574040">
              <a:lnSpc>
                <a:spcPct val="100000"/>
              </a:lnSpc>
            </a:pPr>
            <a:r>
              <a:rPr sz="1800" dirty="0">
                <a:latin typeface="Arial"/>
                <a:cs typeface="Arial"/>
              </a:rPr>
              <a:t>However,</a:t>
            </a:r>
            <a:r>
              <a:rPr sz="1800" spc="25" dirty="0">
                <a:latin typeface="Arial"/>
                <a:cs typeface="Arial"/>
              </a:rPr>
              <a:t> </a:t>
            </a:r>
            <a:r>
              <a:rPr sz="1800" dirty="0">
                <a:latin typeface="Arial"/>
                <a:cs typeface="Arial"/>
              </a:rPr>
              <a:t>there</a:t>
            </a:r>
            <a:r>
              <a:rPr sz="1800" spc="-3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still</a:t>
            </a:r>
            <a:r>
              <a:rPr sz="1800" spc="-15" dirty="0">
                <a:latin typeface="Arial"/>
                <a:cs typeface="Arial"/>
              </a:rPr>
              <a:t> </a:t>
            </a:r>
            <a:r>
              <a:rPr sz="1800" dirty="0">
                <a:latin typeface="Arial"/>
                <a:cs typeface="Arial"/>
              </a:rPr>
              <a:t>going</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be</a:t>
            </a:r>
            <a:r>
              <a:rPr sz="1800" spc="-25" dirty="0">
                <a:latin typeface="Arial"/>
                <a:cs typeface="Arial"/>
              </a:rPr>
              <a:t> </a:t>
            </a:r>
            <a:r>
              <a:rPr sz="1800" dirty="0">
                <a:latin typeface="Arial"/>
                <a:cs typeface="Arial"/>
              </a:rPr>
              <a:t>one</a:t>
            </a:r>
            <a:r>
              <a:rPr sz="1800" spc="-15" dirty="0">
                <a:latin typeface="Arial"/>
                <a:cs typeface="Arial"/>
              </a:rPr>
              <a:t> </a:t>
            </a:r>
            <a:r>
              <a:rPr sz="1800" dirty="0">
                <a:latin typeface="Arial"/>
                <a:cs typeface="Arial"/>
              </a:rPr>
              <a:t>level</a:t>
            </a:r>
            <a:r>
              <a:rPr sz="1800" spc="-15" dirty="0">
                <a:latin typeface="Arial"/>
                <a:cs typeface="Arial"/>
              </a:rPr>
              <a:t> </a:t>
            </a:r>
            <a:r>
              <a:rPr sz="1800" dirty="0">
                <a:latin typeface="Arial"/>
                <a:cs typeface="Arial"/>
              </a:rPr>
              <a:t>per</a:t>
            </a:r>
            <a:r>
              <a:rPr sz="1800" spc="-25" dirty="0">
                <a:latin typeface="Arial"/>
                <a:cs typeface="Arial"/>
              </a:rPr>
              <a:t> </a:t>
            </a:r>
            <a:r>
              <a:rPr sz="1800" dirty="0">
                <a:latin typeface="Arial"/>
                <a:cs typeface="Arial"/>
              </a:rPr>
              <a:t>timestep,</a:t>
            </a:r>
            <a:r>
              <a:rPr sz="1800" spc="-20" dirty="0">
                <a:latin typeface="Arial"/>
                <a:cs typeface="Arial"/>
              </a:rPr>
              <a:t> </a:t>
            </a:r>
            <a:r>
              <a:rPr sz="1800" dirty="0">
                <a:latin typeface="Arial"/>
                <a:cs typeface="Arial"/>
              </a:rPr>
              <a:t>so</a:t>
            </a:r>
            <a:r>
              <a:rPr sz="1800" spc="-30" dirty="0">
                <a:latin typeface="Arial"/>
                <a:cs typeface="Arial"/>
              </a:rPr>
              <a:t> </a:t>
            </a:r>
            <a:r>
              <a:rPr sz="1800" dirty="0">
                <a:latin typeface="Arial"/>
                <a:cs typeface="Arial"/>
              </a:rPr>
              <a:t>there</a:t>
            </a:r>
            <a:r>
              <a:rPr sz="1800" spc="-30" dirty="0">
                <a:latin typeface="Arial"/>
                <a:cs typeface="Arial"/>
              </a:rPr>
              <a:t> </a:t>
            </a:r>
            <a:r>
              <a:rPr sz="1800" dirty="0">
                <a:latin typeface="Arial"/>
                <a:cs typeface="Arial"/>
              </a:rPr>
              <a:t>is</a:t>
            </a:r>
            <a:r>
              <a:rPr sz="1800" spc="-25" dirty="0">
                <a:latin typeface="Arial"/>
                <a:cs typeface="Arial"/>
              </a:rPr>
              <a:t> </a:t>
            </a:r>
            <a:r>
              <a:rPr sz="1800" dirty="0">
                <a:latin typeface="Arial"/>
                <a:cs typeface="Arial"/>
              </a:rPr>
              <a:t>some</a:t>
            </a:r>
            <a:r>
              <a:rPr sz="1800" spc="-15" dirty="0">
                <a:latin typeface="Arial"/>
                <a:cs typeface="Arial"/>
              </a:rPr>
              <a:t> </a:t>
            </a:r>
            <a:r>
              <a:rPr sz="1800" dirty="0">
                <a:latin typeface="Arial"/>
                <a:cs typeface="Arial"/>
              </a:rPr>
              <a:t>level</a:t>
            </a:r>
            <a:r>
              <a:rPr sz="1800" spc="-1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quantization</a:t>
            </a:r>
            <a:r>
              <a:rPr sz="1800" spc="-5" dirty="0">
                <a:latin typeface="Arial"/>
                <a:cs typeface="Arial"/>
              </a:rPr>
              <a:t> </a:t>
            </a:r>
            <a:r>
              <a:rPr sz="1800" dirty="0">
                <a:latin typeface="Arial"/>
                <a:cs typeface="Arial"/>
              </a:rPr>
              <a:t>in</a:t>
            </a:r>
            <a:r>
              <a:rPr sz="1800" spc="-15" dirty="0">
                <a:latin typeface="Arial"/>
                <a:cs typeface="Arial"/>
              </a:rPr>
              <a:t> </a:t>
            </a:r>
            <a:r>
              <a:rPr sz="1800" spc="-20" dirty="0">
                <a:latin typeface="Arial"/>
                <a:cs typeface="Arial"/>
              </a:rPr>
              <a:t>both </a:t>
            </a:r>
            <a:r>
              <a:rPr sz="1800" dirty="0">
                <a:latin typeface="Arial"/>
                <a:cs typeface="Arial"/>
              </a:rPr>
              <a:t>voltage</a:t>
            </a:r>
            <a:r>
              <a:rPr sz="1800" spc="-30" dirty="0">
                <a:latin typeface="Arial"/>
                <a:cs typeface="Arial"/>
              </a:rPr>
              <a:t> </a:t>
            </a:r>
            <a:r>
              <a:rPr sz="1800" dirty="0">
                <a:latin typeface="Arial"/>
                <a:cs typeface="Arial"/>
              </a:rPr>
              <a:t>and</a:t>
            </a:r>
            <a:r>
              <a:rPr sz="1800" spc="-15" dirty="0">
                <a:latin typeface="Arial"/>
                <a:cs typeface="Arial"/>
              </a:rPr>
              <a:t> </a:t>
            </a:r>
            <a:r>
              <a:rPr sz="1800" spc="-20" dirty="0">
                <a:latin typeface="Arial"/>
                <a:cs typeface="Arial"/>
              </a:rPr>
              <a:t>time</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587500"/>
            <a:ext cx="939800" cy="939800"/>
            <a:chOff x="444500" y="1587500"/>
            <a:chExt cx="939800" cy="939800"/>
          </a:xfrm>
        </p:grpSpPr>
        <p:sp>
          <p:nvSpPr>
            <p:cNvPr id="4" name="object 4"/>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5" name="object 5"/>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6" name="object 6"/>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587500"/>
            <a:ext cx="939800" cy="939800"/>
            <a:chOff x="1617002" y="1587500"/>
            <a:chExt cx="939800" cy="939800"/>
          </a:xfrm>
        </p:grpSpPr>
        <p:sp>
          <p:nvSpPr>
            <p:cNvPr id="8" name="object 8"/>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587500"/>
            <a:ext cx="939800" cy="939800"/>
            <a:chOff x="2875699" y="1587500"/>
            <a:chExt cx="939800" cy="939800"/>
          </a:xfrm>
        </p:grpSpPr>
        <p:sp>
          <p:nvSpPr>
            <p:cNvPr id="12" name="object 12"/>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3" name="object 13"/>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4" name="object 14"/>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587500"/>
            <a:ext cx="939800" cy="939800"/>
            <a:chOff x="4125455" y="1587500"/>
            <a:chExt cx="939800" cy="939800"/>
          </a:xfrm>
        </p:grpSpPr>
        <p:sp>
          <p:nvSpPr>
            <p:cNvPr id="16" name="object 16"/>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7" name="object 17"/>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8" name="object 18"/>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587500"/>
            <a:ext cx="939800" cy="939800"/>
            <a:chOff x="7344371" y="1587500"/>
            <a:chExt cx="939800" cy="939800"/>
          </a:xfrm>
        </p:grpSpPr>
        <p:sp>
          <p:nvSpPr>
            <p:cNvPr id="20" name="object 20"/>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587500"/>
            <a:ext cx="939800" cy="939800"/>
            <a:chOff x="9712108" y="1587500"/>
            <a:chExt cx="939800" cy="939800"/>
          </a:xfrm>
        </p:grpSpPr>
        <p:sp>
          <p:nvSpPr>
            <p:cNvPr id="24" name="object 24"/>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592948"/>
            <a:ext cx="939800" cy="939800"/>
            <a:chOff x="8539619" y="1592948"/>
            <a:chExt cx="939800" cy="939800"/>
          </a:xfrm>
        </p:grpSpPr>
        <p:sp>
          <p:nvSpPr>
            <p:cNvPr id="28" name="object 28"/>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597329"/>
            <a:ext cx="939800" cy="939800"/>
            <a:chOff x="10829823" y="1597329"/>
            <a:chExt cx="939800" cy="939800"/>
          </a:xfrm>
        </p:grpSpPr>
        <p:sp>
          <p:nvSpPr>
            <p:cNvPr id="32" name="object 32"/>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3" name="object 33"/>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4" name="object 34"/>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968500"/>
            <a:ext cx="1877695" cy="177800"/>
            <a:chOff x="5245100" y="1968500"/>
            <a:chExt cx="1877695" cy="177800"/>
          </a:xfrm>
        </p:grpSpPr>
        <p:sp>
          <p:nvSpPr>
            <p:cNvPr id="38" name="object 38"/>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2237331" y="3009322"/>
            <a:ext cx="6957093" cy="363430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2140" y="3151123"/>
            <a:ext cx="10765790" cy="249428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However,</a:t>
            </a:r>
            <a:r>
              <a:rPr sz="1800" spc="20" dirty="0">
                <a:latin typeface="Arial"/>
                <a:cs typeface="Arial"/>
              </a:rPr>
              <a:t> </a:t>
            </a:r>
            <a:r>
              <a:rPr sz="1800" dirty="0">
                <a:latin typeface="Arial"/>
                <a:cs typeface="Arial"/>
              </a:rPr>
              <a:t>we</a:t>
            </a:r>
            <a:r>
              <a:rPr sz="1800" spc="5" dirty="0">
                <a:latin typeface="Arial"/>
                <a:cs typeface="Arial"/>
              </a:rPr>
              <a:t> </a:t>
            </a:r>
            <a:r>
              <a:rPr sz="1800" dirty="0">
                <a:latin typeface="Arial"/>
                <a:cs typeface="Arial"/>
              </a:rPr>
              <a:t>can’t</a:t>
            </a:r>
            <a:r>
              <a:rPr sz="1800" spc="-10" dirty="0">
                <a:latin typeface="Arial"/>
                <a:cs typeface="Arial"/>
              </a:rPr>
              <a:t> </a:t>
            </a:r>
            <a:r>
              <a:rPr sz="1800" dirty="0">
                <a:latin typeface="Arial"/>
                <a:cs typeface="Arial"/>
              </a:rPr>
              <a:t>drive</a:t>
            </a:r>
            <a:r>
              <a:rPr sz="1800" spc="-30" dirty="0">
                <a:latin typeface="Arial"/>
                <a:cs typeface="Arial"/>
              </a:rPr>
              <a:t> </a:t>
            </a:r>
            <a:r>
              <a:rPr sz="1800" dirty="0">
                <a:latin typeface="Arial"/>
                <a:cs typeface="Arial"/>
              </a:rPr>
              <a:t>an</a:t>
            </a:r>
            <a:r>
              <a:rPr sz="1800" spc="-1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with</a:t>
            </a:r>
            <a:r>
              <a:rPr sz="1800" spc="1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double</a:t>
            </a:r>
            <a:r>
              <a:rPr sz="1800" spc="-20" dirty="0">
                <a:latin typeface="Arial"/>
                <a:cs typeface="Arial"/>
              </a:rPr>
              <a:t> </a:t>
            </a:r>
            <a:r>
              <a:rPr sz="1800" dirty="0">
                <a:latin typeface="Arial"/>
                <a:cs typeface="Arial"/>
              </a:rPr>
              <a:t>precision</a:t>
            </a:r>
            <a:r>
              <a:rPr sz="1800" spc="-5" dirty="0">
                <a:latin typeface="Arial"/>
                <a:cs typeface="Arial"/>
              </a:rPr>
              <a:t> </a:t>
            </a:r>
            <a:r>
              <a:rPr sz="1800" dirty="0">
                <a:latin typeface="Arial"/>
                <a:cs typeface="Arial"/>
              </a:rPr>
              <a:t>number,</a:t>
            </a:r>
            <a:r>
              <a:rPr sz="1800" spc="-15" dirty="0">
                <a:latin typeface="Arial"/>
                <a:cs typeface="Arial"/>
              </a:rPr>
              <a:t> </a:t>
            </a:r>
            <a:r>
              <a:rPr sz="1800" dirty="0">
                <a:latin typeface="Arial"/>
                <a:cs typeface="Arial"/>
              </a:rPr>
              <a:t>that’s</a:t>
            </a:r>
            <a:r>
              <a:rPr sz="1800" spc="-30" dirty="0">
                <a:latin typeface="Arial"/>
                <a:cs typeface="Arial"/>
              </a:rPr>
              <a:t> </a:t>
            </a:r>
            <a:r>
              <a:rPr sz="1800" dirty="0">
                <a:latin typeface="Arial"/>
                <a:cs typeface="Arial"/>
              </a:rPr>
              <a:t>just</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bunch</a:t>
            </a:r>
            <a:r>
              <a:rPr sz="1800" spc="-15" dirty="0">
                <a:latin typeface="Arial"/>
                <a:cs typeface="Arial"/>
              </a:rPr>
              <a:t> </a:t>
            </a:r>
            <a:r>
              <a:rPr sz="1800" dirty="0">
                <a:latin typeface="Arial"/>
                <a:cs typeface="Arial"/>
              </a:rPr>
              <a:t>of</a:t>
            </a:r>
            <a:r>
              <a:rPr sz="1800" spc="-35" dirty="0">
                <a:latin typeface="Arial"/>
                <a:cs typeface="Arial"/>
              </a:rPr>
              <a:t> </a:t>
            </a:r>
            <a:r>
              <a:rPr sz="1800" dirty="0">
                <a:latin typeface="Arial"/>
                <a:cs typeface="Arial"/>
              </a:rPr>
              <a:t>1’s</a:t>
            </a:r>
            <a:r>
              <a:rPr sz="1800" spc="-10" dirty="0">
                <a:latin typeface="Arial"/>
                <a:cs typeface="Arial"/>
              </a:rPr>
              <a:t> </a:t>
            </a:r>
            <a:r>
              <a:rPr sz="1800" dirty="0">
                <a:latin typeface="Arial"/>
                <a:cs typeface="Arial"/>
              </a:rPr>
              <a:t>and</a:t>
            </a:r>
            <a:r>
              <a:rPr sz="1800" spc="-35" dirty="0">
                <a:latin typeface="Arial"/>
                <a:cs typeface="Arial"/>
              </a:rPr>
              <a:t> </a:t>
            </a:r>
            <a:r>
              <a:rPr sz="1800" spc="-25" dirty="0">
                <a:latin typeface="Arial"/>
                <a:cs typeface="Arial"/>
              </a:rPr>
              <a:t>0’s</a:t>
            </a:r>
            <a:endParaRPr sz="1800">
              <a:latin typeface="Arial"/>
              <a:cs typeface="Arial"/>
            </a:endParaRPr>
          </a:p>
          <a:p>
            <a:pPr>
              <a:lnSpc>
                <a:spcPct val="100000"/>
              </a:lnSpc>
              <a:spcBef>
                <a:spcPts val="90"/>
              </a:spcBef>
            </a:pPr>
            <a:endParaRPr sz="1800">
              <a:latin typeface="Arial"/>
              <a:cs typeface="Arial"/>
            </a:endParaRPr>
          </a:p>
          <a:p>
            <a:pPr marL="12700">
              <a:lnSpc>
                <a:spcPct val="100000"/>
              </a:lnSpc>
            </a:pPr>
            <a:r>
              <a:rPr sz="1800" dirty="0">
                <a:latin typeface="Arial"/>
                <a:cs typeface="Arial"/>
              </a:rPr>
              <a:t>We</a:t>
            </a:r>
            <a:r>
              <a:rPr sz="1800" spc="-25" dirty="0">
                <a:latin typeface="Arial"/>
                <a:cs typeface="Arial"/>
              </a:rPr>
              <a:t> </a:t>
            </a:r>
            <a:r>
              <a:rPr sz="1800" dirty="0">
                <a:latin typeface="Arial"/>
                <a:cs typeface="Arial"/>
              </a:rPr>
              <a:t>need</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convert</a:t>
            </a:r>
            <a:r>
              <a:rPr sz="1800" spc="-5" dirty="0">
                <a:latin typeface="Arial"/>
                <a:cs typeface="Arial"/>
              </a:rPr>
              <a:t> </a:t>
            </a:r>
            <a:r>
              <a:rPr sz="1800" dirty="0">
                <a:latin typeface="Arial"/>
                <a:cs typeface="Arial"/>
              </a:rPr>
              <a:t>those</a:t>
            </a:r>
            <a:r>
              <a:rPr sz="1800" spc="-25" dirty="0">
                <a:latin typeface="Arial"/>
                <a:cs typeface="Arial"/>
              </a:rPr>
              <a:t> </a:t>
            </a:r>
            <a:r>
              <a:rPr sz="1800" dirty="0">
                <a:latin typeface="Arial"/>
                <a:cs typeface="Arial"/>
              </a:rPr>
              <a:t>into</a:t>
            </a:r>
            <a:r>
              <a:rPr sz="1800" spc="-20" dirty="0">
                <a:latin typeface="Arial"/>
                <a:cs typeface="Arial"/>
              </a:rPr>
              <a:t> </a:t>
            </a:r>
            <a:r>
              <a:rPr sz="1800" dirty="0">
                <a:latin typeface="Arial"/>
                <a:cs typeface="Arial"/>
              </a:rPr>
              <a:t>an</a:t>
            </a:r>
            <a:r>
              <a:rPr sz="1800" spc="-10" dirty="0">
                <a:latin typeface="Arial"/>
                <a:cs typeface="Arial"/>
              </a:rPr>
              <a:t> </a:t>
            </a:r>
            <a:r>
              <a:rPr sz="1800" dirty="0">
                <a:latin typeface="Arial"/>
                <a:cs typeface="Arial"/>
              </a:rPr>
              <a:t>actual</a:t>
            </a:r>
            <a:r>
              <a:rPr sz="1800" spc="-20" dirty="0">
                <a:latin typeface="Arial"/>
                <a:cs typeface="Arial"/>
              </a:rPr>
              <a:t> </a:t>
            </a:r>
            <a:r>
              <a:rPr sz="1800" dirty="0">
                <a:latin typeface="Arial"/>
                <a:cs typeface="Arial"/>
              </a:rPr>
              <a:t>voltage</a:t>
            </a:r>
            <a:r>
              <a:rPr sz="1800" spc="-5" dirty="0">
                <a:latin typeface="Arial"/>
                <a:cs typeface="Arial"/>
              </a:rPr>
              <a:t> </a:t>
            </a:r>
            <a:r>
              <a:rPr sz="1800" dirty="0">
                <a:latin typeface="Arial"/>
                <a:cs typeface="Arial"/>
              </a:rPr>
              <a:t>value</a:t>
            </a:r>
            <a:r>
              <a:rPr sz="1800" spc="-10"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apply to</a:t>
            </a:r>
            <a:r>
              <a:rPr sz="1800" spc="-25" dirty="0">
                <a:latin typeface="Arial"/>
                <a:cs typeface="Arial"/>
              </a:rPr>
              <a:t> </a:t>
            </a:r>
            <a:r>
              <a:rPr sz="1800" dirty="0">
                <a:latin typeface="Arial"/>
                <a:cs typeface="Arial"/>
              </a:rPr>
              <a:t>the</a:t>
            </a:r>
            <a:r>
              <a:rPr sz="1800" spc="-25" dirty="0">
                <a:latin typeface="Arial"/>
                <a:cs typeface="Arial"/>
              </a:rPr>
              <a:t> </a:t>
            </a:r>
            <a:r>
              <a:rPr sz="1800" spc="-20" dirty="0">
                <a:latin typeface="Arial"/>
                <a:cs typeface="Arial"/>
              </a:rPr>
              <a:t>LED.</a:t>
            </a:r>
            <a:endParaRPr sz="1800">
              <a:latin typeface="Arial"/>
              <a:cs typeface="Arial"/>
            </a:endParaRPr>
          </a:p>
          <a:p>
            <a:pPr>
              <a:lnSpc>
                <a:spcPct val="100000"/>
              </a:lnSpc>
              <a:spcBef>
                <a:spcPts val="90"/>
              </a:spcBef>
            </a:pPr>
            <a:endParaRPr sz="1800">
              <a:latin typeface="Arial"/>
              <a:cs typeface="Arial"/>
            </a:endParaRPr>
          </a:p>
          <a:p>
            <a:pPr marL="12700" marR="702945">
              <a:lnSpc>
                <a:spcPct val="100000"/>
              </a:lnSpc>
            </a:pPr>
            <a:r>
              <a:rPr sz="1800" dirty="0">
                <a:latin typeface="Arial"/>
                <a:cs typeface="Arial"/>
              </a:rPr>
              <a:t>We</a:t>
            </a:r>
            <a:r>
              <a:rPr sz="1800" spc="-40" dirty="0">
                <a:latin typeface="Arial"/>
                <a:cs typeface="Arial"/>
              </a:rPr>
              <a:t> </a:t>
            </a:r>
            <a:r>
              <a:rPr sz="1800" dirty="0">
                <a:latin typeface="Arial"/>
                <a:cs typeface="Arial"/>
              </a:rPr>
              <a:t>would</a:t>
            </a:r>
            <a:r>
              <a:rPr sz="1800" spc="25" dirty="0">
                <a:latin typeface="Arial"/>
                <a:cs typeface="Arial"/>
              </a:rPr>
              <a:t> </a:t>
            </a:r>
            <a:r>
              <a:rPr sz="1800" dirty="0">
                <a:latin typeface="Arial"/>
                <a:cs typeface="Arial"/>
              </a:rPr>
              <a:t>use</a:t>
            </a:r>
            <a:r>
              <a:rPr sz="1800" spc="-2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digital to</a:t>
            </a:r>
            <a:r>
              <a:rPr sz="1800" spc="-35" dirty="0">
                <a:latin typeface="Arial"/>
                <a:cs typeface="Arial"/>
              </a:rPr>
              <a:t> </a:t>
            </a:r>
            <a:r>
              <a:rPr sz="1800" dirty="0">
                <a:latin typeface="Arial"/>
                <a:cs typeface="Arial"/>
              </a:rPr>
              <a:t>analog</a:t>
            </a:r>
            <a:r>
              <a:rPr sz="1800" spc="-5" dirty="0">
                <a:latin typeface="Arial"/>
                <a:cs typeface="Arial"/>
              </a:rPr>
              <a:t> </a:t>
            </a:r>
            <a:r>
              <a:rPr sz="1800" dirty="0">
                <a:latin typeface="Arial"/>
                <a:cs typeface="Arial"/>
              </a:rPr>
              <a:t>converter</a:t>
            </a:r>
            <a:r>
              <a:rPr sz="1800" spc="-5" dirty="0">
                <a:latin typeface="Arial"/>
                <a:cs typeface="Arial"/>
              </a:rPr>
              <a:t> </a:t>
            </a:r>
            <a:r>
              <a:rPr sz="1800" dirty="0">
                <a:latin typeface="Arial"/>
                <a:cs typeface="Arial"/>
              </a:rPr>
              <a:t>(DAC)</a:t>
            </a:r>
            <a:r>
              <a:rPr sz="1800" spc="-20"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do</a:t>
            </a:r>
            <a:r>
              <a:rPr sz="1800" spc="-30" dirty="0">
                <a:latin typeface="Arial"/>
                <a:cs typeface="Arial"/>
              </a:rPr>
              <a:t> </a:t>
            </a:r>
            <a:r>
              <a:rPr sz="1800" dirty="0">
                <a:latin typeface="Arial"/>
                <a:cs typeface="Arial"/>
              </a:rPr>
              <a:t>this.</a:t>
            </a:r>
            <a:r>
              <a:rPr sz="1800" spc="-15" dirty="0">
                <a:latin typeface="Arial"/>
                <a:cs typeface="Arial"/>
              </a:rPr>
              <a:t> </a:t>
            </a:r>
            <a:r>
              <a:rPr sz="1800" dirty="0">
                <a:latin typeface="Arial"/>
                <a:cs typeface="Arial"/>
              </a:rPr>
              <a:t>This</a:t>
            </a:r>
            <a:r>
              <a:rPr sz="1800" spc="-30" dirty="0">
                <a:latin typeface="Arial"/>
                <a:cs typeface="Arial"/>
              </a:rPr>
              <a:t> </a:t>
            </a:r>
            <a:r>
              <a:rPr sz="1800" dirty="0">
                <a:latin typeface="Arial"/>
                <a:cs typeface="Arial"/>
              </a:rPr>
              <a:t>takes</a:t>
            </a:r>
            <a:r>
              <a:rPr sz="1800" spc="-20"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some</a:t>
            </a:r>
            <a:r>
              <a:rPr sz="1800" spc="-30"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15" dirty="0">
                <a:latin typeface="Arial"/>
                <a:cs typeface="Arial"/>
              </a:rPr>
              <a:t> </a:t>
            </a:r>
            <a:r>
              <a:rPr sz="1800" dirty="0">
                <a:latin typeface="Arial"/>
                <a:cs typeface="Arial"/>
              </a:rPr>
              <a:t>bits,</a:t>
            </a:r>
            <a:r>
              <a:rPr sz="1800" spc="-15" dirty="0">
                <a:latin typeface="Arial"/>
                <a:cs typeface="Arial"/>
              </a:rPr>
              <a:t> </a:t>
            </a:r>
            <a:r>
              <a:rPr sz="1800" spc="-25" dirty="0">
                <a:latin typeface="Arial"/>
                <a:cs typeface="Arial"/>
              </a:rPr>
              <a:t>and </a:t>
            </a:r>
            <a:r>
              <a:rPr sz="1800" dirty="0">
                <a:latin typeface="Arial"/>
                <a:cs typeface="Arial"/>
              </a:rPr>
              <a:t>depending</a:t>
            </a:r>
            <a:r>
              <a:rPr sz="1800" spc="-20" dirty="0">
                <a:latin typeface="Arial"/>
                <a:cs typeface="Arial"/>
              </a:rPr>
              <a:t> </a:t>
            </a:r>
            <a:r>
              <a:rPr sz="1800" dirty="0">
                <a:latin typeface="Arial"/>
                <a:cs typeface="Arial"/>
              </a:rPr>
              <a:t>on</a:t>
            </a:r>
            <a:r>
              <a:rPr sz="1800" spc="-4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values,</a:t>
            </a:r>
            <a:r>
              <a:rPr sz="1800" spc="-20" dirty="0">
                <a:latin typeface="Arial"/>
                <a:cs typeface="Arial"/>
              </a:rPr>
              <a:t> </a:t>
            </a:r>
            <a:r>
              <a:rPr sz="1800" dirty="0">
                <a:latin typeface="Arial"/>
                <a:cs typeface="Arial"/>
              </a:rPr>
              <a:t>it</a:t>
            </a:r>
            <a:r>
              <a:rPr sz="1800" spc="-40" dirty="0">
                <a:latin typeface="Arial"/>
                <a:cs typeface="Arial"/>
              </a:rPr>
              <a:t> </a:t>
            </a:r>
            <a:r>
              <a:rPr sz="1800" dirty="0">
                <a:latin typeface="Arial"/>
                <a:cs typeface="Arial"/>
              </a:rPr>
              <a:t>outputs</a:t>
            </a:r>
            <a:r>
              <a:rPr sz="1800" spc="-2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corresponding</a:t>
            </a:r>
            <a:r>
              <a:rPr sz="1800" spc="-15" dirty="0">
                <a:latin typeface="Arial"/>
                <a:cs typeface="Arial"/>
              </a:rPr>
              <a:t> </a:t>
            </a:r>
            <a:r>
              <a:rPr sz="1800" dirty="0">
                <a:latin typeface="Arial"/>
                <a:cs typeface="Arial"/>
              </a:rPr>
              <a:t>analog</a:t>
            </a:r>
            <a:r>
              <a:rPr sz="1800" spc="-15" dirty="0">
                <a:latin typeface="Arial"/>
                <a:cs typeface="Arial"/>
              </a:rPr>
              <a:t> </a:t>
            </a:r>
            <a:r>
              <a:rPr sz="1800" spc="-10" dirty="0">
                <a:latin typeface="Arial"/>
                <a:cs typeface="Arial"/>
              </a:rPr>
              <a:t>signal</a:t>
            </a:r>
            <a:endParaRPr sz="1800">
              <a:latin typeface="Arial"/>
              <a:cs typeface="Arial"/>
            </a:endParaRPr>
          </a:p>
          <a:p>
            <a:pPr>
              <a:lnSpc>
                <a:spcPct val="100000"/>
              </a:lnSpc>
              <a:spcBef>
                <a:spcPts val="90"/>
              </a:spcBef>
            </a:pPr>
            <a:endParaRPr sz="1800">
              <a:latin typeface="Arial"/>
              <a:cs typeface="Arial"/>
            </a:endParaRPr>
          </a:p>
          <a:p>
            <a:pPr marL="12700" marR="5080">
              <a:lnSpc>
                <a:spcPct val="100000"/>
              </a:lnSpc>
            </a:pPr>
            <a:r>
              <a:rPr sz="1800" dirty="0">
                <a:latin typeface="Arial"/>
                <a:cs typeface="Arial"/>
              </a:rPr>
              <a:t>This</a:t>
            </a:r>
            <a:r>
              <a:rPr sz="1800" spc="-35" dirty="0">
                <a:latin typeface="Arial"/>
                <a:cs typeface="Arial"/>
              </a:rPr>
              <a:t> </a:t>
            </a:r>
            <a:r>
              <a:rPr sz="1800" dirty="0">
                <a:latin typeface="Arial"/>
                <a:cs typeface="Arial"/>
              </a:rPr>
              <a:t>DAC</a:t>
            </a:r>
            <a:r>
              <a:rPr sz="1800" spc="-30" dirty="0">
                <a:latin typeface="Arial"/>
                <a:cs typeface="Arial"/>
              </a:rPr>
              <a:t> </a:t>
            </a:r>
            <a:r>
              <a:rPr sz="1800" dirty="0">
                <a:latin typeface="Arial"/>
                <a:cs typeface="Arial"/>
              </a:rPr>
              <a:t>needs</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be</a:t>
            </a:r>
            <a:r>
              <a:rPr sz="1800" spc="-30" dirty="0">
                <a:latin typeface="Arial"/>
                <a:cs typeface="Arial"/>
              </a:rPr>
              <a:t> </a:t>
            </a:r>
            <a:r>
              <a:rPr sz="1800" dirty="0">
                <a:latin typeface="Arial"/>
                <a:cs typeface="Arial"/>
              </a:rPr>
              <a:t>able</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take</a:t>
            </a:r>
            <a:r>
              <a:rPr sz="1800" spc="-30" dirty="0">
                <a:latin typeface="Arial"/>
                <a:cs typeface="Arial"/>
              </a:rPr>
              <a:t> </a:t>
            </a:r>
            <a:r>
              <a:rPr sz="1800" dirty="0">
                <a:latin typeface="Arial"/>
                <a:cs typeface="Arial"/>
              </a:rPr>
              <a:t>an</a:t>
            </a:r>
            <a:r>
              <a:rPr sz="1800" spc="-30" dirty="0">
                <a:latin typeface="Arial"/>
                <a:cs typeface="Arial"/>
              </a:rPr>
              <a:t> </a:t>
            </a:r>
            <a:r>
              <a:rPr sz="1800" dirty="0">
                <a:latin typeface="Arial"/>
                <a:cs typeface="Arial"/>
              </a:rPr>
              <a:t>input,</a:t>
            </a:r>
            <a:r>
              <a:rPr sz="1800" spc="-10" dirty="0">
                <a:latin typeface="Arial"/>
                <a:cs typeface="Arial"/>
              </a:rPr>
              <a:t> </a:t>
            </a:r>
            <a:r>
              <a:rPr sz="1800" dirty="0">
                <a:latin typeface="Arial"/>
                <a:cs typeface="Arial"/>
              </a:rPr>
              <a:t>and</a:t>
            </a:r>
            <a:r>
              <a:rPr sz="1800" spc="-30" dirty="0">
                <a:latin typeface="Arial"/>
                <a:cs typeface="Arial"/>
              </a:rPr>
              <a:t> </a:t>
            </a:r>
            <a:r>
              <a:rPr sz="1800" dirty="0">
                <a:latin typeface="Arial"/>
                <a:cs typeface="Arial"/>
              </a:rPr>
              <a:t>“instantly”</a:t>
            </a:r>
            <a:r>
              <a:rPr sz="1800" spc="10" dirty="0">
                <a:latin typeface="Arial"/>
                <a:cs typeface="Arial"/>
              </a:rPr>
              <a:t> </a:t>
            </a:r>
            <a:r>
              <a:rPr sz="1800" dirty="0">
                <a:latin typeface="Arial"/>
                <a:cs typeface="Arial"/>
              </a:rPr>
              <a:t>change</a:t>
            </a:r>
            <a:r>
              <a:rPr sz="1800" spc="-1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output</a:t>
            </a:r>
            <a:r>
              <a:rPr sz="1800" spc="-10" dirty="0">
                <a:latin typeface="Arial"/>
                <a:cs typeface="Arial"/>
              </a:rPr>
              <a:t> </a:t>
            </a:r>
            <a:r>
              <a:rPr sz="1800" dirty="0">
                <a:latin typeface="Arial"/>
                <a:cs typeface="Arial"/>
              </a:rPr>
              <a:t>analog</a:t>
            </a:r>
            <a:r>
              <a:rPr sz="1800" spc="-15" dirty="0">
                <a:latin typeface="Arial"/>
                <a:cs typeface="Arial"/>
              </a:rPr>
              <a:t> </a:t>
            </a:r>
            <a:r>
              <a:rPr sz="1800" dirty="0">
                <a:latin typeface="Arial"/>
                <a:cs typeface="Arial"/>
              </a:rPr>
              <a:t>voltage</a:t>
            </a:r>
            <a:r>
              <a:rPr sz="1800" spc="-15"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reflect</a:t>
            </a:r>
            <a:r>
              <a:rPr sz="1800" spc="-20" dirty="0">
                <a:latin typeface="Arial"/>
                <a:cs typeface="Arial"/>
              </a:rPr>
              <a:t> that </a:t>
            </a:r>
            <a:r>
              <a:rPr sz="1800" spc="-10" dirty="0">
                <a:latin typeface="Arial"/>
                <a:cs typeface="Arial"/>
              </a:rPr>
              <a:t>input.</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523574" y="3023304"/>
            <a:ext cx="10922000" cy="359156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There</a:t>
            </a:r>
            <a:r>
              <a:rPr sz="1800" spc="-35" dirty="0">
                <a:latin typeface="Arial"/>
                <a:cs typeface="Arial"/>
              </a:rPr>
              <a:t> </a:t>
            </a:r>
            <a:r>
              <a:rPr sz="1800" dirty="0">
                <a:latin typeface="Arial"/>
                <a:cs typeface="Arial"/>
              </a:rPr>
              <a:t>are</a:t>
            </a:r>
            <a:r>
              <a:rPr sz="1800" spc="-10" dirty="0">
                <a:latin typeface="Arial"/>
                <a:cs typeface="Arial"/>
              </a:rPr>
              <a:t> </a:t>
            </a:r>
            <a:r>
              <a:rPr sz="1800" dirty="0">
                <a:latin typeface="Arial"/>
                <a:cs typeface="Arial"/>
              </a:rPr>
              <a:t>a</a:t>
            </a:r>
            <a:r>
              <a:rPr sz="1800" spc="-20"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noise</a:t>
            </a:r>
            <a:r>
              <a:rPr sz="1800" spc="-10" dirty="0">
                <a:latin typeface="Arial"/>
                <a:cs typeface="Arial"/>
              </a:rPr>
              <a:t> </a:t>
            </a:r>
            <a:r>
              <a:rPr sz="1800" dirty="0">
                <a:latin typeface="Arial"/>
                <a:cs typeface="Arial"/>
              </a:rPr>
              <a:t>sources</a:t>
            </a:r>
            <a:r>
              <a:rPr sz="1800" spc="-5" dirty="0">
                <a:latin typeface="Arial"/>
                <a:cs typeface="Arial"/>
              </a:rPr>
              <a:t> </a:t>
            </a:r>
            <a:r>
              <a:rPr sz="1800" dirty="0">
                <a:latin typeface="Arial"/>
                <a:cs typeface="Arial"/>
              </a:rPr>
              <a:t>that</a:t>
            </a:r>
            <a:r>
              <a:rPr sz="1800" spc="-10" dirty="0">
                <a:latin typeface="Arial"/>
                <a:cs typeface="Arial"/>
              </a:rPr>
              <a:t> </a:t>
            </a:r>
            <a:r>
              <a:rPr sz="1800" dirty="0">
                <a:latin typeface="Arial"/>
                <a:cs typeface="Arial"/>
              </a:rPr>
              <a:t>are</a:t>
            </a:r>
            <a:r>
              <a:rPr sz="1800" spc="-25" dirty="0">
                <a:latin typeface="Arial"/>
                <a:cs typeface="Arial"/>
              </a:rPr>
              <a:t> </a:t>
            </a:r>
            <a:r>
              <a:rPr sz="1800" spc="-10" dirty="0">
                <a:latin typeface="Arial"/>
                <a:cs typeface="Arial"/>
              </a:rPr>
              <a:t>relevant:</a:t>
            </a:r>
            <a:endParaRPr sz="1800">
              <a:latin typeface="Arial"/>
              <a:cs typeface="Arial"/>
            </a:endParaRPr>
          </a:p>
          <a:p>
            <a:pPr>
              <a:lnSpc>
                <a:spcPct val="100000"/>
              </a:lnSpc>
              <a:spcBef>
                <a:spcPts val="90"/>
              </a:spcBef>
            </a:pPr>
            <a:endParaRPr sz="1800">
              <a:latin typeface="Arial"/>
              <a:cs typeface="Arial"/>
            </a:endParaRPr>
          </a:p>
          <a:p>
            <a:pPr marL="12700" marR="5080" indent="-10160">
              <a:lnSpc>
                <a:spcPct val="100000"/>
              </a:lnSpc>
              <a:buSzPct val="94444"/>
              <a:buFont typeface="Arial"/>
              <a:buChar char="•"/>
              <a:tabLst>
                <a:tab pos="91440" algn="l"/>
              </a:tabLst>
            </a:pPr>
            <a:r>
              <a:rPr sz="1800" b="1" dirty="0">
                <a:latin typeface="Arial"/>
                <a:cs typeface="Arial"/>
              </a:rPr>
              <a:t>	Quantization</a:t>
            </a:r>
            <a:r>
              <a:rPr sz="1800" b="1" spc="-55" dirty="0">
                <a:latin typeface="Arial"/>
                <a:cs typeface="Arial"/>
              </a:rPr>
              <a:t> </a:t>
            </a:r>
            <a:r>
              <a:rPr sz="1800" b="1" dirty="0">
                <a:latin typeface="Arial"/>
                <a:cs typeface="Arial"/>
              </a:rPr>
              <a:t>Noise</a:t>
            </a:r>
            <a:r>
              <a:rPr sz="1800" dirty="0">
                <a:latin typeface="Arial"/>
                <a:cs typeface="Arial"/>
              </a:rPr>
              <a:t>:</a:t>
            </a:r>
            <a:r>
              <a:rPr sz="1800" spc="-35" dirty="0">
                <a:latin typeface="Arial"/>
                <a:cs typeface="Arial"/>
              </a:rPr>
              <a:t> </a:t>
            </a:r>
            <a:r>
              <a:rPr sz="1800" dirty="0">
                <a:latin typeface="Arial"/>
                <a:cs typeface="Arial"/>
              </a:rPr>
              <a:t>Introduced</a:t>
            </a:r>
            <a:r>
              <a:rPr sz="1800" spc="-25" dirty="0">
                <a:latin typeface="Arial"/>
                <a:cs typeface="Arial"/>
              </a:rPr>
              <a:t> </a:t>
            </a:r>
            <a:r>
              <a:rPr sz="1800" dirty="0">
                <a:latin typeface="Arial"/>
                <a:cs typeface="Arial"/>
              </a:rPr>
              <a:t>by</a:t>
            </a:r>
            <a:r>
              <a:rPr sz="1800" spc="-35"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discrete</a:t>
            </a:r>
            <a:r>
              <a:rPr sz="1800" spc="-40" dirty="0">
                <a:latin typeface="Arial"/>
                <a:cs typeface="Arial"/>
              </a:rPr>
              <a:t> </a:t>
            </a:r>
            <a:r>
              <a:rPr sz="1800" dirty="0">
                <a:latin typeface="Arial"/>
                <a:cs typeface="Arial"/>
              </a:rPr>
              <a:t>steps</a:t>
            </a:r>
            <a:r>
              <a:rPr sz="1800" spc="-40" dirty="0">
                <a:latin typeface="Arial"/>
                <a:cs typeface="Arial"/>
              </a:rPr>
              <a:t> </a:t>
            </a:r>
            <a:r>
              <a:rPr sz="1800" dirty="0">
                <a:latin typeface="Arial"/>
                <a:cs typeface="Arial"/>
              </a:rPr>
              <a:t>used</a:t>
            </a:r>
            <a:r>
              <a:rPr sz="1800" spc="-25" dirty="0">
                <a:latin typeface="Arial"/>
                <a:cs typeface="Arial"/>
              </a:rPr>
              <a:t> </a:t>
            </a:r>
            <a:r>
              <a:rPr sz="1800" dirty="0">
                <a:latin typeface="Arial"/>
                <a:cs typeface="Arial"/>
              </a:rPr>
              <a:t>to</a:t>
            </a:r>
            <a:r>
              <a:rPr sz="1800" spc="-40" dirty="0">
                <a:latin typeface="Arial"/>
                <a:cs typeface="Arial"/>
              </a:rPr>
              <a:t> </a:t>
            </a:r>
            <a:r>
              <a:rPr sz="1800" dirty="0">
                <a:latin typeface="Arial"/>
                <a:cs typeface="Arial"/>
              </a:rPr>
              <a:t>represent</a:t>
            </a:r>
            <a:r>
              <a:rPr sz="1800" spc="-25" dirty="0">
                <a:latin typeface="Arial"/>
                <a:cs typeface="Arial"/>
              </a:rPr>
              <a:t> </a:t>
            </a:r>
            <a:r>
              <a:rPr sz="1800" dirty="0">
                <a:latin typeface="Arial"/>
                <a:cs typeface="Arial"/>
              </a:rPr>
              <a:t>a</a:t>
            </a:r>
            <a:r>
              <a:rPr sz="1800" spc="-40" dirty="0">
                <a:latin typeface="Arial"/>
                <a:cs typeface="Arial"/>
              </a:rPr>
              <a:t> </a:t>
            </a:r>
            <a:r>
              <a:rPr sz="1800" dirty="0">
                <a:latin typeface="Arial"/>
                <a:cs typeface="Arial"/>
              </a:rPr>
              <a:t>continuous</a:t>
            </a:r>
            <a:r>
              <a:rPr sz="1800" spc="-20" dirty="0">
                <a:latin typeface="Arial"/>
                <a:cs typeface="Arial"/>
              </a:rPr>
              <a:t> </a:t>
            </a:r>
            <a:r>
              <a:rPr sz="1800" dirty="0">
                <a:latin typeface="Arial"/>
                <a:cs typeface="Arial"/>
              </a:rPr>
              <a:t>signal,</a:t>
            </a:r>
            <a:r>
              <a:rPr sz="1800" spc="-20" dirty="0">
                <a:latin typeface="Arial"/>
                <a:cs typeface="Arial"/>
              </a:rPr>
              <a:t> </a:t>
            </a:r>
            <a:r>
              <a:rPr sz="1800" dirty="0">
                <a:latin typeface="Arial"/>
                <a:cs typeface="Arial"/>
              </a:rPr>
              <a:t>dependent</a:t>
            </a:r>
            <a:r>
              <a:rPr sz="1800" spc="-10" dirty="0">
                <a:latin typeface="Arial"/>
                <a:cs typeface="Arial"/>
              </a:rPr>
              <a:t> </a:t>
            </a:r>
            <a:r>
              <a:rPr sz="1800" spc="-25" dirty="0">
                <a:latin typeface="Arial"/>
                <a:cs typeface="Arial"/>
              </a:rPr>
              <a:t>on </a:t>
            </a:r>
            <a:r>
              <a:rPr sz="1800" dirty="0">
                <a:latin typeface="Arial"/>
                <a:cs typeface="Arial"/>
              </a:rPr>
              <a:t>DAC</a:t>
            </a:r>
            <a:r>
              <a:rPr sz="1800" spc="-45" dirty="0">
                <a:latin typeface="Arial"/>
                <a:cs typeface="Arial"/>
              </a:rPr>
              <a:t> </a:t>
            </a:r>
            <a:r>
              <a:rPr sz="1800" spc="-10" dirty="0">
                <a:latin typeface="Arial"/>
                <a:cs typeface="Arial"/>
              </a:rPr>
              <a:t>resolution.</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Thermal</a:t>
            </a:r>
            <a:r>
              <a:rPr sz="1800" b="1" spc="-35" dirty="0">
                <a:latin typeface="Arial"/>
                <a:cs typeface="Arial"/>
              </a:rPr>
              <a:t> </a:t>
            </a:r>
            <a:r>
              <a:rPr sz="1800" b="1" dirty="0">
                <a:latin typeface="Arial"/>
                <a:cs typeface="Arial"/>
              </a:rPr>
              <a:t>Noise</a:t>
            </a:r>
            <a:r>
              <a:rPr sz="1800" dirty="0">
                <a:latin typeface="Arial"/>
                <a:cs typeface="Arial"/>
              </a:rPr>
              <a:t>:</a:t>
            </a:r>
            <a:r>
              <a:rPr sz="1800" spc="-35" dirty="0">
                <a:latin typeface="Arial"/>
                <a:cs typeface="Arial"/>
              </a:rPr>
              <a:t> </a:t>
            </a:r>
            <a:r>
              <a:rPr sz="1800" dirty="0">
                <a:latin typeface="Arial"/>
                <a:cs typeface="Arial"/>
              </a:rPr>
              <a:t>Arises</a:t>
            </a:r>
            <a:r>
              <a:rPr sz="1800" spc="-40" dirty="0">
                <a:latin typeface="Arial"/>
                <a:cs typeface="Arial"/>
              </a:rPr>
              <a:t> </a:t>
            </a:r>
            <a:r>
              <a:rPr sz="1800" dirty="0">
                <a:latin typeface="Arial"/>
                <a:cs typeface="Arial"/>
              </a:rPr>
              <a:t>from</a:t>
            </a:r>
            <a:r>
              <a:rPr sz="1800" spc="-40" dirty="0">
                <a:latin typeface="Arial"/>
                <a:cs typeface="Arial"/>
              </a:rPr>
              <a:t> </a:t>
            </a:r>
            <a:r>
              <a:rPr sz="1800" dirty="0">
                <a:latin typeface="Arial"/>
                <a:cs typeface="Arial"/>
              </a:rPr>
              <a:t>resistive</a:t>
            </a:r>
            <a:r>
              <a:rPr sz="1800" spc="-45" dirty="0">
                <a:latin typeface="Arial"/>
                <a:cs typeface="Arial"/>
              </a:rPr>
              <a:t> </a:t>
            </a:r>
            <a:r>
              <a:rPr sz="1800" dirty="0">
                <a:latin typeface="Arial"/>
                <a:cs typeface="Arial"/>
              </a:rPr>
              <a:t>components,</a:t>
            </a:r>
            <a:r>
              <a:rPr sz="1800" spc="-25" dirty="0">
                <a:latin typeface="Arial"/>
                <a:cs typeface="Arial"/>
              </a:rPr>
              <a:t> </a:t>
            </a:r>
            <a:r>
              <a:rPr sz="1800" dirty="0">
                <a:latin typeface="Arial"/>
                <a:cs typeface="Arial"/>
              </a:rPr>
              <a:t>increases</a:t>
            </a:r>
            <a:r>
              <a:rPr sz="1800" spc="-15" dirty="0">
                <a:latin typeface="Arial"/>
                <a:cs typeface="Arial"/>
              </a:rPr>
              <a:t> </a:t>
            </a:r>
            <a:r>
              <a:rPr sz="1800" dirty="0">
                <a:latin typeface="Arial"/>
                <a:cs typeface="Arial"/>
              </a:rPr>
              <a:t>with</a:t>
            </a:r>
            <a:r>
              <a:rPr sz="1800" spc="-15" dirty="0">
                <a:latin typeface="Arial"/>
                <a:cs typeface="Arial"/>
              </a:rPr>
              <a:t> </a:t>
            </a:r>
            <a:r>
              <a:rPr sz="1800" dirty="0">
                <a:latin typeface="Arial"/>
                <a:cs typeface="Arial"/>
              </a:rPr>
              <a:t>temperature</a:t>
            </a:r>
            <a:r>
              <a:rPr sz="1800" spc="-30" dirty="0">
                <a:latin typeface="Arial"/>
                <a:cs typeface="Arial"/>
              </a:rPr>
              <a:t> </a:t>
            </a:r>
            <a:r>
              <a:rPr sz="1800" dirty="0">
                <a:latin typeface="Arial"/>
                <a:cs typeface="Arial"/>
              </a:rPr>
              <a:t>and</a:t>
            </a:r>
            <a:r>
              <a:rPr sz="1800" spc="-30" dirty="0">
                <a:latin typeface="Arial"/>
                <a:cs typeface="Arial"/>
              </a:rPr>
              <a:t> </a:t>
            </a:r>
            <a:r>
              <a:rPr sz="1800" spc="-10" dirty="0">
                <a:latin typeface="Arial"/>
                <a:cs typeface="Arial"/>
              </a:rPr>
              <a:t>resistance.</a:t>
            </a:r>
            <a:endParaRPr sz="1800">
              <a:latin typeface="Arial"/>
              <a:cs typeface="Arial"/>
            </a:endParaRPr>
          </a:p>
          <a:p>
            <a:pPr>
              <a:lnSpc>
                <a:spcPct val="100000"/>
              </a:lnSpc>
              <a:spcBef>
                <a:spcPts val="90"/>
              </a:spcBef>
              <a:buFont typeface="Arial"/>
              <a:buChar char="•"/>
            </a:pPr>
            <a:endParaRPr sz="1800">
              <a:latin typeface="Arial"/>
              <a:cs typeface="Arial"/>
            </a:endParaRPr>
          </a:p>
          <a:p>
            <a:pPr marL="12700" marR="927735" indent="-10160">
              <a:lnSpc>
                <a:spcPct val="100000"/>
              </a:lnSpc>
              <a:buSzPct val="94444"/>
              <a:buFont typeface="Arial"/>
              <a:buChar char="•"/>
              <a:tabLst>
                <a:tab pos="91440" algn="l"/>
              </a:tabLst>
            </a:pPr>
            <a:r>
              <a:rPr sz="1800" b="1" dirty="0">
                <a:latin typeface="Arial"/>
                <a:cs typeface="Arial"/>
              </a:rPr>
              <a:t>	Nonlinearity</a:t>
            </a:r>
            <a:r>
              <a:rPr sz="1800" b="1" spc="-55" dirty="0">
                <a:latin typeface="Arial"/>
                <a:cs typeface="Arial"/>
              </a:rPr>
              <a:t> </a:t>
            </a:r>
            <a:r>
              <a:rPr sz="1800" b="1" dirty="0">
                <a:latin typeface="Arial"/>
                <a:cs typeface="Arial"/>
              </a:rPr>
              <a:t>(Distortion</a:t>
            </a:r>
            <a:r>
              <a:rPr sz="1800" b="1" spc="-40" dirty="0">
                <a:latin typeface="Arial"/>
                <a:cs typeface="Arial"/>
              </a:rPr>
              <a:t> </a:t>
            </a:r>
            <a:r>
              <a:rPr sz="1800" b="1" dirty="0">
                <a:latin typeface="Arial"/>
                <a:cs typeface="Arial"/>
              </a:rPr>
              <a:t>Noise)</a:t>
            </a:r>
            <a:r>
              <a:rPr sz="1800" dirty="0">
                <a:latin typeface="Arial"/>
                <a:cs typeface="Arial"/>
              </a:rPr>
              <a:t>:</a:t>
            </a:r>
            <a:r>
              <a:rPr sz="1800" spc="-30" dirty="0">
                <a:latin typeface="Arial"/>
                <a:cs typeface="Arial"/>
              </a:rPr>
              <a:t> </a:t>
            </a:r>
            <a:r>
              <a:rPr sz="1800" dirty="0">
                <a:latin typeface="Arial"/>
                <a:cs typeface="Arial"/>
              </a:rPr>
              <a:t>Due</a:t>
            </a:r>
            <a:r>
              <a:rPr sz="1800" spc="-30" dirty="0">
                <a:latin typeface="Arial"/>
                <a:cs typeface="Arial"/>
              </a:rPr>
              <a:t> </a:t>
            </a:r>
            <a:r>
              <a:rPr sz="1800" dirty="0">
                <a:latin typeface="Arial"/>
                <a:cs typeface="Arial"/>
              </a:rPr>
              <a:t>to</a:t>
            </a:r>
            <a:r>
              <a:rPr sz="1800" spc="-50" dirty="0">
                <a:latin typeface="Arial"/>
                <a:cs typeface="Arial"/>
              </a:rPr>
              <a:t> </a:t>
            </a:r>
            <a:r>
              <a:rPr sz="1800" dirty="0">
                <a:latin typeface="Arial"/>
                <a:cs typeface="Arial"/>
              </a:rPr>
              <a:t>imperfections</a:t>
            </a:r>
            <a:r>
              <a:rPr sz="1800" spc="-15" dirty="0">
                <a:latin typeface="Arial"/>
                <a:cs typeface="Arial"/>
              </a:rPr>
              <a:t> </a:t>
            </a:r>
            <a:r>
              <a:rPr sz="1800" dirty="0">
                <a:latin typeface="Arial"/>
                <a:cs typeface="Arial"/>
              </a:rPr>
              <a:t>in</a:t>
            </a:r>
            <a:r>
              <a:rPr sz="1800" spc="-4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DAC's</a:t>
            </a:r>
            <a:r>
              <a:rPr sz="1800" spc="-45" dirty="0">
                <a:latin typeface="Arial"/>
                <a:cs typeface="Arial"/>
              </a:rPr>
              <a:t> </a:t>
            </a:r>
            <a:r>
              <a:rPr sz="1800" dirty="0">
                <a:latin typeface="Arial"/>
                <a:cs typeface="Arial"/>
              </a:rPr>
              <a:t>response,</a:t>
            </a:r>
            <a:r>
              <a:rPr sz="1800" spc="-25" dirty="0">
                <a:latin typeface="Arial"/>
                <a:cs typeface="Arial"/>
              </a:rPr>
              <a:t> </a:t>
            </a:r>
            <a:r>
              <a:rPr sz="1800" dirty="0">
                <a:latin typeface="Arial"/>
                <a:cs typeface="Arial"/>
              </a:rPr>
              <a:t>results</a:t>
            </a:r>
            <a:r>
              <a:rPr sz="1800" spc="-20" dirty="0">
                <a:latin typeface="Arial"/>
                <a:cs typeface="Arial"/>
              </a:rPr>
              <a:t> </a:t>
            </a:r>
            <a:r>
              <a:rPr sz="1800" dirty="0">
                <a:latin typeface="Arial"/>
                <a:cs typeface="Arial"/>
              </a:rPr>
              <a:t>in</a:t>
            </a:r>
            <a:r>
              <a:rPr sz="1800" spc="-45" dirty="0">
                <a:latin typeface="Arial"/>
                <a:cs typeface="Arial"/>
              </a:rPr>
              <a:t> </a:t>
            </a:r>
            <a:r>
              <a:rPr sz="1800" spc="-10" dirty="0">
                <a:latin typeface="Arial"/>
                <a:cs typeface="Arial"/>
              </a:rPr>
              <a:t>harmonic distortion.</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Clock</a:t>
            </a:r>
            <a:r>
              <a:rPr sz="1800" b="1" spc="-55" dirty="0">
                <a:latin typeface="Arial"/>
                <a:cs typeface="Arial"/>
              </a:rPr>
              <a:t> </a:t>
            </a:r>
            <a:r>
              <a:rPr sz="1800" b="1" dirty="0">
                <a:latin typeface="Arial"/>
                <a:cs typeface="Arial"/>
              </a:rPr>
              <a:t>Jitter</a:t>
            </a:r>
            <a:r>
              <a:rPr sz="1800" dirty="0">
                <a:latin typeface="Arial"/>
                <a:cs typeface="Arial"/>
              </a:rPr>
              <a:t>:</a:t>
            </a:r>
            <a:r>
              <a:rPr sz="1800" spc="-35" dirty="0">
                <a:latin typeface="Arial"/>
                <a:cs typeface="Arial"/>
              </a:rPr>
              <a:t> </a:t>
            </a:r>
            <a:r>
              <a:rPr sz="1800" dirty="0">
                <a:latin typeface="Arial"/>
                <a:cs typeface="Arial"/>
              </a:rPr>
              <a:t>Variations</a:t>
            </a:r>
            <a:r>
              <a:rPr sz="1800" spc="-25"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clock</a:t>
            </a:r>
            <a:r>
              <a:rPr sz="1800" spc="-40" dirty="0">
                <a:latin typeface="Arial"/>
                <a:cs typeface="Arial"/>
              </a:rPr>
              <a:t> </a:t>
            </a:r>
            <a:r>
              <a:rPr sz="1800" dirty="0">
                <a:latin typeface="Arial"/>
                <a:cs typeface="Arial"/>
              </a:rPr>
              <a:t>timing,</a:t>
            </a:r>
            <a:r>
              <a:rPr sz="1800" spc="-35" dirty="0">
                <a:latin typeface="Arial"/>
                <a:cs typeface="Arial"/>
              </a:rPr>
              <a:t> </a:t>
            </a:r>
            <a:r>
              <a:rPr sz="1800" dirty="0">
                <a:latin typeface="Arial"/>
                <a:cs typeface="Arial"/>
              </a:rPr>
              <a:t>affecting</a:t>
            </a:r>
            <a:r>
              <a:rPr sz="1800" spc="-25" dirty="0">
                <a:latin typeface="Arial"/>
                <a:cs typeface="Arial"/>
              </a:rPr>
              <a:t> </a:t>
            </a:r>
            <a:r>
              <a:rPr sz="1800" dirty="0">
                <a:latin typeface="Arial"/>
                <a:cs typeface="Arial"/>
              </a:rPr>
              <a:t>precision</a:t>
            </a:r>
            <a:r>
              <a:rPr sz="1800" spc="-30" dirty="0">
                <a:latin typeface="Arial"/>
                <a:cs typeface="Arial"/>
              </a:rPr>
              <a:t> </a:t>
            </a:r>
            <a:r>
              <a:rPr sz="1800" dirty="0">
                <a:latin typeface="Arial"/>
                <a:cs typeface="Arial"/>
              </a:rPr>
              <a:t>especially</a:t>
            </a:r>
            <a:r>
              <a:rPr sz="1800" spc="-15" dirty="0">
                <a:latin typeface="Arial"/>
                <a:cs typeface="Arial"/>
              </a:rPr>
              <a:t> </a:t>
            </a:r>
            <a:r>
              <a:rPr sz="1800" dirty="0">
                <a:latin typeface="Arial"/>
                <a:cs typeface="Arial"/>
              </a:rPr>
              <a:t>at</a:t>
            </a:r>
            <a:r>
              <a:rPr sz="1800" spc="-35" dirty="0">
                <a:latin typeface="Arial"/>
                <a:cs typeface="Arial"/>
              </a:rPr>
              <a:t> </a:t>
            </a:r>
            <a:r>
              <a:rPr sz="1800" dirty="0">
                <a:latin typeface="Arial"/>
                <a:cs typeface="Arial"/>
              </a:rPr>
              <a:t>higher</a:t>
            </a:r>
            <a:r>
              <a:rPr sz="1800" spc="-20" dirty="0">
                <a:latin typeface="Arial"/>
                <a:cs typeface="Arial"/>
              </a:rPr>
              <a:t> </a:t>
            </a:r>
            <a:r>
              <a:rPr sz="1800" spc="-10" dirty="0">
                <a:latin typeface="Arial"/>
                <a:cs typeface="Arial"/>
              </a:rPr>
              <a:t>frequencies.</a:t>
            </a:r>
            <a:endParaRPr sz="1800">
              <a:latin typeface="Arial"/>
              <a:cs typeface="Arial"/>
            </a:endParaRPr>
          </a:p>
          <a:p>
            <a:pPr>
              <a:lnSpc>
                <a:spcPct val="100000"/>
              </a:lnSpc>
              <a:spcBef>
                <a:spcPts val="90"/>
              </a:spcBef>
              <a:buFont typeface="Arial"/>
              <a:buChar char="•"/>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Power</a:t>
            </a:r>
            <a:r>
              <a:rPr sz="1800" b="1" spc="-60" dirty="0">
                <a:latin typeface="Arial"/>
                <a:cs typeface="Arial"/>
              </a:rPr>
              <a:t> </a:t>
            </a:r>
            <a:r>
              <a:rPr sz="1800" b="1" dirty="0">
                <a:latin typeface="Arial"/>
                <a:cs typeface="Arial"/>
              </a:rPr>
              <a:t>Supply</a:t>
            </a:r>
            <a:r>
              <a:rPr sz="1800" b="1" spc="-65" dirty="0">
                <a:latin typeface="Arial"/>
                <a:cs typeface="Arial"/>
              </a:rPr>
              <a:t> </a:t>
            </a:r>
            <a:r>
              <a:rPr sz="1800" b="1" dirty="0">
                <a:latin typeface="Arial"/>
                <a:cs typeface="Arial"/>
              </a:rPr>
              <a:t>Noise</a:t>
            </a:r>
            <a:r>
              <a:rPr sz="1800" dirty="0">
                <a:latin typeface="Arial"/>
                <a:cs typeface="Arial"/>
              </a:rPr>
              <a:t>:</a:t>
            </a:r>
            <a:r>
              <a:rPr sz="1800" spc="-30" dirty="0">
                <a:latin typeface="Arial"/>
                <a:cs typeface="Arial"/>
              </a:rPr>
              <a:t> </a:t>
            </a:r>
            <a:r>
              <a:rPr sz="1800" dirty="0">
                <a:latin typeface="Arial"/>
                <a:cs typeface="Arial"/>
              </a:rPr>
              <a:t>Coupling</a:t>
            </a:r>
            <a:r>
              <a:rPr sz="1800" spc="-15" dirty="0">
                <a:latin typeface="Arial"/>
                <a:cs typeface="Arial"/>
              </a:rPr>
              <a:t> </a:t>
            </a:r>
            <a:r>
              <a:rPr sz="1800" dirty="0">
                <a:latin typeface="Arial"/>
                <a:cs typeface="Arial"/>
              </a:rPr>
              <a:t>from</a:t>
            </a:r>
            <a:r>
              <a:rPr sz="1800" spc="-35" dirty="0">
                <a:latin typeface="Arial"/>
                <a:cs typeface="Arial"/>
              </a:rPr>
              <a:t> </a:t>
            </a:r>
            <a:r>
              <a:rPr sz="1800" dirty="0">
                <a:latin typeface="Arial"/>
                <a:cs typeface="Arial"/>
              </a:rPr>
              <a:t>power</a:t>
            </a:r>
            <a:r>
              <a:rPr sz="1800" spc="10" dirty="0">
                <a:latin typeface="Arial"/>
                <a:cs typeface="Arial"/>
              </a:rPr>
              <a:t> </a:t>
            </a:r>
            <a:r>
              <a:rPr sz="1800" dirty="0">
                <a:latin typeface="Arial"/>
                <a:cs typeface="Arial"/>
              </a:rPr>
              <a:t>supply</a:t>
            </a:r>
            <a:r>
              <a:rPr sz="1800" spc="-20" dirty="0">
                <a:latin typeface="Arial"/>
                <a:cs typeface="Arial"/>
              </a:rPr>
              <a:t> </a:t>
            </a:r>
            <a:r>
              <a:rPr sz="1800" dirty="0">
                <a:latin typeface="Arial"/>
                <a:cs typeface="Arial"/>
              </a:rPr>
              <a:t>fluctuations</a:t>
            </a:r>
            <a:r>
              <a:rPr sz="1800" spc="-25" dirty="0">
                <a:latin typeface="Arial"/>
                <a:cs typeface="Arial"/>
              </a:rPr>
              <a:t> </a:t>
            </a:r>
            <a:r>
              <a:rPr sz="1800" dirty="0">
                <a:latin typeface="Arial"/>
                <a:cs typeface="Arial"/>
              </a:rPr>
              <a:t>into</a:t>
            </a:r>
            <a:r>
              <a:rPr sz="1800" spc="-40" dirty="0">
                <a:latin typeface="Arial"/>
                <a:cs typeface="Arial"/>
              </a:rPr>
              <a:t> </a:t>
            </a:r>
            <a:r>
              <a:rPr sz="1800" dirty="0">
                <a:latin typeface="Arial"/>
                <a:cs typeface="Arial"/>
              </a:rPr>
              <a:t>the</a:t>
            </a:r>
            <a:r>
              <a:rPr sz="1800" spc="-40" dirty="0">
                <a:latin typeface="Arial"/>
                <a:cs typeface="Arial"/>
              </a:rPr>
              <a:t> </a:t>
            </a:r>
            <a:r>
              <a:rPr sz="1800" dirty="0">
                <a:latin typeface="Arial"/>
                <a:cs typeface="Arial"/>
              </a:rPr>
              <a:t>analog</a:t>
            </a:r>
            <a:r>
              <a:rPr sz="1800" spc="-15" dirty="0">
                <a:latin typeface="Arial"/>
                <a:cs typeface="Arial"/>
              </a:rPr>
              <a:t> </a:t>
            </a:r>
            <a:r>
              <a:rPr sz="1800" spc="-10" dirty="0">
                <a:latin typeface="Arial"/>
                <a:cs typeface="Arial"/>
              </a:rPr>
              <a:t>output.</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405663" y="3227323"/>
            <a:ext cx="10206355" cy="574040"/>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What</a:t>
            </a:r>
            <a:r>
              <a:rPr sz="1800" spc="-20" dirty="0">
                <a:latin typeface="Arial"/>
                <a:cs typeface="Arial"/>
              </a:rPr>
              <a:t> </a:t>
            </a:r>
            <a:r>
              <a:rPr sz="1800" dirty="0">
                <a:latin typeface="Arial"/>
                <a:cs typeface="Arial"/>
              </a:rPr>
              <a:t>is</a:t>
            </a:r>
            <a:r>
              <a:rPr sz="1800" spc="-2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bits</a:t>
            </a:r>
            <a:r>
              <a:rPr sz="1800" spc="-20" dirty="0">
                <a:latin typeface="Arial"/>
                <a:cs typeface="Arial"/>
              </a:rPr>
              <a:t> </a:t>
            </a:r>
            <a:r>
              <a:rPr sz="1800" dirty="0">
                <a:latin typeface="Arial"/>
                <a:cs typeface="Arial"/>
              </a:rPr>
              <a:t>for</a:t>
            </a:r>
            <a:r>
              <a:rPr sz="1800" spc="-20" dirty="0">
                <a:latin typeface="Arial"/>
                <a:cs typeface="Arial"/>
              </a:rPr>
              <a:t> </a:t>
            </a:r>
            <a:r>
              <a:rPr sz="1800" dirty="0">
                <a:latin typeface="Arial"/>
                <a:cs typeface="Arial"/>
              </a:rPr>
              <a:t>a</a:t>
            </a:r>
            <a:r>
              <a:rPr sz="1800" spc="-25" dirty="0">
                <a:latin typeface="Arial"/>
                <a:cs typeface="Arial"/>
              </a:rPr>
              <a:t> </a:t>
            </a:r>
            <a:r>
              <a:rPr sz="1800" dirty="0">
                <a:latin typeface="Arial"/>
                <a:cs typeface="Arial"/>
              </a:rPr>
              <a:t>DAC?</a:t>
            </a:r>
            <a:r>
              <a:rPr sz="1800" spc="-10" dirty="0">
                <a:latin typeface="Arial"/>
                <a:cs typeface="Arial"/>
              </a:rPr>
              <a:t> </a:t>
            </a:r>
            <a:r>
              <a:rPr sz="1800" dirty="0">
                <a:latin typeface="Arial"/>
                <a:cs typeface="Arial"/>
              </a:rPr>
              <a:t>It</a:t>
            </a:r>
            <a:r>
              <a:rPr sz="1800" spc="-25" dirty="0">
                <a:latin typeface="Arial"/>
                <a:cs typeface="Arial"/>
              </a:rPr>
              <a:t> </a:t>
            </a:r>
            <a:r>
              <a:rPr sz="1800" dirty="0">
                <a:latin typeface="Arial"/>
                <a:cs typeface="Arial"/>
              </a:rPr>
              <a:t>defines</a:t>
            </a:r>
            <a:r>
              <a:rPr sz="1800" spc="-10" dirty="0">
                <a:latin typeface="Arial"/>
                <a:cs typeface="Arial"/>
              </a:rPr>
              <a:t> </a:t>
            </a:r>
            <a:r>
              <a:rPr sz="1800" dirty="0">
                <a:latin typeface="Arial"/>
                <a:cs typeface="Arial"/>
              </a:rPr>
              <a:t>the</a:t>
            </a:r>
            <a:r>
              <a:rPr sz="1800" spc="-25" dirty="0">
                <a:latin typeface="Arial"/>
                <a:cs typeface="Arial"/>
              </a:rPr>
              <a:t> </a:t>
            </a:r>
            <a:r>
              <a:rPr sz="1800" dirty="0">
                <a:latin typeface="Arial"/>
                <a:cs typeface="Arial"/>
              </a:rPr>
              <a:t>number</a:t>
            </a:r>
            <a:r>
              <a:rPr sz="1800" spc="-5" dirty="0">
                <a:latin typeface="Arial"/>
                <a:cs typeface="Arial"/>
              </a:rPr>
              <a:t> </a:t>
            </a:r>
            <a:r>
              <a:rPr sz="1800" dirty="0">
                <a:latin typeface="Arial"/>
                <a:cs typeface="Arial"/>
              </a:rPr>
              <a:t>of</a:t>
            </a:r>
            <a:r>
              <a:rPr sz="1800" spc="-25" dirty="0">
                <a:latin typeface="Arial"/>
                <a:cs typeface="Arial"/>
              </a:rPr>
              <a:t> </a:t>
            </a:r>
            <a:r>
              <a:rPr sz="1800" dirty="0">
                <a:latin typeface="Arial"/>
                <a:cs typeface="Arial"/>
              </a:rPr>
              <a:t>different</a:t>
            </a:r>
            <a:r>
              <a:rPr sz="1800" spc="-10" dirty="0">
                <a:latin typeface="Arial"/>
                <a:cs typeface="Arial"/>
              </a:rPr>
              <a:t> </a:t>
            </a:r>
            <a:r>
              <a:rPr sz="1800" dirty="0">
                <a:latin typeface="Arial"/>
                <a:cs typeface="Arial"/>
              </a:rPr>
              <a:t>output</a:t>
            </a:r>
            <a:r>
              <a:rPr sz="1800" spc="-15" dirty="0">
                <a:latin typeface="Arial"/>
                <a:cs typeface="Arial"/>
              </a:rPr>
              <a:t> </a:t>
            </a:r>
            <a:r>
              <a:rPr sz="1800" dirty="0">
                <a:latin typeface="Arial"/>
                <a:cs typeface="Arial"/>
              </a:rPr>
              <a:t>levels</a:t>
            </a:r>
            <a:r>
              <a:rPr sz="1800" spc="-5" dirty="0">
                <a:latin typeface="Arial"/>
                <a:cs typeface="Arial"/>
              </a:rPr>
              <a:t> </a:t>
            </a:r>
            <a:r>
              <a:rPr sz="1800" dirty="0">
                <a:latin typeface="Arial"/>
                <a:cs typeface="Arial"/>
              </a:rPr>
              <a:t>it</a:t>
            </a:r>
            <a:r>
              <a:rPr sz="1800" spc="-20" dirty="0">
                <a:latin typeface="Arial"/>
                <a:cs typeface="Arial"/>
              </a:rPr>
              <a:t> </a:t>
            </a:r>
            <a:r>
              <a:rPr sz="1800" dirty="0">
                <a:latin typeface="Arial"/>
                <a:cs typeface="Arial"/>
              </a:rPr>
              <a:t>can</a:t>
            </a:r>
            <a:r>
              <a:rPr sz="1800" spc="-25" dirty="0">
                <a:latin typeface="Arial"/>
                <a:cs typeface="Arial"/>
              </a:rPr>
              <a:t> </a:t>
            </a:r>
            <a:r>
              <a:rPr sz="1800" spc="-10" dirty="0">
                <a:latin typeface="Arial"/>
                <a:cs typeface="Arial"/>
              </a:rPr>
              <a:t>generate. </a:t>
            </a:r>
            <a:r>
              <a:rPr sz="1800" dirty="0">
                <a:latin typeface="Arial"/>
                <a:cs typeface="Arial"/>
              </a:rPr>
              <a:t>A</a:t>
            </a:r>
            <a:r>
              <a:rPr sz="1800" spc="-30" dirty="0">
                <a:latin typeface="Arial"/>
                <a:cs typeface="Arial"/>
              </a:rPr>
              <a:t> </a:t>
            </a:r>
            <a:r>
              <a:rPr sz="1800" dirty="0">
                <a:latin typeface="Arial"/>
                <a:cs typeface="Arial"/>
              </a:rPr>
              <a:t>2</a:t>
            </a:r>
            <a:r>
              <a:rPr sz="1800" spc="-30" dirty="0">
                <a:latin typeface="Arial"/>
                <a:cs typeface="Arial"/>
              </a:rPr>
              <a:t> </a:t>
            </a:r>
            <a:r>
              <a:rPr sz="1800" dirty="0">
                <a:latin typeface="Arial"/>
                <a:cs typeface="Arial"/>
              </a:rPr>
              <a:t>bit</a:t>
            </a:r>
            <a:r>
              <a:rPr sz="1800" spc="-20" dirty="0">
                <a:latin typeface="Arial"/>
                <a:cs typeface="Arial"/>
              </a:rPr>
              <a:t> </a:t>
            </a:r>
            <a:r>
              <a:rPr sz="1800" dirty="0">
                <a:latin typeface="Arial"/>
                <a:cs typeface="Arial"/>
              </a:rPr>
              <a:t>DAC</a:t>
            </a:r>
            <a:r>
              <a:rPr sz="1800" spc="-35" dirty="0">
                <a:latin typeface="Arial"/>
                <a:cs typeface="Arial"/>
              </a:rPr>
              <a:t> </a:t>
            </a:r>
            <a:r>
              <a:rPr sz="1800" dirty="0">
                <a:latin typeface="Arial"/>
                <a:cs typeface="Arial"/>
              </a:rPr>
              <a:t>would</a:t>
            </a:r>
            <a:r>
              <a:rPr sz="1800" spc="15" dirty="0">
                <a:latin typeface="Arial"/>
                <a:cs typeface="Arial"/>
              </a:rPr>
              <a:t> </a:t>
            </a:r>
            <a:r>
              <a:rPr sz="1800" dirty="0">
                <a:latin typeface="Arial"/>
                <a:cs typeface="Arial"/>
              </a:rPr>
              <a:t>generate</a:t>
            </a:r>
            <a:r>
              <a:rPr sz="1800" spc="-5" dirty="0">
                <a:latin typeface="Arial"/>
                <a:cs typeface="Arial"/>
              </a:rPr>
              <a:t> </a:t>
            </a:r>
            <a:r>
              <a:rPr sz="1800" dirty="0">
                <a:latin typeface="Arial"/>
                <a:cs typeface="Arial"/>
              </a:rPr>
              <a:t>4</a:t>
            </a:r>
            <a:r>
              <a:rPr sz="1800" spc="-30" dirty="0">
                <a:latin typeface="Arial"/>
                <a:cs typeface="Arial"/>
              </a:rPr>
              <a:t> </a:t>
            </a:r>
            <a:r>
              <a:rPr sz="1800" dirty="0">
                <a:latin typeface="Arial"/>
                <a:cs typeface="Arial"/>
              </a:rPr>
              <a:t>values,</a:t>
            </a:r>
            <a:r>
              <a:rPr sz="1800" spc="-25" dirty="0">
                <a:latin typeface="Arial"/>
                <a:cs typeface="Arial"/>
              </a:rPr>
              <a:t> </a:t>
            </a:r>
            <a:r>
              <a:rPr sz="1800" dirty="0">
                <a:latin typeface="Arial"/>
                <a:cs typeface="Arial"/>
              </a:rPr>
              <a:t>a</a:t>
            </a:r>
            <a:r>
              <a:rPr sz="1800" spc="-30" dirty="0">
                <a:latin typeface="Arial"/>
                <a:cs typeface="Arial"/>
              </a:rPr>
              <a:t> </a:t>
            </a:r>
            <a:r>
              <a:rPr sz="1800" dirty="0">
                <a:latin typeface="Arial"/>
                <a:cs typeface="Arial"/>
              </a:rPr>
              <a:t>10</a:t>
            </a:r>
            <a:r>
              <a:rPr sz="1800" spc="-15" dirty="0">
                <a:latin typeface="Arial"/>
                <a:cs typeface="Arial"/>
              </a:rPr>
              <a:t> </a:t>
            </a:r>
            <a:r>
              <a:rPr sz="1800" dirty="0">
                <a:latin typeface="Arial"/>
                <a:cs typeface="Arial"/>
              </a:rPr>
              <a:t>bit</a:t>
            </a:r>
            <a:r>
              <a:rPr sz="1800" spc="-20" dirty="0">
                <a:latin typeface="Arial"/>
                <a:cs typeface="Arial"/>
              </a:rPr>
              <a:t> </a:t>
            </a:r>
            <a:r>
              <a:rPr sz="1800" dirty="0">
                <a:latin typeface="Arial"/>
                <a:cs typeface="Arial"/>
              </a:rPr>
              <a:t>DAC</a:t>
            </a:r>
            <a:r>
              <a:rPr sz="1800" spc="-30" dirty="0">
                <a:latin typeface="Arial"/>
                <a:cs typeface="Arial"/>
              </a:rPr>
              <a:t> </a:t>
            </a:r>
            <a:r>
              <a:rPr sz="1800" dirty="0">
                <a:latin typeface="Arial"/>
                <a:cs typeface="Arial"/>
              </a:rPr>
              <a:t>would</a:t>
            </a:r>
            <a:r>
              <a:rPr sz="1800" spc="15" dirty="0">
                <a:latin typeface="Arial"/>
                <a:cs typeface="Arial"/>
              </a:rPr>
              <a:t> </a:t>
            </a:r>
            <a:r>
              <a:rPr sz="1800" dirty="0">
                <a:latin typeface="Arial"/>
                <a:cs typeface="Arial"/>
              </a:rPr>
              <a:t>generate 1024</a:t>
            </a:r>
            <a:r>
              <a:rPr sz="1800" spc="-20" dirty="0">
                <a:latin typeface="Arial"/>
                <a:cs typeface="Arial"/>
              </a:rPr>
              <a:t> </a:t>
            </a:r>
            <a:r>
              <a:rPr sz="1800" spc="-10" dirty="0">
                <a:latin typeface="Arial"/>
                <a:cs typeface="Arial"/>
              </a:rPr>
              <a:t>values</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293669" y="3960351"/>
            <a:ext cx="5231492" cy="2757569"/>
          </a:xfrm>
          <a:prstGeom prst="rect">
            <a:avLst/>
          </a:prstGeom>
        </p:spPr>
      </p:pic>
      <p:sp>
        <p:nvSpPr>
          <p:cNvPr id="42" name="object 42"/>
          <p:cNvSpPr txBox="1"/>
          <p:nvPr/>
        </p:nvSpPr>
        <p:spPr>
          <a:xfrm>
            <a:off x="818616" y="4107682"/>
            <a:ext cx="168973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8</a:t>
            </a:r>
            <a:r>
              <a:rPr sz="1800" spc="-20" dirty="0">
                <a:latin typeface="Arial"/>
                <a:cs typeface="Arial"/>
              </a:rPr>
              <a:t> </a:t>
            </a:r>
            <a:r>
              <a:rPr sz="1800" dirty="0">
                <a:latin typeface="Arial"/>
                <a:cs typeface="Arial"/>
              </a:rPr>
              <a:t>Bit</a:t>
            </a:r>
            <a:r>
              <a:rPr sz="1800" spc="-10" dirty="0">
                <a:latin typeface="Arial"/>
                <a:cs typeface="Arial"/>
              </a:rPr>
              <a:t> </a:t>
            </a:r>
            <a:r>
              <a:rPr sz="1800" dirty="0">
                <a:latin typeface="Arial"/>
                <a:cs typeface="Arial"/>
              </a:rPr>
              <a:t>DAC,</a:t>
            </a:r>
            <a:r>
              <a:rPr sz="1800" spc="-5" dirty="0">
                <a:latin typeface="Arial"/>
                <a:cs typeface="Arial"/>
              </a:rPr>
              <a:t> </a:t>
            </a:r>
            <a:r>
              <a:rPr sz="1800" dirty="0">
                <a:latin typeface="Arial"/>
                <a:cs typeface="Arial"/>
              </a:rPr>
              <a:t>3.3</a:t>
            </a:r>
            <a:r>
              <a:rPr sz="1800" spc="-20" dirty="0">
                <a:latin typeface="Arial"/>
                <a:cs typeface="Arial"/>
              </a:rPr>
              <a:t> </a:t>
            </a:r>
            <a:r>
              <a:rPr sz="1800" spc="-50" dirty="0">
                <a:latin typeface="Arial"/>
                <a:cs typeface="Arial"/>
              </a:rPr>
              <a:t>V</a:t>
            </a:r>
            <a:endParaRPr sz="1800">
              <a:latin typeface="Arial"/>
              <a:cs typeface="Arial"/>
            </a:endParaRPr>
          </a:p>
        </p:txBody>
      </p:sp>
      <p:pic>
        <p:nvPicPr>
          <p:cNvPr id="43" name="object 43"/>
          <p:cNvPicPr/>
          <p:nvPr/>
        </p:nvPicPr>
        <p:blipFill>
          <a:blip r:embed="rId3" cstate="print"/>
          <a:stretch>
            <a:fillRect/>
          </a:stretch>
        </p:blipFill>
        <p:spPr>
          <a:xfrm>
            <a:off x="6134778" y="3899852"/>
            <a:ext cx="4980129" cy="2725773"/>
          </a:xfrm>
          <a:prstGeom prst="rect">
            <a:avLst/>
          </a:prstGeom>
        </p:spPr>
      </p:pic>
      <p:sp>
        <p:nvSpPr>
          <p:cNvPr id="44" name="object 44"/>
          <p:cNvSpPr txBox="1"/>
          <p:nvPr/>
        </p:nvSpPr>
        <p:spPr>
          <a:xfrm>
            <a:off x="6530365" y="4142564"/>
            <a:ext cx="168973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rial"/>
                <a:cs typeface="Arial"/>
              </a:rPr>
              <a:t>4</a:t>
            </a:r>
            <a:r>
              <a:rPr sz="1800" spc="-20" dirty="0">
                <a:latin typeface="Arial"/>
                <a:cs typeface="Arial"/>
              </a:rPr>
              <a:t> </a:t>
            </a:r>
            <a:r>
              <a:rPr sz="1800" dirty="0">
                <a:latin typeface="Arial"/>
                <a:cs typeface="Arial"/>
              </a:rPr>
              <a:t>Bit</a:t>
            </a:r>
            <a:r>
              <a:rPr sz="1800" spc="-10" dirty="0">
                <a:latin typeface="Arial"/>
                <a:cs typeface="Arial"/>
              </a:rPr>
              <a:t> </a:t>
            </a:r>
            <a:r>
              <a:rPr sz="1800" dirty="0">
                <a:latin typeface="Arial"/>
                <a:cs typeface="Arial"/>
              </a:rPr>
              <a:t>DAC,</a:t>
            </a:r>
            <a:r>
              <a:rPr sz="1800" spc="-5" dirty="0">
                <a:latin typeface="Arial"/>
                <a:cs typeface="Arial"/>
              </a:rPr>
              <a:t> </a:t>
            </a:r>
            <a:r>
              <a:rPr sz="1800" dirty="0">
                <a:latin typeface="Arial"/>
                <a:cs typeface="Arial"/>
              </a:rPr>
              <a:t>3.3</a:t>
            </a:r>
            <a:r>
              <a:rPr sz="1800" spc="-20" dirty="0">
                <a:latin typeface="Arial"/>
                <a:cs typeface="Arial"/>
              </a:rPr>
              <a:t> </a:t>
            </a:r>
            <a:r>
              <a:rPr sz="1800" spc="-50" dirty="0">
                <a:latin typeface="Arial"/>
                <a:cs typeface="Arial"/>
              </a:rPr>
              <a:t>V</a:t>
            </a:r>
            <a:endParaRPr sz="1800">
              <a:latin typeface="Arial"/>
              <a:cs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615439" y="3151233"/>
            <a:ext cx="10464165" cy="3317240"/>
          </a:xfrm>
          <a:prstGeom prst="rect">
            <a:avLst/>
          </a:prstGeom>
        </p:spPr>
        <p:txBody>
          <a:bodyPr vert="horz" wrap="square" lIns="0" tIns="12700" rIns="0" bIns="0" rtlCol="0">
            <a:spAutoFit/>
          </a:bodyPr>
          <a:lstStyle/>
          <a:p>
            <a:pPr marL="12700" marR="5080">
              <a:lnSpc>
                <a:spcPct val="100000"/>
              </a:lnSpc>
              <a:spcBef>
                <a:spcPts val="100"/>
              </a:spcBef>
            </a:pPr>
            <a:r>
              <a:rPr sz="1800" dirty="0">
                <a:latin typeface="Arial"/>
                <a:cs typeface="Arial"/>
              </a:rPr>
              <a:t>There</a:t>
            </a:r>
            <a:r>
              <a:rPr sz="1800" spc="-45" dirty="0">
                <a:latin typeface="Arial"/>
                <a:cs typeface="Arial"/>
              </a:rPr>
              <a:t> </a:t>
            </a:r>
            <a:r>
              <a:rPr sz="1800" dirty="0">
                <a:latin typeface="Arial"/>
                <a:cs typeface="Arial"/>
              </a:rPr>
              <a:t>will</a:t>
            </a:r>
            <a:r>
              <a:rPr sz="1800" spc="15" dirty="0">
                <a:latin typeface="Arial"/>
                <a:cs typeface="Arial"/>
              </a:rPr>
              <a:t> </a:t>
            </a:r>
            <a:r>
              <a:rPr sz="1800" dirty="0">
                <a:latin typeface="Arial"/>
                <a:cs typeface="Arial"/>
              </a:rPr>
              <a:t>be</a:t>
            </a:r>
            <a:r>
              <a:rPr sz="1800" spc="-20" dirty="0">
                <a:latin typeface="Arial"/>
                <a:cs typeface="Arial"/>
              </a:rPr>
              <a:t> </a:t>
            </a:r>
            <a:r>
              <a:rPr sz="1800" dirty="0">
                <a:latin typeface="Arial"/>
                <a:cs typeface="Arial"/>
              </a:rPr>
              <a:t>a</a:t>
            </a:r>
            <a:r>
              <a:rPr sz="1800" spc="-35" dirty="0">
                <a:latin typeface="Arial"/>
                <a:cs typeface="Arial"/>
              </a:rPr>
              <a:t> </a:t>
            </a:r>
            <a:r>
              <a:rPr sz="1800" dirty="0">
                <a:latin typeface="Arial"/>
                <a:cs typeface="Arial"/>
              </a:rPr>
              <a:t>circuit</a:t>
            </a:r>
            <a:r>
              <a:rPr sz="1800" spc="-25" dirty="0">
                <a:latin typeface="Arial"/>
                <a:cs typeface="Arial"/>
              </a:rPr>
              <a:t> </a:t>
            </a:r>
            <a:r>
              <a:rPr sz="1800" dirty="0">
                <a:latin typeface="Arial"/>
                <a:cs typeface="Arial"/>
              </a:rPr>
              <a:t>which</a:t>
            </a:r>
            <a:r>
              <a:rPr sz="1800" spc="15" dirty="0">
                <a:latin typeface="Arial"/>
                <a:cs typeface="Arial"/>
              </a:rPr>
              <a:t> </a:t>
            </a:r>
            <a:r>
              <a:rPr sz="1800" dirty="0">
                <a:latin typeface="Arial"/>
                <a:cs typeface="Arial"/>
              </a:rPr>
              <a:t>drives</a:t>
            </a:r>
            <a:r>
              <a:rPr sz="1800" spc="-1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appropriate</a:t>
            </a:r>
            <a:r>
              <a:rPr sz="1800" spc="-10" dirty="0">
                <a:latin typeface="Arial"/>
                <a:cs typeface="Arial"/>
              </a:rPr>
              <a:t> </a:t>
            </a:r>
            <a:r>
              <a:rPr sz="1800" dirty="0">
                <a:latin typeface="Arial"/>
                <a:cs typeface="Arial"/>
              </a:rPr>
              <a:t>values,</a:t>
            </a:r>
            <a:r>
              <a:rPr sz="1800" spc="-20" dirty="0">
                <a:latin typeface="Arial"/>
                <a:cs typeface="Arial"/>
              </a:rPr>
              <a:t> </a:t>
            </a:r>
            <a:r>
              <a:rPr sz="1800" dirty="0">
                <a:latin typeface="Arial"/>
                <a:cs typeface="Arial"/>
              </a:rPr>
              <a:t>and</a:t>
            </a:r>
            <a:r>
              <a:rPr sz="1800" spc="-2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LED</a:t>
            </a:r>
            <a:r>
              <a:rPr sz="1800" spc="-35" dirty="0">
                <a:latin typeface="Arial"/>
                <a:cs typeface="Arial"/>
              </a:rPr>
              <a:t> </a:t>
            </a:r>
            <a:r>
              <a:rPr sz="1800" dirty="0">
                <a:latin typeface="Arial"/>
                <a:cs typeface="Arial"/>
              </a:rPr>
              <a:t>itself,</a:t>
            </a:r>
            <a:r>
              <a:rPr sz="1800" spc="-25" dirty="0">
                <a:latin typeface="Arial"/>
                <a:cs typeface="Arial"/>
              </a:rPr>
              <a:t> </a:t>
            </a:r>
            <a:r>
              <a:rPr sz="1800" dirty="0">
                <a:latin typeface="Arial"/>
                <a:cs typeface="Arial"/>
              </a:rPr>
              <a:t>which</a:t>
            </a:r>
            <a:r>
              <a:rPr sz="1800" spc="15" dirty="0">
                <a:latin typeface="Arial"/>
                <a:cs typeface="Arial"/>
              </a:rPr>
              <a:t> </a:t>
            </a:r>
            <a:r>
              <a:rPr sz="1800" dirty="0">
                <a:latin typeface="Arial"/>
                <a:cs typeface="Arial"/>
              </a:rPr>
              <a:t>will</a:t>
            </a:r>
            <a:r>
              <a:rPr sz="1800" spc="25" dirty="0">
                <a:latin typeface="Arial"/>
                <a:cs typeface="Arial"/>
              </a:rPr>
              <a:t> </a:t>
            </a:r>
            <a:r>
              <a:rPr sz="1800" spc="-20" dirty="0">
                <a:latin typeface="Arial"/>
                <a:cs typeface="Arial"/>
              </a:rPr>
              <a:t>also </a:t>
            </a:r>
            <a:r>
              <a:rPr sz="1800" dirty="0">
                <a:latin typeface="Arial"/>
                <a:cs typeface="Arial"/>
              </a:rPr>
              <a:t>introduce</a:t>
            </a:r>
            <a:r>
              <a:rPr sz="1800" spc="-25"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based</a:t>
            </a:r>
            <a:r>
              <a:rPr sz="1800" spc="-25" dirty="0">
                <a:latin typeface="Arial"/>
                <a:cs typeface="Arial"/>
              </a:rPr>
              <a:t> </a:t>
            </a:r>
            <a:r>
              <a:rPr sz="1800" dirty="0">
                <a:latin typeface="Arial"/>
                <a:cs typeface="Arial"/>
              </a:rPr>
              <a:t>on</a:t>
            </a:r>
            <a:r>
              <a:rPr sz="1800" spc="-2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device</a:t>
            </a:r>
            <a:r>
              <a:rPr sz="1800" spc="-20" dirty="0">
                <a:latin typeface="Arial"/>
                <a:cs typeface="Arial"/>
              </a:rPr>
              <a:t> </a:t>
            </a:r>
            <a:r>
              <a:rPr sz="1800" dirty="0">
                <a:latin typeface="Arial"/>
                <a:cs typeface="Arial"/>
              </a:rPr>
              <a:t>properties.</a:t>
            </a:r>
            <a:r>
              <a:rPr sz="1800" spc="-15" dirty="0">
                <a:latin typeface="Arial"/>
                <a:cs typeface="Arial"/>
              </a:rPr>
              <a:t> </a:t>
            </a:r>
            <a:r>
              <a:rPr sz="1800" dirty="0">
                <a:latin typeface="Arial"/>
                <a:cs typeface="Arial"/>
              </a:rPr>
              <a:t>The</a:t>
            </a:r>
            <a:r>
              <a:rPr sz="1800" spc="-45" dirty="0">
                <a:latin typeface="Arial"/>
                <a:cs typeface="Arial"/>
              </a:rPr>
              <a:t> </a:t>
            </a:r>
            <a:r>
              <a:rPr sz="1800" dirty="0">
                <a:latin typeface="Arial"/>
                <a:cs typeface="Arial"/>
              </a:rPr>
              <a:t>key</a:t>
            </a:r>
            <a:r>
              <a:rPr sz="1800" spc="-30" dirty="0">
                <a:latin typeface="Arial"/>
                <a:cs typeface="Arial"/>
              </a:rPr>
              <a:t> </a:t>
            </a:r>
            <a:r>
              <a:rPr sz="1800" dirty="0">
                <a:latin typeface="Arial"/>
                <a:cs typeface="Arial"/>
              </a:rPr>
              <a:t>noise</a:t>
            </a:r>
            <a:r>
              <a:rPr sz="1800" spc="-20" dirty="0">
                <a:latin typeface="Arial"/>
                <a:cs typeface="Arial"/>
              </a:rPr>
              <a:t> </a:t>
            </a:r>
            <a:r>
              <a:rPr sz="1800" dirty="0">
                <a:latin typeface="Arial"/>
                <a:cs typeface="Arial"/>
              </a:rPr>
              <a:t>components</a:t>
            </a:r>
            <a:r>
              <a:rPr sz="1800" spc="-20" dirty="0">
                <a:latin typeface="Arial"/>
                <a:cs typeface="Arial"/>
              </a:rPr>
              <a:t> </a:t>
            </a:r>
            <a:r>
              <a:rPr sz="1800" dirty="0">
                <a:latin typeface="Arial"/>
                <a:cs typeface="Arial"/>
              </a:rPr>
              <a:t>will</a:t>
            </a:r>
            <a:r>
              <a:rPr sz="1800" spc="10" dirty="0">
                <a:latin typeface="Arial"/>
                <a:cs typeface="Arial"/>
              </a:rPr>
              <a:t> </a:t>
            </a:r>
            <a:r>
              <a:rPr sz="1800" spc="-25" dirty="0">
                <a:latin typeface="Arial"/>
                <a:cs typeface="Arial"/>
              </a:rPr>
              <a:t>be:</a:t>
            </a:r>
            <a:endParaRPr sz="1800">
              <a:latin typeface="Arial"/>
              <a:cs typeface="Arial"/>
            </a:endParaRPr>
          </a:p>
          <a:p>
            <a:pPr>
              <a:lnSpc>
                <a:spcPct val="100000"/>
              </a:lnSpc>
              <a:spcBef>
                <a:spcPts val="90"/>
              </a:spcBef>
            </a:pP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Thermal</a:t>
            </a:r>
            <a:r>
              <a:rPr sz="1800" b="1" spc="-50"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15" dirty="0">
                <a:latin typeface="Arial"/>
                <a:cs typeface="Arial"/>
              </a:rPr>
              <a:t> </a:t>
            </a:r>
            <a:r>
              <a:rPr sz="1800" dirty="0">
                <a:latin typeface="Arial"/>
                <a:cs typeface="Arial"/>
              </a:rPr>
              <a:t>in</a:t>
            </a:r>
            <a:r>
              <a:rPr sz="1800" spc="-30"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resistive</a:t>
            </a:r>
            <a:r>
              <a:rPr sz="1800" spc="-15" dirty="0">
                <a:latin typeface="Arial"/>
                <a:cs typeface="Arial"/>
              </a:rPr>
              <a:t> </a:t>
            </a:r>
            <a:r>
              <a:rPr sz="1800" dirty="0">
                <a:latin typeface="Arial"/>
                <a:cs typeface="Arial"/>
              </a:rPr>
              <a:t>elements</a:t>
            </a:r>
            <a:r>
              <a:rPr sz="1800" spc="-10" dirty="0">
                <a:latin typeface="Arial"/>
                <a:cs typeface="Arial"/>
              </a:rPr>
              <a:t> </a:t>
            </a:r>
            <a:r>
              <a:rPr sz="1800" dirty="0">
                <a:latin typeface="Arial"/>
                <a:cs typeface="Arial"/>
              </a:rPr>
              <a:t>of</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LED</a:t>
            </a:r>
            <a:r>
              <a:rPr sz="1800" spc="-20" dirty="0">
                <a:latin typeface="Arial"/>
                <a:cs typeface="Arial"/>
              </a:rPr>
              <a:t> </a:t>
            </a:r>
            <a:r>
              <a:rPr sz="1800" dirty="0">
                <a:latin typeface="Arial"/>
                <a:cs typeface="Arial"/>
              </a:rPr>
              <a:t>driver</a:t>
            </a:r>
            <a:r>
              <a:rPr sz="1800" spc="-25" dirty="0">
                <a:latin typeface="Arial"/>
                <a:cs typeface="Arial"/>
              </a:rPr>
              <a:t> </a:t>
            </a:r>
            <a:r>
              <a:rPr sz="1800" spc="-10" dirty="0">
                <a:latin typeface="Arial"/>
                <a:cs typeface="Arial"/>
              </a:rPr>
              <a:t>circuit.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It</a:t>
            </a:r>
            <a:r>
              <a:rPr sz="1800" spc="-35" dirty="0">
                <a:latin typeface="Arial"/>
                <a:cs typeface="Arial"/>
              </a:rPr>
              <a:t> </a:t>
            </a:r>
            <a:r>
              <a:rPr sz="1800" dirty="0">
                <a:latin typeface="Arial"/>
                <a:cs typeface="Arial"/>
              </a:rPr>
              <a:t>is</a:t>
            </a:r>
            <a:r>
              <a:rPr sz="1800" spc="-30" dirty="0">
                <a:latin typeface="Arial"/>
                <a:cs typeface="Arial"/>
              </a:rPr>
              <a:t> </a:t>
            </a:r>
            <a:r>
              <a:rPr sz="1800" dirty="0">
                <a:latin typeface="Arial"/>
                <a:cs typeface="Arial"/>
              </a:rPr>
              <a:t>directly</a:t>
            </a:r>
            <a:r>
              <a:rPr sz="1800" spc="-10" dirty="0">
                <a:latin typeface="Arial"/>
                <a:cs typeface="Arial"/>
              </a:rPr>
              <a:t> </a:t>
            </a:r>
            <a:r>
              <a:rPr sz="1800" dirty="0">
                <a:latin typeface="Arial"/>
                <a:cs typeface="Arial"/>
              </a:rPr>
              <a:t>proportional</a:t>
            </a:r>
            <a:r>
              <a:rPr sz="1800" spc="-10" dirty="0">
                <a:latin typeface="Arial"/>
                <a:cs typeface="Arial"/>
              </a:rPr>
              <a:t> </a:t>
            </a:r>
            <a:r>
              <a:rPr sz="1800" dirty="0">
                <a:latin typeface="Arial"/>
                <a:cs typeface="Arial"/>
              </a:rPr>
              <a:t>to</a:t>
            </a:r>
            <a:r>
              <a:rPr sz="1800" spc="-35" dirty="0">
                <a:latin typeface="Arial"/>
                <a:cs typeface="Arial"/>
              </a:rPr>
              <a:t> </a:t>
            </a:r>
            <a:r>
              <a:rPr sz="1800" dirty="0">
                <a:latin typeface="Arial"/>
                <a:cs typeface="Arial"/>
              </a:rPr>
              <a:t>temperature</a:t>
            </a:r>
            <a:r>
              <a:rPr sz="1800" spc="-20" dirty="0">
                <a:latin typeface="Arial"/>
                <a:cs typeface="Arial"/>
              </a:rPr>
              <a:t> </a:t>
            </a:r>
            <a:r>
              <a:rPr sz="1800" dirty="0">
                <a:latin typeface="Arial"/>
                <a:cs typeface="Arial"/>
              </a:rPr>
              <a:t>and</a:t>
            </a:r>
            <a:r>
              <a:rPr sz="1800" spc="-30" dirty="0">
                <a:latin typeface="Arial"/>
                <a:cs typeface="Arial"/>
              </a:rPr>
              <a:t> </a:t>
            </a:r>
            <a:r>
              <a:rPr sz="1800" spc="-10" dirty="0">
                <a:latin typeface="Arial"/>
                <a:cs typeface="Arial"/>
              </a:rPr>
              <a:t>resistance.</a:t>
            </a: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Shot</a:t>
            </a:r>
            <a:r>
              <a:rPr sz="1800" b="1" spc="-45"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15" dirty="0">
                <a:latin typeface="Arial"/>
                <a:cs typeface="Arial"/>
              </a:rPr>
              <a:t> </a:t>
            </a:r>
            <a:r>
              <a:rPr sz="1800" dirty="0">
                <a:latin typeface="Arial"/>
                <a:cs typeface="Arial"/>
              </a:rPr>
              <a:t>in</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LED</a:t>
            </a:r>
            <a:r>
              <a:rPr sz="1800" spc="-25" dirty="0">
                <a:latin typeface="Arial"/>
                <a:cs typeface="Arial"/>
              </a:rPr>
              <a:t> </a:t>
            </a:r>
            <a:r>
              <a:rPr sz="1800" dirty="0">
                <a:latin typeface="Arial"/>
                <a:cs typeface="Arial"/>
              </a:rPr>
              <a:t>itself</a:t>
            </a:r>
            <a:r>
              <a:rPr sz="1800" spc="-15" dirty="0">
                <a:latin typeface="Arial"/>
                <a:cs typeface="Arial"/>
              </a:rPr>
              <a:t> </a:t>
            </a:r>
            <a:r>
              <a:rPr sz="1800" dirty="0">
                <a:latin typeface="Arial"/>
                <a:cs typeface="Arial"/>
              </a:rPr>
              <a:t>due</a:t>
            </a:r>
            <a:r>
              <a:rPr sz="1800" spc="-15" dirty="0">
                <a:latin typeface="Arial"/>
                <a:cs typeface="Arial"/>
              </a:rPr>
              <a:t> </a:t>
            </a:r>
            <a:r>
              <a:rPr sz="1800" dirty="0">
                <a:latin typeface="Arial"/>
                <a:cs typeface="Arial"/>
              </a:rPr>
              <a:t>to</a:t>
            </a:r>
            <a:r>
              <a:rPr sz="1800" spc="-2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random</a:t>
            </a:r>
            <a:r>
              <a:rPr sz="1800" spc="-5" dirty="0">
                <a:latin typeface="Arial"/>
                <a:cs typeface="Arial"/>
              </a:rPr>
              <a:t> </a:t>
            </a:r>
            <a:r>
              <a:rPr sz="1800" dirty="0">
                <a:latin typeface="Arial"/>
                <a:cs typeface="Arial"/>
              </a:rPr>
              <a:t>nature</a:t>
            </a:r>
            <a:r>
              <a:rPr sz="1800" spc="-25" dirty="0">
                <a:latin typeface="Arial"/>
                <a:cs typeface="Arial"/>
              </a:rPr>
              <a:t> </a:t>
            </a:r>
            <a:r>
              <a:rPr sz="1800" dirty="0">
                <a:latin typeface="Arial"/>
                <a:cs typeface="Arial"/>
              </a:rPr>
              <a:t>of</a:t>
            </a:r>
            <a:r>
              <a:rPr sz="1800" spc="-20" dirty="0">
                <a:latin typeface="Arial"/>
                <a:cs typeface="Arial"/>
              </a:rPr>
              <a:t> </a:t>
            </a:r>
            <a:r>
              <a:rPr sz="1800" dirty="0">
                <a:latin typeface="Arial"/>
                <a:cs typeface="Arial"/>
              </a:rPr>
              <a:t>current</a:t>
            </a:r>
            <a:r>
              <a:rPr sz="1800" spc="-15" dirty="0">
                <a:latin typeface="Arial"/>
                <a:cs typeface="Arial"/>
              </a:rPr>
              <a:t> </a:t>
            </a:r>
            <a:r>
              <a:rPr sz="1800" spc="-10" dirty="0">
                <a:latin typeface="Arial"/>
                <a:cs typeface="Arial"/>
              </a:rPr>
              <a:t>flow.</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Proportional</a:t>
            </a:r>
            <a:r>
              <a:rPr sz="1800" spc="-10" dirty="0">
                <a:latin typeface="Arial"/>
                <a:cs typeface="Arial"/>
              </a:rPr>
              <a:t> </a:t>
            </a:r>
            <a:r>
              <a:rPr sz="1800" dirty="0">
                <a:latin typeface="Arial"/>
                <a:cs typeface="Arial"/>
              </a:rPr>
              <a:t>to</a:t>
            </a:r>
            <a:r>
              <a:rPr sz="1800" spc="-30"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square</a:t>
            </a:r>
            <a:r>
              <a:rPr sz="1800" spc="-20" dirty="0">
                <a:latin typeface="Arial"/>
                <a:cs typeface="Arial"/>
              </a:rPr>
              <a:t> </a:t>
            </a:r>
            <a:r>
              <a:rPr sz="1800" dirty="0">
                <a:latin typeface="Arial"/>
                <a:cs typeface="Arial"/>
              </a:rPr>
              <a:t>root</a:t>
            </a:r>
            <a:r>
              <a:rPr sz="1800" spc="-20" dirty="0">
                <a:latin typeface="Arial"/>
                <a:cs typeface="Arial"/>
              </a:rPr>
              <a:t> </a:t>
            </a:r>
            <a:r>
              <a:rPr sz="1800" dirty="0">
                <a:latin typeface="Arial"/>
                <a:cs typeface="Arial"/>
              </a:rPr>
              <a:t>of</a:t>
            </a:r>
            <a:r>
              <a:rPr sz="1800" spc="-30" dirty="0">
                <a:latin typeface="Arial"/>
                <a:cs typeface="Arial"/>
              </a:rPr>
              <a:t> </a:t>
            </a:r>
            <a:r>
              <a:rPr sz="1800" dirty="0">
                <a:latin typeface="Arial"/>
                <a:cs typeface="Arial"/>
              </a:rPr>
              <a:t>the</a:t>
            </a:r>
            <a:r>
              <a:rPr sz="1800" spc="-35" dirty="0">
                <a:latin typeface="Arial"/>
                <a:cs typeface="Arial"/>
              </a:rPr>
              <a:t> </a:t>
            </a:r>
            <a:r>
              <a:rPr sz="1800" dirty="0">
                <a:latin typeface="Arial"/>
                <a:cs typeface="Arial"/>
              </a:rPr>
              <a:t>average</a:t>
            </a:r>
            <a:r>
              <a:rPr sz="1800" spc="-5" dirty="0">
                <a:latin typeface="Arial"/>
                <a:cs typeface="Arial"/>
              </a:rPr>
              <a:t> </a:t>
            </a:r>
            <a:r>
              <a:rPr sz="1800" dirty="0">
                <a:latin typeface="Arial"/>
                <a:cs typeface="Arial"/>
              </a:rPr>
              <a:t>current</a:t>
            </a:r>
            <a:r>
              <a:rPr sz="1800" spc="-20" dirty="0">
                <a:latin typeface="Arial"/>
                <a:cs typeface="Arial"/>
              </a:rPr>
              <a:t> </a:t>
            </a:r>
            <a:r>
              <a:rPr sz="1800" dirty="0">
                <a:latin typeface="Arial"/>
                <a:cs typeface="Arial"/>
              </a:rPr>
              <a:t>through</a:t>
            </a:r>
            <a:r>
              <a:rPr sz="1800" spc="-20" dirty="0">
                <a:latin typeface="Arial"/>
                <a:cs typeface="Arial"/>
              </a:rPr>
              <a:t> </a:t>
            </a:r>
            <a:r>
              <a:rPr sz="1800" dirty="0">
                <a:latin typeface="Arial"/>
                <a:cs typeface="Arial"/>
              </a:rPr>
              <a:t>the</a:t>
            </a:r>
            <a:r>
              <a:rPr sz="1800" spc="-30" dirty="0">
                <a:latin typeface="Arial"/>
                <a:cs typeface="Arial"/>
              </a:rPr>
              <a:t> </a:t>
            </a:r>
            <a:r>
              <a:rPr sz="1800" spc="-20" dirty="0">
                <a:latin typeface="Arial"/>
                <a:cs typeface="Arial"/>
              </a:rPr>
              <a:t>LED.</a:t>
            </a:r>
            <a:endParaRPr sz="1800">
              <a:latin typeface="Arial"/>
              <a:cs typeface="Arial"/>
            </a:endParaRPr>
          </a:p>
          <a:p>
            <a:pPr marL="91440" indent="-88900">
              <a:lnSpc>
                <a:spcPct val="100000"/>
              </a:lnSpc>
              <a:buSzPct val="94444"/>
              <a:buFont typeface="Arial"/>
              <a:buChar char="•"/>
              <a:tabLst>
                <a:tab pos="91440" algn="l"/>
              </a:tabLst>
            </a:pPr>
            <a:r>
              <a:rPr sz="1800" b="1" dirty="0">
                <a:latin typeface="Arial"/>
                <a:cs typeface="Arial"/>
              </a:rPr>
              <a:t>Flicker</a:t>
            </a:r>
            <a:r>
              <a:rPr sz="1800" b="1" spc="-50" dirty="0">
                <a:latin typeface="Arial"/>
                <a:cs typeface="Arial"/>
              </a:rPr>
              <a:t> </a:t>
            </a:r>
            <a:r>
              <a:rPr sz="1800" b="1" spc="-10" dirty="0">
                <a:latin typeface="Arial"/>
                <a:cs typeface="Arial"/>
              </a:rPr>
              <a:t>Noise</a:t>
            </a:r>
            <a:r>
              <a:rPr sz="1800" spc="-10" dirty="0">
                <a:latin typeface="Arial"/>
                <a:cs typeface="Arial"/>
              </a:rPr>
              <a:t>:</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Found</a:t>
            </a:r>
            <a:r>
              <a:rPr sz="1800" spc="-25" dirty="0">
                <a:latin typeface="Arial"/>
                <a:cs typeface="Arial"/>
              </a:rPr>
              <a:t> </a:t>
            </a:r>
            <a:r>
              <a:rPr sz="1800" dirty="0">
                <a:latin typeface="Arial"/>
                <a:cs typeface="Arial"/>
              </a:rPr>
              <a:t>in</a:t>
            </a:r>
            <a:r>
              <a:rPr sz="1800" spc="-35" dirty="0">
                <a:latin typeface="Arial"/>
                <a:cs typeface="Arial"/>
              </a:rPr>
              <a:t> </a:t>
            </a:r>
            <a:r>
              <a:rPr sz="1800" dirty="0">
                <a:latin typeface="Arial"/>
                <a:cs typeface="Arial"/>
              </a:rPr>
              <a:t>driver</a:t>
            </a:r>
            <a:r>
              <a:rPr sz="1800" spc="-15" dirty="0">
                <a:latin typeface="Arial"/>
                <a:cs typeface="Arial"/>
              </a:rPr>
              <a:t> </a:t>
            </a:r>
            <a:r>
              <a:rPr sz="1800" dirty="0">
                <a:latin typeface="Arial"/>
                <a:cs typeface="Arial"/>
              </a:rPr>
              <a:t>components</a:t>
            </a:r>
            <a:r>
              <a:rPr sz="1800" spc="-15" dirty="0">
                <a:latin typeface="Arial"/>
                <a:cs typeface="Arial"/>
              </a:rPr>
              <a:t> </a:t>
            </a:r>
            <a:r>
              <a:rPr sz="1800" dirty="0">
                <a:latin typeface="Arial"/>
                <a:cs typeface="Arial"/>
              </a:rPr>
              <a:t>due</a:t>
            </a:r>
            <a:r>
              <a:rPr sz="1800" spc="-20" dirty="0">
                <a:latin typeface="Arial"/>
                <a:cs typeface="Arial"/>
              </a:rPr>
              <a:t> </a:t>
            </a:r>
            <a:r>
              <a:rPr sz="1800" dirty="0">
                <a:latin typeface="Arial"/>
                <a:cs typeface="Arial"/>
              </a:rPr>
              <a:t>to</a:t>
            </a:r>
            <a:r>
              <a:rPr sz="1800" spc="-45" dirty="0">
                <a:latin typeface="Arial"/>
                <a:cs typeface="Arial"/>
              </a:rPr>
              <a:t> </a:t>
            </a:r>
            <a:r>
              <a:rPr sz="1800" dirty="0">
                <a:latin typeface="Arial"/>
                <a:cs typeface="Arial"/>
              </a:rPr>
              <a:t>material</a:t>
            </a:r>
            <a:r>
              <a:rPr sz="1800" spc="-20" dirty="0">
                <a:latin typeface="Arial"/>
                <a:cs typeface="Arial"/>
              </a:rPr>
              <a:t> </a:t>
            </a:r>
            <a:r>
              <a:rPr sz="1800" spc="-10" dirty="0">
                <a:latin typeface="Arial"/>
                <a:cs typeface="Arial"/>
              </a:rPr>
              <a:t>imperfections.</a:t>
            </a:r>
            <a:endParaRPr sz="1800">
              <a:latin typeface="Arial"/>
              <a:cs typeface="Arial"/>
            </a:endParaRPr>
          </a:p>
          <a:p>
            <a:pPr marL="91440" indent="-88900">
              <a:lnSpc>
                <a:spcPct val="100000"/>
              </a:lnSpc>
              <a:buSzPct val="94444"/>
              <a:buChar char="•"/>
              <a:tabLst>
                <a:tab pos="91440" algn="l"/>
              </a:tabLst>
            </a:pPr>
            <a:r>
              <a:rPr sz="1800" dirty="0">
                <a:latin typeface="Arial"/>
                <a:cs typeface="Arial"/>
              </a:rPr>
              <a:t>Dominates</a:t>
            </a:r>
            <a:r>
              <a:rPr sz="1800" spc="-15" dirty="0">
                <a:latin typeface="Arial"/>
                <a:cs typeface="Arial"/>
              </a:rPr>
              <a:t> </a:t>
            </a:r>
            <a:r>
              <a:rPr sz="1800" dirty="0">
                <a:latin typeface="Arial"/>
                <a:cs typeface="Arial"/>
              </a:rPr>
              <a:t>at</a:t>
            </a:r>
            <a:r>
              <a:rPr sz="1800" spc="-20" dirty="0">
                <a:latin typeface="Arial"/>
                <a:cs typeface="Arial"/>
              </a:rPr>
              <a:t> </a:t>
            </a:r>
            <a:r>
              <a:rPr sz="1800" dirty="0">
                <a:latin typeface="Arial"/>
                <a:cs typeface="Arial"/>
              </a:rPr>
              <a:t>low</a:t>
            </a:r>
            <a:r>
              <a:rPr sz="1800" spc="-15" dirty="0">
                <a:latin typeface="Arial"/>
                <a:cs typeface="Arial"/>
              </a:rPr>
              <a:t> </a:t>
            </a:r>
            <a:r>
              <a:rPr sz="1800" dirty="0">
                <a:latin typeface="Arial"/>
                <a:cs typeface="Arial"/>
              </a:rPr>
              <a:t>frequencies</a:t>
            </a:r>
            <a:r>
              <a:rPr sz="1800" spc="-15" dirty="0">
                <a:latin typeface="Arial"/>
                <a:cs typeface="Arial"/>
              </a:rPr>
              <a:t> </a:t>
            </a:r>
            <a:r>
              <a:rPr sz="1800" dirty="0">
                <a:latin typeface="Arial"/>
                <a:cs typeface="Arial"/>
              </a:rPr>
              <a:t>and</a:t>
            </a:r>
            <a:r>
              <a:rPr sz="1800" spc="-15" dirty="0">
                <a:latin typeface="Arial"/>
                <a:cs typeface="Arial"/>
              </a:rPr>
              <a:t> </a:t>
            </a:r>
            <a:r>
              <a:rPr sz="1800" dirty="0">
                <a:latin typeface="Arial"/>
                <a:cs typeface="Arial"/>
              </a:rPr>
              <a:t>adds</a:t>
            </a:r>
            <a:r>
              <a:rPr sz="1800" spc="-10" dirty="0">
                <a:latin typeface="Arial"/>
                <a:cs typeface="Arial"/>
              </a:rPr>
              <a:t> </a:t>
            </a:r>
            <a:r>
              <a:rPr sz="1800" dirty="0">
                <a:latin typeface="Arial"/>
                <a:cs typeface="Arial"/>
              </a:rPr>
              <a:t>to</a:t>
            </a:r>
            <a:r>
              <a:rPr sz="1800" spc="-4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overall</a:t>
            </a:r>
            <a:r>
              <a:rPr sz="1800" spc="-5" dirty="0">
                <a:latin typeface="Arial"/>
                <a:cs typeface="Arial"/>
              </a:rPr>
              <a:t> </a:t>
            </a:r>
            <a:r>
              <a:rPr sz="1800" dirty="0">
                <a:latin typeface="Arial"/>
                <a:cs typeface="Arial"/>
              </a:rPr>
              <a:t>noise</a:t>
            </a:r>
            <a:r>
              <a:rPr sz="1800" spc="-15" dirty="0">
                <a:latin typeface="Arial"/>
                <a:cs typeface="Arial"/>
              </a:rPr>
              <a:t> </a:t>
            </a:r>
            <a:r>
              <a:rPr sz="1800" dirty="0">
                <a:latin typeface="Arial"/>
                <a:cs typeface="Arial"/>
              </a:rPr>
              <a:t>in</a:t>
            </a:r>
            <a:r>
              <a:rPr sz="1800" spc="-35" dirty="0">
                <a:latin typeface="Arial"/>
                <a:cs typeface="Arial"/>
              </a:rPr>
              <a:t> </a:t>
            </a:r>
            <a:r>
              <a:rPr sz="1800" dirty="0">
                <a:latin typeface="Arial"/>
                <a:cs typeface="Arial"/>
              </a:rPr>
              <a:t>the</a:t>
            </a:r>
            <a:r>
              <a:rPr sz="1800" spc="-30" dirty="0">
                <a:latin typeface="Arial"/>
                <a:cs typeface="Arial"/>
              </a:rPr>
              <a:t> </a:t>
            </a:r>
            <a:r>
              <a:rPr sz="1800" dirty="0">
                <a:latin typeface="Arial"/>
                <a:cs typeface="Arial"/>
              </a:rPr>
              <a:t>driver</a:t>
            </a:r>
            <a:r>
              <a:rPr sz="1800" spc="-10" dirty="0">
                <a:latin typeface="Arial"/>
                <a:cs typeface="Arial"/>
              </a:rPr>
              <a:t> stage.</a:t>
            </a:r>
            <a:endParaRPr sz="1800">
              <a:latin typeface="Arial"/>
              <a:cs typeface="Arial"/>
            </a:endParaRPr>
          </a:p>
        </p:txBody>
      </p:sp>
      <p:grpSp>
        <p:nvGrpSpPr>
          <p:cNvPr id="4" name="object 4"/>
          <p:cNvGrpSpPr/>
          <p:nvPr/>
        </p:nvGrpSpPr>
        <p:grpSpPr>
          <a:xfrm>
            <a:off x="444500" y="1587500"/>
            <a:ext cx="939800" cy="939800"/>
            <a:chOff x="444500" y="1587500"/>
            <a:chExt cx="939800" cy="939800"/>
          </a:xfrm>
        </p:grpSpPr>
        <p:sp>
          <p:nvSpPr>
            <p:cNvPr id="5" name="object 5"/>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587500"/>
            <a:ext cx="939800" cy="939800"/>
            <a:chOff x="1617002" y="1587500"/>
            <a:chExt cx="939800" cy="939800"/>
          </a:xfrm>
        </p:grpSpPr>
        <p:sp>
          <p:nvSpPr>
            <p:cNvPr id="9" name="object 9"/>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587500"/>
            <a:ext cx="939800" cy="939800"/>
            <a:chOff x="2875699" y="1587500"/>
            <a:chExt cx="939800" cy="939800"/>
          </a:xfrm>
        </p:grpSpPr>
        <p:sp>
          <p:nvSpPr>
            <p:cNvPr id="13" name="object 13"/>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4" name="object 14"/>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5" name="object 15"/>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587500"/>
            <a:ext cx="939800" cy="939800"/>
            <a:chOff x="4125455" y="1587500"/>
            <a:chExt cx="939800" cy="939800"/>
          </a:xfrm>
        </p:grpSpPr>
        <p:sp>
          <p:nvSpPr>
            <p:cNvPr id="17" name="object 17"/>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8" name="object 18"/>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9" name="object 19"/>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587500"/>
            <a:ext cx="939800" cy="939800"/>
            <a:chOff x="7344371" y="1587500"/>
            <a:chExt cx="939800" cy="939800"/>
          </a:xfrm>
        </p:grpSpPr>
        <p:sp>
          <p:nvSpPr>
            <p:cNvPr id="21" name="object 21"/>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925827"/>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587500"/>
            <a:ext cx="939800" cy="939800"/>
            <a:chOff x="9712108" y="1587500"/>
            <a:chExt cx="939800" cy="939800"/>
          </a:xfrm>
        </p:grpSpPr>
        <p:sp>
          <p:nvSpPr>
            <p:cNvPr id="25" name="object 25"/>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592948"/>
            <a:ext cx="939800" cy="939800"/>
            <a:chOff x="8539619" y="1592948"/>
            <a:chExt cx="939800" cy="939800"/>
          </a:xfrm>
        </p:grpSpPr>
        <p:sp>
          <p:nvSpPr>
            <p:cNvPr id="29" name="object 29"/>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597329"/>
            <a:ext cx="939800" cy="939800"/>
            <a:chOff x="10829823" y="1597329"/>
            <a:chExt cx="939800" cy="939800"/>
          </a:xfrm>
        </p:grpSpPr>
        <p:sp>
          <p:nvSpPr>
            <p:cNvPr id="33" name="object 33"/>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968500"/>
            <a:ext cx="1877695" cy="177800"/>
            <a:chOff x="5245100" y="1968500"/>
            <a:chExt cx="1877695" cy="177800"/>
          </a:xfrm>
        </p:grpSpPr>
        <p:sp>
          <p:nvSpPr>
            <p:cNvPr id="39" name="object 39"/>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587500"/>
            <a:ext cx="939800" cy="939800"/>
            <a:chOff x="444500" y="1587500"/>
            <a:chExt cx="939800" cy="939800"/>
          </a:xfrm>
        </p:grpSpPr>
        <p:sp>
          <p:nvSpPr>
            <p:cNvPr id="4" name="object 4"/>
            <p:cNvSpPr/>
            <p:nvPr/>
          </p:nvSpPr>
          <p:spPr>
            <a:xfrm>
              <a:off x="457200"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5" name="object 5"/>
            <p:cNvSpPr/>
            <p:nvPr/>
          </p:nvSpPr>
          <p:spPr>
            <a:xfrm>
              <a:off x="457200"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6" name="object 6"/>
          <p:cNvSpPr txBox="1"/>
          <p:nvPr/>
        </p:nvSpPr>
        <p:spPr>
          <a:xfrm>
            <a:off x="538130" y="1925827"/>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587500"/>
            <a:ext cx="939800" cy="939800"/>
            <a:chOff x="1617002" y="1587500"/>
            <a:chExt cx="939800" cy="939800"/>
          </a:xfrm>
        </p:grpSpPr>
        <p:sp>
          <p:nvSpPr>
            <p:cNvPr id="8" name="object 8"/>
            <p:cNvSpPr/>
            <p:nvPr/>
          </p:nvSpPr>
          <p:spPr>
            <a:xfrm>
              <a:off x="1629702"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712468"/>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587500"/>
            <a:ext cx="939800" cy="939800"/>
            <a:chOff x="2875699" y="1587500"/>
            <a:chExt cx="939800" cy="939800"/>
          </a:xfrm>
        </p:grpSpPr>
        <p:sp>
          <p:nvSpPr>
            <p:cNvPr id="12" name="object 12"/>
            <p:cNvSpPr/>
            <p:nvPr/>
          </p:nvSpPr>
          <p:spPr>
            <a:xfrm>
              <a:off x="2888399"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3" name="object 13"/>
            <p:cNvSpPr/>
            <p:nvPr/>
          </p:nvSpPr>
          <p:spPr>
            <a:xfrm>
              <a:off x="2888399"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4" name="object 14"/>
          <p:cNvSpPr txBox="1"/>
          <p:nvPr/>
        </p:nvSpPr>
        <p:spPr>
          <a:xfrm>
            <a:off x="3098873" y="1712468"/>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587500"/>
            <a:ext cx="939800" cy="939800"/>
            <a:chOff x="4125455" y="1587500"/>
            <a:chExt cx="939800" cy="939800"/>
          </a:xfrm>
        </p:grpSpPr>
        <p:sp>
          <p:nvSpPr>
            <p:cNvPr id="16" name="object 16"/>
            <p:cNvSpPr/>
            <p:nvPr/>
          </p:nvSpPr>
          <p:spPr>
            <a:xfrm>
              <a:off x="4138155"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17" name="object 17"/>
            <p:cNvSpPr/>
            <p:nvPr/>
          </p:nvSpPr>
          <p:spPr>
            <a:xfrm>
              <a:off x="4138155"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18" name="object 18"/>
          <p:cNvSpPr txBox="1"/>
          <p:nvPr/>
        </p:nvSpPr>
        <p:spPr>
          <a:xfrm>
            <a:off x="4446158" y="1925827"/>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587500"/>
            <a:ext cx="939800" cy="939800"/>
            <a:chOff x="7344371" y="1587500"/>
            <a:chExt cx="939800" cy="939800"/>
          </a:xfrm>
        </p:grpSpPr>
        <p:sp>
          <p:nvSpPr>
            <p:cNvPr id="20" name="object 20"/>
            <p:cNvSpPr/>
            <p:nvPr/>
          </p:nvSpPr>
          <p:spPr>
            <a:xfrm>
              <a:off x="7357071"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925827"/>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587500"/>
            <a:ext cx="939800" cy="939800"/>
            <a:chOff x="9712108" y="1587500"/>
            <a:chExt cx="939800" cy="939800"/>
          </a:xfrm>
        </p:grpSpPr>
        <p:sp>
          <p:nvSpPr>
            <p:cNvPr id="24" name="object 24"/>
            <p:cNvSpPr/>
            <p:nvPr/>
          </p:nvSpPr>
          <p:spPr>
            <a:xfrm>
              <a:off x="9724808" y="1600200"/>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600200"/>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712468"/>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592948"/>
            <a:ext cx="939800" cy="939800"/>
            <a:chOff x="8539619" y="1592948"/>
            <a:chExt cx="939800" cy="939800"/>
          </a:xfrm>
        </p:grpSpPr>
        <p:sp>
          <p:nvSpPr>
            <p:cNvPr id="28" name="object 28"/>
            <p:cNvSpPr/>
            <p:nvPr/>
          </p:nvSpPr>
          <p:spPr>
            <a:xfrm>
              <a:off x="8552319" y="160564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60564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931277"/>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597329"/>
            <a:ext cx="939800" cy="939800"/>
            <a:chOff x="10829823" y="1597329"/>
            <a:chExt cx="939800" cy="939800"/>
          </a:xfrm>
        </p:grpSpPr>
        <p:sp>
          <p:nvSpPr>
            <p:cNvPr id="32" name="object 32"/>
            <p:cNvSpPr/>
            <p:nvPr/>
          </p:nvSpPr>
          <p:spPr>
            <a:xfrm>
              <a:off x="10842523" y="16100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3" name="object 33"/>
            <p:cNvSpPr/>
            <p:nvPr/>
          </p:nvSpPr>
          <p:spPr>
            <a:xfrm>
              <a:off x="10842523" y="16100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4" name="object 34"/>
          <p:cNvSpPr txBox="1"/>
          <p:nvPr/>
        </p:nvSpPr>
        <p:spPr>
          <a:xfrm>
            <a:off x="10923452" y="19356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1371600"/>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136177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968500"/>
            <a:ext cx="1877695" cy="177800"/>
            <a:chOff x="5245100" y="1968500"/>
            <a:chExt cx="1877695" cy="177800"/>
          </a:xfrm>
        </p:grpSpPr>
        <p:sp>
          <p:nvSpPr>
            <p:cNvPr id="38" name="object 38"/>
            <p:cNvSpPr/>
            <p:nvPr/>
          </p:nvSpPr>
          <p:spPr>
            <a:xfrm>
              <a:off x="5257800" y="1981200"/>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981200"/>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294578" y="3518699"/>
            <a:ext cx="5537607" cy="2920552"/>
          </a:xfrm>
          <a:prstGeom prst="rect">
            <a:avLst/>
          </a:prstGeom>
        </p:spPr>
      </p:pic>
      <p:pic>
        <p:nvPicPr>
          <p:cNvPr id="41" name="object 41"/>
          <p:cNvPicPr/>
          <p:nvPr/>
        </p:nvPicPr>
        <p:blipFill>
          <a:blip r:embed="rId3" cstate="print"/>
          <a:stretch>
            <a:fillRect/>
          </a:stretch>
        </p:blipFill>
        <p:spPr>
          <a:xfrm>
            <a:off x="6515442" y="3587712"/>
            <a:ext cx="5323700" cy="2827202"/>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253263" y="2587158"/>
            <a:ext cx="5767070" cy="3653154"/>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What</a:t>
            </a:r>
            <a:r>
              <a:rPr sz="1400" spc="-55" dirty="0">
                <a:latin typeface="Arial"/>
                <a:cs typeface="Arial"/>
              </a:rPr>
              <a:t> </a:t>
            </a:r>
            <a:r>
              <a:rPr sz="1400" dirty="0">
                <a:latin typeface="Arial"/>
                <a:cs typeface="Arial"/>
              </a:rPr>
              <a:t>noise</a:t>
            </a:r>
            <a:r>
              <a:rPr sz="1400" spc="-35" dirty="0">
                <a:latin typeface="Arial"/>
                <a:cs typeface="Arial"/>
              </a:rPr>
              <a:t> </a:t>
            </a:r>
            <a:r>
              <a:rPr sz="1400" dirty="0">
                <a:latin typeface="Arial"/>
                <a:cs typeface="Arial"/>
              </a:rPr>
              <a:t>in</a:t>
            </a:r>
            <a:r>
              <a:rPr sz="1400" spc="-30" dirty="0">
                <a:latin typeface="Arial"/>
                <a:cs typeface="Arial"/>
              </a:rPr>
              <a:t> </a:t>
            </a:r>
            <a:r>
              <a:rPr sz="1400" dirty="0">
                <a:latin typeface="Arial"/>
                <a:cs typeface="Arial"/>
              </a:rPr>
              <a:t>photodetectors</a:t>
            </a:r>
            <a:r>
              <a:rPr sz="1400" spc="-50" dirty="0">
                <a:latin typeface="Arial"/>
                <a:cs typeface="Arial"/>
              </a:rPr>
              <a:t> </a:t>
            </a:r>
            <a:r>
              <a:rPr sz="1400" dirty="0">
                <a:latin typeface="Arial"/>
                <a:cs typeface="Arial"/>
              </a:rPr>
              <a:t>do</a:t>
            </a:r>
            <a:r>
              <a:rPr sz="1400" spc="-30" dirty="0">
                <a:latin typeface="Arial"/>
                <a:cs typeface="Arial"/>
              </a:rPr>
              <a:t> </a:t>
            </a:r>
            <a:r>
              <a:rPr sz="1400" dirty="0">
                <a:latin typeface="Arial"/>
                <a:cs typeface="Arial"/>
              </a:rPr>
              <a:t>we</a:t>
            </a:r>
            <a:r>
              <a:rPr sz="1400" spc="-10" dirty="0">
                <a:latin typeface="Arial"/>
                <a:cs typeface="Arial"/>
              </a:rPr>
              <a:t> </a:t>
            </a:r>
            <a:r>
              <a:rPr sz="1400" spc="-20" dirty="0">
                <a:latin typeface="Arial"/>
                <a:cs typeface="Arial"/>
              </a:rPr>
              <a:t>see?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Shot</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5"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statistical</a:t>
            </a:r>
            <a:r>
              <a:rPr sz="1400" spc="-50" dirty="0">
                <a:latin typeface="Arial"/>
                <a:cs typeface="Arial"/>
              </a:rPr>
              <a:t> </a:t>
            </a:r>
            <a:r>
              <a:rPr sz="1400" dirty="0">
                <a:latin typeface="Arial"/>
                <a:cs typeface="Arial"/>
              </a:rPr>
              <a:t>variation</a:t>
            </a:r>
            <a:r>
              <a:rPr sz="1400" spc="-30"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arrival</a:t>
            </a:r>
            <a:r>
              <a:rPr sz="1400" spc="-15" dirty="0">
                <a:latin typeface="Arial"/>
                <a:cs typeface="Arial"/>
              </a:rPr>
              <a:t> </a:t>
            </a:r>
            <a:r>
              <a:rPr sz="1400" dirty="0">
                <a:latin typeface="Arial"/>
                <a:cs typeface="Arial"/>
              </a:rPr>
              <a:t>of</a:t>
            </a:r>
            <a:r>
              <a:rPr sz="1400" spc="-25" dirty="0">
                <a:latin typeface="Arial"/>
                <a:cs typeface="Arial"/>
              </a:rPr>
              <a:t> </a:t>
            </a:r>
            <a:r>
              <a:rPr sz="1400" spc="-10" dirty="0">
                <a:latin typeface="Arial"/>
                <a:cs typeface="Arial"/>
              </a:rPr>
              <a:t>photons.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Significant</a:t>
            </a:r>
            <a:r>
              <a:rPr sz="1400" spc="-50" dirty="0">
                <a:latin typeface="Arial"/>
                <a:cs typeface="Arial"/>
              </a:rPr>
              <a:t> </a:t>
            </a:r>
            <a:r>
              <a:rPr sz="1400" dirty="0">
                <a:latin typeface="Arial"/>
                <a:cs typeface="Arial"/>
              </a:rPr>
              <a:t>at</a:t>
            </a:r>
            <a:r>
              <a:rPr sz="1400" spc="-30" dirty="0">
                <a:latin typeface="Arial"/>
                <a:cs typeface="Arial"/>
              </a:rPr>
              <a:t> </a:t>
            </a:r>
            <a:r>
              <a:rPr sz="1400" dirty="0">
                <a:latin typeface="Arial"/>
                <a:cs typeface="Arial"/>
              </a:rPr>
              <a:t>low</a:t>
            </a:r>
            <a:r>
              <a:rPr sz="1400" spc="-30" dirty="0">
                <a:latin typeface="Arial"/>
                <a:cs typeface="Arial"/>
              </a:rPr>
              <a:t> </a:t>
            </a:r>
            <a:r>
              <a:rPr sz="1400" dirty="0">
                <a:latin typeface="Arial"/>
                <a:cs typeface="Arial"/>
              </a:rPr>
              <a:t>light</a:t>
            </a:r>
            <a:r>
              <a:rPr sz="1400" spc="-30" dirty="0">
                <a:latin typeface="Arial"/>
                <a:cs typeface="Arial"/>
              </a:rPr>
              <a:t> </a:t>
            </a:r>
            <a:r>
              <a:rPr sz="1400" spc="-10" dirty="0">
                <a:latin typeface="Arial"/>
                <a:cs typeface="Arial"/>
              </a:rPr>
              <a:t>levels.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White</a:t>
            </a:r>
            <a:r>
              <a:rPr sz="1400" spc="-55"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with</a:t>
            </a:r>
            <a:r>
              <a:rPr sz="1400" spc="-20" dirty="0">
                <a:latin typeface="Arial"/>
                <a:cs typeface="Arial"/>
              </a:rPr>
              <a:t> </a:t>
            </a:r>
            <a:r>
              <a:rPr sz="1400" dirty="0">
                <a:latin typeface="Arial"/>
                <a:cs typeface="Arial"/>
              </a:rPr>
              <a:t>uniform</a:t>
            </a:r>
            <a:r>
              <a:rPr sz="1400" spc="-45" dirty="0">
                <a:latin typeface="Arial"/>
                <a:cs typeface="Arial"/>
              </a:rPr>
              <a:t> </a:t>
            </a:r>
            <a:r>
              <a:rPr sz="1400" dirty="0">
                <a:latin typeface="Arial"/>
                <a:cs typeface="Arial"/>
              </a:rPr>
              <a:t>power</a:t>
            </a:r>
            <a:r>
              <a:rPr sz="1400" spc="-15" dirty="0">
                <a:latin typeface="Arial"/>
                <a:cs typeface="Arial"/>
              </a:rPr>
              <a:t> </a:t>
            </a:r>
            <a:r>
              <a:rPr sz="1400" dirty="0">
                <a:latin typeface="Arial"/>
                <a:cs typeface="Arial"/>
              </a:rPr>
              <a:t>distribution</a:t>
            </a:r>
            <a:r>
              <a:rPr sz="1400" spc="-55" dirty="0">
                <a:latin typeface="Arial"/>
                <a:cs typeface="Arial"/>
              </a:rPr>
              <a:t> </a:t>
            </a:r>
            <a:r>
              <a:rPr sz="1400" dirty="0">
                <a:latin typeface="Arial"/>
                <a:cs typeface="Arial"/>
              </a:rPr>
              <a:t>across</a:t>
            </a:r>
            <a:r>
              <a:rPr sz="1400" spc="-45" dirty="0">
                <a:latin typeface="Arial"/>
                <a:cs typeface="Arial"/>
              </a:rPr>
              <a:t> </a:t>
            </a:r>
            <a:r>
              <a:rPr sz="1400" dirty="0">
                <a:latin typeface="Arial"/>
                <a:cs typeface="Arial"/>
              </a:rPr>
              <a:t>all</a:t>
            </a:r>
            <a:r>
              <a:rPr sz="1400" spc="-15" dirty="0">
                <a:latin typeface="Arial"/>
                <a:cs typeface="Arial"/>
              </a:rPr>
              <a:t> </a:t>
            </a:r>
            <a:r>
              <a:rPr sz="1400" spc="-10" dirty="0">
                <a:latin typeface="Arial"/>
                <a:cs typeface="Arial"/>
              </a:rPr>
              <a:t>frequencies.</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Thermal</a:t>
            </a:r>
            <a:r>
              <a:rPr sz="1400" b="1" spc="-75"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thermal</a:t>
            </a:r>
            <a:r>
              <a:rPr sz="1400" spc="-40" dirty="0">
                <a:latin typeface="Arial"/>
                <a:cs typeface="Arial"/>
              </a:rPr>
              <a:t> </a:t>
            </a:r>
            <a:r>
              <a:rPr sz="1400" dirty="0">
                <a:latin typeface="Arial"/>
                <a:cs typeface="Arial"/>
              </a:rPr>
              <a:t>agitation</a:t>
            </a:r>
            <a:r>
              <a:rPr sz="1400" spc="-55"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electrons</a:t>
            </a:r>
            <a:r>
              <a:rPr sz="1400" spc="-45"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resistive</a:t>
            </a:r>
            <a:r>
              <a:rPr sz="1400" spc="-45" dirty="0">
                <a:latin typeface="Arial"/>
                <a:cs typeface="Arial"/>
              </a:rPr>
              <a:t> </a:t>
            </a:r>
            <a:r>
              <a:rPr sz="1400" spc="-10" dirty="0">
                <a:latin typeface="Arial"/>
                <a:cs typeface="Arial"/>
              </a:rPr>
              <a:t>components.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70" dirty="0">
                <a:latin typeface="Arial"/>
                <a:cs typeface="Arial"/>
              </a:rPr>
              <a:t> </a:t>
            </a:r>
            <a:r>
              <a:rPr sz="1400" dirty="0">
                <a:latin typeface="Arial"/>
                <a:cs typeface="Arial"/>
              </a:rPr>
              <a:t>with</a:t>
            </a:r>
            <a:r>
              <a:rPr sz="1400" spc="-15" dirty="0">
                <a:latin typeface="Arial"/>
                <a:cs typeface="Arial"/>
              </a:rPr>
              <a:t> </a:t>
            </a:r>
            <a:r>
              <a:rPr sz="1400" dirty="0">
                <a:latin typeface="Arial"/>
                <a:cs typeface="Arial"/>
              </a:rPr>
              <a:t>temperature</a:t>
            </a:r>
            <a:r>
              <a:rPr sz="1400" spc="-75" dirty="0">
                <a:latin typeface="Arial"/>
                <a:cs typeface="Arial"/>
              </a:rPr>
              <a:t> </a:t>
            </a:r>
            <a:r>
              <a:rPr sz="1400" dirty="0">
                <a:latin typeface="Arial"/>
                <a:cs typeface="Arial"/>
              </a:rPr>
              <a:t>and</a:t>
            </a:r>
            <a:r>
              <a:rPr sz="1400" spc="-35" dirty="0">
                <a:latin typeface="Arial"/>
                <a:cs typeface="Arial"/>
              </a:rPr>
              <a:t> </a:t>
            </a:r>
            <a:r>
              <a:rPr sz="1400" spc="-10" dirty="0">
                <a:latin typeface="Arial"/>
                <a:cs typeface="Arial"/>
              </a:rPr>
              <a:t>resistance.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Present</a:t>
            </a:r>
            <a:r>
              <a:rPr sz="1400" spc="-45"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circuit</a:t>
            </a:r>
            <a:r>
              <a:rPr sz="1400" spc="-45" dirty="0">
                <a:latin typeface="Arial"/>
                <a:cs typeface="Arial"/>
              </a:rPr>
              <a:t> </a:t>
            </a:r>
            <a:r>
              <a:rPr sz="1400" dirty="0">
                <a:latin typeface="Arial"/>
                <a:cs typeface="Arial"/>
              </a:rPr>
              <a:t>regardless</a:t>
            </a:r>
            <a:r>
              <a:rPr sz="1400" spc="-55" dirty="0">
                <a:latin typeface="Arial"/>
                <a:cs typeface="Arial"/>
              </a:rPr>
              <a:t> </a:t>
            </a:r>
            <a:r>
              <a:rPr sz="1400" dirty="0">
                <a:latin typeface="Arial"/>
                <a:cs typeface="Arial"/>
              </a:rPr>
              <a:t>of</a:t>
            </a:r>
            <a:r>
              <a:rPr sz="1400" spc="-10" dirty="0">
                <a:latin typeface="Arial"/>
                <a:cs typeface="Arial"/>
              </a:rPr>
              <a:t> </a:t>
            </a:r>
            <a:r>
              <a:rPr sz="1400" dirty="0">
                <a:latin typeface="Arial"/>
                <a:cs typeface="Arial"/>
              </a:rPr>
              <a:t>light</a:t>
            </a:r>
            <a:r>
              <a:rPr sz="1400" spc="-30" dirty="0">
                <a:latin typeface="Arial"/>
                <a:cs typeface="Arial"/>
              </a:rPr>
              <a:t> </a:t>
            </a:r>
            <a:r>
              <a:rPr sz="1400" spc="-10" dirty="0">
                <a:latin typeface="Arial"/>
                <a:cs typeface="Arial"/>
              </a:rPr>
              <a:t>exposure.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Dark</a:t>
            </a:r>
            <a:r>
              <a:rPr sz="1400" b="1" spc="-35" dirty="0">
                <a:latin typeface="Arial"/>
                <a:cs typeface="Arial"/>
              </a:rPr>
              <a:t> </a:t>
            </a:r>
            <a:r>
              <a:rPr sz="1400" b="1" dirty="0">
                <a:latin typeface="Arial"/>
                <a:cs typeface="Arial"/>
              </a:rPr>
              <a:t>Current</a:t>
            </a:r>
            <a:r>
              <a:rPr sz="1400" b="1" spc="-45"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20" dirty="0">
                <a:latin typeface="Arial"/>
                <a:cs typeface="Arial"/>
              </a:rPr>
              <a:t> </a:t>
            </a:r>
            <a:r>
              <a:rPr sz="1400" dirty="0">
                <a:latin typeface="Arial"/>
                <a:cs typeface="Arial"/>
              </a:rPr>
              <a:t>to</a:t>
            </a:r>
            <a:r>
              <a:rPr sz="1400" spc="-30" dirty="0">
                <a:latin typeface="Arial"/>
                <a:cs typeface="Arial"/>
              </a:rPr>
              <a:t> </a:t>
            </a:r>
            <a:r>
              <a:rPr sz="1400" dirty="0">
                <a:latin typeface="Arial"/>
                <a:cs typeface="Arial"/>
              </a:rPr>
              <a:t>thermally</a:t>
            </a:r>
            <a:r>
              <a:rPr sz="1400" spc="-40" dirty="0">
                <a:latin typeface="Arial"/>
                <a:cs typeface="Arial"/>
              </a:rPr>
              <a:t> </a:t>
            </a:r>
            <a:r>
              <a:rPr sz="1400" dirty="0">
                <a:latin typeface="Arial"/>
                <a:cs typeface="Arial"/>
              </a:rPr>
              <a:t>generated</a:t>
            </a:r>
            <a:r>
              <a:rPr sz="1400" spc="-65" dirty="0">
                <a:latin typeface="Arial"/>
                <a:cs typeface="Arial"/>
              </a:rPr>
              <a:t> </a:t>
            </a:r>
            <a:r>
              <a:rPr sz="1400" dirty="0">
                <a:latin typeface="Arial"/>
                <a:cs typeface="Arial"/>
              </a:rPr>
              <a:t>carriers</a:t>
            </a:r>
            <a:r>
              <a:rPr sz="1400" spc="-40" dirty="0">
                <a:latin typeface="Arial"/>
                <a:cs typeface="Arial"/>
              </a:rPr>
              <a:t> </a:t>
            </a:r>
            <a:r>
              <a:rPr sz="1400" dirty="0">
                <a:latin typeface="Arial"/>
                <a:cs typeface="Arial"/>
              </a:rPr>
              <a:t>in</a:t>
            </a:r>
            <a:r>
              <a:rPr sz="1400" spc="-20"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absence</a:t>
            </a:r>
            <a:r>
              <a:rPr sz="1400" spc="-55" dirty="0">
                <a:latin typeface="Arial"/>
                <a:cs typeface="Arial"/>
              </a:rPr>
              <a:t> </a:t>
            </a:r>
            <a:r>
              <a:rPr sz="1400" dirty="0">
                <a:latin typeface="Arial"/>
                <a:cs typeface="Arial"/>
              </a:rPr>
              <a:t>of</a:t>
            </a:r>
            <a:r>
              <a:rPr sz="1400" spc="-20" dirty="0">
                <a:latin typeface="Arial"/>
                <a:cs typeface="Arial"/>
              </a:rPr>
              <a:t> </a:t>
            </a:r>
            <a:r>
              <a:rPr sz="1400" spc="-10" dirty="0">
                <a:latin typeface="Arial"/>
                <a:cs typeface="Arial"/>
              </a:rPr>
              <a:t>light.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70" dirty="0">
                <a:latin typeface="Arial"/>
                <a:cs typeface="Arial"/>
              </a:rPr>
              <a:t> </a:t>
            </a:r>
            <a:r>
              <a:rPr sz="1400" dirty="0">
                <a:latin typeface="Arial"/>
                <a:cs typeface="Arial"/>
              </a:rPr>
              <a:t>with</a:t>
            </a:r>
            <a:r>
              <a:rPr sz="1400" spc="-10" dirty="0">
                <a:latin typeface="Arial"/>
                <a:cs typeface="Arial"/>
              </a:rPr>
              <a:t> temperature.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Reduces</a:t>
            </a:r>
            <a:r>
              <a:rPr sz="1400" spc="-45" dirty="0">
                <a:latin typeface="Arial"/>
                <a:cs typeface="Arial"/>
              </a:rPr>
              <a:t> </a:t>
            </a:r>
            <a:r>
              <a:rPr sz="1400" dirty="0">
                <a:latin typeface="Arial"/>
                <a:cs typeface="Arial"/>
              </a:rPr>
              <a:t>signal</a:t>
            </a:r>
            <a:r>
              <a:rPr sz="1400" spc="-45" dirty="0">
                <a:latin typeface="Arial"/>
                <a:cs typeface="Arial"/>
              </a:rPr>
              <a:t> </a:t>
            </a:r>
            <a:r>
              <a:rPr sz="1400" dirty="0">
                <a:latin typeface="Arial"/>
                <a:cs typeface="Arial"/>
              </a:rPr>
              <a:t>accuracy,</a:t>
            </a:r>
            <a:r>
              <a:rPr sz="1400" spc="-40" dirty="0">
                <a:latin typeface="Arial"/>
                <a:cs typeface="Arial"/>
              </a:rPr>
              <a:t> </a:t>
            </a:r>
            <a:r>
              <a:rPr sz="1400" dirty="0">
                <a:latin typeface="Arial"/>
                <a:cs typeface="Arial"/>
              </a:rPr>
              <a:t>especially</a:t>
            </a:r>
            <a:r>
              <a:rPr sz="1400" spc="-50" dirty="0">
                <a:latin typeface="Arial"/>
                <a:cs typeface="Arial"/>
              </a:rPr>
              <a:t> </a:t>
            </a:r>
            <a:r>
              <a:rPr sz="1400" dirty="0">
                <a:latin typeface="Arial"/>
                <a:cs typeface="Arial"/>
              </a:rPr>
              <a:t>in</a:t>
            </a:r>
            <a:r>
              <a:rPr sz="1400" spc="-30" dirty="0">
                <a:latin typeface="Arial"/>
                <a:cs typeface="Arial"/>
              </a:rPr>
              <a:t> </a:t>
            </a:r>
            <a:r>
              <a:rPr sz="1400" spc="-10" dirty="0">
                <a:latin typeface="Arial"/>
                <a:cs typeface="Arial"/>
              </a:rPr>
              <a:t>low-</a:t>
            </a:r>
            <a:r>
              <a:rPr sz="1400" dirty="0">
                <a:latin typeface="Arial"/>
                <a:cs typeface="Arial"/>
              </a:rPr>
              <a:t>light</a:t>
            </a:r>
            <a:r>
              <a:rPr sz="1400" spc="-30" dirty="0">
                <a:latin typeface="Arial"/>
                <a:cs typeface="Arial"/>
              </a:rPr>
              <a:t> </a:t>
            </a:r>
            <a:r>
              <a:rPr sz="1400" spc="-10" dirty="0">
                <a:latin typeface="Arial"/>
                <a:cs typeface="Arial"/>
              </a:rPr>
              <a:t>applications.</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Flicker</a:t>
            </a:r>
            <a:r>
              <a:rPr sz="1400" b="1" spc="-55" dirty="0">
                <a:latin typeface="Arial"/>
                <a:cs typeface="Arial"/>
              </a:rPr>
              <a:t> </a:t>
            </a:r>
            <a:r>
              <a:rPr sz="1400" b="1" dirty="0">
                <a:latin typeface="Arial"/>
                <a:cs typeface="Arial"/>
              </a:rPr>
              <a:t>Noise</a:t>
            </a:r>
            <a:r>
              <a:rPr sz="1400" b="1" spc="-30" dirty="0">
                <a:latin typeface="Arial"/>
                <a:cs typeface="Arial"/>
              </a:rPr>
              <a:t> </a:t>
            </a:r>
            <a:r>
              <a:rPr sz="1400" b="1" dirty="0">
                <a:latin typeface="Arial"/>
                <a:cs typeface="Arial"/>
              </a:rPr>
              <a:t>(1/f</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Caused</a:t>
            </a:r>
            <a:r>
              <a:rPr sz="1400" spc="-50" dirty="0">
                <a:latin typeface="Arial"/>
                <a:cs typeface="Arial"/>
              </a:rPr>
              <a:t> </a:t>
            </a:r>
            <a:r>
              <a:rPr sz="1400" dirty="0">
                <a:latin typeface="Arial"/>
                <a:cs typeface="Arial"/>
              </a:rPr>
              <a:t>by</a:t>
            </a:r>
            <a:r>
              <a:rPr sz="1400" spc="-20" dirty="0">
                <a:latin typeface="Arial"/>
                <a:cs typeface="Arial"/>
              </a:rPr>
              <a:t> </a:t>
            </a:r>
            <a:r>
              <a:rPr sz="1400" dirty="0">
                <a:latin typeface="Arial"/>
                <a:cs typeface="Arial"/>
              </a:rPr>
              <a:t>material</a:t>
            </a:r>
            <a:r>
              <a:rPr sz="1400" spc="-65" dirty="0">
                <a:latin typeface="Arial"/>
                <a:cs typeface="Arial"/>
              </a:rPr>
              <a:t> </a:t>
            </a:r>
            <a:r>
              <a:rPr sz="1400" dirty="0">
                <a:latin typeface="Arial"/>
                <a:cs typeface="Arial"/>
              </a:rPr>
              <a:t>imperfections</a:t>
            </a:r>
            <a:r>
              <a:rPr sz="1400" spc="-65" dirty="0">
                <a:latin typeface="Arial"/>
                <a:cs typeface="Arial"/>
              </a:rPr>
              <a:t> </a:t>
            </a:r>
            <a:r>
              <a:rPr sz="1400" dirty="0">
                <a:latin typeface="Arial"/>
                <a:cs typeface="Arial"/>
              </a:rPr>
              <a:t>and</a:t>
            </a:r>
            <a:r>
              <a:rPr sz="1400" spc="-40" dirty="0">
                <a:latin typeface="Arial"/>
                <a:cs typeface="Arial"/>
              </a:rPr>
              <a:t> </a:t>
            </a:r>
            <a:r>
              <a:rPr sz="1400" spc="-10" dirty="0">
                <a:latin typeface="Arial"/>
                <a:cs typeface="Arial"/>
              </a:rPr>
              <a:t>traps.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Prominent</a:t>
            </a:r>
            <a:r>
              <a:rPr sz="1400" spc="-55" dirty="0">
                <a:latin typeface="Arial"/>
                <a:cs typeface="Arial"/>
              </a:rPr>
              <a:t> </a:t>
            </a:r>
            <a:r>
              <a:rPr sz="1400" dirty="0">
                <a:latin typeface="Arial"/>
                <a:cs typeface="Arial"/>
              </a:rPr>
              <a:t>at</a:t>
            </a:r>
            <a:r>
              <a:rPr sz="1400" spc="-20" dirty="0">
                <a:latin typeface="Arial"/>
                <a:cs typeface="Arial"/>
              </a:rPr>
              <a:t> </a:t>
            </a:r>
            <a:r>
              <a:rPr sz="1400" dirty="0">
                <a:latin typeface="Arial"/>
                <a:cs typeface="Arial"/>
              </a:rPr>
              <a:t>low</a:t>
            </a:r>
            <a:r>
              <a:rPr sz="1400" spc="-35" dirty="0">
                <a:latin typeface="Arial"/>
                <a:cs typeface="Arial"/>
              </a:rPr>
              <a:t> </a:t>
            </a:r>
            <a:r>
              <a:rPr sz="1400" spc="-10" dirty="0">
                <a:latin typeface="Arial"/>
                <a:cs typeface="Arial"/>
              </a:rPr>
              <a:t>frequencies.</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Inversely</a:t>
            </a:r>
            <a:r>
              <a:rPr sz="1400" spc="-50" dirty="0">
                <a:latin typeface="Arial"/>
                <a:cs typeface="Arial"/>
              </a:rPr>
              <a:t> </a:t>
            </a:r>
            <a:r>
              <a:rPr sz="1400" dirty="0">
                <a:latin typeface="Arial"/>
                <a:cs typeface="Arial"/>
              </a:rPr>
              <a:t>proportional</a:t>
            </a:r>
            <a:r>
              <a:rPr sz="1400" spc="-55" dirty="0">
                <a:latin typeface="Arial"/>
                <a:cs typeface="Arial"/>
              </a:rPr>
              <a:t> </a:t>
            </a:r>
            <a:r>
              <a:rPr sz="1400" dirty="0">
                <a:latin typeface="Arial"/>
                <a:cs typeface="Arial"/>
              </a:rPr>
              <a:t>to</a:t>
            </a:r>
            <a:r>
              <a:rPr sz="1400" spc="-40" dirty="0">
                <a:latin typeface="Arial"/>
                <a:cs typeface="Arial"/>
              </a:rPr>
              <a:t> </a:t>
            </a:r>
            <a:r>
              <a:rPr sz="1400" dirty="0">
                <a:latin typeface="Arial"/>
                <a:cs typeface="Arial"/>
              </a:rPr>
              <a:t>frequency,</a:t>
            </a:r>
            <a:r>
              <a:rPr sz="1400" spc="-50" dirty="0">
                <a:latin typeface="Arial"/>
                <a:cs typeface="Arial"/>
              </a:rPr>
              <a:t> </a:t>
            </a:r>
            <a:r>
              <a:rPr sz="1400" dirty="0">
                <a:latin typeface="Arial"/>
                <a:cs typeface="Arial"/>
              </a:rPr>
              <a:t>affecting</a:t>
            </a:r>
            <a:r>
              <a:rPr sz="1400" spc="-65" dirty="0">
                <a:latin typeface="Arial"/>
                <a:cs typeface="Arial"/>
              </a:rPr>
              <a:t> </a:t>
            </a:r>
            <a:r>
              <a:rPr sz="1400" spc="-10" dirty="0">
                <a:latin typeface="Arial"/>
                <a:cs typeface="Arial"/>
              </a:rPr>
              <a:t>low-</a:t>
            </a:r>
            <a:r>
              <a:rPr sz="1400" dirty="0">
                <a:latin typeface="Arial"/>
                <a:cs typeface="Arial"/>
              </a:rPr>
              <a:t>frequency</a:t>
            </a:r>
            <a:r>
              <a:rPr sz="1400" spc="-60" dirty="0">
                <a:latin typeface="Arial"/>
                <a:cs typeface="Arial"/>
              </a:rPr>
              <a:t> </a:t>
            </a:r>
            <a:r>
              <a:rPr sz="1400" spc="-10" dirty="0">
                <a:latin typeface="Arial"/>
                <a:cs typeface="Arial"/>
              </a:rPr>
              <a:t>applications.</a:t>
            </a:r>
            <a:endParaRPr sz="140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23" name="object 23"/>
          <p:cNvSpPr txBox="1"/>
          <p:nvPr/>
        </p:nvSpPr>
        <p:spPr>
          <a:xfrm>
            <a:off x="7700134" y="1402260"/>
            <a:ext cx="226695"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142123" y="3225520"/>
            <a:ext cx="5847649" cy="3089587"/>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p:nvPr/>
        </p:nvSpPr>
        <p:spPr>
          <a:xfrm>
            <a:off x="263470" y="2389124"/>
            <a:ext cx="5723890" cy="4293235"/>
          </a:xfrm>
          <a:prstGeom prst="rect">
            <a:avLst/>
          </a:prstGeom>
        </p:spPr>
        <p:txBody>
          <a:bodyPr vert="horz" wrap="square" lIns="0" tIns="13335" rIns="0" bIns="0" rtlCol="0">
            <a:spAutoFit/>
          </a:bodyPr>
          <a:lstStyle/>
          <a:p>
            <a:pPr marL="12700">
              <a:lnSpc>
                <a:spcPct val="100000"/>
              </a:lnSpc>
              <a:spcBef>
                <a:spcPts val="105"/>
              </a:spcBef>
            </a:pPr>
            <a:r>
              <a:rPr sz="1400" dirty="0">
                <a:latin typeface="Arial"/>
                <a:cs typeface="Arial"/>
              </a:rPr>
              <a:t>What</a:t>
            </a:r>
            <a:r>
              <a:rPr sz="1400" spc="-45" dirty="0">
                <a:latin typeface="Arial"/>
                <a:cs typeface="Arial"/>
              </a:rPr>
              <a:t> </a:t>
            </a:r>
            <a:r>
              <a:rPr sz="1400" dirty="0">
                <a:latin typeface="Arial"/>
                <a:cs typeface="Arial"/>
              </a:rPr>
              <a:t>noise</a:t>
            </a:r>
            <a:r>
              <a:rPr sz="1400" spc="-30" dirty="0">
                <a:latin typeface="Arial"/>
                <a:cs typeface="Arial"/>
              </a:rPr>
              <a:t> </a:t>
            </a:r>
            <a:r>
              <a:rPr sz="1400" dirty="0">
                <a:latin typeface="Arial"/>
                <a:cs typeface="Arial"/>
              </a:rPr>
              <a:t>in</a:t>
            </a:r>
            <a:r>
              <a:rPr sz="1400" spc="-30" dirty="0">
                <a:latin typeface="Arial"/>
                <a:cs typeface="Arial"/>
              </a:rPr>
              <a:t> </a:t>
            </a:r>
            <a:r>
              <a:rPr sz="1400" dirty="0">
                <a:latin typeface="Arial"/>
                <a:cs typeface="Arial"/>
              </a:rPr>
              <a:t>amplifiers</a:t>
            </a:r>
            <a:r>
              <a:rPr sz="1400" spc="-30" dirty="0">
                <a:latin typeface="Arial"/>
                <a:cs typeface="Arial"/>
              </a:rPr>
              <a:t> </a:t>
            </a:r>
            <a:r>
              <a:rPr sz="1400" dirty="0">
                <a:latin typeface="Arial"/>
                <a:cs typeface="Arial"/>
              </a:rPr>
              <a:t>do</a:t>
            </a:r>
            <a:r>
              <a:rPr sz="1400" spc="-30" dirty="0">
                <a:latin typeface="Arial"/>
                <a:cs typeface="Arial"/>
              </a:rPr>
              <a:t> </a:t>
            </a:r>
            <a:r>
              <a:rPr sz="1400" dirty="0">
                <a:latin typeface="Arial"/>
                <a:cs typeface="Arial"/>
              </a:rPr>
              <a:t>we</a:t>
            </a:r>
            <a:r>
              <a:rPr sz="1400" spc="-5" dirty="0">
                <a:latin typeface="Arial"/>
                <a:cs typeface="Arial"/>
              </a:rPr>
              <a:t> </a:t>
            </a:r>
            <a:r>
              <a:rPr sz="1400" spc="-20" dirty="0">
                <a:latin typeface="Arial"/>
                <a:cs typeface="Arial"/>
              </a:rPr>
              <a:t>see?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Thermal</a:t>
            </a:r>
            <a:r>
              <a:rPr sz="1400" b="1" spc="-60" dirty="0">
                <a:latin typeface="Arial"/>
                <a:cs typeface="Arial"/>
              </a:rPr>
              <a:t> </a:t>
            </a:r>
            <a:r>
              <a:rPr sz="1400" b="1" dirty="0">
                <a:latin typeface="Arial"/>
                <a:cs typeface="Arial"/>
              </a:rPr>
              <a:t>Noise</a:t>
            </a:r>
            <a:r>
              <a:rPr sz="1400" b="1" spc="-55" dirty="0">
                <a:latin typeface="Arial"/>
                <a:cs typeface="Arial"/>
              </a:rPr>
              <a:t> </a:t>
            </a:r>
            <a:r>
              <a:rPr sz="1400" b="1" dirty="0">
                <a:latin typeface="Arial"/>
                <a:cs typeface="Arial"/>
              </a:rPr>
              <a:t>from</a:t>
            </a:r>
            <a:r>
              <a:rPr sz="1400" b="1" spc="-45" dirty="0">
                <a:latin typeface="Arial"/>
                <a:cs typeface="Arial"/>
              </a:rPr>
              <a:t> </a:t>
            </a:r>
            <a:r>
              <a:rPr sz="1400" b="1" dirty="0">
                <a:latin typeface="Arial"/>
                <a:cs typeface="Arial"/>
              </a:rPr>
              <a:t>Feedback</a:t>
            </a:r>
            <a:r>
              <a:rPr sz="1400" b="1" spc="-70" dirty="0">
                <a:latin typeface="Arial"/>
                <a:cs typeface="Arial"/>
              </a:rPr>
              <a:t> </a:t>
            </a:r>
            <a:r>
              <a:rPr sz="1400" b="1" spc="-10" dirty="0">
                <a:latin typeface="Arial"/>
                <a:cs typeface="Arial"/>
              </a:rPr>
              <a:t>Resistor</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Arises</a:t>
            </a:r>
            <a:r>
              <a:rPr sz="1400" spc="-35" dirty="0">
                <a:latin typeface="Arial"/>
                <a:cs typeface="Arial"/>
              </a:rPr>
              <a:t> </a:t>
            </a:r>
            <a:r>
              <a:rPr sz="1400" dirty="0">
                <a:latin typeface="Arial"/>
                <a:cs typeface="Arial"/>
              </a:rPr>
              <a:t>from</a:t>
            </a:r>
            <a:r>
              <a:rPr sz="1400" spc="-3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feedback</a:t>
            </a:r>
            <a:r>
              <a:rPr sz="1400" spc="-45" dirty="0">
                <a:latin typeface="Arial"/>
                <a:cs typeface="Arial"/>
              </a:rPr>
              <a:t> </a:t>
            </a:r>
            <a:r>
              <a:rPr sz="1400" spc="-10" dirty="0">
                <a:latin typeface="Arial"/>
                <a:cs typeface="Arial"/>
              </a:rPr>
              <a:t>resistor.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Increases</a:t>
            </a:r>
            <a:r>
              <a:rPr sz="1400" spc="-65" dirty="0">
                <a:latin typeface="Arial"/>
                <a:cs typeface="Arial"/>
              </a:rPr>
              <a:t> </a:t>
            </a:r>
            <a:r>
              <a:rPr sz="1400" dirty="0">
                <a:latin typeface="Arial"/>
                <a:cs typeface="Arial"/>
              </a:rPr>
              <a:t>with</a:t>
            </a:r>
            <a:r>
              <a:rPr sz="1400" spc="-5" dirty="0">
                <a:latin typeface="Arial"/>
                <a:cs typeface="Arial"/>
              </a:rPr>
              <a:t> </a:t>
            </a:r>
            <a:r>
              <a:rPr sz="1400" dirty="0">
                <a:latin typeface="Arial"/>
                <a:cs typeface="Arial"/>
              </a:rPr>
              <a:t>resistance</a:t>
            </a:r>
            <a:r>
              <a:rPr sz="1400" spc="-55" dirty="0">
                <a:latin typeface="Arial"/>
                <a:cs typeface="Arial"/>
              </a:rPr>
              <a:t> </a:t>
            </a:r>
            <a:r>
              <a:rPr sz="1400" dirty="0">
                <a:latin typeface="Arial"/>
                <a:cs typeface="Arial"/>
              </a:rPr>
              <a:t>and</a:t>
            </a:r>
            <a:r>
              <a:rPr sz="1400" spc="-35" dirty="0">
                <a:latin typeface="Arial"/>
                <a:cs typeface="Arial"/>
              </a:rPr>
              <a:t> </a:t>
            </a:r>
            <a:r>
              <a:rPr sz="1400" spc="-10" dirty="0">
                <a:latin typeface="Arial"/>
                <a:cs typeface="Arial"/>
              </a:rPr>
              <a:t>temperature.</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Affects</a:t>
            </a:r>
            <a:r>
              <a:rPr sz="1400" spc="-4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output</a:t>
            </a:r>
            <a:r>
              <a:rPr sz="1400" spc="-45" dirty="0">
                <a:latin typeface="Arial"/>
                <a:cs typeface="Arial"/>
              </a:rPr>
              <a:t> </a:t>
            </a:r>
            <a:r>
              <a:rPr sz="1400" dirty="0">
                <a:latin typeface="Arial"/>
                <a:cs typeface="Arial"/>
              </a:rPr>
              <a:t>directly</a:t>
            </a:r>
            <a:r>
              <a:rPr sz="1400" spc="-35" dirty="0">
                <a:latin typeface="Arial"/>
                <a:cs typeface="Arial"/>
              </a:rPr>
              <a:t> </a:t>
            </a:r>
            <a:r>
              <a:rPr sz="1400" dirty="0">
                <a:latin typeface="Arial"/>
                <a:cs typeface="Arial"/>
              </a:rPr>
              <a:t>as</a:t>
            </a:r>
            <a:r>
              <a:rPr sz="1400" spc="-25" dirty="0">
                <a:latin typeface="Arial"/>
                <a:cs typeface="Arial"/>
              </a:rPr>
              <a:t> </a:t>
            </a:r>
            <a:r>
              <a:rPr sz="1400" dirty="0">
                <a:latin typeface="Arial"/>
                <a:cs typeface="Arial"/>
              </a:rPr>
              <a:t>voltage</a:t>
            </a:r>
            <a:r>
              <a:rPr sz="1400" spc="-30" dirty="0">
                <a:latin typeface="Arial"/>
                <a:cs typeface="Arial"/>
              </a:rPr>
              <a:t> </a:t>
            </a:r>
            <a:r>
              <a:rPr sz="1400" spc="-10" dirty="0">
                <a:latin typeface="Arial"/>
                <a:cs typeface="Arial"/>
              </a:rPr>
              <a:t>noise.</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Shot</a:t>
            </a:r>
            <a:r>
              <a:rPr sz="1400" b="1" spc="-30" dirty="0">
                <a:latin typeface="Arial"/>
                <a:cs typeface="Arial"/>
              </a:rPr>
              <a:t> </a:t>
            </a:r>
            <a:r>
              <a:rPr sz="1400" b="1" dirty="0">
                <a:latin typeface="Arial"/>
                <a:cs typeface="Arial"/>
              </a:rPr>
              <a:t>Noise</a:t>
            </a:r>
            <a:r>
              <a:rPr sz="1400" b="1" spc="-40" dirty="0">
                <a:latin typeface="Arial"/>
                <a:cs typeface="Arial"/>
              </a:rPr>
              <a:t> </a:t>
            </a:r>
            <a:r>
              <a:rPr sz="1400" b="1" dirty="0">
                <a:latin typeface="Arial"/>
                <a:cs typeface="Arial"/>
              </a:rPr>
              <a:t>from</a:t>
            </a:r>
            <a:r>
              <a:rPr sz="1400" b="1" spc="-40" dirty="0">
                <a:latin typeface="Arial"/>
                <a:cs typeface="Arial"/>
              </a:rPr>
              <a:t> </a:t>
            </a:r>
            <a:r>
              <a:rPr sz="1400" b="1" spc="-10" dirty="0">
                <a:latin typeface="Arial"/>
                <a:cs typeface="Arial"/>
              </a:rPr>
              <a:t>Photocurrent</a:t>
            </a:r>
            <a:r>
              <a:rPr sz="1400" spc="-10" dirty="0">
                <a:latin typeface="Arial"/>
                <a:cs typeface="Arial"/>
              </a:rPr>
              <a:t>:</a:t>
            </a:r>
            <a:endParaRPr sz="1400">
              <a:latin typeface="Arial"/>
              <a:cs typeface="Arial"/>
            </a:endParaRPr>
          </a:p>
          <a:p>
            <a:pPr marL="12700" marR="331470" indent="-8255">
              <a:lnSpc>
                <a:spcPct val="100000"/>
              </a:lnSpc>
              <a:buSzPct val="92857"/>
              <a:buChar char="•"/>
              <a:tabLst>
                <a:tab pos="12700" algn="l"/>
                <a:tab pos="74295" algn="l"/>
              </a:tabLst>
            </a:pPr>
            <a:r>
              <a:rPr sz="1400" dirty="0">
                <a:latin typeface="Arial"/>
                <a:cs typeface="Arial"/>
              </a:rPr>
              <a:t>	Originates</a:t>
            </a:r>
            <a:r>
              <a:rPr sz="1400" spc="-60" dirty="0">
                <a:latin typeface="Arial"/>
                <a:cs typeface="Arial"/>
              </a:rPr>
              <a:t> </a:t>
            </a:r>
            <a:r>
              <a:rPr sz="1400" dirty="0">
                <a:latin typeface="Arial"/>
                <a:cs typeface="Arial"/>
              </a:rPr>
              <a:t>from</a:t>
            </a:r>
            <a:r>
              <a:rPr sz="1400" spc="-3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statistical</a:t>
            </a:r>
            <a:r>
              <a:rPr sz="1400" spc="-50" dirty="0">
                <a:latin typeface="Arial"/>
                <a:cs typeface="Arial"/>
              </a:rPr>
              <a:t> </a:t>
            </a:r>
            <a:r>
              <a:rPr sz="1400" dirty="0">
                <a:latin typeface="Arial"/>
                <a:cs typeface="Arial"/>
              </a:rPr>
              <a:t>nature</a:t>
            </a:r>
            <a:r>
              <a:rPr sz="1400" spc="-35"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the</a:t>
            </a:r>
            <a:r>
              <a:rPr sz="1400" spc="-25" dirty="0">
                <a:latin typeface="Arial"/>
                <a:cs typeface="Arial"/>
              </a:rPr>
              <a:t> </a:t>
            </a:r>
            <a:r>
              <a:rPr sz="1400" dirty="0">
                <a:latin typeface="Arial"/>
                <a:cs typeface="Arial"/>
              </a:rPr>
              <a:t>current</a:t>
            </a:r>
            <a:r>
              <a:rPr sz="1400" spc="-60" dirty="0">
                <a:latin typeface="Arial"/>
                <a:cs typeface="Arial"/>
              </a:rPr>
              <a:t> </a:t>
            </a:r>
            <a:r>
              <a:rPr sz="1400" dirty="0">
                <a:latin typeface="Arial"/>
                <a:cs typeface="Arial"/>
              </a:rPr>
              <a:t>generated</a:t>
            </a:r>
            <a:r>
              <a:rPr sz="1400" spc="-50" dirty="0">
                <a:latin typeface="Arial"/>
                <a:cs typeface="Arial"/>
              </a:rPr>
              <a:t> </a:t>
            </a:r>
            <a:r>
              <a:rPr sz="1400" dirty="0">
                <a:latin typeface="Arial"/>
                <a:cs typeface="Arial"/>
              </a:rPr>
              <a:t>by</a:t>
            </a:r>
            <a:r>
              <a:rPr sz="1400" spc="-20" dirty="0">
                <a:latin typeface="Arial"/>
                <a:cs typeface="Arial"/>
              </a:rPr>
              <a:t> </a:t>
            </a:r>
            <a:r>
              <a:rPr sz="1400" spc="-25" dirty="0">
                <a:latin typeface="Arial"/>
                <a:cs typeface="Arial"/>
              </a:rPr>
              <a:t>the </a:t>
            </a:r>
            <a:r>
              <a:rPr sz="1400" spc="-10" dirty="0">
                <a:latin typeface="Arial"/>
                <a:cs typeface="Arial"/>
              </a:rPr>
              <a:t>photodetector.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Amplified</a:t>
            </a:r>
            <a:r>
              <a:rPr sz="1400" spc="-45" dirty="0">
                <a:latin typeface="Arial"/>
                <a:cs typeface="Arial"/>
              </a:rPr>
              <a:t> </a:t>
            </a:r>
            <a:r>
              <a:rPr sz="1400" dirty="0">
                <a:latin typeface="Arial"/>
                <a:cs typeface="Arial"/>
              </a:rPr>
              <a:t>by</a:t>
            </a:r>
            <a:r>
              <a:rPr sz="1400" spc="-1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TIA,</a:t>
            </a:r>
            <a:r>
              <a:rPr sz="1400" spc="-30" dirty="0">
                <a:latin typeface="Arial"/>
                <a:cs typeface="Arial"/>
              </a:rPr>
              <a:t> </a:t>
            </a:r>
            <a:r>
              <a:rPr sz="1400" dirty="0">
                <a:latin typeface="Arial"/>
                <a:cs typeface="Arial"/>
              </a:rPr>
              <a:t>contributing</a:t>
            </a:r>
            <a:r>
              <a:rPr sz="1400" spc="-55" dirty="0">
                <a:latin typeface="Arial"/>
                <a:cs typeface="Arial"/>
              </a:rPr>
              <a:t> </a:t>
            </a:r>
            <a:r>
              <a:rPr sz="1400" dirty="0">
                <a:latin typeface="Arial"/>
                <a:cs typeface="Arial"/>
              </a:rPr>
              <a:t>to</a:t>
            </a:r>
            <a:r>
              <a:rPr sz="1400" spc="-35"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output</a:t>
            </a:r>
            <a:r>
              <a:rPr sz="1400" spc="-50" dirty="0">
                <a:latin typeface="Arial"/>
                <a:cs typeface="Arial"/>
              </a:rPr>
              <a:t> </a:t>
            </a:r>
            <a:r>
              <a:rPr sz="1400" spc="-10" dirty="0">
                <a:latin typeface="Arial"/>
                <a:cs typeface="Arial"/>
              </a:rPr>
              <a:t>noise.</a:t>
            </a:r>
            <a:endParaRPr sz="1400">
              <a:latin typeface="Arial"/>
              <a:cs typeface="Arial"/>
            </a:endParaRPr>
          </a:p>
          <a:p>
            <a:pPr marL="74930" indent="-69850">
              <a:lnSpc>
                <a:spcPct val="100000"/>
              </a:lnSpc>
              <a:buSzPct val="92857"/>
              <a:buFont typeface="Arial"/>
              <a:buChar char="•"/>
              <a:tabLst>
                <a:tab pos="74930" algn="l"/>
              </a:tabLst>
            </a:pPr>
            <a:r>
              <a:rPr sz="1400" b="1" spc="-10" dirty="0">
                <a:latin typeface="Arial"/>
                <a:cs typeface="Arial"/>
              </a:rPr>
              <a:t>Op-</a:t>
            </a:r>
            <a:r>
              <a:rPr sz="1400" b="1" dirty="0">
                <a:latin typeface="Arial"/>
                <a:cs typeface="Arial"/>
              </a:rPr>
              <a:t>Amp</a:t>
            </a:r>
            <a:r>
              <a:rPr sz="1400" b="1" spc="-15" dirty="0">
                <a:latin typeface="Arial"/>
                <a:cs typeface="Arial"/>
              </a:rPr>
              <a:t> </a:t>
            </a:r>
            <a:r>
              <a:rPr sz="1400" b="1" dirty="0">
                <a:latin typeface="Arial"/>
                <a:cs typeface="Arial"/>
              </a:rPr>
              <a:t>Voltage</a:t>
            </a:r>
            <a:r>
              <a:rPr sz="1400" b="1" spc="-6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Intrinsic</a:t>
            </a:r>
            <a:r>
              <a:rPr sz="1400" spc="-60" dirty="0">
                <a:latin typeface="Arial"/>
                <a:cs typeface="Arial"/>
              </a:rPr>
              <a:t> </a:t>
            </a:r>
            <a:r>
              <a:rPr sz="1400" dirty="0">
                <a:latin typeface="Arial"/>
                <a:cs typeface="Arial"/>
              </a:rPr>
              <a:t>noise</a:t>
            </a:r>
            <a:r>
              <a:rPr sz="1400" spc="-30" dirty="0">
                <a:latin typeface="Arial"/>
                <a:cs typeface="Arial"/>
              </a:rPr>
              <a:t> </a:t>
            </a:r>
            <a:r>
              <a:rPr sz="1400" dirty="0">
                <a:latin typeface="Arial"/>
                <a:cs typeface="Arial"/>
              </a:rPr>
              <a:t>from</a:t>
            </a:r>
            <a:r>
              <a:rPr sz="1400" spc="-40" dirty="0">
                <a:latin typeface="Arial"/>
                <a:cs typeface="Arial"/>
              </a:rPr>
              <a:t> </a:t>
            </a:r>
            <a:r>
              <a:rPr sz="1400" dirty="0">
                <a:latin typeface="Arial"/>
                <a:cs typeface="Arial"/>
              </a:rPr>
              <a:t>the</a:t>
            </a:r>
            <a:r>
              <a:rPr sz="1400" spc="-30" dirty="0">
                <a:latin typeface="Arial"/>
                <a:cs typeface="Arial"/>
              </a:rPr>
              <a:t> </a:t>
            </a:r>
            <a:r>
              <a:rPr sz="1400" dirty="0">
                <a:latin typeface="Arial"/>
                <a:cs typeface="Arial"/>
              </a:rPr>
              <a:t>operational</a:t>
            </a:r>
            <a:r>
              <a:rPr sz="1400" spc="-50" dirty="0">
                <a:latin typeface="Arial"/>
                <a:cs typeface="Arial"/>
              </a:rPr>
              <a:t> </a:t>
            </a:r>
            <a:r>
              <a:rPr sz="1400" spc="-10" dirty="0">
                <a:latin typeface="Arial"/>
                <a:cs typeface="Arial"/>
              </a:rPr>
              <a:t>amplifier.</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Modeled</a:t>
            </a:r>
            <a:r>
              <a:rPr sz="1400" spc="-45" dirty="0">
                <a:latin typeface="Arial"/>
                <a:cs typeface="Arial"/>
              </a:rPr>
              <a:t> </a:t>
            </a:r>
            <a:r>
              <a:rPr sz="1400" dirty="0">
                <a:latin typeface="Arial"/>
                <a:cs typeface="Arial"/>
              </a:rPr>
              <a:t>as</a:t>
            </a:r>
            <a:r>
              <a:rPr sz="1400" spc="-25" dirty="0">
                <a:latin typeface="Arial"/>
                <a:cs typeface="Arial"/>
              </a:rPr>
              <a:t> </a:t>
            </a:r>
            <a:r>
              <a:rPr sz="1400" dirty="0">
                <a:latin typeface="Arial"/>
                <a:cs typeface="Arial"/>
              </a:rPr>
              <a:t>a</a:t>
            </a:r>
            <a:r>
              <a:rPr sz="1400" spc="-20" dirty="0">
                <a:latin typeface="Arial"/>
                <a:cs typeface="Arial"/>
              </a:rPr>
              <a:t> </a:t>
            </a:r>
            <a:r>
              <a:rPr sz="1400" dirty="0">
                <a:latin typeface="Arial"/>
                <a:cs typeface="Arial"/>
              </a:rPr>
              <a:t>noise</a:t>
            </a:r>
            <a:r>
              <a:rPr sz="1400" spc="-35" dirty="0">
                <a:latin typeface="Arial"/>
                <a:cs typeface="Arial"/>
              </a:rPr>
              <a:t> </a:t>
            </a:r>
            <a:r>
              <a:rPr sz="1400" dirty="0">
                <a:latin typeface="Arial"/>
                <a:cs typeface="Arial"/>
              </a:rPr>
              <a:t>voltage</a:t>
            </a:r>
            <a:r>
              <a:rPr sz="1400" spc="-30" dirty="0">
                <a:latin typeface="Arial"/>
                <a:cs typeface="Arial"/>
              </a:rPr>
              <a:t> </a:t>
            </a:r>
            <a:r>
              <a:rPr sz="1400" dirty="0">
                <a:latin typeface="Arial"/>
                <a:cs typeface="Arial"/>
              </a:rPr>
              <a:t>at</a:t>
            </a:r>
            <a:r>
              <a:rPr sz="1400" spc="-25" dirty="0">
                <a:latin typeface="Arial"/>
                <a:cs typeface="Arial"/>
              </a:rPr>
              <a:t> </a:t>
            </a:r>
            <a:r>
              <a:rPr sz="1400" dirty="0">
                <a:latin typeface="Arial"/>
                <a:cs typeface="Arial"/>
              </a:rPr>
              <a:t>the</a:t>
            </a:r>
            <a:r>
              <a:rPr sz="1400" spc="-35" dirty="0">
                <a:latin typeface="Arial"/>
                <a:cs typeface="Arial"/>
              </a:rPr>
              <a:t> </a:t>
            </a:r>
            <a:r>
              <a:rPr sz="1400" spc="-10" dirty="0">
                <a:latin typeface="Arial"/>
                <a:cs typeface="Arial"/>
              </a:rPr>
              <a:t>input.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Amplified</a:t>
            </a:r>
            <a:r>
              <a:rPr sz="1400" spc="-40" dirty="0">
                <a:latin typeface="Arial"/>
                <a:cs typeface="Arial"/>
              </a:rPr>
              <a:t> </a:t>
            </a:r>
            <a:r>
              <a:rPr sz="1400" dirty="0">
                <a:latin typeface="Arial"/>
                <a:cs typeface="Arial"/>
              </a:rPr>
              <a:t>by</a:t>
            </a:r>
            <a:r>
              <a:rPr sz="1400" spc="-15" dirty="0">
                <a:latin typeface="Arial"/>
                <a:cs typeface="Arial"/>
              </a:rPr>
              <a:t> </a:t>
            </a:r>
            <a:r>
              <a:rPr sz="1400" dirty="0">
                <a:latin typeface="Arial"/>
                <a:cs typeface="Arial"/>
              </a:rPr>
              <a:t>the</a:t>
            </a:r>
            <a:r>
              <a:rPr sz="1400" spc="-45" dirty="0">
                <a:latin typeface="Arial"/>
                <a:cs typeface="Arial"/>
              </a:rPr>
              <a:t> </a:t>
            </a:r>
            <a:r>
              <a:rPr sz="1400" dirty="0">
                <a:latin typeface="Arial"/>
                <a:cs typeface="Arial"/>
              </a:rPr>
              <a:t>gain</a:t>
            </a:r>
            <a:r>
              <a:rPr sz="1400" spc="-20" dirty="0">
                <a:latin typeface="Arial"/>
                <a:cs typeface="Arial"/>
              </a:rPr>
              <a:t> </a:t>
            </a:r>
            <a:r>
              <a:rPr sz="1400" dirty="0">
                <a:latin typeface="Arial"/>
                <a:cs typeface="Arial"/>
              </a:rPr>
              <a:t>of</a:t>
            </a:r>
            <a:r>
              <a:rPr sz="1400" spc="-25" dirty="0">
                <a:latin typeface="Arial"/>
                <a:cs typeface="Arial"/>
              </a:rPr>
              <a:t> </a:t>
            </a:r>
            <a:r>
              <a:rPr sz="1400" dirty="0">
                <a:latin typeface="Arial"/>
                <a:cs typeface="Arial"/>
              </a:rPr>
              <a:t>the</a:t>
            </a:r>
            <a:r>
              <a:rPr sz="1400" spc="-40" dirty="0">
                <a:latin typeface="Arial"/>
                <a:cs typeface="Arial"/>
              </a:rPr>
              <a:t> </a:t>
            </a:r>
            <a:r>
              <a:rPr sz="1400" spc="-20" dirty="0">
                <a:latin typeface="Arial"/>
                <a:cs typeface="Arial"/>
              </a:rPr>
              <a:t>TIA.</a:t>
            </a:r>
            <a:endParaRPr sz="1400">
              <a:latin typeface="Arial"/>
              <a:cs typeface="Arial"/>
            </a:endParaRPr>
          </a:p>
          <a:p>
            <a:pPr marL="74930" indent="-69850">
              <a:lnSpc>
                <a:spcPct val="100000"/>
              </a:lnSpc>
              <a:buSzPct val="92857"/>
              <a:buFont typeface="Arial"/>
              <a:buChar char="•"/>
              <a:tabLst>
                <a:tab pos="74930" algn="l"/>
              </a:tabLst>
            </a:pPr>
            <a:r>
              <a:rPr sz="1400" b="1" spc="-10" dirty="0">
                <a:latin typeface="Arial"/>
                <a:cs typeface="Arial"/>
              </a:rPr>
              <a:t>Op-</a:t>
            </a:r>
            <a:r>
              <a:rPr sz="1400" b="1" dirty="0">
                <a:latin typeface="Arial"/>
                <a:cs typeface="Arial"/>
              </a:rPr>
              <a:t>Amp</a:t>
            </a:r>
            <a:r>
              <a:rPr sz="1400" b="1" spc="-15" dirty="0">
                <a:latin typeface="Arial"/>
                <a:cs typeface="Arial"/>
              </a:rPr>
              <a:t> </a:t>
            </a:r>
            <a:r>
              <a:rPr sz="1400" b="1" dirty="0">
                <a:latin typeface="Arial"/>
                <a:cs typeface="Arial"/>
              </a:rPr>
              <a:t>Current</a:t>
            </a:r>
            <a:r>
              <a:rPr sz="1400" b="1" spc="-5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Due</a:t>
            </a:r>
            <a:r>
              <a:rPr sz="1400" spc="-15" dirty="0">
                <a:latin typeface="Arial"/>
                <a:cs typeface="Arial"/>
              </a:rPr>
              <a:t> </a:t>
            </a:r>
            <a:r>
              <a:rPr sz="1400" dirty="0">
                <a:latin typeface="Arial"/>
                <a:cs typeface="Arial"/>
              </a:rPr>
              <a:t>to</a:t>
            </a:r>
            <a:r>
              <a:rPr sz="1400" spc="-25" dirty="0">
                <a:latin typeface="Arial"/>
                <a:cs typeface="Arial"/>
              </a:rPr>
              <a:t> </a:t>
            </a:r>
            <a:r>
              <a:rPr sz="1400" dirty="0">
                <a:latin typeface="Arial"/>
                <a:cs typeface="Arial"/>
              </a:rPr>
              <a:t>bias</a:t>
            </a:r>
            <a:r>
              <a:rPr sz="1400" spc="-20" dirty="0">
                <a:latin typeface="Arial"/>
                <a:cs typeface="Arial"/>
              </a:rPr>
              <a:t> </a:t>
            </a:r>
            <a:r>
              <a:rPr sz="1400" dirty="0">
                <a:latin typeface="Arial"/>
                <a:cs typeface="Arial"/>
              </a:rPr>
              <a:t>currents</a:t>
            </a:r>
            <a:r>
              <a:rPr sz="1400" spc="-35" dirty="0">
                <a:latin typeface="Arial"/>
                <a:cs typeface="Arial"/>
              </a:rPr>
              <a:t> </a:t>
            </a:r>
            <a:r>
              <a:rPr sz="1400" dirty="0">
                <a:latin typeface="Arial"/>
                <a:cs typeface="Arial"/>
              </a:rPr>
              <a:t>of</a:t>
            </a:r>
            <a:r>
              <a:rPr sz="1400" spc="-20"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op-</a:t>
            </a:r>
            <a:r>
              <a:rPr sz="1400" dirty="0">
                <a:latin typeface="Arial"/>
                <a:cs typeface="Arial"/>
              </a:rPr>
              <a:t>amp</a:t>
            </a:r>
            <a:r>
              <a:rPr sz="1400" spc="-40" dirty="0">
                <a:latin typeface="Arial"/>
                <a:cs typeface="Arial"/>
              </a:rPr>
              <a:t> </a:t>
            </a:r>
            <a:r>
              <a:rPr sz="1400" spc="-10" dirty="0">
                <a:latin typeface="Arial"/>
                <a:cs typeface="Arial"/>
              </a:rPr>
              <a:t>transistors.</a:t>
            </a:r>
            <a:endParaRPr sz="1400">
              <a:latin typeface="Arial"/>
              <a:cs typeface="Arial"/>
            </a:endParaRPr>
          </a:p>
          <a:p>
            <a:pPr marL="12700" marR="5080" indent="-8255">
              <a:lnSpc>
                <a:spcPct val="100000"/>
              </a:lnSpc>
              <a:buSzPct val="92857"/>
              <a:buChar char="•"/>
              <a:tabLst>
                <a:tab pos="12700" algn="l"/>
                <a:tab pos="74295" algn="l"/>
              </a:tabLst>
            </a:pPr>
            <a:r>
              <a:rPr sz="1400" dirty="0">
                <a:latin typeface="Arial"/>
                <a:cs typeface="Arial"/>
              </a:rPr>
              <a:t>	Creates</a:t>
            </a:r>
            <a:r>
              <a:rPr sz="1400" spc="-50" dirty="0">
                <a:latin typeface="Arial"/>
                <a:cs typeface="Arial"/>
              </a:rPr>
              <a:t> </a:t>
            </a:r>
            <a:r>
              <a:rPr sz="1400" dirty="0">
                <a:latin typeface="Arial"/>
                <a:cs typeface="Arial"/>
              </a:rPr>
              <a:t>additional</a:t>
            </a:r>
            <a:r>
              <a:rPr sz="1400" spc="-55" dirty="0">
                <a:latin typeface="Arial"/>
                <a:cs typeface="Arial"/>
              </a:rPr>
              <a:t> </a:t>
            </a:r>
            <a:r>
              <a:rPr sz="1400" dirty="0">
                <a:latin typeface="Arial"/>
                <a:cs typeface="Arial"/>
              </a:rPr>
              <a:t>voltage</a:t>
            </a:r>
            <a:r>
              <a:rPr sz="1400" spc="-40" dirty="0">
                <a:latin typeface="Arial"/>
                <a:cs typeface="Arial"/>
              </a:rPr>
              <a:t> </a:t>
            </a:r>
            <a:r>
              <a:rPr sz="1400" dirty="0">
                <a:latin typeface="Arial"/>
                <a:cs typeface="Arial"/>
              </a:rPr>
              <a:t>noise</a:t>
            </a:r>
            <a:r>
              <a:rPr sz="1400" spc="-45" dirty="0">
                <a:latin typeface="Arial"/>
                <a:cs typeface="Arial"/>
              </a:rPr>
              <a:t> </a:t>
            </a:r>
            <a:r>
              <a:rPr sz="1400" dirty="0">
                <a:latin typeface="Arial"/>
                <a:cs typeface="Arial"/>
              </a:rPr>
              <a:t>when</a:t>
            </a:r>
            <a:r>
              <a:rPr sz="1400" spc="-35" dirty="0">
                <a:latin typeface="Arial"/>
                <a:cs typeface="Arial"/>
              </a:rPr>
              <a:t> </a:t>
            </a:r>
            <a:r>
              <a:rPr sz="1400" dirty="0">
                <a:latin typeface="Arial"/>
                <a:cs typeface="Arial"/>
              </a:rPr>
              <a:t>interacting</a:t>
            </a:r>
            <a:r>
              <a:rPr sz="1400" spc="-65" dirty="0">
                <a:latin typeface="Arial"/>
                <a:cs typeface="Arial"/>
              </a:rPr>
              <a:t> </a:t>
            </a:r>
            <a:r>
              <a:rPr sz="1400" dirty="0">
                <a:latin typeface="Arial"/>
                <a:cs typeface="Arial"/>
              </a:rPr>
              <a:t>with</a:t>
            </a:r>
            <a:r>
              <a:rPr sz="1400" spc="-35" dirty="0">
                <a:latin typeface="Arial"/>
                <a:cs typeface="Arial"/>
              </a:rPr>
              <a:t> </a:t>
            </a:r>
            <a:r>
              <a:rPr sz="1400" dirty="0">
                <a:latin typeface="Arial"/>
                <a:cs typeface="Arial"/>
              </a:rPr>
              <a:t>the</a:t>
            </a:r>
            <a:r>
              <a:rPr sz="1400" spc="-40" dirty="0">
                <a:latin typeface="Arial"/>
                <a:cs typeface="Arial"/>
              </a:rPr>
              <a:t> </a:t>
            </a:r>
            <a:r>
              <a:rPr sz="1400" dirty="0">
                <a:latin typeface="Arial"/>
                <a:cs typeface="Arial"/>
              </a:rPr>
              <a:t>impedance</a:t>
            </a:r>
            <a:r>
              <a:rPr sz="1400" spc="-70" dirty="0">
                <a:latin typeface="Arial"/>
                <a:cs typeface="Arial"/>
              </a:rPr>
              <a:t> </a:t>
            </a:r>
            <a:r>
              <a:rPr sz="1400" spc="-25" dirty="0">
                <a:latin typeface="Arial"/>
                <a:cs typeface="Arial"/>
              </a:rPr>
              <a:t>of </a:t>
            </a:r>
            <a:r>
              <a:rPr sz="1400" dirty="0">
                <a:latin typeface="Arial"/>
                <a:cs typeface="Arial"/>
              </a:rPr>
              <a:t>the</a:t>
            </a:r>
            <a:r>
              <a:rPr sz="1400" spc="-30" dirty="0">
                <a:latin typeface="Arial"/>
                <a:cs typeface="Arial"/>
              </a:rPr>
              <a:t> </a:t>
            </a:r>
            <a:r>
              <a:rPr sz="1400" spc="-10" dirty="0">
                <a:latin typeface="Arial"/>
                <a:cs typeface="Arial"/>
              </a:rPr>
              <a:t>circuit.</a:t>
            </a:r>
            <a:endParaRPr sz="1400">
              <a:latin typeface="Arial"/>
              <a:cs typeface="Arial"/>
            </a:endParaRPr>
          </a:p>
          <a:p>
            <a:pPr marL="74930" indent="-69850">
              <a:lnSpc>
                <a:spcPct val="100000"/>
              </a:lnSpc>
              <a:buSzPct val="92857"/>
              <a:buFont typeface="Arial"/>
              <a:buChar char="•"/>
              <a:tabLst>
                <a:tab pos="74930" algn="l"/>
              </a:tabLst>
            </a:pPr>
            <a:r>
              <a:rPr sz="1400" b="1" dirty="0">
                <a:latin typeface="Arial"/>
                <a:cs typeface="Arial"/>
              </a:rPr>
              <a:t>Flicker</a:t>
            </a:r>
            <a:r>
              <a:rPr sz="1400" b="1" spc="-55" dirty="0">
                <a:latin typeface="Arial"/>
                <a:cs typeface="Arial"/>
              </a:rPr>
              <a:t> </a:t>
            </a:r>
            <a:r>
              <a:rPr sz="1400" b="1" dirty="0">
                <a:latin typeface="Arial"/>
                <a:cs typeface="Arial"/>
              </a:rPr>
              <a:t>Noise</a:t>
            </a:r>
            <a:r>
              <a:rPr sz="1400" b="1" spc="-30" dirty="0">
                <a:latin typeface="Arial"/>
                <a:cs typeface="Arial"/>
              </a:rPr>
              <a:t> </a:t>
            </a:r>
            <a:r>
              <a:rPr sz="1400" b="1" dirty="0">
                <a:latin typeface="Arial"/>
                <a:cs typeface="Arial"/>
              </a:rPr>
              <a:t>(1/f</a:t>
            </a:r>
            <a:r>
              <a:rPr sz="1400" b="1" spc="-40" dirty="0">
                <a:latin typeface="Arial"/>
                <a:cs typeface="Arial"/>
              </a:rPr>
              <a:t> </a:t>
            </a:r>
            <a:r>
              <a:rPr sz="1400" b="1" spc="-10" dirty="0">
                <a:latin typeface="Arial"/>
                <a:cs typeface="Arial"/>
              </a:rPr>
              <a:t>Noise)</a:t>
            </a:r>
            <a:r>
              <a:rPr sz="1400" spc="-10" dirty="0">
                <a:latin typeface="Arial"/>
                <a:cs typeface="Arial"/>
              </a:rPr>
              <a:t>:</a:t>
            </a:r>
            <a:endParaRPr sz="1400">
              <a:latin typeface="Arial"/>
              <a:cs typeface="Arial"/>
            </a:endParaRPr>
          </a:p>
          <a:p>
            <a:pPr marL="74930" indent="-69850">
              <a:lnSpc>
                <a:spcPct val="100000"/>
              </a:lnSpc>
              <a:buSzPct val="92857"/>
              <a:buChar char="•"/>
              <a:tabLst>
                <a:tab pos="74930" algn="l"/>
              </a:tabLst>
            </a:pPr>
            <a:r>
              <a:rPr sz="1400" spc="-10" dirty="0">
                <a:latin typeface="Arial"/>
                <a:cs typeface="Arial"/>
              </a:rPr>
              <a:t>Low-</a:t>
            </a:r>
            <a:r>
              <a:rPr sz="1400" dirty="0">
                <a:latin typeface="Arial"/>
                <a:cs typeface="Arial"/>
              </a:rPr>
              <a:t>frequency</a:t>
            </a:r>
            <a:r>
              <a:rPr sz="1400" spc="-40" dirty="0">
                <a:latin typeface="Arial"/>
                <a:cs typeface="Arial"/>
              </a:rPr>
              <a:t> </a:t>
            </a:r>
            <a:r>
              <a:rPr sz="1400" dirty="0">
                <a:latin typeface="Arial"/>
                <a:cs typeface="Arial"/>
              </a:rPr>
              <a:t>noise</a:t>
            </a:r>
            <a:r>
              <a:rPr sz="1400" spc="-40" dirty="0">
                <a:latin typeface="Arial"/>
                <a:cs typeface="Arial"/>
              </a:rPr>
              <a:t> </a:t>
            </a:r>
            <a:r>
              <a:rPr sz="1400" dirty="0">
                <a:latin typeface="Arial"/>
                <a:cs typeface="Arial"/>
              </a:rPr>
              <a:t>due</a:t>
            </a:r>
            <a:r>
              <a:rPr sz="1400" spc="-25" dirty="0">
                <a:latin typeface="Arial"/>
                <a:cs typeface="Arial"/>
              </a:rPr>
              <a:t> </a:t>
            </a:r>
            <a:r>
              <a:rPr sz="1400" dirty="0">
                <a:latin typeface="Arial"/>
                <a:cs typeface="Arial"/>
              </a:rPr>
              <a:t>to</a:t>
            </a:r>
            <a:r>
              <a:rPr sz="1400" spc="-20" dirty="0">
                <a:latin typeface="Arial"/>
                <a:cs typeface="Arial"/>
              </a:rPr>
              <a:t> </a:t>
            </a:r>
            <a:r>
              <a:rPr sz="1400" dirty="0">
                <a:latin typeface="Arial"/>
                <a:cs typeface="Arial"/>
              </a:rPr>
              <a:t>imperfections</a:t>
            </a:r>
            <a:r>
              <a:rPr sz="1400" spc="-55" dirty="0">
                <a:latin typeface="Arial"/>
                <a:cs typeface="Arial"/>
              </a:rPr>
              <a:t> </a:t>
            </a:r>
            <a:r>
              <a:rPr sz="1400" dirty="0">
                <a:latin typeface="Arial"/>
                <a:cs typeface="Arial"/>
              </a:rPr>
              <a:t>in</a:t>
            </a:r>
            <a:r>
              <a:rPr sz="1400" spc="-15" dirty="0">
                <a:latin typeface="Arial"/>
                <a:cs typeface="Arial"/>
              </a:rPr>
              <a:t> </a:t>
            </a:r>
            <a:r>
              <a:rPr sz="1400" dirty="0">
                <a:latin typeface="Arial"/>
                <a:cs typeface="Arial"/>
              </a:rPr>
              <a:t>the</a:t>
            </a:r>
            <a:r>
              <a:rPr sz="1400" spc="-25" dirty="0">
                <a:latin typeface="Arial"/>
                <a:cs typeface="Arial"/>
              </a:rPr>
              <a:t> </a:t>
            </a:r>
            <a:r>
              <a:rPr sz="1400" spc="-10" dirty="0">
                <a:latin typeface="Arial"/>
                <a:cs typeface="Arial"/>
              </a:rPr>
              <a:t>op-</a:t>
            </a:r>
            <a:r>
              <a:rPr sz="1400" spc="-20" dirty="0">
                <a:latin typeface="Arial"/>
                <a:cs typeface="Arial"/>
              </a:rPr>
              <a:t>amp.</a:t>
            </a:r>
            <a:endParaRPr sz="1400">
              <a:latin typeface="Arial"/>
              <a:cs typeface="Arial"/>
            </a:endParaRPr>
          </a:p>
          <a:p>
            <a:pPr marL="74930" indent="-69850">
              <a:lnSpc>
                <a:spcPct val="100000"/>
              </a:lnSpc>
              <a:buSzPct val="92857"/>
              <a:buChar char="•"/>
              <a:tabLst>
                <a:tab pos="74930" algn="l"/>
              </a:tabLst>
            </a:pPr>
            <a:r>
              <a:rPr sz="1400" dirty="0">
                <a:latin typeface="Arial"/>
                <a:cs typeface="Arial"/>
              </a:rPr>
              <a:t>Dominant</a:t>
            </a:r>
            <a:r>
              <a:rPr sz="1400" spc="-50" dirty="0">
                <a:latin typeface="Arial"/>
                <a:cs typeface="Arial"/>
              </a:rPr>
              <a:t> </a:t>
            </a:r>
            <a:r>
              <a:rPr sz="1400" dirty="0">
                <a:latin typeface="Arial"/>
                <a:cs typeface="Arial"/>
              </a:rPr>
              <a:t>at</a:t>
            </a:r>
            <a:r>
              <a:rPr sz="1400" spc="-35" dirty="0">
                <a:latin typeface="Arial"/>
                <a:cs typeface="Arial"/>
              </a:rPr>
              <a:t> </a:t>
            </a:r>
            <a:r>
              <a:rPr sz="1400" dirty="0">
                <a:latin typeface="Arial"/>
                <a:cs typeface="Arial"/>
              </a:rPr>
              <a:t>low</a:t>
            </a:r>
            <a:r>
              <a:rPr sz="1400" spc="-20" dirty="0">
                <a:latin typeface="Arial"/>
                <a:cs typeface="Arial"/>
              </a:rPr>
              <a:t> </a:t>
            </a:r>
            <a:r>
              <a:rPr sz="1400" dirty="0">
                <a:latin typeface="Arial"/>
                <a:cs typeface="Arial"/>
              </a:rPr>
              <a:t>frequencies,</a:t>
            </a:r>
            <a:r>
              <a:rPr sz="1400" spc="-70" dirty="0">
                <a:latin typeface="Arial"/>
                <a:cs typeface="Arial"/>
              </a:rPr>
              <a:t> </a:t>
            </a:r>
            <a:r>
              <a:rPr sz="1400" dirty="0">
                <a:latin typeface="Arial"/>
                <a:cs typeface="Arial"/>
              </a:rPr>
              <a:t>decreasing</a:t>
            </a:r>
            <a:r>
              <a:rPr sz="1400" spc="-65" dirty="0">
                <a:latin typeface="Arial"/>
                <a:cs typeface="Arial"/>
              </a:rPr>
              <a:t> </a:t>
            </a:r>
            <a:r>
              <a:rPr sz="1400" dirty="0">
                <a:latin typeface="Arial"/>
                <a:cs typeface="Arial"/>
              </a:rPr>
              <a:t>with</a:t>
            </a:r>
            <a:r>
              <a:rPr sz="1400" spc="-15" dirty="0">
                <a:latin typeface="Arial"/>
                <a:cs typeface="Arial"/>
              </a:rPr>
              <a:t> </a:t>
            </a:r>
            <a:r>
              <a:rPr sz="1400" dirty="0">
                <a:latin typeface="Arial"/>
                <a:cs typeface="Arial"/>
              </a:rPr>
              <a:t>increasing</a:t>
            </a:r>
            <a:r>
              <a:rPr sz="1400" spc="-75" dirty="0">
                <a:latin typeface="Arial"/>
                <a:cs typeface="Arial"/>
              </a:rPr>
              <a:t> </a:t>
            </a:r>
            <a:r>
              <a:rPr sz="1400" spc="-10" dirty="0">
                <a:latin typeface="Arial"/>
                <a:cs typeface="Arial"/>
              </a:rPr>
              <a:t>frequency.</a:t>
            </a:r>
            <a:endParaRPr sz="140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142123" y="3225520"/>
            <a:ext cx="5847649" cy="3089587"/>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sp>
        <p:nvSpPr>
          <p:cNvPr id="3" name="object 3"/>
          <p:cNvSpPr txBox="1">
            <a:spLocks noGrp="1"/>
          </p:cNvSpPr>
          <p:nvPr>
            <p:ph type="body" idx="1"/>
          </p:nvPr>
        </p:nvSpPr>
        <p:spPr>
          <a:xfrm>
            <a:off x="363397" y="2743200"/>
            <a:ext cx="9378315" cy="4081779"/>
          </a:xfrm>
          <a:prstGeom prst="rect">
            <a:avLst/>
          </a:prstGeom>
        </p:spPr>
        <p:txBody>
          <a:bodyPr vert="horz" wrap="square" lIns="0" tIns="13335" rIns="0" bIns="0" rtlCol="0">
            <a:spAutoFit/>
          </a:bodyPr>
          <a:lstStyle/>
          <a:p>
            <a:pPr marL="12700">
              <a:lnSpc>
                <a:spcPct val="100000"/>
              </a:lnSpc>
              <a:spcBef>
                <a:spcPts val="105"/>
              </a:spcBef>
            </a:pPr>
            <a:r>
              <a:rPr dirty="0"/>
              <a:t>What</a:t>
            </a:r>
            <a:r>
              <a:rPr spc="-45" dirty="0"/>
              <a:t> </a:t>
            </a:r>
            <a:r>
              <a:rPr dirty="0"/>
              <a:t>noise</a:t>
            </a:r>
            <a:r>
              <a:rPr spc="-25" dirty="0"/>
              <a:t> </a:t>
            </a:r>
            <a:r>
              <a:rPr dirty="0"/>
              <a:t>do</a:t>
            </a:r>
            <a:r>
              <a:rPr spc="-25" dirty="0"/>
              <a:t> </a:t>
            </a:r>
            <a:r>
              <a:rPr dirty="0"/>
              <a:t>we see</a:t>
            </a:r>
            <a:r>
              <a:rPr spc="-20" dirty="0"/>
              <a:t> </a:t>
            </a:r>
            <a:r>
              <a:rPr dirty="0"/>
              <a:t>in</a:t>
            </a:r>
            <a:r>
              <a:rPr spc="-15" dirty="0"/>
              <a:t> </a:t>
            </a:r>
            <a:r>
              <a:rPr dirty="0"/>
              <a:t>the</a:t>
            </a:r>
            <a:r>
              <a:rPr spc="-25" dirty="0"/>
              <a:t> </a:t>
            </a:r>
            <a:r>
              <a:rPr spc="-20" dirty="0"/>
              <a:t>ADC?</a:t>
            </a:r>
          </a:p>
          <a:p>
            <a:pPr marL="60960" indent="-59055">
              <a:lnSpc>
                <a:spcPct val="100000"/>
              </a:lnSpc>
              <a:spcBef>
                <a:spcPts val="10"/>
              </a:spcBef>
              <a:buSzPct val="86363"/>
              <a:buFont typeface="Arial"/>
              <a:buChar char="•"/>
              <a:tabLst>
                <a:tab pos="60960" algn="l"/>
              </a:tabLst>
            </a:pPr>
            <a:r>
              <a:rPr sz="1100" b="1" dirty="0">
                <a:latin typeface="Arial"/>
                <a:cs typeface="Arial"/>
              </a:rPr>
              <a:t>Quantization</a:t>
            </a:r>
            <a:r>
              <a:rPr sz="1100" b="1" spc="-6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5" dirty="0"/>
              <a:t> </a:t>
            </a:r>
            <a:r>
              <a:rPr sz="1000" dirty="0"/>
              <a:t>Due</a:t>
            </a:r>
            <a:r>
              <a:rPr sz="1000" spc="-35" dirty="0"/>
              <a:t> </a:t>
            </a:r>
            <a:r>
              <a:rPr sz="1000" dirty="0"/>
              <a:t>to</a:t>
            </a:r>
            <a:r>
              <a:rPr sz="1000" spc="-45" dirty="0"/>
              <a:t> </a:t>
            </a:r>
            <a:r>
              <a:rPr sz="1000" dirty="0"/>
              <a:t>approximating</a:t>
            </a:r>
            <a:r>
              <a:rPr sz="1000" spc="-45" dirty="0"/>
              <a:t> </a:t>
            </a:r>
            <a:r>
              <a:rPr sz="1000" dirty="0"/>
              <a:t>a</a:t>
            </a:r>
            <a:r>
              <a:rPr sz="1000" spc="-35" dirty="0"/>
              <a:t> </a:t>
            </a:r>
            <a:r>
              <a:rPr sz="1000" dirty="0"/>
              <a:t>continuous</a:t>
            </a:r>
            <a:r>
              <a:rPr sz="1000" spc="-35" dirty="0"/>
              <a:t> </a:t>
            </a:r>
            <a:r>
              <a:rPr sz="1000" dirty="0"/>
              <a:t>signal</a:t>
            </a:r>
            <a:r>
              <a:rPr sz="1000" spc="-40" dirty="0"/>
              <a:t> </a:t>
            </a:r>
            <a:r>
              <a:rPr sz="1000" dirty="0"/>
              <a:t>with</a:t>
            </a:r>
            <a:r>
              <a:rPr sz="1000" spc="-10" dirty="0"/>
              <a:t> </a:t>
            </a:r>
            <a:r>
              <a:rPr sz="1000" dirty="0"/>
              <a:t>discrete</a:t>
            </a:r>
            <a:r>
              <a:rPr sz="1000" spc="-35" dirty="0"/>
              <a:t> </a:t>
            </a:r>
            <a:r>
              <a:rPr sz="1000" spc="-10" dirty="0"/>
              <a:t>levels.</a:t>
            </a:r>
            <a:endParaRPr sz="1000" dirty="0">
              <a:latin typeface="Arial"/>
              <a:cs typeface="Arial"/>
            </a:endParaRPr>
          </a:p>
          <a:p>
            <a:pPr marL="55880" indent="-55244">
              <a:lnSpc>
                <a:spcPts val="1200"/>
              </a:lnSpc>
              <a:buSzPct val="85000"/>
              <a:buFont typeface="Arial"/>
              <a:buChar char="•"/>
              <a:tabLst>
                <a:tab pos="55880" algn="l"/>
              </a:tabLst>
            </a:pPr>
            <a:r>
              <a:rPr sz="1000" b="1" spc="-10" dirty="0">
                <a:latin typeface="Arial"/>
                <a:cs typeface="Arial"/>
              </a:rPr>
              <a:t>Characteristics</a:t>
            </a:r>
            <a:r>
              <a:rPr sz="1000" spc="-10" dirty="0"/>
              <a:t>: </a:t>
            </a:r>
            <a:r>
              <a:rPr sz="1000" dirty="0"/>
              <a:t>Inversely</a:t>
            </a:r>
            <a:r>
              <a:rPr sz="1000" spc="-5" dirty="0"/>
              <a:t> </a:t>
            </a:r>
            <a:r>
              <a:rPr sz="1000" spc="-10" dirty="0"/>
              <a:t>proportional </a:t>
            </a:r>
            <a:r>
              <a:rPr sz="1000" dirty="0"/>
              <a:t>to</a:t>
            </a:r>
            <a:r>
              <a:rPr sz="1000" spc="-10" dirty="0"/>
              <a:t> </a:t>
            </a:r>
            <a:r>
              <a:rPr sz="1000" dirty="0"/>
              <a:t>the</a:t>
            </a:r>
            <a:r>
              <a:rPr sz="1000" spc="-10" dirty="0"/>
              <a:t> </a:t>
            </a:r>
            <a:r>
              <a:rPr sz="1000" dirty="0"/>
              <a:t>number</a:t>
            </a:r>
            <a:r>
              <a:rPr sz="1000" spc="-25" dirty="0"/>
              <a:t> </a:t>
            </a:r>
            <a:r>
              <a:rPr sz="1000" dirty="0"/>
              <a:t>of</a:t>
            </a:r>
            <a:r>
              <a:rPr sz="1000" spc="-20" dirty="0"/>
              <a:t> </a:t>
            </a:r>
            <a:r>
              <a:rPr sz="1000" dirty="0"/>
              <a:t>bits.</a:t>
            </a:r>
            <a:r>
              <a:rPr sz="1000" spc="-10" dirty="0"/>
              <a:t> </a:t>
            </a:r>
            <a:r>
              <a:rPr sz="1000" dirty="0"/>
              <a:t>Modeled</a:t>
            </a:r>
            <a:r>
              <a:rPr sz="1000" spc="5" dirty="0"/>
              <a:t> </a:t>
            </a:r>
            <a:r>
              <a:rPr sz="1000" dirty="0"/>
              <a:t>as</a:t>
            </a:r>
            <a:r>
              <a:rPr sz="1000" spc="-15" dirty="0"/>
              <a:t> </a:t>
            </a:r>
            <a:r>
              <a:rPr sz="1000" dirty="0"/>
              <a:t>white</a:t>
            </a:r>
            <a:r>
              <a:rPr sz="1000" spc="15" dirty="0"/>
              <a:t> </a:t>
            </a:r>
            <a:r>
              <a:rPr sz="1000" spc="-10" dirty="0"/>
              <a:t>noise.</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Thermal</a:t>
            </a:r>
            <a:r>
              <a:rPr sz="1100" b="1" spc="-5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buSzPct val="85000"/>
              <a:buFont typeface="Arial"/>
              <a:buChar char="•"/>
              <a:tabLst>
                <a:tab pos="55880" algn="l"/>
              </a:tabLst>
            </a:pPr>
            <a:r>
              <a:rPr sz="1000" b="1" dirty="0">
                <a:latin typeface="Arial"/>
                <a:cs typeface="Arial"/>
              </a:rPr>
              <a:t>Cause</a:t>
            </a:r>
            <a:r>
              <a:rPr sz="1000" dirty="0"/>
              <a:t>:</a:t>
            </a:r>
            <a:r>
              <a:rPr sz="1000" spc="-30" dirty="0"/>
              <a:t> </a:t>
            </a:r>
            <a:r>
              <a:rPr sz="1000" dirty="0"/>
              <a:t>Due</a:t>
            </a:r>
            <a:r>
              <a:rPr sz="1000" spc="-30" dirty="0"/>
              <a:t> </a:t>
            </a:r>
            <a:r>
              <a:rPr sz="1000" dirty="0"/>
              <a:t>to</a:t>
            </a:r>
            <a:r>
              <a:rPr sz="1000" spc="-40" dirty="0"/>
              <a:t> </a:t>
            </a:r>
            <a:r>
              <a:rPr sz="1000" dirty="0"/>
              <a:t>resistive</a:t>
            </a:r>
            <a:r>
              <a:rPr sz="1000" spc="-5" dirty="0"/>
              <a:t> </a:t>
            </a:r>
            <a:r>
              <a:rPr sz="1000" dirty="0"/>
              <a:t>elements</a:t>
            </a:r>
            <a:r>
              <a:rPr sz="1000" spc="-40" dirty="0"/>
              <a:t> </a:t>
            </a:r>
            <a:r>
              <a:rPr sz="1000" dirty="0"/>
              <a:t>in</a:t>
            </a:r>
            <a:r>
              <a:rPr sz="1000" spc="-30" dirty="0"/>
              <a:t> </a:t>
            </a:r>
            <a:r>
              <a:rPr sz="1000" dirty="0"/>
              <a:t>the</a:t>
            </a:r>
            <a:r>
              <a:rPr sz="1000" spc="-25" dirty="0"/>
              <a:t> </a:t>
            </a:r>
            <a:r>
              <a:rPr sz="1000" dirty="0"/>
              <a:t>analog</a:t>
            </a:r>
            <a:r>
              <a:rPr sz="1000" spc="-30" dirty="0"/>
              <a:t> </a:t>
            </a:r>
            <a:r>
              <a:rPr sz="1000" dirty="0"/>
              <a:t>front</a:t>
            </a:r>
            <a:r>
              <a:rPr sz="1000" spc="-50" dirty="0"/>
              <a:t> </a:t>
            </a:r>
            <a:r>
              <a:rPr sz="1000" spc="-20" dirty="0"/>
              <a:t>end.</a:t>
            </a:r>
            <a:endParaRPr sz="1000" dirty="0">
              <a:latin typeface="Arial"/>
              <a:cs typeface="Arial"/>
            </a:endParaRPr>
          </a:p>
          <a:p>
            <a:pPr marL="55880" indent="-55244">
              <a:lnSpc>
                <a:spcPts val="1200"/>
              </a:lnSpc>
              <a:buSzPct val="85000"/>
              <a:buFont typeface="Arial"/>
              <a:buChar char="•"/>
              <a:tabLst>
                <a:tab pos="55880" algn="l"/>
              </a:tabLst>
            </a:pPr>
            <a:r>
              <a:rPr sz="1000" b="1" spc="-10" dirty="0">
                <a:latin typeface="Arial"/>
                <a:cs typeface="Arial"/>
              </a:rPr>
              <a:t>Characteristics</a:t>
            </a:r>
            <a:r>
              <a:rPr sz="1000" spc="-10" dirty="0"/>
              <a:t>:</a:t>
            </a:r>
            <a:r>
              <a:rPr sz="1000" spc="-20" dirty="0"/>
              <a:t> </a:t>
            </a:r>
            <a:r>
              <a:rPr sz="1000" dirty="0"/>
              <a:t>Proportional</a:t>
            </a:r>
            <a:r>
              <a:rPr sz="1000" spc="-10" dirty="0"/>
              <a:t> </a:t>
            </a:r>
            <a:r>
              <a:rPr sz="1000" dirty="0"/>
              <a:t>to</a:t>
            </a:r>
            <a:r>
              <a:rPr sz="1000" spc="-30" dirty="0"/>
              <a:t> </a:t>
            </a:r>
            <a:r>
              <a:rPr sz="1000" dirty="0"/>
              <a:t>temperature</a:t>
            </a:r>
            <a:r>
              <a:rPr sz="1000" spc="-40" dirty="0"/>
              <a:t> </a:t>
            </a:r>
            <a:r>
              <a:rPr sz="1000" dirty="0"/>
              <a:t>and</a:t>
            </a:r>
            <a:r>
              <a:rPr sz="1000" spc="-35" dirty="0"/>
              <a:t> </a:t>
            </a:r>
            <a:r>
              <a:rPr sz="1000" dirty="0"/>
              <a:t>resistance.</a:t>
            </a:r>
            <a:r>
              <a:rPr sz="1000" spc="-25" dirty="0"/>
              <a:t> </a:t>
            </a:r>
            <a:r>
              <a:rPr sz="1000" dirty="0"/>
              <a:t>Sets</a:t>
            </a:r>
            <a:r>
              <a:rPr sz="1000" spc="-10" dirty="0"/>
              <a:t> </a:t>
            </a:r>
            <a:r>
              <a:rPr sz="1000" dirty="0"/>
              <a:t>a</a:t>
            </a:r>
            <a:r>
              <a:rPr sz="1000" spc="-20" dirty="0"/>
              <a:t> </a:t>
            </a:r>
            <a:r>
              <a:rPr sz="1000" dirty="0"/>
              <a:t>noise</a:t>
            </a:r>
            <a:r>
              <a:rPr sz="1000" spc="-15" dirty="0"/>
              <a:t> </a:t>
            </a:r>
            <a:r>
              <a:rPr sz="1000" dirty="0"/>
              <a:t>floor</a:t>
            </a:r>
            <a:r>
              <a:rPr sz="1000" spc="-20" dirty="0"/>
              <a:t> </a:t>
            </a:r>
            <a:r>
              <a:rPr sz="1000" dirty="0"/>
              <a:t>for</a:t>
            </a:r>
            <a:r>
              <a:rPr sz="1000" spc="-20" dirty="0"/>
              <a:t> </a:t>
            </a:r>
            <a:r>
              <a:rPr sz="1000" dirty="0"/>
              <a:t>the</a:t>
            </a:r>
            <a:r>
              <a:rPr sz="1000" spc="-35" dirty="0"/>
              <a:t> </a:t>
            </a:r>
            <a:r>
              <a:rPr sz="1000" spc="-20" dirty="0"/>
              <a:t>ADC.</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Sampling</a:t>
            </a:r>
            <a:r>
              <a:rPr sz="1100" b="1" spc="-75" dirty="0">
                <a:latin typeface="Arial"/>
                <a:cs typeface="Arial"/>
              </a:rPr>
              <a:t> </a:t>
            </a:r>
            <a:r>
              <a:rPr sz="1100" b="1" dirty="0">
                <a:latin typeface="Arial"/>
                <a:cs typeface="Arial"/>
              </a:rPr>
              <a:t>(Aperture)</a:t>
            </a:r>
            <a:r>
              <a:rPr sz="1100" b="1" spc="-45" dirty="0">
                <a:latin typeface="Arial"/>
                <a:cs typeface="Arial"/>
              </a:rPr>
              <a:t> </a:t>
            </a:r>
            <a:r>
              <a:rPr sz="1100" b="1" spc="-10" dirty="0">
                <a:latin typeface="Arial"/>
                <a:cs typeface="Arial"/>
              </a:rPr>
              <a:t>Jitter</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40" dirty="0"/>
              <a:t> </a:t>
            </a:r>
            <a:r>
              <a:rPr sz="1000" dirty="0"/>
              <a:t>Timing</a:t>
            </a:r>
            <a:r>
              <a:rPr sz="1000" spc="-50" dirty="0"/>
              <a:t> </a:t>
            </a:r>
            <a:r>
              <a:rPr sz="1000" dirty="0"/>
              <a:t>uncertainty</a:t>
            </a:r>
            <a:r>
              <a:rPr sz="1000" spc="-45" dirty="0"/>
              <a:t> </a:t>
            </a:r>
            <a:r>
              <a:rPr sz="1000" dirty="0"/>
              <a:t>during</a:t>
            </a:r>
            <a:r>
              <a:rPr sz="1000" spc="-40" dirty="0"/>
              <a:t> </a:t>
            </a:r>
            <a:r>
              <a:rPr sz="1000" spc="-10" dirty="0"/>
              <a:t>sampling.</a:t>
            </a:r>
            <a:endParaRPr sz="1000" dirty="0">
              <a:latin typeface="Arial"/>
              <a:cs typeface="Arial"/>
            </a:endParaRPr>
          </a:p>
          <a:p>
            <a:pPr marL="12700" marR="231775" indent="-12065">
              <a:lnSpc>
                <a:spcPct val="100000"/>
              </a:lnSpc>
              <a:buSzPct val="85000"/>
              <a:buFont typeface="Arial"/>
              <a:buChar char="•"/>
              <a:tabLst>
                <a:tab pos="55880" algn="l"/>
              </a:tabLst>
            </a:pPr>
            <a:r>
              <a:rPr sz="1000" b="1" spc="-10" dirty="0">
                <a:latin typeface="Arial"/>
                <a:cs typeface="Arial"/>
              </a:rPr>
              <a:t>	Characteristics</a:t>
            </a:r>
            <a:r>
              <a:rPr sz="1000" spc="-10" dirty="0"/>
              <a:t>: </a:t>
            </a:r>
            <a:r>
              <a:rPr sz="1000" dirty="0"/>
              <a:t>Affects</a:t>
            </a:r>
            <a:r>
              <a:rPr sz="1000" spc="-40" dirty="0"/>
              <a:t> </a:t>
            </a:r>
            <a:r>
              <a:rPr sz="1000" spc="-10" dirty="0"/>
              <a:t>high-</a:t>
            </a:r>
            <a:r>
              <a:rPr sz="1000" dirty="0"/>
              <a:t>frequency</a:t>
            </a:r>
            <a:r>
              <a:rPr sz="1000" spc="-25" dirty="0"/>
              <a:t> </a:t>
            </a:r>
            <a:r>
              <a:rPr sz="1000" dirty="0"/>
              <a:t>signals more</a:t>
            </a:r>
            <a:r>
              <a:rPr sz="1000" spc="-35" dirty="0"/>
              <a:t> </a:t>
            </a:r>
            <a:r>
              <a:rPr sz="1000" dirty="0"/>
              <a:t>severely,</a:t>
            </a:r>
            <a:r>
              <a:rPr sz="1000" spc="40" dirty="0"/>
              <a:t> </a:t>
            </a:r>
            <a:r>
              <a:rPr sz="1000" spc="-10" dirty="0"/>
              <a:t>proportional</a:t>
            </a:r>
            <a:r>
              <a:rPr sz="1000" spc="-15" dirty="0"/>
              <a:t> </a:t>
            </a:r>
            <a:r>
              <a:rPr sz="1000" dirty="0"/>
              <a:t>to</a:t>
            </a:r>
            <a:r>
              <a:rPr sz="1000" spc="-5" dirty="0"/>
              <a:t> </a:t>
            </a:r>
            <a:r>
              <a:rPr sz="1000" dirty="0"/>
              <a:t>input</a:t>
            </a:r>
            <a:r>
              <a:rPr sz="1000" spc="-10" dirty="0"/>
              <a:t> </a:t>
            </a:r>
            <a:r>
              <a:rPr sz="1000" dirty="0"/>
              <a:t>frequency</a:t>
            </a:r>
            <a:r>
              <a:rPr sz="1000" spc="-40" dirty="0"/>
              <a:t> </a:t>
            </a:r>
            <a:r>
              <a:rPr sz="1000" spc="-25" dirty="0"/>
              <a:t>and </a:t>
            </a:r>
            <a:r>
              <a:rPr sz="1000" dirty="0"/>
              <a:t>signal</a:t>
            </a:r>
            <a:r>
              <a:rPr sz="1000" spc="-30" dirty="0"/>
              <a:t> </a:t>
            </a:r>
            <a:r>
              <a:rPr sz="1000" spc="-10" dirty="0"/>
              <a:t>amplitude.</a:t>
            </a:r>
            <a:endParaRPr sz="1000" dirty="0">
              <a:latin typeface="Arial"/>
              <a:cs typeface="Arial"/>
            </a:endParaRPr>
          </a:p>
          <a:p>
            <a:pPr marL="60960" indent="-59055">
              <a:lnSpc>
                <a:spcPts val="1315"/>
              </a:lnSpc>
              <a:buSzPct val="86363"/>
              <a:buFont typeface="Arial"/>
              <a:buChar char="•"/>
              <a:tabLst>
                <a:tab pos="60960" algn="l"/>
              </a:tabLst>
            </a:pPr>
            <a:r>
              <a:rPr sz="1100" b="1" dirty="0">
                <a:latin typeface="Arial"/>
                <a:cs typeface="Arial"/>
              </a:rPr>
              <a:t>Reference</a:t>
            </a:r>
            <a:r>
              <a:rPr sz="1100" b="1" spc="-45" dirty="0">
                <a:latin typeface="Arial"/>
                <a:cs typeface="Arial"/>
              </a:rPr>
              <a:t> </a:t>
            </a:r>
            <a:r>
              <a:rPr sz="1100" b="1" dirty="0">
                <a:latin typeface="Arial"/>
                <a:cs typeface="Arial"/>
              </a:rPr>
              <a:t>Voltage</a:t>
            </a:r>
            <a:r>
              <a:rPr sz="1100" b="1" spc="-50"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0" dirty="0"/>
              <a:t> </a:t>
            </a:r>
            <a:r>
              <a:rPr sz="1000" dirty="0"/>
              <a:t>Noise</a:t>
            </a:r>
            <a:r>
              <a:rPr sz="1000" spc="-30" dirty="0"/>
              <a:t> </a:t>
            </a:r>
            <a:r>
              <a:rPr sz="1000" dirty="0"/>
              <a:t>or</a:t>
            </a:r>
            <a:r>
              <a:rPr sz="1000" spc="-25" dirty="0"/>
              <a:t> </a:t>
            </a:r>
            <a:r>
              <a:rPr sz="1000" dirty="0"/>
              <a:t>fluctuation</a:t>
            </a:r>
            <a:r>
              <a:rPr sz="1000" spc="-40" dirty="0"/>
              <a:t> </a:t>
            </a:r>
            <a:r>
              <a:rPr sz="1000" dirty="0"/>
              <a:t>in</a:t>
            </a:r>
            <a:r>
              <a:rPr sz="1000" spc="-20" dirty="0"/>
              <a:t> </a:t>
            </a:r>
            <a:r>
              <a:rPr sz="1000" dirty="0"/>
              <a:t>the</a:t>
            </a:r>
            <a:r>
              <a:rPr sz="1000" spc="-40" dirty="0"/>
              <a:t> </a:t>
            </a:r>
            <a:r>
              <a:rPr sz="1000" dirty="0"/>
              <a:t>reference</a:t>
            </a:r>
            <a:r>
              <a:rPr sz="1000" spc="-50" dirty="0"/>
              <a:t> </a:t>
            </a:r>
            <a:r>
              <a:rPr sz="1000" spc="-10" dirty="0"/>
              <a:t>voltage.</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30" dirty="0"/>
              <a:t> </a:t>
            </a:r>
            <a:r>
              <a:rPr sz="1000" dirty="0"/>
              <a:t>Leads</a:t>
            </a:r>
            <a:r>
              <a:rPr sz="1000" spc="-45" dirty="0"/>
              <a:t> </a:t>
            </a:r>
            <a:r>
              <a:rPr sz="1000" dirty="0"/>
              <a:t>to</a:t>
            </a:r>
            <a:r>
              <a:rPr sz="1000" spc="-25" dirty="0"/>
              <a:t> </a:t>
            </a:r>
            <a:r>
              <a:rPr sz="1000" dirty="0"/>
              <a:t>inaccurate</a:t>
            </a:r>
            <a:r>
              <a:rPr sz="1000" spc="-45" dirty="0"/>
              <a:t> </a:t>
            </a:r>
            <a:r>
              <a:rPr sz="1000" dirty="0"/>
              <a:t>conversions</a:t>
            </a:r>
            <a:r>
              <a:rPr sz="1000" spc="-25" dirty="0"/>
              <a:t> </a:t>
            </a:r>
            <a:r>
              <a:rPr sz="1000" dirty="0"/>
              <a:t>if</a:t>
            </a:r>
            <a:r>
              <a:rPr sz="1000" spc="-20" dirty="0"/>
              <a:t> </a:t>
            </a:r>
            <a:r>
              <a:rPr sz="1000" dirty="0"/>
              <a:t>the</a:t>
            </a:r>
            <a:r>
              <a:rPr sz="1000" spc="-40" dirty="0"/>
              <a:t> </a:t>
            </a:r>
            <a:r>
              <a:rPr sz="1000" dirty="0"/>
              <a:t>reference</a:t>
            </a:r>
            <a:r>
              <a:rPr sz="1000" spc="-50" dirty="0"/>
              <a:t> </a:t>
            </a:r>
            <a:r>
              <a:rPr sz="1000" dirty="0"/>
              <a:t>is</a:t>
            </a:r>
            <a:r>
              <a:rPr sz="1000" spc="-25" dirty="0"/>
              <a:t> </a:t>
            </a:r>
            <a:r>
              <a:rPr sz="1000" dirty="0"/>
              <a:t>not</a:t>
            </a:r>
            <a:r>
              <a:rPr sz="1000" spc="-30" dirty="0"/>
              <a:t> </a:t>
            </a:r>
            <a:r>
              <a:rPr sz="1000" spc="-10" dirty="0"/>
              <a:t>stable.</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Clock</a:t>
            </a:r>
            <a:r>
              <a:rPr sz="1100" b="1" spc="-30"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5" dirty="0"/>
              <a:t> </a:t>
            </a:r>
            <a:r>
              <a:rPr sz="1000" dirty="0"/>
              <a:t>Instability</a:t>
            </a:r>
            <a:r>
              <a:rPr sz="1000" spc="-15" dirty="0"/>
              <a:t> </a:t>
            </a:r>
            <a:r>
              <a:rPr sz="1000" dirty="0"/>
              <a:t>or</a:t>
            </a:r>
            <a:r>
              <a:rPr sz="1000" spc="-35" dirty="0"/>
              <a:t> </a:t>
            </a:r>
            <a:r>
              <a:rPr sz="1000" dirty="0"/>
              <a:t>noise</a:t>
            </a:r>
            <a:r>
              <a:rPr sz="1000" spc="-30" dirty="0"/>
              <a:t> </a:t>
            </a:r>
            <a:r>
              <a:rPr sz="1000" dirty="0"/>
              <a:t>in</a:t>
            </a:r>
            <a:r>
              <a:rPr sz="1000" spc="-25" dirty="0"/>
              <a:t> </a:t>
            </a:r>
            <a:r>
              <a:rPr sz="1000" dirty="0"/>
              <a:t>the</a:t>
            </a:r>
            <a:r>
              <a:rPr sz="1000" spc="-45" dirty="0"/>
              <a:t> </a:t>
            </a:r>
            <a:r>
              <a:rPr sz="1000" dirty="0"/>
              <a:t>sampling</a:t>
            </a:r>
            <a:r>
              <a:rPr sz="1000" spc="-45" dirty="0"/>
              <a:t> </a:t>
            </a:r>
            <a:r>
              <a:rPr sz="1000" dirty="0"/>
              <a:t>clock</a:t>
            </a:r>
            <a:r>
              <a:rPr sz="1000" spc="-25" dirty="0"/>
              <a:t> </a:t>
            </a:r>
            <a:r>
              <a:rPr sz="1000" spc="-10" dirty="0"/>
              <a:t>signal.</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25" dirty="0"/>
              <a:t> </a:t>
            </a:r>
            <a:r>
              <a:rPr sz="1000" dirty="0"/>
              <a:t>Affects</a:t>
            </a:r>
            <a:r>
              <a:rPr sz="1000" spc="-50" dirty="0"/>
              <a:t> </a:t>
            </a:r>
            <a:r>
              <a:rPr sz="1000" dirty="0"/>
              <a:t>the</a:t>
            </a:r>
            <a:r>
              <a:rPr sz="1000" spc="-40" dirty="0"/>
              <a:t> </a:t>
            </a:r>
            <a:r>
              <a:rPr sz="1000" dirty="0"/>
              <a:t>timing</a:t>
            </a:r>
            <a:r>
              <a:rPr sz="1000" spc="-20" dirty="0"/>
              <a:t> </a:t>
            </a:r>
            <a:r>
              <a:rPr sz="1000" dirty="0"/>
              <a:t>of</a:t>
            </a:r>
            <a:r>
              <a:rPr sz="1000" spc="-25" dirty="0"/>
              <a:t> </a:t>
            </a:r>
            <a:r>
              <a:rPr sz="1000" dirty="0"/>
              <a:t>samples,</a:t>
            </a:r>
            <a:r>
              <a:rPr sz="1000" spc="-45" dirty="0"/>
              <a:t> </a:t>
            </a:r>
            <a:r>
              <a:rPr sz="1000" dirty="0"/>
              <a:t>resulting</a:t>
            </a:r>
            <a:r>
              <a:rPr sz="1000" spc="-25" dirty="0"/>
              <a:t> </a:t>
            </a:r>
            <a:r>
              <a:rPr sz="1000" dirty="0"/>
              <a:t>in</a:t>
            </a:r>
            <a:r>
              <a:rPr sz="1000" spc="-15" dirty="0"/>
              <a:t> </a:t>
            </a:r>
            <a:r>
              <a:rPr sz="1000" spc="-10" dirty="0"/>
              <a:t>inaccuracies.</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Nonlinearity</a:t>
            </a:r>
            <a:r>
              <a:rPr sz="1100" b="1" spc="-70" dirty="0">
                <a:latin typeface="Arial"/>
                <a:cs typeface="Arial"/>
              </a:rPr>
              <a:t> </a:t>
            </a:r>
            <a:r>
              <a:rPr sz="1100" b="1" dirty="0">
                <a:latin typeface="Arial"/>
                <a:cs typeface="Arial"/>
              </a:rPr>
              <a:t>(Distortion</a:t>
            </a:r>
            <a:r>
              <a:rPr sz="1100" b="1" spc="-5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spcBef>
                <a:spcPts val="5"/>
              </a:spcBef>
              <a:buSzPct val="85000"/>
              <a:buFont typeface="Arial"/>
              <a:buChar char="•"/>
              <a:tabLst>
                <a:tab pos="55880" algn="l"/>
              </a:tabLst>
            </a:pPr>
            <a:r>
              <a:rPr sz="1000" b="1" dirty="0">
                <a:latin typeface="Arial"/>
                <a:cs typeface="Arial"/>
              </a:rPr>
              <a:t>Cause</a:t>
            </a:r>
            <a:r>
              <a:rPr sz="1000" dirty="0"/>
              <a:t>:</a:t>
            </a:r>
            <a:r>
              <a:rPr sz="1000" spc="-30" dirty="0"/>
              <a:t> </a:t>
            </a:r>
            <a:r>
              <a:rPr sz="1000" dirty="0"/>
              <a:t>Imperfections</a:t>
            </a:r>
            <a:r>
              <a:rPr sz="1000" spc="-55" dirty="0"/>
              <a:t> </a:t>
            </a:r>
            <a:r>
              <a:rPr sz="1000" dirty="0"/>
              <a:t>in</a:t>
            </a:r>
            <a:r>
              <a:rPr sz="1000" spc="-25" dirty="0"/>
              <a:t> </a:t>
            </a:r>
            <a:r>
              <a:rPr sz="1000" dirty="0"/>
              <a:t>the</a:t>
            </a:r>
            <a:r>
              <a:rPr sz="1000" spc="-25" dirty="0"/>
              <a:t> </a:t>
            </a:r>
            <a:r>
              <a:rPr sz="1000" dirty="0"/>
              <a:t>ADC's</a:t>
            </a:r>
            <a:r>
              <a:rPr sz="1000" spc="-20" dirty="0"/>
              <a:t> </a:t>
            </a:r>
            <a:r>
              <a:rPr sz="1000" dirty="0"/>
              <a:t>transfer</a:t>
            </a:r>
            <a:r>
              <a:rPr sz="1000" spc="-45" dirty="0"/>
              <a:t> </a:t>
            </a:r>
            <a:r>
              <a:rPr sz="1000" spc="-10" dirty="0"/>
              <a:t>function.</a:t>
            </a:r>
            <a:endParaRPr sz="1000" dirty="0">
              <a:latin typeface="Arial"/>
              <a:cs typeface="Arial"/>
            </a:endParaRPr>
          </a:p>
          <a:p>
            <a:pPr marL="55880" indent="-55244">
              <a:lnSpc>
                <a:spcPts val="1200"/>
              </a:lnSpc>
              <a:buSzPct val="85000"/>
              <a:buFont typeface="Arial"/>
              <a:buChar char="•"/>
              <a:tabLst>
                <a:tab pos="55880" algn="l"/>
              </a:tabLst>
            </a:pPr>
            <a:r>
              <a:rPr sz="1000" b="1" dirty="0">
                <a:latin typeface="Arial"/>
                <a:cs typeface="Arial"/>
              </a:rPr>
              <a:t>Impact</a:t>
            </a:r>
            <a:r>
              <a:rPr sz="1000" dirty="0"/>
              <a:t>:</a:t>
            </a:r>
            <a:r>
              <a:rPr sz="1000" spc="-35" dirty="0"/>
              <a:t> </a:t>
            </a:r>
            <a:r>
              <a:rPr sz="1000" dirty="0"/>
              <a:t>Causes</a:t>
            </a:r>
            <a:r>
              <a:rPr sz="1000" spc="-35" dirty="0"/>
              <a:t> </a:t>
            </a:r>
            <a:r>
              <a:rPr sz="1000" dirty="0"/>
              <a:t>harmonic</a:t>
            </a:r>
            <a:r>
              <a:rPr sz="1000" spc="-50" dirty="0"/>
              <a:t> </a:t>
            </a:r>
            <a:r>
              <a:rPr sz="1000" dirty="0"/>
              <a:t>distortion</a:t>
            </a:r>
            <a:r>
              <a:rPr sz="1000" spc="-20" dirty="0"/>
              <a:t> </a:t>
            </a:r>
            <a:r>
              <a:rPr sz="1000" dirty="0"/>
              <a:t>of</a:t>
            </a:r>
            <a:r>
              <a:rPr sz="1000" spc="-40" dirty="0"/>
              <a:t> </a:t>
            </a:r>
            <a:r>
              <a:rPr sz="1000" dirty="0"/>
              <a:t>the</a:t>
            </a:r>
            <a:r>
              <a:rPr sz="1000" spc="-35" dirty="0"/>
              <a:t> </a:t>
            </a:r>
            <a:r>
              <a:rPr sz="1000" dirty="0"/>
              <a:t>signal,</a:t>
            </a:r>
            <a:r>
              <a:rPr sz="1000" spc="-30" dirty="0"/>
              <a:t> </a:t>
            </a:r>
            <a:r>
              <a:rPr sz="1000" dirty="0"/>
              <a:t>seen</a:t>
            </a:r>
            <a:r>
              <a:rPr sz="1000" spc="-50" dirty="0"/>
              <a:t> </a:t>
            </a:r>
            <a:r>
              <a:rPr sz="1000" dirty="0"/>
              <a:t>as</a:t>
            </a:r>
            <a:r>
              <a:rPr sz="1000" spc="-25" dirty="0"/>
              <a:t> </a:t>
            </a:r>
            <a:r>
              <a:rPr sz="1000" dirty="0"/>
              <a:t>additional</a:t>
            </a:r>
            <a:r>
              <a:rPr sz="1000" spc="-30" dirty="0"/>
              <a:t> </a:t>
            </a:r>
            <a:r>
              <a:rPr sz="1000" dirty="0"/>
              <a:t>unwanted</a:t>
            </a:r>
            <a:r>
              <a:rPr sz="1000" spc="-30" dirty="0"/>
              <a:t> </a:t>
            </a:r>
            <a:r>
              <a:rPr sz="1000" dirty="0"/>
              <a:t>frequency</a:t>
            </a:r>
            <a:r>
              <a:rPr sz="1000" spc="-45" dirty="0"/>
              <a:t> </a:t>
            </a:r>
            <a:r>
              <a:rPr sz="1000" spc="-10" dirty="0"/>
              <a:t>components.</a:t>
            </a:r>
            <a:endParaRPr sz="1000" dirty="0">
              <a:latin typeface="Arial"/>
              <a:cs typeface="Arial"/>
            </a:endParaRPr>
          </a:p>
          <a:p>
            <a:pPr marL="60960" indent="-59055">
              <a:lnSpc>
                <a:spcPts val="1320"/>
              </a:lnSpc>
              <a:buSzPct val="86363"/>
              <a:buFont typeface="Arial"/>
              <a:buChar char="•"/>
              <a:tabLst>
                <a:tab pos="60960" algn="l"/>
              </a:tabLst>
            </a:pPr>
            <a:r>
              <a:rPr sz="1100" b="1" dirty="0">
                <a:latin typeface="Arial"/>
                <a:cs typeface="Arial"/>
              </a:rPr>
              <a:t>Flicker</a:t>
            </a:r>
            <a:r>
              <a:rPr sz="1100" b="1" spc="-40" dirty="0">
                <a:latin typeface="Arial"/>
                <a:cs typeface="Arial"/>
              </a:rPr>
              <a:t> </a:t>
            </a:r>
            <a:r>
              <a:rPr sz="1100" b="1" dirty="0">
                <a:latin typeface="Arial"/>
                <a:cs typeface="Arial"/>
              </a:rPr>
              <a:t>Noise</a:t>
            </a:r>
            <a:r>
              <a:rPr sz="1100" b="1" spc="-15" dirty="0">
                <a:latin typeface="Arial"/>
                <a:cs typeface="Arial"/>
              </a:rPr>
              <a:t> </a:t>
            </a:r>
            <a:r>
              <a:rPr sz="1100" b="1" dirty="0">
                <a:latin typeface="Arial"/>
                <a:cs typeface="Arial"/>
              </a:rPr>
              <a:t>(1/f</a:t>
            </a:r>
            <a:r>
              <a:rPr sz="1100" b="1" spc="-45" dirty="0">
                <a:latin typeface="Arial"/>
                <a:cs typeface="Arial"/>
              </a:rPr>
              <a:t> </a:t>
            </a:r>
            <a:r>
              <a:rPr sz="1100" b="1" spc="-10" dirty="0">
                <a:latin typeface="Arial"/>
                <a:cs typeface="Arial"/>
              </a:rPr>
              <a:t>Noise)</a:t>
            </a:r>
            <a:r>
              <a:rPr sz="1100" spc="-10" dirty="0"/>
              <a:t>:</a:t>
            </a:r>
            <a:endParaRPr sz="1100" dirty="0">
              <a:latin typeface="Arial"/>
              <a:cs typeface="Arial"/>
            </a:endParaRPr>
          </a:p>
          <a:p>
            <a:pPr marL="55880" indent="-55244">
              <a:lnSpc>
                <a:spcPct val="100000"/>
              </a:lnSpc>
              <a:buSzPct val="85000"/>
              <a:buFont typeface="Arial"/>
              <a:buChar char="•"/>
              <a:tabLst>
                <a:tab pos="55880" algn="l"/>
              </a:tabLst>
            </a:pPr>
            <a:r>
              <a:rPr sz="1000" b="1" dirty="0">
                <a:latin typeface="Arial"/>
                <a:cs typeface="Arial"/>
              </a:rPr>
              <a:t>Cause</a:t>
            </a:r>
            <a:r>
              <a:rPr sz="1000" dirty="0"/>
              <a:t>:</a:t>
            </a:r>
            <a:r>
              <a:rPr sz="1000" spc="-5" dirty="0"/>
              <a:t> </a:t>
            </a:r>
            <a:r>
              <a:rPr sz="1000" spc="-10" dirty="0"/>
              <a:t>Semiconductor</a:t>
            </a:r>
            <a:r>
              <a:rPr sz="1000" spc="-25" dirty="0"/>
              <a:t> </a:t>
            </a:r>
            <a:r>
              <a:rPr sz="1000" dirty="0"/>
              <a:t>imperfections</a:t>
            </a:r>
            <a:r>
              <a:rPr sz="1000" spc="-15" dirty="0"/>
              <a:t> </a:t>
            </a:r>
            <a:r>
              <a:rPr sz="1000" dirty="0"/>
              <a:t>and</a:t>
            </a:r>
            <a:r>
              <a:rPr sz="1000" spc="-20" dirty="0"/>
              <a:t> low-</a:t>
            </a:r>
            <a:r>
              <a:rPr sz="1000" dirty="0"/>
              <a:t>frequency</a:t>
            </a:r>
            <a:r>
              <a:rPr sz="1000" spc="5" dirty="0"/>
              <a:t> </a:t>
            </a:r>
            <a:r>
              <a:rPr sz="1000" spc="-10" dirty="0"/>
              <a:t>irregularities.</a:t>
            </a:r>
            <a:endParaRPr sz="1000" dirty="0">
              <a:latin typeface="Arial"/>
              <a:cs typeface="Arial"/>
            </a:endParaRPr>
          </a:p>
          <a:p>
            <a:pPr marL="12700" marR="405765" indent="-12065">
              <a:lnSpc>
                <a:spcPct val="100000"/>
              </a:lnSpc>
              <a:buSzPct val="85000"/>
              <a:buFont typeface="Arial"/>
              <a:buChar char="•"/>
              <a:tabLst>
                <a:tab pos="55880" algn="l"/>
              </a:tabLst>
            </a:pPr>
            <a:r>
              <a:rPr sz="1000" b="1" spc="-10" dirty="0">
                <a:latin typeface="Arial"/>
                <a:cs typeface="Arial"/>
              </a:rPr>
              <a:t>	Characteristics</a:t>
            </a:r>
            <a:r>
              <a:rPr sz="1000" spc="-10" dirty="0"/>
              <a:t>:</a:t>
            </a:r>
            <a:r>
              <a:rPr sz="1000" spc="-20" dirty="0"/>
              <a:t> </a:t>
            </a:r>
            <a:r>
              <a:rPr sz="1000" dirty="0"/>
              <a:t>Dominates</a:t>
            </a:r>
            <a:r>
              <a:rPr sz="1000" spc="-20" dirty="0"/>
              <a:t> </a:t>
            </a:r>
            <a:r>
              <a:rPr sz="1000" dirty="0"/>
              <a:t>at</a:t>
            </a:r>
            <a:r>
              <a:rPr sz="1000" spc="-30" dirty="0"/>
              <a:t> </a:t>
            </a:r>
            <a:r>
              <a:rPr sz="1000" dirty="0"/>
              <a:t>low frequencies</a:t>
            </a:r>
            <a:r>
              <a:rPr sz="1000" spc="-35" dirty="0"/>
              <a:t> </a:t>
            </a:r>
            <a:r>
              <a:rPr sz="1000" dirty="0"/>
              <a:t>and</a:t>
            </a:r>
            <a:r>
              <a:rPr sz="1000" spc="-15" dirty="0"/>
              <a:t> </a:t>
            </a:r>
            <a:r>
              <a:rPr sz="1000" dirty="0"/>
              <a:t>can</a:t>
            </a:r>
            <a:r>
              <a:rPr sz="1000" spc="-30" dirty="0"/>
              <a:t> </a:t>
            </a:r>
            <a:r>
              <a:rPr sz="1000" dirty="0"/>
              <a:t>degrade</a:t>
            </a:r>
            <a:r>
              <a:rPr sz="1000" spc="-35" dirty="0"/>
              <a:t> </a:t>
            </a:r>
            <a:r>
              <a:rPr sz="1000" dirty="0"/>
              <a:t>signal</a:t>
            </a:r>
            <a:r>
              <a:rPr sz="1000" spc="-10" dirty="0"/>
              <a:t> </a:t>
            </a:r>
            <a:r>
              <a:rPr sz="1000" dirty="0"/>
              <a:t>quality</a:t>
            </a:r>
            <a:r>
              <a:rPr sz="1000" spc="-15" dirty="0"/>
              <a:t> </a:t>
            </a:r>
            <a:r>
              <a:rPr sz="1000" dirty="0"/>
              <a:t>in</a:t>
            </a:r>
            <a:r>
              <a:rPr sz="1000" spc="-5" dirty="0"/>
              <a:t> </a:t>
            </a:r>
            <a:r>
              <a:rPr sz="1000" spc="-20" dirty="0"/>
              <a:t>low-</a:t>
            </a:r>
            <a:r>
              <a:rPr sz="1000" spc="-10" dirty="0"/>
              <a:t>frequency applications.</a:t>
            </a:r>
            <a:endParaRPr sz="1000" dirty="0">
              <a:latin typeface="Arial"/>
              <a:cs typeface="Arial"/>
            </a:endParaRPr>
          </a:p>
        </p:txBody>
      </p:sp>
      <p:grpSp>
        <p:nvGrpSpPr>
          <p:cNvPr id="4" name="object 4"/>
          <p:cNvGrpSpPr/>
          <p:nvPr/>
        </p:nvGrpSpPr>
        <p:grpSpPr>
          <a:xfrm>
            <a:off x="444500" y="1063929"/>
            <a:ext cx="939800" cy="939800"/>
            <a:chOff x="444500" y="1063929"/>
            <a:chExt cx="939800" cy="939800"/>
          </a:xfrm>
        </p:grpSpPr>
        <p:sp>
          <p:nvSpPr>
            <p:cNvPr id="5" name="object 5"/>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6" name="object 6"/>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7" name="object 7"/>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8" name="object 8"/>
          <p:cNvGrpSpPr/>
          <p:nvPr/>
        </p:nvGrpSpPr>
        <p:grpSpPr>
          <a:xfrm>
            <a:off x="1617002" y="1063929"/>
            <a:ext cx="939800" cy="939800"/>
            <a:chOff x="1617002" y="1063929"/>
            <a:chExt cx="939800" cy="939800"/>
          </a:xfrm>
        </p:grpSpPr>
        <p:sp>
          <p:nvSpPr>
            <p:cNvPr id="9" name="object 9"/>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0" name="object 10"/>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1" name="object 11"/>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2" name="object 12"/>
          <p:cNvGrpSpPr/>
          <p:nvPr/>
        </p:nvGrpSpPr>
        <p:grpSpPr>
          <a:xfrm>
            <a:off x="2875699" y="1063929"/>
            <a:ext cx="939800" cy="939800"/>
            <a:chOff x="2875699" y="1063929"/>
            <a:chExt cx="939800" cy="939800"/>
          </a:xfrm>
        </p:grpSpPr>
        <p:sp>
          <p:nvSpPr>
            <p:cNvPr id="13" name="object 13"/>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4" name="object 14"/>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5" name="object 15"/>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6" name="object 16"/>
          <p:cNvGrpSpPr/>
          <p:nvPr/>
        </p:nvGrpSpPr>
        <p:grpSpPr>
          <a:xfrm>
            <a:off x="4125455" y="1063929"/>
            <a:ext cx="939800" cy="939800"/>
            <a:chOff x="4125455" y="1063929"/>
            <a:chExt cx="939800" cy="939800"/>
          </a:xfrm>
        </p:grpSpPr>
        <p:sp>
          <p:nvSpPr>
            <p:cNvPr id="17" name="object 17"/>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8" name="object 18"/>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9" name="object 19"/>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20" name="object 20"/>
          <p:cNvGrpSpPr/>
          <p:nvPr/>
        </p:nvGrpSpPr>
        <p:grpSpPr>
          <a:xfrm>
            <a:off x="7344371" y="1063929"/>
            <a:ext cx="939800" cy="939800"/>
            <a:chOff x="7344371" y="1063929"/>
            <a:chExt cx="939800" cy="939800"/>
          </a:xfrm>
        </p:grpSpPr>
        <p:sp>
          <p:nvSpPr>
            <p:cNvPr id="21" name="object 21"/>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2" name="object 22"/>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3" name="object 23"/>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4" name="object 24"/>
          <p:cNvGrpSpPr/>
          <p:nvPr/>
        </p:nvGrpSpPr>
        <p:grpSpPr>
          <a:xfrm>
            <a:off x="9712108" y="1063929"/>
            <a:ext cx="939800" cy="939800"/>
            <a:chOff x="9712108" y="1063929"/>
            <a:chExt cx="939800" cy="939800"/>
          </a:xfrm>
        </p:grpSpPr>
        <p:sp>
          <p:nvSpPr>
            <p:cNvPr id="25" name="object 25"/>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26" name="object 26"/>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27" name="object 27"/>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8" name="object 28"/>
          <p:cNvGrpSpPr/>
          <p:nvPr/>
        </p:nvGrpSpPr>
        <p:grpSpPr>
          <a:xfrm>
            <a:off x="8539619" y="1069378"/>
            <a:ext cx="939800" cy="939800"/>
            <a:chOff x="8539619" y="1069378"/>
            <a:chExt cx="939800" cy="939800"/>
          </a:xfrm>
        </p:grpSpPr>
        <p:sp>
          <p:nvSpPr>
            <p:cNvPr id="29" name="object 29"/>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0" name="object 30"/>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1" name="object 31"/>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2" name="object 32"/>
          <p:cNvGrpSpPr/>
          <p:nvPr/>
        </p:nvGrpSpPr>
        <p:grpSpPr>
          <a:xfrm>
            <a:off x="10829823" y="1073759"/>
            <a:ext cx="939800" cy="939800"/>
            <a:chOff x="10829823" y="1073759"/>
            <a:chExt cx="939800" cy="939800"/>
          </a:xfrm>
        </p:grpSpPr>
        <p:sp>
          <p:nvSpPr>
            <p:cNvPr id="33" name="object 33"/>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34" name="object 34"/>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5" name="object 35"/>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6" name="object 36"/>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7" name="object 37"/>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8" name="object 38"/>
          <p:cNvGrpSpPr/>
          <p:nvPr/>
        </p:nvGrpSpPr>
        <p:grpSpPr>
          <a:xfrm>
            <a:off x="5245100" y="1444932"/>
            <a:ext cx="1877695" cy="177800"/>
            <a:chOff x="5245100" y="1444932"/>
            <a:chExt cx="1877695" cy="177800"/>
          </a:xfrm>
        </p:grpSpPr>
        <p:sp>
          <p:nvSpPr>
            <p:cNvPr id="39" name="object 39"/>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40" name="object 40"/>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1" name="object 41"/>
          <p:cNvPicPr/>
          <p:nvPr/>
        </p:nvPicPr>
        <p:blipFill>
          <a:blip r:embed="rId2" cstate="print"/>
          <a:stretch>
            <a:fillRect/>
          </a:stretch>
        </p:blipFill>
        <p:spPr>
          <a:xfrm>
            <a:off x="6306321" y="2877516"/>
            <a:ext cx="5691419" cy="3211777"/>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Let’s</a:t>
            </a:r>
            <a:r>
              <a:rPr spc="-40" dirty="0"/>
              <a:t> </a:t>
            </a:r>
            <a:r>
              <a:rPr dirty="0"/>
              <a:t>talk</a:t>
            </a:r>
            <a:r>
              <a:rPr spc="-40" dirty="0"/>
              <a:t> </a:t>
            </a:r>
            <a:r>
              <a:rPr dirty="0"/>
              <a:t>about</a:t>
            </a:r>
            <a:r>
              <a:rPr spc="-20" dirty="0"/>
              <a:t> </a:t>
            </a:r>
            <a:r>
              <a:rPr dirty="0"/>
              <a:t>a</a:t>
            </a:r>
            <a:r>
              <a:rPr spc="-30" dirty="0"/>
              <a:t> </a:t>
            </a:r>
            <a:r>
              <a:rPr dirty="0"/>
              <a:t>real</a:t>
            </a:r>
            <a:r>
              <a:rPr spc="-45" dirty="0"/>
              <a:t> </a:t>
            </a:r>
            <a:r>
              <a:rPr dirty="0"/>
              <a:t>world</a:t>
            </a:r>
            <a:r>
              <a:rPr spc="-40" dirty="0"/>
              <a:t> </a:t>
            </a:r>
            <a:r>
              <a:rPr spc="-10" dirty="0"/>
              <a:t>system</a:t>
            </a:r>
          </a:p>
        </p:txBody>
      </p:sp>
      <p:grpSp>
        <p:nvGrpSpPr>
          <p:cNvPr id="3" name="object 3"/>
          <p:cNvGrpSpPr/>
          <p:nvPr/>
        </p:nvGrpSpPr>
        <p:grpSpPr>
          <a:xfrm>
            <a:off x="444500" y="1063929"/>
            <a:ext cx="939800" cy="939800"/>
            <a:chOff x="444500" y="1063929"/>
            <a:chExt cx="939800" cy="939800"/>
          </a:xfrm>
        </p:grpSpPr>
        <p:sp>
          <p:nvSpPr>
            <p:cNvPr id="4" name="object 4"/>
            <p:cNvSpPr/>
            <p:nvPr/>
          </p:nvSpPr>
          <p:spPr>
            <a:xfrm>
              <a:off x="457200"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5" name="object 5"/>
            <p:cNvSpPr/>
            <p:nvPr/>
          </p:nvSpPr>
          <p:spPr>
            <a:xfrm>
              <a:off x="457200"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6" name="object 6"/>
          <p:cNvSpPr txBox="1"/>
          <p:nvPr/>
        </p:nvSpPr>
        <p:spPr>
          <a:xfrm>
            <a:off x="538130" y="1402260"/>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grpSp>
        <p:nvGrpSpPr>
          <p:cNvPr id="7" name="object 7"/>
          <p:cNvGrpSpPr/>
          <p:nvPr/>
        </p:nvGrpSpPr>
        <p:grpSpPr>
          <a:xfrm>
            <a:off x="1617002" y="1063929"/>
            <a:ext cx="939800" cy="939800"/>
            <a:chOff x="1617002" y="1063929"/>
            <a:chExt cx="939800" cy="939800"/>
          </a:xfrm>
        </p:grpSpPr>
        <p:sp>
          <p:nvSpPr>
            <p:cNvPr id="8" name="object 8"/>
            <p:cNvSpPr/>
            <p:nvPr/>
          </p:nvSpPr>
          <p:spPr>
            <a:xfrm>
              <a:off x="1629702"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9" name="object 9"/>
            <p:cNvSpPr/>
            <p:nvPr/>
          </p:nvSpPr>
          <p:spPr>
            <a:xfrm>
              <a:off x="1629702"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0" name="object 10"/>
          <p:cNvSpPr txBox="1"/>
          <p:nvPr/>
        </p:nvSpPr>
        <p:spPr>
          <a:xfrm>
            <a:off x="1712157" y="1188900"/>
            <a:ext cx="749300" cy="666750"/>
          </a:xfrm>
          <a:prstGeom prst="rect">
            <a:avLst/>
          </a:prstGeom>
        </p:spPr>
        <p:txBody>
          <a:bodyPr vert="horz" wrap="square" lIns="0" tIns="13335" rIns="0" bIns="0" rtlCol="0">
            <a:spAutoFit/>
          </a:bodyPr>
          <a:lstStyle/>
          <a:p>
            <a:pPr marL="12700" marR="5080" algn="ctr">
              <a:lnSpc>
                <a:spcPct val="100000"/>
              </a:lnSpc>
              <a:spcBef>
                <a:spcPts val="105"/>
              </a:spcBef>
            </a:pPr>
            <a:r>
              <a:rPr sz="1400" dirty="0">
                <a:solidFill>
                  <a:srgbClr val="FFFFFF"/>
                </a:solidFill>
                <a:latin typeface="Calibri"/>
                <a:cs typeface="Calibri"/>
              </a:rPr>
              <a:t>Digital</a:t>
            </a:r>
            <a:r>
              <a:rPr sz="1400" spc="-40"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Analog Converter</a:t>
            </a:r>
            <a:endParaRPr sz="1400">
              <a:latin typeface="Calibri"/>
              <a:cs typeface="Calibri"/>
            </a:endParaRPr>
          </a:p>
        </p:txBody>
      </p:sp>
      <p:grpSp>
        <p:nvGrpSpPr>
          <p:cNvPr id="11" name="object 11"/>
          <p:cNvGrpSpPr/>
          <p:nvPr/>
        </p:nvGrpSpPr>
        <p:grpSpPr>
          <a:xfrm>
            <a:off x="2875699" y="1063929"/>
            <a:ext cx="939800" cy="939800"/>
            <a:chOff x="2875699" y="1063929"/>
            <a:chExt cx="939800" cy="939800"/>
          </a:xfrm>
        </p:grpSpPr>
        <p:sp>
          <p:nvSpPr>
            <p:cNvPr id="12" name="object 12"/>
            <p:cNvSpPr/>
            <p:nvPr/>
          </p:nvSpPr>
          <p:spPr>
            <a:xfrm>
              <a:off x="2888399"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3" name="object 13"/>
            <p:cNvSpPr/>
            <p:nvPr/>
          </p:nvSpPr>
          <p:spPr>
            <a:xfrm>
              <a:off x="2888399"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4" name="object 14"/>
          <p:cNvSpPr txBox="1"/>
          <p:nvPr/>
        </p:nvSpPr>
        <p:spPr>
          <a:xfrm>
            <a:off x="3098873" y="1188900"/>
            <a:ext cx="492125" cy="666750"/>
          </a:xfrm>
          <a:prstGeom prst="rect">
            <a:avLst/>
          </a:prstGeom>
        </p:spPr>
        <p:txBody>
          <a:bodyPr vert="horz" wrap="square" lIns="0" tIns="13335" rIns="0" bIns="0" rtlCol="0">
            <a:spAutoFit/>
          </a:bodyPr>
          <a:lstStyle/>
          <a:p>
            <a:pPr algn="ctr">
              <a:lnSpc>
                <a:spcPct val="100000"/>
              </a:lnSpc>
              <a:spcBef>
                <a:spcPts val="105"/>
              </a:spcBef>
            </a:pPr>
            <a:r>
              <a:rPr sz="1400" spc="-25" dirty="0">
                <a:solidFill>
                  <a:srgbClr val="FFFFFF"/>
                </a:solidFill>
                <a:latin typeface="Calibri"/>
                <a:cs typeface="Calibri"/>
              </a:rPr>
              <a:t>LED</a:t>
            </a:r>
            <a:endParaRPr sz="1400">
              <a:latin typeface="Calibri"/>
              <a:cs typeface="Calibri"/>
            </a:endParaRPr>
          </a:p>
          <a:p>
            <a:pPr marL="12700" marR="5080" indent="-635" algn="ctr">
              <a:lnSpc>
                <a:spcPct val="100000"/>
              </a:lnSpc>
            </a:pPr>
            <a:r>
              <a:rPr sz="1400" spc="-10" dirty="0">
                <a:solidFill>
                  <a:srgbClr val="FFFFFF"/>
                </a:solidFill>
                <a:latin typeface="Calibri"/>
                <a:cs typeface="Calibri"/>
              </a:rPr>
              <a:t>Driver Circuit</a:t>
            </a:r>
            <a:endParaRPr sz="1400">
              <a:latin typeface="Calibri"/>
              <a:cs typeface="Calibri"/>
            </a:endParaRPr>
          </a:p>
        </p:txBody>
      </p:sp>
      <p:grpSp>
        <p:nvGrpSpPr>
          <p:cNvPr id="15" name="object 15"/>
          <p:cNvGrpSpPr/>
          <p:nvPr/>
        </p:nvGrpSpPr>
        <p:grpSpPr>
          <a:xfrm>
            <a:off x="4125455" y="1063929"/>
            <a:ext cx="939800" cy="939800"/>
            <a:chOff x="4125455" y="1063929"/>
            <a:chExt cx="939800" cy="939800"/>
          </a:xfrm>
        </p:grpSpPr>
        <p:sp>
          <p:nvSpPr>
            <p:cNvPr id="16" name="object 16"/>
            <p:cNvSpPr/>
            <p:nvPr/>
          </p:nvSpPr>
          <p:spPr>
            <a:xfrm>
              <a:off x="4138155"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17" name="object 17"/>
            <p:cNvSpPr/>
            <p:nvPr/>
          </p:nvSpPr>
          <p:spPr>
            <a:xfrm>
              <a:off x="4138155"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18" name="object 18"/>
          <p:cNvSpPr txBox="1"/>
          <p:nvPr/>
        </p:nvSpPr>
        <p:spPr>
          <a:xfrm>
            <a:off x="4446158" y="1402260"/>
            <a:ext cx="29718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LED</a:t>
            </a:r>
            <a:endParaRPr sz="1400">
              <a:latin typeface="Calibri"/>
              <a:cs typeface="Calibri"/>
            </a:endParaRPr>
          </a:p>
        </p:txBody>
      </p:sp>
      <p:grpSp>
        <p:nvGrpSpPr>
          <p:cNvPr id="19" name="object 19"/>
          <p:cNvGrpSpPr/>
          <p:nvPr/>
        </p:nvGrpSpPr>
        <p:grpSpPr>
          <a:xfrm>
            <a:off x="7344371" y="1063929"/>
            <a:ext cx="939800" cy="939800"/>
            <a:chOff x="7344371" y="1063929"/>
            <a:chExt cx="939800" cy="939800"/>
          </a:xfrm>
        </p:grpSpPr>
        <p:sp>
          <p:nvSpPr>
            <p:cNvPr id="20" name="object 20"/>
            <p:cNvSpPr/>
            <p:nvPr/>
          </p:nvSpPr>
          <p:spPr>
            <a:xfrm>
              <a:off x="7357071"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1" name="object 21"/>
            <p:cNvSpPr/>
            <p:nvPr/>
          </p:nvSpPr>
          <p:spPr>
            <a:xfrm>
              <a:off x="7357071"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2" name="object 22"/>
          <p:cNvSpPr txBox="1"/>
          <p:nvPr/>
        </p:nvSpPr>
        <p:spPr>
          <a:xfrm>
            <a:off x="7700134" y="1402260"/>
            <a:ext cx="226060" cy="239395"/>
          </a:xfrm>
          <a:prstGeom prst="rect">
            <a:avLst/>
          </a:prstGeom>
        </p:spPr>
        <p:txBody>
          <a:bodyPr vert="horz" wrap="square" lIns="0" tIns="13335" rIns="0" bIns="0" rtlCol="0">
            <a:spAutoFit/>
          </a:bodyPr>
          <a:lstStyle/>
          <a:p>
            <a:pPr marL="12700">
              <a:lnSpc>
                <a:spcPct val="100000"/>
              </a:lnSpc>
              <a:spcBef>
                <a:spcPts val="105"/>
              </a:spcBef>
            </a:pPr>
            <a:r>
              <a:rPr sz="1400" spc="-25" dirty="0">
                <a:solidFill>
                  <a:srgbClr val="FFFFFF"/>
                </a:solidFill>
                <a:latin typeface="Calibri"/>
                <a:cs typeface="Calibri"/>
              </a:rPr>
              <a:t>PD</a:t>
            </a:r>
            <a:endParaRPr sz="1400">
              <a:latin typeface="Calibri"/>
              <a:cs typeface="Calibri"/>
            </a:endParaRPr>
          </a:p>
        </p:txBody>
      </p:sp>
      <p:grpSp>
        <p:nvGrpSpPr>
          <p:cNvPr id="23" name="object 23"/>
          <p:cNvGrpSpPr/>
          <p:nvPr/>
        </p:nvGrpSpPr>
        <p:grpSpPr>
          <a:xfrm>
            <a:off x="9712108" y="1063929"/>
            <a:ext cx="939800" cy="939800"/>
            <a:chOff x="9712108" y="1063929"/>
            <a:chExt cx="939800" cy="939800"/>
          </a:xfrm>
        </p:grpSpPr>
        <p:sp>
          <p:nvSpPr>
            <p:cNvPr id="24" name="object 24"/>
            <p:cNvSpPr/>
            <p:nvPr/>
          </p:nvSpPr>
          <p:spPr>
            <a:xfrm>
              <a:off x="9724808" y="107662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5" name="object 25"/>
            <p:cNvSpPr/>
            <p:nvPr/>
          </p:nvSpPr>
          <p:spPr>
            <a:xfrm>
              <a:off x="9724808" y="107662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26" name="object 26"/>
          <p:cNvSpPr txBox="1"/>
          <p:nvPr/>
        </p:nvSpPr>
        <p:spPr>
          <a:xfrm>
            <a:off x="9807254" y="1188900"/>
            <a:ext cx="749300" cy="666750"/>
          </a:xfrm>
          <a:prstGeom prst="rect">
            <a:avLst/>
          </a:prstGeom>
        </p:spPr>
        <p:txBody>
          <a:bodyPr vert="horz" wrap="square" lIns="0" tIns="13335" rIns="0" bIns="0" rtlCol="0">
            <a:spAutoFit/>
          </a:bodyPr>
          <a:lstStyle/>
          <a:p>
            <a:pPr marL="12065" marR="5080" indent="-1905" algn="ctr">
              <a:lnSpc>
                <a:spcPct val="100000"/>
              </a:lnSpc>
              <a:spcBef>
                <a:spcPts val="105"/>
              </a:spcBef>
            </a:pPr>
            <a:r>
              <a:rPr sz="1400" dirty="0">
                <a:solidFill>
                  <a:srgbClr val="FFFFFF"/>
                </a:solidFill>
                <a:latin typeface="Calibri"/>
                <a:cs typeface="Calibri"/>
              </a:rPr>
              <a:t>Analog</a:t>
            </a:r>
            <a:r>
              <a:rPr sz="1400" spc="-45" dirty="0">
                <a:solidFill>
                  <a:srgbClr val="FFFFFF"/>
                </a:solidFill>
                <a:latin typeface="Calibri"/>
                <a:cs typeface="Calibri"/>
              </a:rPr>
              <a:t> </a:t>
            </a:r>
            <a:r>
              <a:rPr sz="1400" spc="-25" dirty="0">
                <a:solidFill>
                  <a:srgbClr val="FFFFFF"/>
                </a:solidFill>
                <a:latin typeface="Calibri"/>
                <a:cs typeface="Calibri"/>
              </a:rPr>
              <a:t>to </a:t>
            </a:r>
            <a:r>
              <a:rPr sz="1400" spc="-10" dirty="0">
                <a:solidFill>
                  <a:srgbClr val="FFFFFF"/>
                </a:solidFill>
                <a:latin typeface="Calibri"/>
                <a:cs typeface="Calibri"/>
              </a:rPr>
              <a:t>Digital Converter</a:t>
            </a:r>
            <a:endParaRPr sz="1400">
              <a:latin typeface="Calibri"/>
              <a:cs typeface="Calibri"/>
            </a:endParaRPr>
          </a:p>
        </p:txBody>
      </p:sp>
      <p:grpSp>
        <p:nvGrpSpPr>
          <p:cNvPr id="27" name="object 27"/>
          <p:cNvGrpSpPr/>
          <p:nvPr/>
        </p:nvGrpSpPr>
        <p:grpSpPr>
          <a:xfrm>
            <a:off x="8539619" y="1069378"/>
            <a:ext cx="939800" cy="939800"/>
            <a:chOff x="8539619" y="1069378"/>
            <a:chExt cx="939800" cy="939800"/>
          </a:xfrm>
        </p:grpSpPr>
        <p:sp>
          <p:nvSpPr>
            <p:cNvPr id="28" name="object 28"/>
            <p:cNvSpPr/>
            <p:nvPr/>
          </p:nvSpPr>
          <p:spPr>
            <a:xfrm>
              <a:off x="8552319" y="1082078"/>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4F81BC"/>
            </a:solidFill>
          </p:spPr>
          <p:txBody>
            <a:bodyPr wrap="square" lIns="0" tIns="0" rIns="0" bIns="0" rtlCol="0"/>
            <a:lstStyle/>
            <a:p>
              <a:endParaRPr/>
            </a:p>
          </p:txBody>
        </p:sp>
        <p:sp>
          <p:nvSpPr>
            <p:cNvPr id="29" name="object 29"/>
            <p:cNvSpPr/>
            <p:nvPr/>
          </p:nvSpPr>
          <p:spPr>
            <a:xfrm>
              <a:off x="8552319" y="1082078"/>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1C334E"/>
              </a:solidFill>
            </a:ln>
          </p:spPr>
          <p:txBody>
            <a:bodyPr wrap="square" lIns="0" tIns="0" rIns="0" bIns="0" rtlCol="0"/>
            <a:lstStyle/>
            <a:p>
              <a:endParaRPr/>
            </a:p>
          </p:txBody>
        </p:sp>
      </p:grpSp>
      <p:sp>
        <p:nvSpPr>
          <p:cNvPr id="30" name="object 30"/>
          <p:cNvSpPr txBox="1"/>
          <p:nvPr/>
        </p:nvSpPr>
        <p:spPr>
          <a:xfrm>
            <a:off x="8662171" y="1407709"/>
            <a:ext cx="69278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Amplifier</a:t>
            </a:r>
            <a:endParaRPr sz="1400">
              <a:latin typeface="Calibri"/>
              <a:cs typeface="Calibri"/>
            </a:endParaRPr>
          </a:p>
        </p:txBody>
      </p:sp>
      <p:grpSp>
        <p:nvGrpSpPr>
          <p:cNvPr id="31" name="object 31"/>
          <p:cNvGrpSpPr/>
          <p:nvPr/>
        </p:nvGrpSpPr>
        <p:grpSpPr>
          <a:xfrm>
            <a:off x="10829823" y="1073759"/>
            <a:ext cx="939800" cy="939800"/>
            <a:chOff x="10829823" y="1073759"/>
            <a:chExt cx="939800" cy="939800"/>
          </a:xfrm>
        </p:grpSpPr>
        <p:sp>
          <p:nvSpPr>
            <p:cNvPr id="32" name="object 32"/>
            <p:cNvSpPr/>
            <p:nvPr/>
          </p:nvSpPr>
          <p:spPr>
            <a:xfrm>
              <a:off x="10842523" y="1086459"/>
              <a:ext cx="914400" cy="914400"/>
            </a:xfrm>
            <a:custGeom>
              <a:avLst/>
              <a:gdLst/>
              <a:ahLst/>
              <a:cxnLst/>
              <a:rect l="l" t="t" r="r" b="b"/>
              <a:pathLst>
                <a:path w="914400" h="914400">
                  <a:moveTo>
                    <a:pt x="914400" y="0"/>
                  </a:moveTo>
                  <a:lnTo>
                    <a:pt x="0" y="0"/>
                  </a:lnTo>
                  <a:lnTo>
                    <a:pt x="0" y="914400"/>
                  </a:lnTo>
                  <a:lnTo>
                    <a:pt x="914400" y="914400"/>
                  </a:lnTo>
                  <a:lnTo>
                    <a:pt x="914400" y="0"/>
                  </a:lnTo>
                  <a:close/>
                </a:path>
              </a:pathLst>
            </a:custGeom>
            <a:solidFill>
              <a:srgbClr val="C0504D"/>
            </a:solidFill>
          </p:spPr>
          <p:txBody>
            <a:bodyPr wrap="square" lIns="0" tIns="0" rIns="0" bIns="0" rtlCol="0"/>
            <a:lstStyle/>
            <a:p>
              <a:endParaRPr/>
            </a:p>
          </p:txBody>
        </p:sp>
        <p:sp>
          <p:nvSpPr>
            <p:cNvPr id="33" name="object 33"/>
            <p:cNvSpPr/>
            <p:nvPr/>
          </p:nvSpPr>
          <p:spPr>
            <a:xfrm>
              <a:off x="10842523" y="1086459"/>
              <a:ext cx="914400" cy="914400"/>
            </a:xfrm>
            <a:custGeom>
              <a:avLst/>
              <a:gdLst/>
              <a:ahLst/>
              <a:cxnLst/>
              <a:rect l="l" t="t" r="r" b="b"/>
              <a:pathLst>
                <a:path w="914400" h="914400">
                  <a:moveTo>
                    <a:pt x="0" y="0"/>
                  </a:moveTo>
                  <a:lnTo>
                    <a:pt x="914400" y="0"/>
                  </a:lnTo>
                  <a:lnTo>
                    <a:pt x="914400" y="914400"/>
                  </a:lnTo>
                  <a:lnTo>
                    <a:pt x="0" y="914400"/>
                  </a:lnTo>
                  <a:lnTo>
                    <a:pt x="0" y="0"/>
                  </a:lnTo>
                  <a:close/>
                </a:path>
              </a:pathLst>
            </a:custGeom>
            <a:ln w="25400">
              <a:solidFill>
                <a:srgbClr val="4F1D1B"/>
              </a:solidFill>
            </a:ln>
          </p:spPr>
          <p:txBody>
            <a:bodyPr wrap="square" lIns="0" tIns="0" rIns="0" bIns="0" rtlCol="0"/>
            <a:lstStyle/>
            <a:p>
              <a:endParaRPr/>
            </a:p>
          </p:txBody>
        </p:sp>
      </p:grpSp>
      <p:sp>
        <p:nvSpPr>
          <p:cNvPr id="34" name="object 34"/>
          <p:cNvSpPr txBox="1"/>
          <p:nvPr/>
        </p:nvSpPr>
        <p:spPr>
          <a:xfrm>
            <a:off x="10923452" y="1412091"/>
            <a:ext cx="752475" cy="239395"/>
          </a:xfrm>
          <a:prstGeom prst="rect">
            <a:avLst/>
          </a:prstGeom>
        </p:spPr>
        <p:txBody>
          <a:bodyPr vert="horz" wrap="square" lIns="0" tIns="13335" rIns="0" bIns="0" rtlCol="0">
            <a:spAutoFit/>
          </a:bodyPr>
          <a:lstStyle/>
          <a:p>
            <a:pPr marL="12700">
              <a:lnSpc>
                <a:spcPct val="100000"/>
              </a:lnSpc>
              <a:spcBef>
                <a:spcPts val="105"/>
              </a:spcBef>
            </a:pPr>
            <a:r>
              <a:rPr sz="1400" spc="-10" dirty="0">
                <a:solidFill>
                  <a:srgbClr val="FFFFFF"/>
                </a:solidFill>
                <a:latin typeface="Calibri"/>
                <a:cs typeface="Calibri"/>
              </a:rPr>
              <a:t>Computer</a:t>
            </a:r>
            <a:endParaRPr sz="1400">
              <a:latin typeface="Calibri"/>
              <a:cs typeface="Calibri"/>
            </a:endParaRPr>
          </a:p>
        </p:txBody>
      </p:sp>
      <p:sp>
        <p:nvSpPr>
          <p:cNvPr id="35" name="object 35"/>
          <p:cNvSpPr/>
          <p:nvPr/>
        </p:nvSpPr>
        <p:spPr>
          <a:xfrm>
            <a:off x="304800" y="848029"/>
            <a:ext cx="4876800" cy="1371600"/>
          </a:xfrm>
          <a:custGeom>
            <a:avLst/>
            <a:gdLst/>
            <a:ahLst/>
            <a:cxnLst/>
            <a:rect l="l" t="t" r="r" b="b"/>
            <a:pathLst>
              <a:path w="4876800" h="1371600">
                <a:moveTo>
                  <a:pt x="0" y="0"/>
                </a:moveTo>
                <a:lnTo>
                  <a:pt x="4876800" y="0"/>
                </a:lnTo>
                <a:lnTo>
                  <a:pt x="48768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sp>
        <p:nvSpPr>
          <p:cNvPr id="36" name="object 36"/>
          <p:cNvSpPr/>
          <p:nvPr/>
        </p:nvSpPr>
        <p:spPr>
          <a:xfrm>
            <a:off x="7239000" y="838200"/>
            <a:ext cx="4800600" cy="1371600"/>
          </a:xfrm>
          <a:custGeom>
            <a:avLst/>
            <a:gdLst/>
            <a:ahLst/>
            <a:cxnLst/>
            <a:rect l="l" t="t" r="r" b="b"/>
            <a:pathLst>
              <a:path w="4800600" h="1371600">
                <a:moveTo>
                  <a:pt x="0" y="0"/>
                </a:moveTo>
                <a:lnTo>
                  <a:pt x="4800600" y="0"/>
                </a:lnTo>
                <a:lnTo>
                  <a:pt x="4800600" y="1371600"/>
                </a:lnTo>
                <a:lnTo>
                  <a:pt x="0" y="1371600"/>
                </a:lnTo>
                <a:lnTo>
                  <a:pt x="0" y="0"/>
                </a:lnTo>
                <a:close/>
              </a:path>
            </a:pathLst>
          </a:custGeom>
          <a:ln w="25400">
            <a:solidFill>
              <a:srgbClr val="1C334E"/>
            </a:solidFill>
            <a:prstDash val="sysDash"/>
          </a:ln>
        </p:spPr>
        <p:txBody>
          <a:bodyPr wrap="square" lIns="0" tIns="0" rIns="0" bIns="0" rtlCol="0"/>
          <a:lstStyle/>
          <a:p>
            <a:endParaRPr/>
          </a:p>
        </p:txBody>
      </p:sp>
      <p:grpSp>
        <p:nvGrpSpPr>
          <p:cNvPr id="37" name="object 37"/>
          <p:cNvGrpSpPr/>
          <p:nvPr/>
        </p:nvGrpSpPr>
        <p:grpSpPr>
          <a:xfrm>
            <a:off x="5245100" y="1444932"/>
            <a:ext cx="1877695" cy="177800"/>
            <a:chOff x="5245100" y="1444932"/>
            <a:chExt cx="1877695" cy="177800"/>
          </a:xfrm>
        </p:grpSpPr>
        <p:sp>
          <p:nvSpPr>
            <p:cNvPr id="38" name="object 38"/>
            <p:cNvSpPr/>
            <p:nvPr/>
          </p:nvSpPr>
          <p:spPr>
            <a:xfrm>
              <a:off x="5257800" y="1457632"/>
              <a:ext cx="1852295" cy="152400"/>
            </a:xfrm>
            <a:custGeom>
              <a:avLst/>
              <a:gdLst/>
              <a:ahLst/>
              <a:cxnLst/>
              <a:rect l="l" t="t" r="r" b="b"/>
              <a:pathLst>
                <a:path w="1852295" h="152400">
                  <a:moveTo>
                    <a:pt x="1775955" y="0"/>
                  </a:moveTo>
                  <a:lnTo>
                    <a:pt x="1775955" y="38100"/>
                  </a:lnTo>
                  <a:lnTo>
                    <a:pt x="0" y="38100"/>
                  </a:lnTo>
                  <a:lnTo>
                    <a:pt x="0" y="114300"/>
                  </a:lnTo>
                  <a:lnTo>
                    <a:pt x="1775955" y="114300"/>
                  </a:lnTo>
                  <a:lnTo>
                    <a:pt x="1775955" y="152400"/>
                  </a:lnTo>
                  <a:lnTo>
                    <a:pt x="1852155" y="76200"/>
                  </a:lnTo>
                  <a:lnTo>
                    <a:pt x="1775955" y="0"/>
                  </a:lnTo>
                  <a:close/>
                </a:path>
              </a:pathLst>
            </a:custGeom>
            <a:solidFill>
              <a:srgbClr val="4F81BC"/>
            </a:solidFill>
          </p:spPr>
          <p:txBody>
            <a:bodyPr wrap="square" lIns="0" tIns="0" rIns="0" bIns="0" rtlCol="0"/>
            <a:lstStyle/>
            <a:p>
              <a:endParaRPr/>
            </a:p>
          </p:txBody>
        </p:sp>
        <p:sp>
          <p:nvSpPr>
            <p:cNvPr id="39" name="object 39"/>
            <p:cNvSpPr/>
            <p:nvPr/>
          </p:nvSpPr>
          <p:spPr>
            <a:xfrm>
              <a:off x="5257800" y="1457632"/>
              <a:ext cx="1852295" cy="152400"/>
            </a:xfrm>
            <a:custGeom>
              <a:avLst/>
              <a:gdLst/>
              <a:ahLst/>
              <a:cxnLst/>
              <a:rect l="l" t="t" r="r" b="b"/>
              <a:pathLst>
                <a:path w="1852295" h="152400">
                  <a:moveTo>
                    <a:pt x="0" y="38100"/>
                  </a:moveTo>
                  <a:lnTo>
                    <a:pt x="1775955" y="38100"/>
                  </a:lnTo>
                  <a:lnTo>
                    <a:pt x="1775955" y="0"/>
                  </a:lnTo>
                  <a:lnTo>
                    <a:pt x="1852155" y="76200"/>
                  </a:lnTo>
                  <a:lnTo>
                    <a:pt x="1775955" y="152400"/>
                  </a:lnTo>
                  <a:lnTo>
                    <a:pt x="1775955" y="114300"/>
                  </a:lnTo>
                  <a:lnTo>
                    <a:pt x="0" y="114300"/>
                  </a:lnTo>
                  <a:lnTo>
                    <a:pt x="0" y="38100"/>
                  </a:lnTo>
                  <a:close/>
                </a:path>
              </a:pathLst>
            </a:custGeom>
            <a:ln w="25400">
              <a:solidFill>
                <a:srgbClr val="1C334E"/>
              </a:solidFill>
            </a:ln>
          </p:spPr>
          <p:txBody>
            <a:bodyPr wrap="square" lIns="0" tIns="0" rIns="0" bIns="0" rtlCol="0"/>
            <a:lstStyle/>
            <a:p>
              <a:endParaRPr/>
            </a:p>
          </p:txBody>
        </p:sp>
      </p:grpSp>
      <p:pic>
        <p:nvPicPr>
          <p:cNvPr id="40" name="object 40"/>
          <p:cNvPicPr/>
          <p:nvPr/>
        </p:nvPicPr>
        <p:blipFill>
          <a:blip r:embed="rId2" cstate="print"/>
          <a:stretch>
            <a:fillRect/>
          </a:stretch>
        </p:blipFill>
        <p:spPr>
          <a:xfrm>
            <a:off x="6306321" y="2877516"/>
            <a:ext cx="5691419" cy="3211777"/>
          </a:xfrm>
          <a:prstGeom prst="rect">
            <a:avLst/>
          </a:prstGeom>
        </p:spPr>
      </p:pic>
      <p:pic>
        <p:nvPicPr>
          <p:cNvPr id="41" name="object 41"/>
          <p:cNvPicPr/>
          <p:nvPr/>
        </p:nvPicPr>
        <p:blipFill>
          <a:blip r:embed="rId3" cstate="print"/>
          <a:stretch>
            <a:fillRect/>
          </a:stretch>
        </p:blipFill>
        <p:spPr>
          <a:xfrm>
            <a:off x="261377" y="2998048"/>
            <a:ext cx="5806932" cy="303346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462C1"/>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1351</TotalTime>
  <Words>2875</Words>
  <Application>Microsoft Office PowerPoint</Application>
  <PresentationFormat>Widescreen</PresentationFormat>
  <Paragraphs>363</Paragraphs>
  <Slides>41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41</vt:i4>
      </vt:variant>
    </vt:vector>
  </HeadingPairs>
  <TitlesOfParts>
    <vt:vector size="47" baseType="lpstr">
      <vt:lpstr>Aptos</vt:lpstr>
      <vt:lpstr>Arial</vt:lpstr>
      <vt:lpstr>Calibri</vt:lpstr>
      <vt:lpstr>Courier New</vt:lpstr>
      <vt:lpstr>Symbol</vt:lpstr>
      <vt:lpstr>Office Theme</vt:lpstr>
      <vt:lpstr>ECE 105: Introduction to Electrical Engineering</vt:lpstr>
      <vt:lpstr>How have we done optical communications in the past?</vt:lpstr>
      <vt:lpstr>How fast could we communicate using smoke signals?</vt:lpstr>
      <vt:lpstr>Optical Fiber </vt:lpstr>
      <vt:lpstr>Total internal reflection</vt:lpstr>
      <vt:lpstr>General properties of light</vt:lpstr>
      <vt:lpstr>Speed of light in different mediums</vt:lpstr>
      <vt:lpstr>Refractive index of different materials</vt:lpstr>
      <vt:lpstr>Waveguides </vt:lpstr>
      <vt:lpstr>Optical Fiber Transmission Speeds</vt:lpstr>
      <vt:lpstr>Optical Modulation Techniques</vt:lpstr>
      <vt:lpstr>Let’s talk about a real world system</vt:lpstr>
      <vt:lpstr>What is noise?</vt:lpstr>
      <vt:lpstr>Types of Noise</vt:lpstr>
      <vt:lpstr>Thermal Noise</vt:lpstr>
      <vt:lpstr>Shot Noise</vt:lpstr>
      <vt:lpstr>Shot Noise</vt:lpstr>
      <vt:lpstr>Flicker Noise</vt:lpstr>
      <vt:lpstr>Time and Frequency Domain Visualizations</vt:lpstr>
      <vt:lpstr>Time and Frequency Domain Visualizations</vt:lpstr>
      <vt:lpstr>How do different noise sources add?</vt:lpstr>
      <vt:lpstr>Power perspective of noise addition</vt:lpstr>
      <vt:lpstr>Examples of calculating Noise</vt:lpstr>
      <vt:lpstr>Power perspective of noise addition</vt:lpstr>
      <vt:lpstr>How do we calculate B</vt:lpstr>
      <vt:lpstr>How do we calculate f / B</vt:lpstr>
      <vt:lpstr>Example</vt:lpstr>
      <vt:lpstr>Example</vt:lpstr>
      <vt:lpstr>Example</vt:lpstr>
      <vt:lpstr>Example</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lpstr>Let’s talk about a real world system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Yasser Khan</dc:creator>
  <cp:lastModifiedBy>Yasser Khan</cp:lastModifiedBy>
  <cp:revision>49</cp:revision>
  <dcterms:created xsi:type="dcterms:W3CDTF">2024-11-12T21:23:41Z</dcterms:created>
  <dcterms:modified xsi:type="dcterms:W3CDTF">2025-11-11T23:28:49Z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2024-11-05T00:00:00Z</vt:filetime>
  </property>
  <property fmtid="{D5CDD505-2E9C-101B-9397-08002B2CF9AE}" pid="3" name="Creator">
    <vt:lpwstr>Microsoft® PowerPoint® for Microsoft 365</vt:lpwstr>
  </property>
  <property fmtid="{D5CDD505-2E9C-101B-9397-08002B2CF9AE}" pid="4" name="LastSaved">
    <vt:filetime>2024-11-12T00:00:00Z</vt:filetime>
  </property>
  <property fmtid="{D5CDD505-2E9C-101B-9397-08002B2CF9AE}" pid="5" name="Producer">
    <vt:lpwstr>Microsoft® PowerPoint® for Microsoft 365</vt:lpwstr>
  </property>
</Properties>
</file>