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31766" y="65551"/>
            <a:ext cx="1275953" cy="6611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038" y="-23622"/>
            <a:ext cx="8064500" cy="526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3394" y="2389124"/>
            <a:ext cx="5811520" cy="3853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1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6489" y="726516"/>
            <a:ext cx="5820410" cy="1306830"/>
          </a:xfrm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marL="311150" marR="5080" indent="-299085">
              <a:lnSpc>
                <a:spcPts val="4800"/>
              </a:lnSpc>
              <a:spcBef>
                <a:spcPts val="665"/>
              </a:spcBef>
            </a:pPr>
            <a:r>
              <a:rPr dirty="0" sz="4400" spc="110"/>
              <a:t>ECE</a:t>
            </a:r>
            <a:r>
              <a:rPr dirty="0" sz="4400" spc="535"/>
              <a:t> </a:t>
            </a:r>
            <a:r>
              <a:rPr dirty="0" sz="4400" spc="50"/>
              <a:t>105:</a:t>
            </a:r>
            <a:r>
              <a:rPr dirty="0" sz="4400" spc="405"/>
              <a:t> </a:t>
            </a:r>
            <a:r>
              <a:rPr dirty="0" sz="4400"/>
              <a:t>Introduction</a:t>
            </a:r>
            <a:r>
              <a:rPr dirty="0" sz="4400" spc="335"/>
              <a:t> </a:t>
            </a:r>
            <a:r>
              <a:rPr dirty="0" sz="4400" spc="-25"/>
              <a:t>to </a:t>
            </a:r>
            <a:r>
              <a:rPr dirty="0" sz="4400" spc="80"/>
              <a:t>Electrical</a:t>
            </a:r>
            <a:r>
              <a:rPr dirty="0" sz="4400" spc="340"/>
              <a:t> </a:t>
            </a:r>
            <a:r>
              <a:rPr dirty="0" sz="4400" spc="75"/>
              <a:t>Engineering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65318" y="3294125"/>
            <a:ext cx="4155440" cy="159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85240" marR="1285240">
              <a:lnSpc>
                <a:spcPct val="1228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Lecture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19 </a:t>
            </a:r>
            <a:r>
              <a:rPr dirty="0" sz="2800" spc="-10">
                <a:latin typeface="Calibri"/>
                <a:cs typeface="Calibri"/>
              </a:rPr>
              <a:t>Noise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2800">
                <a:latin typeface="Calibri"/>
                <a:cs typeface="Calibri"/>
              </a:rPr>
              <a:t>Yasser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 spc="50">
                <a:latin typeface="Calibri"/>
                <a:cs typeface="Calibri"/>
              </a:rPr>
              <a:t>Khan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Rehan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 spc="35">
                <a:latin typeface="Calibri"/>
                <a:cs typeface="Calibri"/>
              </a:rPr>
              <a:t>Kapadia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3532123"/>
            <a:ext cx="1028382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Let’s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imagine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system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where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would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like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information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place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another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light.</a:t>
            </a:r>
            <a:endParaRPr sz="1800">
              <a:latin typeface="Arial"/>
              <a:cs typeface="Arial"/>
            </a:endParaRPr>
          </a:p>
          <a:p>
            <a:pPr marL="12700" marR="1554480">
              <a:lnSpc>
                <a:spcPct val="200000"/>
              </a:lnSpc>
            </a:pPr>
            <a:r>
              <a:rPr dirty="0" sz="1800">
                <a:latin typeface="Arial"/>
                <a:cs typeface="Arial"/>
              </a:rPr>
              <a:t>Seems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easy, right?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just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flash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those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flashes,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done. </a:t>
            </a:r>
            <a:r>
              <a:rPr dirty="0" sz="1800">
                <a:latin typeface="Arial"/>
                <a:cs typeface="Arial"/>
              </a:rPr>
              <a:t>But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how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much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could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such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signal?</a:t>
            </a:r>
            <a:endParaRPr sz="1800">
              <a:latin typeface="Arial"/>
              <a:cs typeface="Arial"/>
            </a:endParaRPr>
          </a:p>
          <a:p>
            <a:pPr marL="12700" marR="6709409">
              <a:lnSpc>
                <a:spcPct val="200000"/>
              </a:lnSpc>
            </a:pPr>
            <a:r>
              <a:rPr dirty="0" sz="1800">
                <a:latin typeface="Arial"/>
                <a:cs typeface="Arial"/>
              </a:rPr>
              <a:t>What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components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would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need? </a:t>
            </a:r>
            <a:r>
              <a:rPr dirty="0" sz="1800">
                <a:latin typeface="Arial"/>
                <a:cs typeface="Arial"/>
              </a:rPr>
              <a:t>How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accomplish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this?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6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0"/>
              <a:t>noise?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099" y="914057"/>
            <a:ext cx="9488221" cy="5020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165"/>
              <a:t> </a:t>
            </a:r>
            <a:r>
              <a:rPr dirty="0"/>
              <a:t>of</a:t>
            </a:r>
            <a:r>
              <a:rPr dirty="0" spc="140"/>
              <a:t> </a:t>
            </a:r>
            <a:r>
              <a:rPr dirty="0" spc="-20"/>
              <a:t>Noise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1263" y="957224"/>
            <a:ext cx="9436735" cy="46494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Noise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refers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anything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don’t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want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signal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different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sources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different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resulting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affects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0029" marR="1607185" indent="-227329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component level,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here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few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fundamental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mechanisms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noise:</a:t>
            </a:r>
            <a:endParaRPr sz="2800">
              <a:latin typeface="Calibri"/>
              <a:cs typeface="Calibri"/>
            </a:endParaRPr>
          </a:p>
          <a:p>
            <a:pPr marL="240029" marR="705485" indent="-227329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  <a:tab pos="1598930" algn="l"/>
              </a:tabLst>
            </a:pPr>
            <a:r>
              <a:rPr dirty="0" sz="2800" spc="-10">
                <a:latin typeface="Calibri"/>
                <a:cs typeface="Calibri"/>
              </a:rPr>
              <a:t>Thermal</a:t>
            </a:r>
            <a:r>
              <a:rPr dirty="0" sz="2800">
                <a:latin typeface="Calibri"/>
                <a:cs typeface="Calibri"/>
              </a:rPr>
              <a:t>	Noise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(Johnson-</a:t>
            </a:r>
            <a:r>
              <a:rPr dirty="0" sz="2800">
                <a:latin typeface="Calibri"/>
                <a:cs typeface="Calibri"/>
              </a:rPr>
              <a:t>Nyquist):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Arises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random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charge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carriers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resistive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materials.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Flicker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Noise: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Generally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defects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impurities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Shot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Noise: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Arises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discrete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nature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charge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carriers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Thermal</a:t>
            </a:r>
            <a:r>
              <a:rPr dirty="0" spc="204"/>
              <a:t> </a:t>
            </a:r>
            <a:r>
              <a:rPr dirty="0" spc="-20"/>
              <a:t>Noise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219200"/>
            <a:ext cx="9677399" cy="33691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4648200"/>
            <a:ext cx="7391399" cy="1782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Shot</a:t>
            </a:r>
            <a:r>
              <a:rPr dirty="0" spc="155"/>
              <a:t> </a:t>
            </a:r>
            <a:r>
              <a:rPr dirty="0" spc="-10"/>
              <a:t>Noise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778" y="3918825"/>
            <a:ext cx="5510890" cy="23540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9263" y="1169925"/>
            <a:ext cx="987806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caused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random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arrival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charge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carriers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(e.g.,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electrons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holes)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a </a:t>
            </a:r>
            <a:r>
              <a:rPr dirty="0" sz="1800">
                <a:latin typeface="Arial"/>
                <a:cs typeface="Arial"/>
              </a:rPr>
              <a:t>potential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barrier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through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quantum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tunneling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process.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Unlike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thermal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which depends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on </a:t>
            </a:r>
            <a:r>
              <a:rPr dirty="0" sz="1800">
                <a:latin typeface="Arial"/>
                <a:cs typeface="Arial"/>
              </a:rPr>
              <a:t>temperature,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arises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solely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quantization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charge.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Key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independent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temperature.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proportional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average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current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depends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bandwidth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observation.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most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commonly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observed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semiconductor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junctions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vacuum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diodes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photodetectors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Shot</a:t>
            </a:r>
            <a:r>
              <a:rPr dirty="0" spc="155"/>
              <a:t> </a:t>
            </a:r>
            <a:r>
              <a:rPr dirty="0" spc="-10"/>
              <a:t>Noise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463" y="1238310"/>
            <a:ext cx="9915525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Proportional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Current: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increases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linearly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current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III.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Systems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higher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currents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generate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more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shot </a:t>
            </a:r>
            <a:r>
              <a:rPr dirty="0" sz="1800" spc="-10">
                <a:latin typeface="Arial"/>
                <a:cs typeface="Arial"/>
              </a:rPr>
              <a:t>noise.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Statistical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Nature:</a:t>
            </a:r>
            <a:endParaRPr sz="1800">
              <a:latin typeface="Arial"/>
              <a:cs typeface="Arial"/>
            </a:endParaRPr>
          </a:p>
          <a:p>
            <a:pPr marL="12700" marR="21971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inherently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random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follows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Poisson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distribution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because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governed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>
                <a:latin typeface="Arial"/>
                <a:cs typeface="Arial"/>
              </a:rPr>
              <a:t>discrete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independent arrival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charge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carriers.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Independence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from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Temperature:</a:t>
            </a:r>
            <a:endParaRPr sz="1800">
              <a:latin typeface="Arial"/>
              <a:cs typeface="Arial"/>
            </a:endParaRPr>
          </a:p>
          <a:p>
            <a:pPr marL="12700" marR="78994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Unlike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thermal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does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depend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ambient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temperature,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making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a </a:t>
            </a:r>
            <a:r>
              <a:rPr dirty="0" sz="1800">
                <a:latin typeface="Arial"/>
                <a:cs typeface="Arial"/>
              </a:rPr>
              <a:t>fundamental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source.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Quantum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Nature:</a:t>
            </a:r>
            <a:endParaRPr sz="1800">
              <a:latin typeface="Arial"/>
              <a:cs typeface="Arial"/>
            </a:endParaRPr>
          </a:p>
          <a:p>
            <a:pPr marL="12700" marR="41211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Shot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direct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consequence 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quantized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nature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charge,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highlighting its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quantum </a:t>
            </a:r>
            <a:r>
              <a:rPr dirty="0" sz="1800">
                <a:latin typeface="Arial"/>
                <a:cs typeface="Arial"/>
              </a:rPr>
              <a:t>mechanical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origin.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Flicker</a:t>
            </a:r>
            <a:r>
              <a:rPr dirty="0" spc="250"/>
              <a:t> </a:t>
            </a:r>
            <a:r>
              <a:rPr dirty="0" spc="-20"/>
              <a:t>Noise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236" y="1405889"/>
            <a:ext cx="9372600" cy="459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Arial"/>
                <a:cs typeface="Arial"/>
              </a:rPr>
              <a:t>Definition:</a:t>
            </a:r>
            <a:endParaRPr sz="2000">
              <a:latin typeface="Arial"/>
              <a:cs typeface="Arial"/>
            </a:endParaRPr>
          </a:p>
          <a:p>
            <a:pPr marL="50800" marR="58419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Flicker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noise,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also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known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1/f1/f1/f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noise,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type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electrical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noise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is </a:t>
            </a:r>
            <a:r>
              <a:rPr dirty="0" sz="2000">
                <a:latin typeface="Arial"/>
                <a:cs typeface="Arial"/>
              </a:rPr>
              <a:t>dominant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low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frequencies.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caused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imperfections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defects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materials </a:t>
            </a:r>
            <a:r>
              <a:rPr dirty="0" sz="2000">
                <a:latin typeface="Arial"/>
                <a:cs typeface="Arial"/>
              </a:rPr>
              <a:t>or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processes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observed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electronic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devices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like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resistors,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transistors,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2000" spc="-10">
                <a:latin typeface="Arial"/>
                <a:cs typeface="Arial"/>
              </a:rPr>
              <a:t>semiconductors.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50800">
              <a:lnSpc>
                <a:spcPts val="2400"/>
              </a:lnSpc>
            </a:pPr>
            <a:r>
              <a:rPr dirty="0" sz="2000" b="1">
                <a:latin typeface="Arial"/>
                <a:cs typeface="Arial"/>
              </a:rPr>
              <a:t>Key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Characteristics:</a:t>
            </a:r>
            <a:endParaRPr sz="2000">
              <a:latin typeface="Arial"/>
              <a:cs typeface="Arial"/>
            </a:endParaRPr>
          </a:p>
          <a:p>
            <a:pPr marL="138430" indent="-97155">
              <a:lnSpc>
                <a:spcPts val="2400"/>
              </a:lnSpc>
              <a:buSzPct val="95000"/>
              <a:buFont typeface="Arial"/>
              <a:buChar char="•"/>
              <a:tabLst>
                <a:tab pos="138430" algn="l"/>
              </a:tabLst>
            </a:pPr>
            <a:r>
              <a:rPr dirty="0" sz="2000" b="1">
                <a:latin typeface="Arial"/>
                <a:cs typeface="Arial"/>
              </a:rPr>
              <a:t>Frequency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Dependence:</a:t>
            </a:r>
            <a:endParaRPr sz="2000">
              <a:latin typeface="Arial"/>
              <a:cs typeface="Arial"/>
            </a:endParaRPr>
          </a:p>
          <a:p>
            <a:pPr marL="50800" marR="4318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power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spectral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density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(PSD)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decreases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frequency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increases,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following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1/f</a:t>
            </a:r>
            <a:r>
              <a:rPr dirty="0" baseline="25641" sz="1950">
                <a:latin typeface="Arial"/>
                <a:cs typeface="Arial"/>
              </a:rPr>
              <a:t>α</a:t>
            </a:r>
            <a:r>
              <a:rPr dirty="0" baseline="25641" sz="1950" spc="5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relationship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where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α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typically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between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0.8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1.2.</a:t>
            </a:r>
            <a:endParaRPr sz="2000">
              <a:latin typeface="Arial"/>
              <a:cs typeface="Arial"/>
            </a:endParaRPr>
          </a:p>
          <a:p>
            <a:pPr marL="138430" indent="-97155">
              <a:lnSpc>
                <a:spcPct val="100000"/>
              </a:lnSpc>
              <a:buSzPct val="95000"/>
              <a:buFont typeface="Arial"/>
              <a:buChar char="•"/>
              <a:tabLst>
                <a:tab pos="138430" algn="l"/>
              </a:tabLst>
            </a:pPr>
            <a:r>
              <a:rPr dirty="0" sz="2000" b="1">
                <a:latin typeface="Arial"/>
                <a:cs typeface="Arial"/>
              </a:rPr>
              <a:t>Low-Frequency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Dominance:</a:t>
            </a:r>
            <a:endParaRPr sz="2000">
              <a:latin typeface="Arial"/>
              <a:cs typeface="Arial"/>
            </a:endParaRPr>
          </a:p>
          <a:p>
            <a:pPr marL="50800" marR="44894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Flicker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noise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most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prominent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lower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frequencies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becomes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negligible</a:t>
            </a:r>
            <a:r>
              <a:rPr dirty="0" sz="2000" spc="-25">
                <a:latin typeface="Arial"/>
                <a:cs typeface="Arial"/>
              </a:rPr>
              <a:t> at </a:t>
            </a:r>
            <a:r>
              <a:rPr dirty="0" sz="2000">
                <a:latin typeface="Arial"/>
                <a:cs typeface="Arial"/>
              </a:rPr>
              <a:t>higher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frequencies.</a:t>
            </a:r>
            <a:endParaRPr sz="2000">
              <a:latin typeface="Arial"/>
              <a:cs typeface="Arial"/>
            </a:endParaRPr>
          </a:p>
          <a:p>
            <a:pPr marL="138430" indent="-97155">
              <a:lnSpc>
                <a:spcPct val="100000"/>
              </a:lnSpc>
              <a:buSzPct val="95000"/>
              <a:buFont typeface="Arial"/>
              <a:buChar char="•"/>
              <a:tabLst>
                <a:tab pos="138430" algn="l"/>
              </a:tabLst>
            </a:pPr>
            <a:r>
              <a:rPr dirty="0" sz="2000" spc="-10" b="1">
                <a:latin typeface="Arial"/>
                <a:cs typeface="Arial"/>
              </a:rPr>
              <a:t>Material-Dependent:</a:t>
            </a:r>
            <a:endParaRPr sz="2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arises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defects,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impurities,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surface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traps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0">
                <a:latin typeface="Arial"/>
                <a:cs typeface="Arial"/>
              </a:rPr>
              <a:t> materials.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Time</a:t>
            </a:r>
            <a:r>
              <a:rPr dirty="0" spc="185"/>
              <a:t> </a:t>
            </a:r>
            <a:r>
              <a:rPr dirty="0"/>
              <a:t>and</a:t>
            </a:r>
            <a:r>
              <a:rPr dirty="0" spc="185"/>
              <a:t> </a:t>
            </a:r>
            <a:r>
              <a:rPr dirty="0"/>
              <a:t>Frequency</a:t>
            </a:r>
            <a:r>
              <a:rPr dirty="0" spc="190"/>
              <a:t> </a:t>
            </a:r>
            <a:r>
              <a:rPr dirty="0"/>
              <a:t>Domain</a:t>
            </a:r>
            <a:r>
              <a:rPr dirty="0" spc="215"/>
              <a:t> </a:t>
            </a:r>
            <a:r>
              <a:rPr dirty="0" spc="-1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573" y="1532531"/>
            <a:ext cx="11714216" cy="4922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Time</a:t>
            </a:r>
            <a:r>
              <a:rPr dirty="0" spc="185"/>
              <a:t> </a:t>
            </a:r>
            <a:r>
              <a:rPr dirty="0"/>
              <a:t>and</a:t>
            </a:r>
            <a:r>
              <a:rPr dirty="0" spc="185"/>
              <a:t> </a:t>
            </a:r>
            <a:r>
              <a:rPr dirty="0"/>
              <a:t>Frequency</a:t>
            </a:r>
            <a:r>
              <a:rPr dirty="0" spc="190"/>
              <a:t> </a:t>
            </a:r>
            <a:r>
              <a:rPr dirty="0"/>
              <a:t>Domain</a:t>
            </a:r>
            <a:r>
              <a:rPr dirty="0" spc="215"/>
              <a:t> </a:t>
            </a:r>
            <a:r>
              <a:rPr dirty="0" spc="-1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" y="1235677"/>
            <a:ext cx="11270565" cy="486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55"/>
              <a:t> </a:t>
            </a:r>
            <a:r>
              <a:rPr dirty="0"/>
              <a:t>do</a:t>
            </a:r>
            <a:r>
              <a:rPr dirty="0" spc="-45"/>
              <a:t> </a:t>
            </a:r>
            <a:r>
              <a:rPr dirty="0"/>
              <a:t>different</a:t>
            </a:r>
            <a:r>
              <a:rPr dirty="0" spc="-35"/>
              <a:t> </a:t>
            </a:r>
            <a:r>
              <a:rPr dirty="0"/>
              <a:t>noise</a:t>
            </a:r>
            <a:r>
              <a:rPr dirty="0" spc="-55"/>
              <a:t> </a:t>
            </a:r>
            <a:r>
              <a:rPr dirty="0"/>
              <a:t>sources</a:t>
            </a:r>
            <a:r>
              <a:rPr dirty="0" spc="-60"/>
              <a:t> </a:t>
            </a:r>
            <a:r>
              <a:rPr dirty="0" spc="-20"/>
              <a:t>add?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30" y="1044320"/>
            <a:ext cx="8385809" cy="5468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calculating</a:t>
            </a:r>
            <a:r>
              <a:rPr dirty="0" spc="-50"/>
              <a:t> </a:t>
            </a:r>
            <a:r>
              <a:rPr dirty="0" spc="-10"/>
              <a:t>Noise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165" y="1104370"/>
            <a:ext cx="7945222" cy="5039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calculating</a:t>
            </a:r>
            <a:r>
              <a:rPr dirty="0" spc="-30"/>
              <a:t> </a:t>
            </a:r>
            <a:r>
              <a:rPr dirty="0"/>
              <a:t>signal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noise</a:t>
            </a:r>
            <a:r>
              <a:rPr dirty="0" spc="-60"/>
              <a:t> </a:t>
            </a:r>
            <a:r>
              <a:rPr dirty="0"/>
              <a:t>ratio</a:t>
            </a:r>
            <a:r>
              <a:rPr dirty="0" spc="-70"/>
              <a:t> </a:t>
            </a:r>
            <a:r>
              <a:rPr dirty="0" spc="-10"/>
              <a:t>(SNR)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231" y="1094608"/>
            <a:ext cx="7835229" cy="4622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Power</a:t>
            </a:r>
            <a:r>
              <a:rPr dirty="0" spc="-60"/>
              <a:t> </a:t>
            </a:r>
            <a:r>
              <a:rPr dirty="0"/>
              <a:t>perspective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noise</a:t>
            </a:r>
            <a:r>
              <a:rPr dirty="0" spc="-20"/>
              <a:t> </a:t>
            </a:r>
            <a:r>
              <a:rPr dirty="0" spc="-10"/>
              <a:t>addition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710" y="1130995"/>
            <a:ext cx="8306713" cy="42469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Power</a:t>
            </a:r>
            <a:r>
              <a:rPr dirty="0" spc="-70"/>
              <a:t> </a:t>
            </a:r>
            <a:r>
              <a:rPr dirty="0"/>
              <a:t>perspective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noise</a:t>
            </a:r>
            <a:r>
              <a:rPr dirty="0" spc="-30"/>
              <a:t> </a:t>
            </a:r>
            <a:r>
              <a:rPr dirty="0" spc="-10"/>
              <a:t>addition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025" y="1326018"/>
            <a:ext cx="6747267" cy="36359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45"/>
              <a:t> </a:t>
            </a:r>
            <a:r>
              <a:rPr dirty="0"/>
              <a:t>do</a:t>
            </a:r>
            <a:r>
              <a:rPr dirty="0" spc="-25"/>
              <a:t> </a:t>
            </a:r>
            <a:r>
              <a:rPr dirty="0"/>
              <a:t>we</a:t>
            </a:r>
            <a:r>
              <a:rPr dirty="0" spc="-50"/>
              <a:t> </a:t>
            </a:r>
            <a:r>
              <a:rPr dirty="0"/>
              <a:t>calculate</a:t>
            </a:r>
            <a:r>
              <a:rPr dirty="0" spc="-25"/>
              <a:t> </a:t>
            </a:r>
            <a:r>
              <a:rPr dirty="0" spc="-25">
                <a:latin typeface="Symbol"/>
                <a:cs typeface="Symbol"/>
              </a:rPr>
              <a:t></a:t>
            </a:r>
            <a:r>
              <a:rPr dirty="0" spc="-25"/>
              <a:t>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794" y="1736969"/>
            <a:ext cx="7647679" cy="24504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45"/>
              <a:t> </a:t>
            </a:r>
            <a:r>
              <a:rPr dirty="0"/>
              <a:t>do</a:t>
            </a:r>
            <a:r>
              <a:rPr dirty="0" spc="-25"/>
              <a:t> </a:t>
            </a:r>
            <a:r>
              <a:rPr dirty="0"/>
              <a:t>we</a:t>
            </a:r>
            <a:r>
              <a:rPr dirty="0" spc="-50"/>
              <a:t> </a:t>
            </a:r>
            <a:r>
              <a:rPr dirty="0"/>
              <a:t>calculate</a:t>
            </a:r>
            <a:r>
              <a:rPr dirty="0" spc="-25"/>
              <a:t> </a:t>
            </a:r>
            <a:r>
              <a:rPr dirty="0" spc="-25">
                <a:latin typeface="Symbol"/>
                <a:cs typeface="Symbol"/>
              </a:rPr>
              <a:t></a:t>
            </a:r>
            <a:r>
              <a:rPr dirty="0" spc="-25"/>
              <a:t>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239" y="1169924"/>
            <a:ext cx="11685270" cy="5147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There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different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consider,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depending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context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system: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Signal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Bandwidth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This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range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over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which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actual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transmitted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detected.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 are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analyzing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communication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often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Δf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radio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modulated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over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range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10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kHz,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0">
                <a:latin typeface="Arial"/>
                <a:cs typeface="Arial"/>
              </a:rPr>
              <a:t> Δf=10</a:t>
            </a:r>
            <a:r>
              <a:rPr dirty="0" sz="1400" spc="-114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kHz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Amplifier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Bandwidth</a:t>
            </a:r>
            <a:endParaRPr sz="1400">
              <a:latin typeface="Arial"/>
              <a:cs typeface="Arial"/>
            </a:endParaRPr>
          </a:p>
          <a:p>
            <a:pPr marL="12700" marR="236220" indent="-762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amplifier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(e.g.,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TIA,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voltage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operational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amplifier)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present,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limits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range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>
                <a:latin typeface="Arial"/>
                <a:cs typeface="Arial"/>
              </a:rPr>
              <a:t>frequencies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over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which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amplified.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typically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specified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-3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dB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bandwidth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often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Δf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calculations.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transimpedance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(TIA)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-3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dB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MHz,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calculation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should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Δf=1</a:t>
            </a:r>
            <a:r>
              <a:rPr dirty="0" sz="1400" spc="-114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MHz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Filter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Bandwidth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passes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through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electronic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filter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filter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determines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Δf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Filters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limit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contributions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restricting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range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pass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through.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low-</a:t>
            </a:r>
            <a:r>
              <a:rPr dirty="0" sz="1400">
                <a:latin typeface="Arial"/>
                <a:cs typeface="Arial"/>
              </a:rPr>
              <a:t>pass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filter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cutoff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100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kHz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 </a:t>
            </a:r>
            <a:r>
              <a:rPr dirty="0" sz="1400" spc="-10">
                <a:latin typeface="Arial"/>
                <a:cs typeface="Arial"/>
              </a:rPr>
              <a:t>Δf=100</a:t>
            </a:r>
            <a:r>
              <a:rPr dirty="0" sz="1400" spc="-114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kHz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Arial"/>
                <a:cs typeface="Arial"/>
              </a:rPr>
              <a:t>Measurement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Instrument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Bandwidth</a:t>
            </a:r>
            <a:endParaRPr sz="140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buSzPct val="92857"/>
              <a:buChar char="•"/>
              <a:tabLst>
                <a:tab pos="12700" algn="l"/>
                <a:tab pos="74295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using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instruments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oscilloscopes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spectrum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analyzers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measurement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device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itself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limited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which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may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affect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noise readings.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instrument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bandwidth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may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specified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needs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considered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interpreting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measurements.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oscilloscope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bandwidth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20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MHz,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then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observed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oscilloscope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limited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Δf=20</a:t>
            </a:r>
            <a:r>
              <a:rPr dirty="0" sz="1400" spc="-114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MHz\Delta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20</a:t>
            </a:r>
            <a:r>
              <a:rPr dirty="0" sz="1400" spc="-25">
                <a:latin typeface="Arial"/>
                <a:cs typeface="Arial"/>
              </a:rPr>
              <a:t> \,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Arial"/>
                <a:cs typeface="Arial"/>
              </a:rPr>
              <a:t>\text{MHz}Δf=20MHz.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40" y="3303523"/>
            <a:ext cx="10956290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computer,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define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signal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array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numbers.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76200" marR="4318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If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 wanted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define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sine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wave,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 could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define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array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double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precision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numbers,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where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each </a:t>
            </a:r>
            <a:r>
              <a:rPr dirty="0" sz="1800">
                <a:latin typeface="Arial"/>
                <a:cs typeface="Arial"/>
              </a:rPr>
              <a:t>point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array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corresponded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given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Integers</a:t>
            </a:r>
            <a:r>
              <a:rPr dirty="0" sz="1800" spc="-2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−2</a:t>
            </a:r>
            <a:r>
              <a:rPr dirty="0" baseline="25462" sz="1800">
                <a:solidFill>
                  <a:srgbClr val="1F2021"/>
                </a:solidFill>
                <a:latin typeface="Arial"/>
                <a:cs typeface="Arial"/>
              </a:rPr>
              <a:t>53</a:t>
            </a:r>
            <a:r>
              <a:rPr dirty="0" baseline="25462" sz="1800" spc="19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2</a:t>
            </a:r>
            <a:r>
              <a:rPr dirty="0" baseline="25462" sz="1800">
                <a:solidFill>
                  <a:srgbClr val="1F2021"/>
                </a:solidFill>
                <a:latin typeface="Arial"/>
                <a:cs typeface="Arial"/>
              </a:rPr>
              <a:t>53</a:t>
            </a:r>
            <a:r>
              <a:rPr dirty="0" baseline="25462" sz="1800" spc="19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F2021"/>
                </a:solidFill>
                <a:latin typeface="Arial"/>
                <a:cs typeface="Arial"/>
              </a:rPr>
              <a:t>(−9,007,199,254,740,992</a:t>
            </a:r>
            <a:r>
              <a:rPr dirty="0" sz="1800" spc="1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9,007,199,254,740,992)</a:t>
            </a:r>
            <a:r>
              <a:rPr dirty="0" sz="1800" spc="2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be</a:t>
            </a:r>
            <a:r>
              <a:rPr dirty="0" sz="1800" spc="-1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021"/>
                </a:solidFill>
                <a:latin typeface="Arial"/>
                <a:cs typeface="Arial"/>
              </a:rPr>
              <a:t>exactly</a:t>
            </a:r>
            <a:r>
              <a:rPr dirty="0" sz="1800" spc="-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F2021"/>
                </a:solidFill>
                <a:latin typeface="Arial"/>
                <a:cs typeface="Arial"/>
              </a:rPr>
              <a:t>represented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75565" marR="40576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could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take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range,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which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baseline="25462" sz="1800">
                <a:latin typeface="Arial"/>
                <a:cs typeface="Arial"/>
              </a:rPr>
              <a:t>54</a:t>
            </a:r>
            <a:r>
              <a:rPr dirty="0" baseline="25462" sz="1800" spc="187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spread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our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output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voltage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range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giving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a </a:t>
            </a:r>
            <a:r>
              <a:rPr dirty="0" sz="1800">
                <a:latin typeface="Arial"/>
                <a:cs typeface="Arial"/>
              </a:rPr>
              <a:t>very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precise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each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time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step.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75565" marR="57404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However,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still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going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level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timestep,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level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quantization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both </a:t>
            </a:r>
            <a:r>
              <a:rPr dirty="0" sz="1800">
                <a:latin typeface="Arial"/>
                <a:cs typeface="Arial"/>
              </a:rPr>
              <a:t>voltage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4" name="object 4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8" name="object 8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2" name="object 12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6" name="object 16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0" name="object 20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4" name="object 24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8" name="object 28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2" name="object 32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8" name="object 38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331" y="3009322"/>
            <a:ext cx="6957093" cy="36343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3151123"/>
            <a:ext cx="1076579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However,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can’t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drive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double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precision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that’s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just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bunch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1’s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0’s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convert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those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actual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voltage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apply to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LED.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70294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would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digital to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analog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converter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(DAC)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this.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takes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bits,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and </a:t>
            </a:r>
            <a:r>
              <a:rPr dirty="0" sz="1800">
                <a:latin typeface="Arial"/>
                <a:cs typeface="Arial"/>
              </a:rPr>
              <a:t>depending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values,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outputs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corresponding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analog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signal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needs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able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take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input,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“instantly”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output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analog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voltage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reflect</a:t>
            </a:r>
            <a:r>
              <a:rPr dirty="0" sz="1800" spc="-20">
                <a:latin typeface="Arial"/>
                <a:cs typeface="Arial"/>
              </a:rPr>
              <a:t> that </a:t>
            </a:r>
            <a:r>
              <a:rPr dirty="0" sz="1800" spc="-10">
                <a:latin typeface="Arial"/>
                <a:cs typeface="Arial"/>
              </a:rPr>
              <a:t>input.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574" y="3023304"/>
            <a:ext cx="10922000" cy="359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There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sources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relevant: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 indent="-1016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b="1">
                <a:latin typeface="Arial"/>
                <a:cs typeface="Arial"/>
              </a:rPr>
              <a:t>Quantization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Noise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Introduced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discrete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steps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represent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continuous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signal,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dependent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on </a:t>
            </a:r>
            <a:r>
              <a:rPr dirty="0" sz="1800">
                <a:latin typeface="Arial"/>
                <a:cs typeface="Arial"/>
              </a:rPr>
              <a:t>DAC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resolution.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Thermal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Noise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Arises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resistive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components,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increases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temperature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resistance.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 marR="927735" indent="-1016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b="1">
                <a:latin typeface="Arial"/>
                <a:cs typeface="Arial"/>
              </a:rPr>
              <a:t>Nonlinearity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(Distortion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Noise)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imperfections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DAC's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response,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results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harmonic distortion.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Clock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Jitter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Variations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clock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timing,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affecting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precision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especially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higher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frequencies.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Power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Supply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Noise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Coupling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power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supply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fluctuations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analog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output.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5663" y="3227323"/>
            <a:ext cx="102063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What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DAC?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defines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number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different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output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levels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generate.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would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generate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values,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10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would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generate 1024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values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69" y="3960351"/>
            <a:ext cx="5231492" cy="2757569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818616" y="4107682"/>
            <a:ext cx="168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DAC,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3.3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778" y="3899852"/>
            <a:ext cx="4980129" cy="2725773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530365" y="4142564"/>
            <a:ext cx="168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DAC,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3.3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439" y="3151233"/>
            <a:ext cx="10464165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There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circuit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which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drives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appropriate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values,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itself,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which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also </a:t>
            </a:r>
            <a:r>
              <a:rPr dirty="0" sz="1800">
                <a:latin typeface="Arial"/>
                <a:cs typeface="Arial"/>
              </a:rPr>
              <a:t>introduce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device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properties.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key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components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be: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Thermal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Noise</a:t>
            </a:r>
            <a:r>
              <a:rPr dirty="0" sz="1800" spc="-1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Found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resistive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elements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driver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circuit.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directly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proportional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temperature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resistance.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Shot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Noise</a:t>
            </a:r>
            <a:r>
              <a:rPr dirty="0" sz="1800" spc="-1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Found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itself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random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nature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current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flow.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Proportional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square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root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average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current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through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LED.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Flicker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Noise</a:t>
            </a:r>
            <a:r>
              <a:rPr dirty="0" sz="1800" spc="-1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Found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driver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components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material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imperfections.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"/>
                <a:cs typeface="Arial"/>
              </a:rPr>
              <a:t>Dominates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low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frequencies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adds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overall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driver</a:t>
            </a:r>
            <a:r>
              <a:rPr dirty="0" sz="1800" spc="-10">
                <a:latin typeface="Arial"/>
                <a:cs typeface="Arial"/>
              </a:rPr>
              <a:t> stage.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925827"/>
            <a:ext cx="2266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4500" y="1587500"/>
            <a:ext cx="939800" cy="939800"/>
            <a:chOff x="444500" y="1587500"/>
            <a:chExt cx="939800" cy="939800"/>
          </a:xfrm>
        </p:grpSpPr>
        <p:sp>
          <p:nvSpPr>
            <p:cNvPr id="4" name="object 4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8130" y="1925827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7002" y="1587500"/>
            <a:ext cx="939800" cy="939800"/>
            <a:chOff x="1617002" y="1587500"/>
            <a:chExt cx="939800" cy="939800"/>
          </a:xfrm>
        </p:grpSpPr>
        <p:sp>
          <p:nvSpPr>
            <p:cNvPr id="8" name="object 8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9702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12157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5699" y="1587500"/>
            <a:ext cx="939800" cy="939800"/>
            <a:chOff x="2875699" y="1587500"/>
            <a:chExt cx="939800" cy="939800"/>
          </a:xfrm>
        </p:grpSpPr>
        <p:sp>
          <p:nvSpPr>
            <p:cNvPr id="12" name="object 12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8399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098873" y="1712468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25455" y="1587500"/>
            <a:ext cx="939800" cy="939800"/>
            <a:chOff x="4125455" y="1587500"/>
            <a:chExt cx="939800" cy="939800"/>
          </a:xfrm>
        </p:grpSpPr>
        <p:sp>
          <p:nvSpPr>
            <p:cNvPr id="16" name="object 16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38155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446158" y="1925827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44371" y="1587500"/>
            <a:ext cx="939800" cy="939800"/>
            <a:chOff x="7344371" y="1587500"/>
            <a:chExt cx="939800" cy="939800"/>
          </a:xfrm>
        </p:grpSpPr>
        <p:sp>
          <p:nvSpPr>
            <p:cNvPr id="20" name="object 20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57071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700134" y="1925827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12108" y="1587500"/>
            <a:ext cx="939800" cy="939800"/>
            <a:chOff x="9712108" y="1587500"/>
            <a:chExt cx="939800" cy="939800"/>
          </a:xfrm>
        </p:grpSpPr>
        <p:sp>
          <p:nvSpPr>
            <p:cNvPr id="24" name="object 24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24808" y="1600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807254" y="1712468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39619" y="1592948"/>
            <a:ext cx="939800" cy="939800"/>
            <a:chOff x="8539619" y="1592948"/>
            <a:chExt cx="939800" cy="939800"/>
          </a:xfrm>
        </p:grpSpPr>
        <p:sp>
          <p:nvSpPr>
            <p:cNvPr id="28" name="object 28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552319" y="160564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662171" y="1931277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29823" y="1597329"/>
            <a:ext cx="939800" cy="939800"/>
            <a:chOff x="10829823" y="1597329"/>
            <a:chExt cx="939800" cy="939800"/>
          </a:xfrm>
        </p:grpSpPr>
        <p:sp>
          <p:nvSpPr>
            <p:cNvPr id="32" name="object 32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842523" y="16100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923452" y="19356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4800" y="1371600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39000" y="136177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5245100" y="1968500"/>
            <a:ext cx="1877695" cy="177800"/>
            <a:chOff x="5245100" y="1968500"/>
            <a:chExt cx="1877695" cy="177800"/>
          </a:xfrm>
        </p:grpSpPr>
        <p:sp>
          <p:nvSpPr>
            <p:cNvPr id="38" name="object 38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57800" y="1981200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578" y="3518699"/>
            <a:ext cx="5537607" cy="292055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5442" y="3587712"/>
            <a:ext cx="5323700" cy="28272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263" y="2587158"/>
            <a:ext cx="5767070" cy="36531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What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photodetectors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see?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Shot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statistical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variation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arrival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photons.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Significant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low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light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levels.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White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uniform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power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distribution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across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frequencies.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Thermal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thermal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agitation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electrons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resistive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components.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Increases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temperature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resistance.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Present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circuit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regardless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light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exposure.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Dark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Current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thermally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generated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carriers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absence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light.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Increases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10">
                <a:latin typeface="Arial"/>
                <a:cs typeface="Arial"/>
              </a:rPr>
              <a:t> temperature.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Reduces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signal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accuracy,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especially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low-</a:t>
            </a:r>
            <a:r>
              <a:rPr dirty="0" sz="1400">
                <a:latin typeface="Arial"/>
                <a:cs typeface="Arial"/>
              </a:rPr>
              <a:t>light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Flicker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Noise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(1/f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Noise)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Caused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material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imperfections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traps.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Prominent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low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frequencies.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Inversely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proportional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frequency,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affecting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low-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063929"/>
            <a:ext cx="939800" cy="939800"/>
            <a:chOff x="444500" y="1063929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4022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063929"/>
            <a:ext cx="939800" cy="939800"/>
            <a:chOff x="1617002" y="1063929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063929"/>
            <a:ext cx="939800" cy="939800"/>
            <a:chOff x="2875699" y="1063929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188900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063929"/>
            <a:ext cx="939800" cy="939800"/>
            <a:chOff x="4125455" y="1063929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402260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063929"/>
            <a:ext cx="939800" cy="939800"/>
            <a:chOff x="7344371" y="1063929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402260"/>
            <a:ext cx="2266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063929"/>
            <a:ext cx="939800" cy="939800"/>
            <a:chOff x="9712108" y="1063929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069378"/>
            <a:ext cx="939800" cy="939800"/>
            <a:chOff x="8539619" y="106937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407709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073759"/>
            <a:ext cx="939800" cy="939800"/>
            <a:chOff x="10829823" y="107375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412091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848029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83820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444932"/>
            <a:ext cx="1877695" cy="177800"/>
            <a:chOff x="5245100" y="1444932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123" y="3225520"/>
            <a:ext cx="5847649" cy="30895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470" y="2389124"/>
            <a:ext cx="5723890" cy="4293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What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amplifiers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see?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Thermal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Noise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from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Feedback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Resistor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Arises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feedback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resistor.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Increases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resistance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temperature.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Affects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output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directly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voltage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noise.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Shot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Noise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from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Photocurrent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 marR="331470" indent="-8255">
              <a:lnSpc>
                <a:spcPct val="100000"/>
              </a:lnSpc>
              <a:buSzPct val="92857"/>
              <a:buChar char="•"/>
              <a:tabLst>
                <a:tab pos="12700" algn="l"/>
                <a:tab pos="74295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Originates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statistical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nature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current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generated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 spc="-10">
                <a:latin typeface="Arial"/>
                <a:cs typeface="Arial"/>
              </a:rPr>
              <a:t>photodetector.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Amplified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TIA,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contributing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output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noise.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spc="-10" b="1">
                <a:latin typeface="Arial"/>
                <a:cs typeface="Arial"/>
              </a:rPr>
              <a:t>Op-</a:t>
            </a:r>
            <a:r>
              <a:rPr dirty="0" sz="1400" b="1">
                <a:latin typeface="Arial"/>
                <a:cs typeface="Arial"/>
              </a:rPr>
              <a:t>Amp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Voltage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Intrinsic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operational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amplifier.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Modeled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voltage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input.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Amplified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gain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TIA.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spc="-10" b="1">
                <a:latin typeface="Arial"/>
                <a:cs typeface="Arial"/>
              </a:rPr>
              <a:t>Op-</a:t>
            </a:r>
            <a:r>
              <a:rPr dirty="0" sz="1400" b="1">
                <a:latin typeface="Arial"/>
                <a:cs typeface="Arial"/>
              </a:rPr>
              <a:t>Amp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Current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bias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currents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op-</a:t>
            </a:r>
            <a:r>
              <a:rPr dirty="0" sz="1400">
                <a:latin typeface="Arial"/>
                <a:cs typeface="Arial"/>
              </a:rPr>
              <a:t>amp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transistors.</a:t>
            </a:r>
            <a:endParaRPr sz="140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buSzPct val="92857"/>
              <a:buChar char="•"/>
              <a:tabLst>
                <a:tab pos="12700" algn="l"/>
                <a:tab pos="74295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Creates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additional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voltage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interacting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impedance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circuit.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Flicker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Noise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(1/f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Noise)</a:t>
            </a:r>
            <a:r>
              <a:rPr dirty="0" sz="1400" spc="-1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latin typeface="Arial"/>
                <a:cs typeface="Arial"/>
              </a:rPr>
              <a:t>Low-</a:t>
            </a:r>
            <a:r>
              <a:rPr dirty="0" sz="1400">
                <a:latin typeface="Arial"/>
                <a:cs typeface="Arial"/>
              </a:rPr>
              <a:t>frequency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noise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due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imperfections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op-</a:t>
            </a:r>
            <a:r>
              <a:rPr dirty="0" sz="1400" spc="-20">
                <a:latin typeface="Arial"/>
                <a:cs typeface="Arial"/>
              </a:rPr>
              <a:t>amp.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"/>
                <a:cs typeface="Arial"/>
              </a:rPr>
              <a:t>Dominant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low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frequencies,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decreasing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increasing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frequency.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063929"/>
            <a:ext cx="939800" cy="939800"/>
            <a:chOff x="444500" y="1063929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4022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063929"/>
            <a:ext cx="939800" cy="939800"/>
            <a:chOff x="1617002" y="1063929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063929"/>
            <a:ext cx="939800" cy="939800"/>
            <a:chOff x="2875699" y="1063929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188900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063929"/>
            <a:ext cx="939800" cy="939800"/>
            <a:chOff x="4125455" y="1063929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402260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063929"/>
            <a:ext cx="939800" cy="939800"/>
            <a:chOff x="7344371" y="1063929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402260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063929"/>
            <a:ext cx="939800" cy="939800"/>
            <a:chOff x="9712108" y="1063929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069378"/>
            <a:ext cx="939800" cy="939800"/>
            <a:chOff x="8539619" y="106937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407709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073759"/>
            <a:ext cx="939800" cy="939800"/>
            <a:chOff x="10829823" y="107375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412091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848029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83820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444932"/>
            <a:ext cx="1877695" cy="177800"/>
            <a:chOff x="5245100" y="1444932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123" y="3225520"/>
            <a:ext cx="5847649" cy="30895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40"/>
              <a:t> </a:t>
            </a:r>
            <a:r>
              <a:rPr dirty="0"/>
              <a:t>noise</a:t>
            </a:r>
            <a:r>
              <a:rPr dirty="0" spc="-25"/>
              <a:t> </a:t>
            </a:r>
            <a:r>
              <a:rPr dirty="0"/>
              <a:t>do</a:t>
            </a:r>
            <a:r>
              <a:rPr dirty="0" spc="-25"/>
              <a:t> </a:t>
            </a:r>
            <a:r>
              <a:rPr dirty="0"/>
              <a:t>we see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20"/>
              <a:t>ADC?</a:t>
            </a:r>
          </a:p>
          <a:p>
            <a:pPr marL="60960" indent="-59055">
              <a:lnSpc>
                <a:spcPct val="100000"/>
              </a:lnSpc>
              <a:spcBef>
                <a:spcPts val="10"/>
              </a:spcBef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Quantization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Due</a:t>
            </a:r>
            <a:r>
              <a:rPr dirty="0" sz="1000" spc="-35"/>
              <a:t> </a:t>
            </a:r>
            <a:r>
              <a:rPr dirty="0" sz="1000"/>
              <a:t>to</a:t>
            </a:r>
            <a:r>
              <a:rPr dirty="0" sz="1000" spc="-45"/>
              <a:t> </a:t>
            </a:r>
            <a:r>
              <a:rPr dirty="0" sz="1000"/>
              <a:t>approximating</a:t>
            </a:r>
            <a:r>
              <a:rPr dirty="0" sz="1000" spc="-45"/>
              <a:t> </a:t>
            </a:r>
            <a:r>
              <a:rPr dirty="0" sz="1000"/>
              <a:t>a</a:t>
            </a:r>
            <a:r>
              <a:rPr dirty="0" sz="1000" spc="-35"/>
              <a:t> </a:t>
            </a:r>
            <a:r>
              <a:rPr dirty="0" sz="1000"/>
              <a:t>continuous</a:t>
            </a:r>
            <a:r>
              <a:rPr dirty="0" sz="1000" spc="-35"/>
              <a:t> </a:t>
            </a:r>
            <a:r>
              <a:rPr dirty="0" sz="1000"/>
              <a:t>signal</a:t>
            </a:r>
            <a:r>
              <a:rPr dirty="0" sz="1000" spc="-40"/>
              <a:t> </a:t>
            </a:r>
            <a:r>
              <a:rPr dirty="0" sz="1000"/>
              <a:t>with</a:t>
            </a:r>
            <a:r>
              <a:rPr dirty="0" sz="1000" spc="-10"/>
              <a:t> </a:t>
            </a:r>
            <a:r>
              <a:rPr dirty="0" sz="1000"/>
              <a:t>discrete</a:t>
            </a:r>
            <a:r>
              <a:rPr dirty="0" sz="1000" spc="-35"/>
              <a:t> </a:t>
            </a:r>
            <a:r>
              <a:rPr dirty="0" sz="1000" spc="-10"/>
              <a:t>levels.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 </a:t>
            </a:r>
            <a:r>
              <a:rPr dirty="0" sz="1000"/>
              <a:t>Inversely</a:t>
            </a:r>
            <a:r>
              <a:rPr dirty="0" sz="1000" spc="-5"/>
              <a:t> </a:t>
            </a:r>
            <a:r>
              <a:rPr dirty="0" sz="1000" spc="-10"/>
              <a:t>proportional </a:t>
            </a:r>
            <a:r>
              <a:rPr dirty="0" sz="1000"/>
              <a:t>to</a:t>
            </a:r>
            <a:r>
              <a:rPr dirty="0" sz="1000" spc="-10"/>
              <a:t> </a:t>
            </a:r>
            <a:r>
              <a:rPr dirty="0" sz="1000"/>
              <a:t>the</a:t>
            </a:r>
            <a:r>
              <a:rPr dirty="0" sz="1000" spc="-10"/>
              <a:t> </a:t>
            </a:r>
            <a:r>
              <a:rPr dirty="0" sz="1000"/>
              <a:t>number</a:t>
            </a:r>
            <a:r>
              <a:rPr dirty="0" sz="1000" spc="-25"/>
              <a:t> </a:t>
            </a:r>
            <a:r>
              <a:rPr dirty="0" sz="1000"/>
              <a:t>of</a:t>
            </a:r>
            <a:r>
              <a:rPr dirty="0" sz="1000" spc="-20"/>
              <a:t> </a:t>
            </a:r>
            <a:r>
              <a:rPr dirty="0" sz="1000"/>
              <a:t>bits.</a:t>
            </a:r>
            <a:r>
              <a:rPr dirty="0" sz="1000" spc="-10"/>
              <a:t> </a:t>
            </a:r>
            <a:r>
              <a:rPr dirty="0" sz="1000"/>
              <a:t>Modeled</a:t>
            </a:r>
            <a:r>
              <a:rPr dirty="0" sz="1000" spc="5"/>
              <a:t> </a:t>
            </a:r>
            <a:r>
              <a:rPr dirty="0" sz="1000"/>
              <a:t>as</a:t>
            </a:r>
            <a:r>
              <a:rPr dirty="0" sz="1000" spc="-15"/>
              <a:t> </a:t>
            </a:r>
            <a:r>
              <a:rPr dirty="0" sz="1000"/>
              <a:t>white</a:t>
            </a:r>
            <a:r>
              <a:rPr dirty="0" sz="1000" spc="15"/>
              <a:t> </a:t>
            </a:r>
            <a:r>
              <a:rPr dirty="0" sz="1000" spc="-10"/>
              <a:t>noise.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Thermal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Due</a:t>
            </a:r>
            <a:r>
              <a:rPr dirty="0" sz="1000" spc="-30"/>
              <a:t> </a:t>
            </a:r>
            <a:r>
              <a:rPr dirty="0" sz="1000"/>
              <a:t>to</a:t>
            </a:r>
            <a:r>
              <a:rPr dirty="0" sz="1000" spc="-40"/>
              <a:t> </a:t>
            </a:r>
            <a:r>
              <a:rPr dirty="0" sz="1000"/>
              <a:t>resistive</a:t>
            </a:r>
            <a:r>
              <a:rPr dirty="0" sz="1000" spc="-5"/>
              <a:t> </a:t>
            </a:r>
            <a:r>
              <a:rPr dirty="0" sz="1000"/>
              <a:t>elements</a:t>
            </a:r>
            <a:r>
              <a:rPr dirty="0" sz="1000" spc="-40"/>
              <a:t> </a:t>
            </a:r>
            <a:r>
              <a:rPr dirty="0" sz="1000"/>
              <a:t>in</a:t>
            </a:r>
            <a:r>
              <a:rPr dirty="0" sz="1000" spc="-30"/>
              <a:t> </a:t>
            </a:r>
            <a:r>
              <a:rPr dirty="0" sz="1000"/>
              <a:t>the</a:t>
            </a:r>
            <a:r>
              <a:rPr dirty="0" sz="1000" spc="-25"/>
              <a:t> </a:t>
            </a:r>
            <a:r>
              <a:rPr dirty="0" sz="1000"/>
              <a:t>analog</a:t>
            </a:r>
            <a:r>
              <a:rPr dirty="0" sz="1000" spc="-30"/>
              <a:t> </a:t>
            </a:r>
            <a:r>
              <a:rPr dirty="0" sz="1000"/>
              <a:t>front</a:t>
            </a:r>
            <a:r>
              <a:rPr dirty="0" sz="1000" spc="-50"/>
              <a:t> </a:t>
            </a:r>
            <a:r>
              <a:rPr dirty="0" sz="1000" spc="-20"/>
              <a:t>end.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</a:t>
            </a:r>
            <a:r>
              <a:rPr dirty="0" sz="1000" spc="-20"/>
              <a:t> </a:t>
            </a:r>
            <a:r>
              <a:rPr dirty="0" sz="1000"/>
              <a:t>Proportional</a:t>
            </a:r>
            <a:r>
              <a:rPr dirty="0" sz="1000" spc="-10"/>
              <a:t> </a:t>
            </a:r>
            <a:r>
              <a:rPr dirty="0" sz="1000"/>
              <a:t>to</a:t>
            </a:r>
            <a:r>
              <a:rPr dirty="0" sz="1000" spc="-30"/>
              <a:t> </a:t>
            </a:r>
            <a:r>
              <a:rPr dirty="0" sz="1000"/>
              <a:t>temperature</a:t>
            </a:r>
            <a:r>
              <a:rPr dirty="0" sz="1000" spc="-40"/>
              <a:t> </a:t>
            </a:r>
            <a:r>
              <a:rPr dirty="0" sz="1000"/>
              <a:t>and</a:t>
            </a:r>
            <a:r>
              <a:rPr dirty="0" sz="1000" spc="-35"/>
              <a:t> </a:t>
            </a:r>
            <a:r>
              <a:rPr dirty="0" sz="1000"/>
              <a:t>resistance.</a:t>
            </a:r>
            <a:r>
              <a:rPr dirty="0" sz="1000" spc="-25"/>
              <a:t> </a:t>
            </a:r>
            <a:r>
              <a:rPr dirty="0" sz="1000"/>
              <a:t>Sets</a:t>
            </a:r>
            <a:r>
              <a:rPr dirty="0" sz="1000" spc="-10"/>
              <a:t> </a:t>
            </a:r>
            <a:r>
              <a:rPr dirty="0" sz="1000"/>
              <a:t>a</a:t>
            </a:r>
            <a:r>
              <a:rPr dirty="0" sz="1000" spc="-20"/>
              <a:t> </a:t>
            </a:r>
            <a:r>
              <a:rPr dirty="0" sz="1000"/>
              <a:t>noise</a:t>
            </a:r>
            <a:r>
              <a:rPr dirty="0" sz="1000" spc="-15"/>
              <a:t> </a:t>
            </a:r>
            <a:r>
              <a:rPr dirty="0" sz="1000"/>
              <a:t>floor</a:t>
            </a:r>
            <a:r>
              <a:rPr dirty="0" sz="1000" spc="-20"/>
              <a:t> </a:t>
            </a:r>
            <a:r>
              <a:rPr dirty="0" sz="1000"/>
              <a:t>for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35"/>
              <a:t> </a:t>
            </a:r>
            <a:r>
              <a:rPr dirty="0" sz="1000" spc="-20"/>
              <a:t>ADC.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Sampling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(Aperture)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Jitter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40"/>
              <a:t> </a:t>
            </a:r>
            <a:r>
              <a:rPr dirty="0" sz="1000"/>
              <a:t>Timing</a:t>
            </a:r>
            <a:r>
              <a:rPr dirty="0" sz="1000" spc="-50"/>
              <a:t> </a:t>
            </a:r>
            <a:r>
              <a:rPr dirty="0" sz="1000"/>
              <a:t>uncertainty</a:t>
            </a:r>
            <a:r>
              <a:rPr dirty="0" sz="1000" spc="-45"/>
              <a:t> </a:t>
            </a:r>
            <a:r>
              <a:rPr dirty="0" sz="1000"/>
              <a:t>during</a:t>
            </a:r>
            <a:r>
              <a:rPr dirty="0" sz="1000" spc="-40"/>
              <a:t> </a:t>
            </a:r>
            <a:r>
              <a:rPr dirty="0" sz="1000" spc="-10"/>
              <a:t>sampling.</a:t>
            </a:r>
            <a:endParaRPr sz="1000">
              <a:latin typeface="Arial"/>
              <a:cs typeface="Arial"/>
            </a:endParaRPr>
          </a:p>
          <a:p>
            <a:pPr marL="12700" marR="231775" indent="-12065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	</a:t>
            </a: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 </a:t>
            </a:r>
            <a:r>
              <a:rPr dirty="0" sz="1000"/>
              <a:t>Affects</a:t>
            </a:r>
            <a:r>
              <a:rPr dirty="0" sz="1000" spc="-40"/>
              <a:t> </a:t>
            </a:r>
            <a:r>
              <a:rPr dirty="0" sz="1000" spc="-10"/>
              <a:t>high-</a:t>
            </a:r>
            <a:r>
              <a:rPr dirty="0" sz="1000"/>
              <a:t>frequency</a:t>
            </a:r>
            <a:r>
              <a:rPr dirty="0" sz="1000" spc="-25"/>
              <a:t> </a:t>
            </a:r>
            <a:r>
              <a:rPr dirty="0" sz="1000"/>
              <a:t>signals more</a:t>
            </a:r>
            <a:r>
              <a:rPr dirty="0" sz="1000" spc="-35"/>
              <a:t> </a:t>
            </a:r>
            <a:r>
              <a:rPr dirty="0" sz="1000"/>
              <a:t>severely,</a:t>
            </a:r>
            <a:r>
              <a:rPr dirty="0" sz="1000" spc="40"/>
              <a:t> </a:t>
            </a:r>
            <a:r>
              <a:rPr dirty="0" sz="1000" spc="-10"/>
              <a:t>proportional</a:t>
            </a:r>
            <a:r>
              <a:rPr dirty="0" sz="1000" spc="-15"/>
              <a:t> </a:t>
            </a:r>
            <a:r>
              <a:rPr dirty="0" sz="1000"/>
              <a:t>to</a:t>
            </a:r>
            <a:r>
              <a:rPr dirty="0" sz="1000" spc="-5"/>
              <a:t> </a:t>
            </a:r>
            <a:r>
              <a:rPr dirty="0" sz="1000"/>
              <a:t>input</a:t>
            </a:r>
            <a:r>
              <a:rPr dirty="0" sz="1000" spc="-10"/>
              <a:t> </a:t>
            </a:r>
            <a:r>
              <a:rPr dirty="0" sz="1000"/>
              <a:t>frequency</a:t>
            </a:r>
            <a:r>
              <a:rPr dirty="0" sz="1000" spc="-40"/>
              <a:t> </a:t>
            </a:r>
            <a:r>
              <a:rPr dirty="0" sz="1000" spc="-25"/>
              <a:t>and </a:t>
            </a:r>
            <a:r>
              <a:rPr dirty="0" sz="1000"/>
              <a:t>signal</a:t>
            </a:r>
            <a:r>
              <a:rPr dirty="0" sz="1000" spc="-30"/>
              <a:t> </a:t>
            </a:r>
            <a:r>
              <a:rPr dirty="0" sz="1000" spc="-10"/>
              <a:t>amplitude.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15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Reference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Voltage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Noise</a:t>
            </a:r>
            <a:r>
              <a:rPr dirty="0" sz="1000" spc="-30"/>
              <a:t> </a:t>
            </a:r>
            <a:r>
              <a:rPr dirty="0" sz="1000"/>
              <a:t>or</a:t>
            </a:r>
            <a:r>
              <a:rPr dirty="0" sz="1000" spc="-25"/>
              <a:t> </a:t>
            </a:r>
            <a:r>
              <a:rPr dirty="0" sz="1000"/>
              <a:t>fluctuation</a:t>
            </a:r>
            <a:r>
              <a:rPr dirty="0" sz="1000" spc="-40"/>
              <a:t> </a:t>
            </a:r>
            <a:r>
              <a:rPr dirty="0" sz="1000"/>
              <a:t>in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reference</a:t>
            </a:r>
            <a:r>
              <a:rPr dirty="0" sz="1000" spc="-50"/>
              <a:t> </a:t>
            </a:r>
            <a:r>
              <a:rPr dirty="0" sz="1000" spc="-10"/>
              <a:t>voltage.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Leads</a:t>
            </a:r>
            <a:r>
              <a:rPr dirty="0" sz="1000" spc="-45"/>
              <a:t> </a:t>
            </a:r>
            <a:r>
              <a:rPr dirty="0" sz="1000"/>
              <a:t>to</a:t>
            </a:r>
            <a:r>
              <a:rPr dirty="0" sz="1000" spc="-25"/>
              <a:t> </a:t>
            </a:r>
            <a:r>
              <a:rPr dirty="0" sz="1000"/>
              <a:t>inaccurate</a:t>
            </a:r>
            <a:r>
              <a:rPr dirty="0" sz="1000" spc="-45"/>
              <a:t> </a:t>
            </a:r>
            <a:r>
              <a:rPr dirty="0" sz="1000"/>
              <a:t>conversions</a:t>
            </a:r>
            <a:r>
              <a:rPr dirty="0" sz="1000" spc="-25"/>
              <a:t> </a:t>
            </a:r>
            <a:r>
              <a:rPr dirty="0" sz="1000"/>
              <a:t>if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reference</a:t>
            </a:r>
            <a:r>
              <a:rPr dirty="0" sz="1000" spc="-50"/>
              <a:t> </a:t>
            </a:r>
            <a:r>
              <a:rPr dirty="0" sz="1000"/>
              <a:t>is</a:t>
            </a:r>
            <a:r>
              <a:rPr dirty="0" sz="1000" spc="-25"/>
              <a:t> </a:t>
            </a:r>
            <a:r>
              <a:rPr dirty="0" sz="1000"/>
              <a:t>not</a:t>
            </a:r>
            <a:r>
              <a:rPr dirty="0" sz="1000" spc="-30"/>
              <a:t> </a:t>
            </a:r>
            <a:r>
              <a:rPr dirty="0" sz="1000" spc="-10"/>
              <a:t>stable.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Clock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Instability</a:t>
            </a:r>
            <a:r>
              <a:rPr dirty="0" sz="1000" spc="-15"/>
              <a:t> </a:t>
            </a:r>
            <a:r>
              <a:rPr dirty="0" sz="1000"/>
              <a:t>or</a:t>
            </a:r>
            <a:r>
              <a:rPr dirty="0" sz="1000" spc="-35"/>
              <a:t> </a:t>
            </a:r>
            <a:r>
              <a:rPr dirty="0" sz="1000"/>
              <a:t>noise</a:t>
            </a:r>
            <a:r>
              <a:rPr dirty="0" sz="1000" spc="-30"/>
              <a:t> </a:t>
            </a:r>
            <a:r>
              <a:rPr dirty="0" sz="1000"/>
              <a:t>in</a:t>
            </a:r>
            <a:r>
              <a:rPr dirty="0" sz="1000" spc="-25"/>
              <a:t> </a:t>
            </a:r>
            <a:r>
              <a:rPr dirty="0" sz="1000"/>
              <a:t>the</a:t>
            </a:r>
            <a:r>
              <a:rPr dirty="0" sz="1000" spc="-45"/>
              <a:t> </a:t>
            </a:r>
            <a:r>
              <a:rPr dirty="0" sz="1000"/>
              <a:t>sampling</a:t>
            </a:r>
            <a:r>
              <a:rPr dirty="0" sz="1000" spc="-45"/>
              <a:t> </a:t>
            </a:r>
            <a:r>
              <a:rPr dirty="0" sz="1000"/>
              <a:t>clock</a:t>
            </a:r>
            <a:r>
              <a:rPr dirty="0" sz="1000" spc="-25"/>
              <a:t> </a:t>
            </a:r>
            <a:r>
              <a:rPr dirty="0" sz="1000" spc="-10"/>
              <a:t>signal.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25"/>
              <a:t> </a:t>
            </a:r>
            <a:r>
              <a:rPr dirty="0" sz="1000"/>
              <a:t>Affects</a:t>
            </a:r>
            <a:r>
              <a:rPr dirty="0" sz="1000" spc="-5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timing</a:t>
            </a:r>
            <a:r>
              <a:rPr dirty="0" sz="1000" spc="-20"/>
              <a:t> </a:t>
            </a:r>
            <a:r>
              <a:rPr dirty="0" sz="1000"/>
              <a:t>of</a:t>
            </a:r>
            <a:r>
              <a:rPr dirty="0" sz="1000" spc="-25"/>
              <a:t> </a:t>
            </a:r>
            <a:r>
              <a:rPr dirty="0" sz="1000"/>
              <a:t>samples,</a:t>
            </a:r>
            <a:r>
              <a:rPr dirty="0" sz="1000" spc="-45"/>
              <a:t> </a:t>
            </a:r>
            <a:r>
              <a:rPr dirty="0" sz="1000"/>
              <a:t>resulting</a:t>
            </a:r>
            <a:r>
              <a:rPr dirty="0" sz="1000" spc="-25"/>
              <a:t> </a:t>
            </a:r>
            <a:r>
              <a:rPr dirty="0" sz="1000"/>
              <a:t>in</a:t>
            </a:r>
            <a:r>
              <a:rPr dirty="0" sz="1000" spc="-15"/>
              <a:t> </a:t>
            </a:r>
            <a:r>
              <a:rPr dirty="0" sz="1000" spc="-10"/>
              <a:t>inaccuracies.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Nonlinearity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(Distortion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Noise)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Imperfections</a:t>
            </a:r>
            <a:r>
              <a:rPr dirty="0" sz="1000" spc="-55"/>
              <a:t> </a:t>
            </a:r>
            <a:r>
              <a:rPr dirty="0" sz="1000"/>
              <a:t>in</a:t>
            </a:r>
            <a:r>
              <a:rPr dirty="0" sz="1000" spc="-25"/>
              <a:t> </a:t>
            </a:r>
            <a:r>
              <a:rPr dirty="0" sz="1000"/>
              <a:t>the</a:t>
            </a:r>
            <a:r>
              <a:rPr dirty="0" sz="1000" spc="-25"/>
              <a:t> </a:t>
            </a:r>
            <a:r>
              <a:rPr dirty="0" sz="1000"/>
              <a:t>ADC's</a:t>
            </a:r>
            <a:r>
              <a:rPr dirty="0" sz="1000" spc="-20"/>
              <a:t> </a:t>
            </a:r>
            <a:r>
              <a:rPr dirty="0" sz="1000"/>
              <a:t>transfer</a:t>
            </a:r>
            <a:r>
              <a:rPr dirty="0" sz="1000" spc="-45"/>
              <a:t> </a:t>
            </a:r>
            <a:r>
              <a:rPr dirty="0" sz="1000" spc="-10"/>
              <a:t>function.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Causes</a:t>
            </a:r>
            <a:r>
              <a:rPr dirty="0" sz="1000" spc="-35"/>
              <a:t> </a:t>
            </a:r>
            <a:r>
              <a:rPr dirty="0" sz="1000"/>
              <a:t>harmonic</a:t>
            </a:r>
            <a:r>
              <a:rPr dirty="0" sz="1000" spc="-50"/>
              <a:t> </a:t>
            </a:r>
            <a:r>
              <a:rPr dirty="0" sz="1000"/>
              <a:t>distortion</a:t>
            </a:r>
            <a:r>
              <a:rPr dirty="0" sz="1000" spc="-20"/>
              <a:t> </a:t>
            </a:r>
            <a:r>
              <a:rPr dirty="0" sz="1000"/>
              <a:t>of</a:t>
            </a:r>
            <a:r>
              <a:rPr dirty="0" sz="1000" spc="-40"/>
              <a:t> </a:t>
            </a:r>
            <a:r>
              <a:rPr dirty="0" sz="1000"/>
              <a:t>the</a:t>
            </a:r>
            <a:r>
              <a:rPr dirty="0" sz="1000" spc="-35"/>
              <a:t> </a:t>
            </a:r>
            <a:r>
              <a:rPr dirty="0" sz="1000"/>
              <a:t>signal,</a:t>
            </a:r>
            <a:r>
              <a:rPr dirty="0" sz="1000" spc="-30"/>
              <a:t> </a:t>
            </a:r>
            <a:r>
              <a:rPr dirty="0" sz="1000"/>
              <a:t>seen</a:t>
            </a:r>
            <a:r>
              <a:rPr dirty="0" sz="1000" spc="-50"/>
              <a:t> </a:t>
            </a:r>
            <a:r>
              <a:rPr dirty="0" sz="1000"/>
              <a:t>as</a:t>
            </a:r>
            <a:r>
              <a:rPr dirty="0" sz="1000" spc="-25"/>
              <a:t> </a:t>
            </a:r>
            <a:r>
              <a:rPr dirty="0" sz="1000"/>
              <a:t>additional</a:t>
            </a:r>
            <a:r>
              <a:rPr dirty="0" sz="1000" spc="-30"/>
              <a:t> </a:t>
            </a:r>
            <a:r>
              <a:rPr dirty="0" sz="1000"/>
              <a:t>unwanted</a:t>
            </a:r>
            <a:r>
              <a:rPr dirty="0" sz="1000" spc="-30"/>
              <a:t> </a:t>
            </a:r>
            <a:r>
              <a:rPr dirty="0" sz="1000"/>
              <a:t>frequency</a:t>
            </a:r>
            <a:r>
              <a:rPr dirty="0" sz="1000" spc="-45"/>
              <a:t> </a:t>
            </a:r>
            <a:r>
              <a:rPr dirty="0" sz="1000" spc="-10"/>
              <a:t>components.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Flicker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Noise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(1/f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Noise)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5"/>
              <a:t> </a:t>
            </a:r>
            <a:r>
              <a:rPr dirty="0" sz="1000" spc="-10"/>
              <a:t>Semiconductor</a:t>
            </a:r>
            <a:r>
              <a:rPr dirty="0" sz="1000" spc="-25"/>
              <a:t> </a:t>
            </a:r>
            <a:r>
              <a:rPr dirty="0" sz="1000"/>
              <a:t>imperfections</a:t>
            </a:r>
            <a:r>
              <a:rPr dirty="0" sz="1000" spc="-15"/>
              <a:t> </a:t>
            </a:r>
            <a:r>
              <a:rPr dirty="0" sz="1000"/>
              <a:t>and</a:t>
            </a:r>
            <a:r>
              <a:rPr dirty="0" sz="1000" spc="-20"/>
              <a:t> low-</a:t>
            </a:r>
            <a:r>
              <a:rPr dirty="0" sz="1000"/>
              <a:t>frequency</a:t>
            </a:r>
            <a:r>
              <a:rPr dirty="0" sz="1000" spc="5"/>
              <a:t> </a:t>
            </a:r>
            <a:r>
              <a:rPr dirty="0" sz="1000" spc="-10"/>
              <a:t>irregularities.</a:t>
            </a:r>
            <a:endParaRPr sz="1000">
              <a:latin typeface="Arial"/>
              <a:cs typeface="Arial"/>
            </a:endParaRPr>
          </a:p>
          <a:p>
            <a:pPr marL="12700" marR="405765" indent="-12065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	</a:t>
            </a: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</a:t>
            </a:r>
            <a:r>
              <a:rPr dirty="0" sz="1000" spc="-20"/>
              <a:t> </a:t>
            </a:r>
            <a:r>
              <a:rPr dirty="0" sz="1000"/>
              <a:t>Dominates</a:t>
            </a:r>
            <a:r>
              <a:rPr dirty="0" sz="1000" spc="-20"/>
              <a:t> </a:t>
            </a:r>
            <a:r>
              <a:rPr dirty="0" sz="1000"/>
              <a:t>at</a:t>
            </a:r>
            <a:r>
              <a:rPr dirty="0" sz="1000" spc="-30"/>
              <a:t> </a:t>
            </a:r>
            <a:r>
              <a:rPr dirty="0" sz="1000"/>
              <a:t>low frequencies</a:t>
            </a:r>
            <a:r>
              <a:rPr dirty="0" sz="1000" spc="-35"/>
              <a:t> </a:t>
            </a:r>
            <a:r>
              <a:rPr dirty="0" sz="1000"/>
              <a:t>and</a:t>
            </a:r>
            <a:r>
              <a:rPr dirty="0" sz="1000" spc="-15"/>
              <a:t> </a:t>
            </a:r>
            <a:r>
              <a:rPr dirty="0" sz="1000"/>
              <a:t>can</a:t>
            </a:r>
            <a:r>
              <a:rPr dirty="0" sz="1000" spc="-30"/>
              <a:t> </a:t>
            </a:r>
            <a:r>
              <a:rPr dirty="0" sz="1000"/>
              <a:t>degrade</a:t>
            </a:r>
            <a:r>
              <a:rPr dirty="0" sz="1000" spc="-35"/>
              <a:t> </a:t>
            </a:r>
            <a:r>
              <a:rPr dirty="0" sz="1000"/>
              <a:t>signal</a:t>
            </a:r>
            <a:r>
              <a:rPr dirty="0" sz="1000" spc="-10"/>
              <a:t> </a:t>
            </a:r>
            <a:r>
              <a:rPr dirty="0" sz="1000"/>
              <a:t>quality</a:t>
            </a:r>
            <a:r>
              <a:rPr dirty="0" sz="1000" spc="-15"/>
              <a:t> </a:t>
            </a:r>
            <a:r>
              <a:rPr dirty="0" sz="1000"/>
              <a:t>in</a:t>
            </a:r>
            <a:r>
              <a:rPr dirty="0" sz="1000" spc="-5"/>
              <a:t> </a:t>
            </a:r>
            <a:r>
              <a:rPr dirty="0" sz="1000" spc="-20"/>
              <a:t>low-</a:t>
            </a:r>
            <a:r>
              <a:rPr dirty="0" sz="1000" spc="-10"/>
              <a:t>frequency applications.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063929"/>
            <a:ext cx="939800" cy="939800"/>
            <a:chOff x="444500" y="1063929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4022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063929"/>
            <a:ext cx="939800" cy="939800"/>
            <a:chOff x="1617002" y="1063929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063929"/>
            <a:ext cx="939800" cy="939800"/>
            <a:chOff x="2875699" y="1063929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188900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063929"/>
            <a:ext cx="939800" cy="939800"/>
            <a:chOff x="4125455" y="1063929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402260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063929"/>
            <a:ext cx="939800" cy="939800"/>
            <a:chOff x="7344371" y="1063929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402260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063929"/>
            <a:ext cx="939800" cy="939800"/>
            <a:chOff x="9712108" y="1063929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069378"/>
            <a:ext cx="939800" cy="939800"/>
            <a:chOff x="8539619" y="106937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407709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073759"/>
            <a:ext cx="939800" cy="939800"/>
            <a:chOff x="10829823" y="107375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412091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848029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83820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444932"/>
            <a:ext cx="1877695" cy="177800"/>
            <a:chOff x="5245100" y="1444932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8271" y="2895600"/>
            <a:ext cx="5788988" cy="317166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noise</a:t>
            </a:r>
            <a:r>
              <a:rPr dirty="0" spc="-25"/>
              <a:t> </a:t>
            </a:r>
            <a:r>
              <a:rPr dirty="0"/>
              <a:t>do</a:t>
            </a:r>
            <a:r>
              <a:rPr dirty="0" spc="-25"/>
              <a:t> </a:t>
            </a:r>
            <a:r>
              <a:rPr dirty="0"/>
              <a:t>we see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20"/>
              <a:t>ADC?</a:t>
            </a:r>
          </a:p>
          <a:p>
            <a:pPr marL="60960" indent="-59055">
              <a:lnSpc>
                <a:spcPct val="100000"/>
              </a:lnSpc>
              <a:spcBef>
                <a:spcPts val="10"/>
              </a:spcBef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Quantization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Due</a:t>
            </a:r>
            <a:r>
              <a:rPr dirty="0" sz="1000" spc="-35"/>
              <a:t> </a:t>
            </a:r>
            <a:r>
              <a:rPr dirty="0" sz="1000"/>
              <a:t>to</a:t>
            </a:r>
            <a:r>
              <a:rPr dirty="0" sz="1000" spc="-45"/>
              <a:t> </a:t>
            </a:r>
            <a:r>
              <a:rPr dirty="0" sz="1000"/>
              <a:t>approximating</a:t>
            </a:r>
            <a:r>
              <a:rPr dirty="0" sz="1000" spc="-45"/>
              <a:t> </a:t>
            </a:r>
            <a:r>
              <a:rPr dirty="0" sz="1000"/>
              <a:t>a</a:t>
            </a:r>
            <a:r>
              <a:rPr dirty="0" sz="1000" spc="-35"/>
              <a:t> </a:t>
            </a:r>
            <a:r>
              <a:rPr dirty="0" sz="1000"/>
              <a:t>continuous</a:t>
            </a:r>
            <a:r>
              <a:rPr dirty="0" sz="1000" spc="-35"/>
              <a:t> </a:t>
            </a:r>
            <a:r>
              <a:rPr dirty="0" sz="1000"/>
              <a:t>signal</a:t>
            </a:r>
            <a:r>
              <a:rPr dirty="0" sz="1000" spc="-40"/>
              <a:t> </a:t>
            </a:r>
            <a:r>
              <a:rPr dirty="0" sz="1000"/>
              <a:t>with</a:t>
            </a:r>
            <a:r>
              <a:rPr dirty="0" sz="1000" spc="-10"/>
              <a:t> </a:t>
            </a:r>
            <a:r>
              <a:rPr dirty="0" sz="1000"/>
              <a:t>discrete</a:t>
            </a:r>
            <a:r>
              <a:rPr dirty="0" sz="1000" spc="-35"/>
              <a:t> </a:t>
            </a:r>
            <a:r>
              <a:rPr dirty="0" sz="1000" spc="-10"/>
              <a:t>levels.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 </a:t>
            </a:r>
            <a:r>
              <a:rPr dirty="0" sz="1000"/>
              <a:t>Inversely</a:t>
            </a:r>
            <a:r>
              <a:rPr dirty="0" sz="1000" spc="-5"/>
              <a:t> </a:t>
            </a:r>
            <a:r>
              <a:rPr dirty="0" sz="1000" spc="-10"/>
              <a:t>proportional </a:t>
            </a:r>
            <a:r>
              <a:rPr dirty="0" sz="1000"/>
              <a:t>to</a:t>
            </a:r>
            <a:r>
              <a:rPr dirty="0" sz="1000" spc="-10"/>
              <a:t> </a:t>
            </a:r>
            <a:r>
              <a:rPr dirty="0" sz="1000"/>
              <a:t>the</a:t>
            </a:r>
            <a:r>
              <a:rPr dirty="0" sz="1000" spc="-10"/>
              <a:t> </a:t>
            </a:r>
            <a:r>
              <a:rPr dirty="0" sz="1000"/>
              <a:t>number</a:t>
            </a:r>
            <a:r>
              <a:rPr dirty="0" sz="1000" spc="-25"/>
              <a:t> </a:t>
            </a:r>
            <a:r>
              <a:rPr dirty="0" sz="1000"/>
              <a:t>of</a:t>
            </a:r>
            <a:r>
              <a:rPr dirty="0" sz="1000" spc="-20"/>
              <a:t> </a:t>
            </a:r>
            <a:r>
              <a:rPr dirty="0" sz="1000"/>
              <a:t>bits.</a:t>
            </a:r>
            <a:r>
              <a:rPr dirty="0" sz="1000" spc="-10"/>
              <a:t> </a:t>
            </a:r>
            <a:r>
              <a:rPr dirty="0" sz="1000"/>
              <a:t>Modeled</a:t>
            </a:r>
            <a:r>
              <a:rPr dirty="0" sz="1000" spc="5"/>
              <a:t> </a:t>
            </a:r>
            <a:r>
              <a:rPr dirty="0" sz="1000"/>
              <a:t>as</a:t>
            </a:r>
            <a:r>
              <a:rPr dirty="0" sz="1000" spc="-15"/>
              <a:t> </a:t>
            </a:r>
            <a:r>
              <a:rPr dirty="0" sz="1000"/>
              <a:t>white</a:t>
            </a:r>
            <a:r>
              <a:rPr dirty="0" sz="1000" spc="15"/>
              <a:t> </a:t>
            </a:r>
            <a:r>
              <a:rPr dirty="0" sz="1000" spc="-10"/>
              <a:t>noise.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Thermal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Due</a:t>
            </a:r>
            <a:r>
              <a:rPr dirty="0" sz="1000" spc="-30"/>
              <a:t> </a:t>
            </a:r>
            <a:r>
              <a:rPr dirty="0" sz="1000"/>
              <a:t>to</a:t>
            </a:r>
            <a:r>
              <a:rPr dirty="0" sz="1000" spc="-40"/>
              <a:t> </a:t>
            </a:r>
            <a:r>
              <a:rPr dirty="0" sz="1000"/>
              <a:t>resistive</a:t>
            </a:r>
            <a:r>
              <a:rPr dirty="0" sz="1000" spc="-5"/>
              <a:t> </a:t>
            </a:r>
            <a:r>
              <a:rPr dirty="0" sz="1000"/>
              <a:t>elements</a:t>
            </a:r>
            <a:r>
              <a:rPr dirty="0" sz="1000" spc="-40"/>
              <a:t> </a:t>
            </a:r>
            <a:r>
              <a:rPr dirty="0" sz="1000"/>
              <a:t>in</a:t>
            </a:r>
            <a:r>
              <a:rPr dirty="0" sz="1000" spc="-30"/>
              <a:t> </a:t>
            </a:r>
            <a:r>
              <a:rPr dirty="0" sz="1000"/>
              <a:t>the</a:t>
            </a:r>
            <a:r>
              <a:rPr dirty="0" sz="1000" spc="-25"/>
              <a:t> </a:t>
            </a:r>
            <a:r>
              <a:rPr dirty="0" sz="1000"/>
              <a:t>analog</a:t>
            </a:r>
            <a:r>
              <a:rPr dirty="0" sz="1000" spc="-30"/>
              <a:t> </a:t>
            </a:r>
            <a:r>
              <a:rPr dirty="0" sz="1000"/>
              <a:t>front</a:t>
            </a:r>
            <a:r>
              <a:rPr dirty="0" sz="1000" spc="-50"/>
              <a:t> </a:t>
            </a:r>
            <a:r>
              <a:rPr dirty="0" sz="1000" spc="-20"/>
              <a:t>end.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</a:t>
            </a:r>
            <a:r>
              <a:rPr dirty="0" sz="1000" spc="-20"/>
              <a:t> </a:t>
            </a:r>
            <a:r>
              <a:rPr dirty="0" sz="1000"/>
              <a:t>Proportional</a:t>
            </a:r>
            <a:r>
              <a:rPr dirty="0" sz="1000" spc="-10"/>
              <a:t> </a:t>
            </a:r>
            <a:r>
              <a:rPr dirty="0" sz="1000"/>
              <a:t>to</a:t>
            </a:r>
            <a:r>
              <a:rPr dirty="0" sz="1000" spc="-30"/>
              <a:t> </a:t>
            </a:r>
            <a:r>
              <a:rPr dirty="0" sz="1000"/>
              <a:t>temperature</a:t>
            </a:r>
            <a:r>
              <a:rPr dirty="0" sz="1000" spc="-40"/>
              <a:t> </a:t>
            </a:r>
            <a:r>
              <a:rPr dirty="0" sz="1000"/>
              <a:t>and</a:t>
            </a:r>
            <a:r>
              <a:rPr dirty="0" sz="1000" spc="-35"/>
              <a:t> </a:t>
            </a:r>
            <a:r>
              <a:rPr dirty="0" sz="1000"/>
              <a:t>resistance.</a:t>
            </a:r>
            <a:r>
              <a:rPr dirty="0" sz="1000" spc="-25"/>
              <a:t> </a:t>
            </a:r>
            <a:r>
              <a:rPr dirty="0" sz="1000"/>
              <a:t>Sets</a:t>
            </a:r>
            <a:r>
              <a:rPr dirty="0" sz="1000" spc="-10"/>
              <a:t> </a:t>
            </a:r>
            <a:r>
              <a:rPr dirty="0" sz="1000"/>
              <a:t>a</a:t>
            </a:r>
            <a:r>
              <a:rPr dirty="0" sz="1000" spc="-20"/>
              <a:t> </a:t>
            </a:r>
            <a:r>
              <a:rPr dirty="0" sz="1000"/>
              <a:t>noise</a:t>
            </a:r>
            <a:r>
              <a:rPr dirty="0" sz="1000" spc="-15"/>
              <a:t> </a:t>
            </a:r>
            <a:r>
              <a:rPr dirty="0" sz="1000"/>
              <a:t>floor</a:t>
            </a:r>
            <a:r>
              <a:rPr dirty="0" sz="1000" spc="-20"/>
              <a:t> </a:t>
            </a:r>
            <a:r>
              <a:rPr dirty="0" sz="1000"/>
              <a:t>for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35"/>
              <a:t> </a:t>
            </a:r>
            <a:r>
              <a:rPr dirty="0" sz="1000" spc="-20"/>
              <a:t>ADC.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Sampling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(Aperture)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Jitter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40"/>
              <a:t> </a:t>
            </a:r>
            <a:r>
              <a:rPr dirty="0" sz="1000"/>
              <a:t>Timing</a:t>
            </a:r>
            <a:r>
              <a:rPr dirty="0" sz="1000" spc="-50"/>
              <a:t> </a:t>
            </a:r>
            <a:r>
              <a:rPr dirty="0" sz="1000"/>
              <a:t>uncertainty</a:t>
            </a:r>
            <a:r>
              <a:rPr dirty="0" sz="1000" spc="-45"/>
              <a:t> </a:t>
            </a:r>
            <a:r>
              <a:rPr dirty="0" sz="1000"/>
              <a:t>during</a:t>
            </a:r>
            <a:r>
              <a:rPr dirty="0" sz="1000" spc="-40"/>
              <a:t> </a:t>
            </a:r>
            <a:r>
              <a:rPr dirty="0" sz="1000" spc="-10"/>
              <a:t>sampling.</a:t>
            </a:r>
            <a:endParaRPr sz="1000">
              <a:latin typeface="Arial"/>
              <a:cs typeface="Arial"/>
            </a:endParaRPr>
          </a:p>
          <a:p>
            <a:pPr marL="12700" marR="231775" indent="-12065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	</a:t>
            </a: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 </a:t>
            </a:r>
            <a:r>
              <a:rPr dirty="0" sz="1000"/>
              <a:t>Affects</a:t>
            </a:r>
            <a:r>
              <a:rPr dirty="0" sz="1000" spc="-40"/>
              <a:t> </a:t>
            </a:r>
            <a:r>
              <a:rPr dirty="0" sz="1000" spc="-10"/>
              <a:t>high-</a:t>
            </a:r>
            <a:r>
              <a:rPr dirty="0" sz="1000"/>
              <a:t>frequency</a:t>
            </a:r>
            <a:r>
              <a:rPr dirty="0" sz="1000" spc="-25"/>
              <a:t> </a:t>
            </a:r>
            <a:r>
              <a:rPr dirty="0" sz="1000"/>
              <a:t>signals more</a:t>
            </a:r>
            <a:r>
              <a:rPr dirty="0" sz="1000" spc="-35"/>
              <a:t> </a:t>
            </a:r>
            <a:r>
              <a:rPr dirty="0" sz="1000"/>
              <a:t>severely,</a:t>
            </a:r>
            <a:r>
              <a:rPr dirty="0" sz="1000" spc="40"/>
              <a:t> </a:t>
            </a:r>
            <a:r>
              <a:rPr dirty="0" sz="1000" spc="-10"/>
              <a:t>proportional</a:t>
            </a:r>
            <a:r>
              <a:rPr dirty="0" sz="1000" spc="-15"/>
              <a:t> </a:t>
            </a:r>
            <a:r>
              <a:rPr dirty="0" sz="1000"/>
              <a:t>to</a:t>
            </a:r>
            <a:r>
              <a:rPr dirty="0" sz="1000" spc="-5"/>
              <a:t> </a:t>
            </a:r>
            <a:r>
              <a:rPr dirty="0" sz="1000"/>
              <a:t>input</a:t>
            </a:r>
            <a:r>
              <a:rPr dirty="0" sz="1000" spc="-10"/>
              <a:t> </a:t>
            </a:r>
            <a:r>
              <a:rPr dirty="0" sz="1000"/>
              <a:t>frequency</a:t>
            </a:r>
            <a:r>
              <a:rPr dirty="0" sz="1000" spc="-40"/>
              <a:t> </a:t>
            </a:r>
            <a:r>
              <a:rPr dirty="0" sz="1000" spc="-25"/>
              <a:t>and </a:t>
            </a:r>
            <a:r>
              <a:rPr dirty="0" sz="1000"/>
              <a:t>signal</a:t>
            </a:r>
            <a:r>
              <a:rPr dirty="0" sz="1000" spc="-30"/>
              <a:t> </a:t>
            </a:r>
            <a:r>
              <a:rPr dirty="0" sz="1000" spc="-10"/>
              <a:t>amplitude.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15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Reference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Voltage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Noise</a:t>
            </a:r>
            <a:r>
              <a:rPr dirty="0" sz="1000" spc="-30"/>
              <a:t> </a:t>
            </a:r>
            <a:r>
              <a:rPr dirty="0" sz="1000"/>
              <a:t>or</a:t>
            </a:r>
            <a:r>
              <a:rPr dirty="0" sz="1000" spc="-25"/>
              <a:t> </a:t>
            </a:r>
            <a:r>
              <a:rPr dirty="0" sz="1000"/>
              <a:t>fluctuation</a:t>
            </a:r>
            <a:r>
              <a:rPr dirty="0" sz="1000" spc="-40"/>
              <a:t> </a:t>
            </a:r>
            <a:r>
              <a:rPr dirty="0" sz="1000"/>
              <a:t>in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reference</a:t>
            </a:r>
            <a:r>
              <a:rPr dirty="0" sz="1000" spc="-50"/>
              <a:t> </a:t>
            </a:r>
            <a:r>
              <a:rPr dirty="0" sz="1000" spc="-10"/>
              <a:t>voltage.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Leads</a:t>
            </a:r>
            <a:r>
              <a:rPr dirty="0" sz="1000" spc="-45"/>
              <a:t> </a:t>
            </a:r>
            <a:r>
              <a:rPr dirty="0" sz="1000"/>
              <a:t>to</a:t>
            </a:r>
            <a:r>
              <a:rPr dirty="0" sz="1000" spc="-25"/>
              <a:t> </a:t>
            </a:r>
            <a:r>
              <a:rPr dirty="0" sz="1000"/>
              <a:t>inaccurate</a:t>
            </a:r>
            <a:r>
              <a:rPr dirty="0" sz="1000" spc="-45"/>
              <a:t> </a:t>
            </a:r>
            <a:r>
              <a:rPr dirty="0" sz="1000"/>
              <a:t>conversions</a:t>
            </a:r>
            <a:r>
              <a:rPr dirty="0" sz="1000" spc="-25"/>
              <a:t> </a:t>
            </a:r>
            <a:r>
              <a:rPr dirty="0" sz="1000"/>
              <a:t>if</a:t>
            </a:r>
            <a:r>
              <a:rPr dirty="0" sz="1000" spc="-2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reference</a:t>
            </a:r>
            <a:r>
              <a:rPr dirty="0" sz="1000" spc="-50"/>
              <a:t> </a:t>
            </a:r>
            <a:r>
              <a:rPr dirty="0" sz="1000"/>
              <a:t>is</a:t>
            </a:r>
            <a:r>
              <a:rPr dirty="0" sz="1000" spc="-25"/>
              <a:t> </a:t>
            </a:r>
            <a:r>
              <a:rPr dirty="0" sz="1000"/>
              <a:t>not</a:t>
            </a:r>
            <a:r>
              <a:rPr dirty="0" sz="1000" spc="-30"/>
              <a:t> </a:t>
            </a:r>
            <a:r>
              <a:rPr dirty="0" sz="1000" spc="-10"/>
              <a:t>stable.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Clock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Instability</a:t>
            </a:r>
            <a:r>
              <a:rPr dirty="0" sz="1000" spc="-15"/>
              <a:t> </a:t>
            </a:r>
            <a:r>
              <a:rPr dirty="0" sz="1000"/>
              <a:t>or</a:t>
            </a:r>
            <a:r>
              <a:rPr dirty="0" sz="1000" spc="-35"/>
              <a:t> </a:t>
            </a:r>
            <a:r>
              <a:rPr dirty="0" sz="1000"/>
              <a:t>noise</a:t>
            </a:r>
            <a:r>
              <a:rPr dirty="0" sz="1000" spc="-30"/>
              <a:t> </a:t>
            </a:r>
            <a:r>
              <a:rPr dirty="0" sz="1000"/>
              <a:t>in</a:t>
            </a:r>
            <a:r>
              <a:rPr dirty="0" sz="1000" spc="-25"/>
              <a:t> </a:t>
            </a:r>
            <a:r>
              <a:rPr dirty="0" sz="1000"/>
              <a:t>the</a:t>
            </a:r>
            <a:r>
              <a:rPr dirty="0" sz="1000" spc="-45"/>
              <a:t> </a:t>
            </a:r>
            <a:r>
              <a:rPr dirty="0" sz="1000"/>
              <a:t>sampling</a:t>
            </a:r>
            <a:r>
              <a:rPr dirty="0" sz="1000" spc="-45"/>
              <a:t> </a:t>
            </a:r>
            <a:r>
              <a:rPr dirty="0" sz="1000"/>
              <a:t>clock</a:t>
            </a:r>
            <a:r>
              <a:rPr dirty="0" sz="1000" spc="-25"/>
              <a:t> </a:t>
            </a:r>
            <a:r>
              <a:rPr dirty="0" sz="1000" spc="-10"/>
              <a:t>signal.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25"/>
              <a:t> </a:t>
            </a:r>
            <a:r>
              <a:rPr dirty="0" sz="1000"/>
              <a:t>Affects</a:t>
            </a:r>
            <a:r>
              <a:rPr dirty="0" sz="1000" spc="-50"/>
              <a:t> </a:t>
            </a:r>
            <a:r>
              <a:rPr dirty="0" sz="1000"/>
              <a:t>the</a:t>
            </a:r>
            <a:r>
              <a:rPr dirty="0" sz="1000" spc="-40"/>
              <a:t> </a:t>
            </a:r>
            <a:r>
              <a:rPr dirty="0" sz="1000"/>
              <a:t>timing</a:t>
            </a:r>
            <a:r>
              <a:rPr dirty="0" sz="1000" spc="-20"/>
              <a:t> </a:t>
            </a:r>
            <a:r>
              <a:rPr dirty="0" sz="1000"/>
              <a:t>of</a:t>
            </a:r>
            <a:r>
              <a:rPr dirty="0" sz="1000" spc="-25"/>
              <a:t> </a:t>
            </a:r>
            <a:r>
              <a:rPr dirty="0" sz="1000"/>
              <a:t>samples,</a:t>
            </a:r>
            <a:r>
              <a:rPr dirty="0" sz="1000" spc="-45"/>
              <a:t> </a:t>
            </a:r>
            <a:r>
              <a:rPr dirty="0" sz="1000"/>
              <a:t>resulting</a:t>
            </a:r>
            <a:r>
              <a:rPr dirty="0" sz="1000" spc="-25"/>
              <a:t> </a:t>
            </a:r>
            <a:r>
              <a:rPr dirty="0" sz="1000"/>
              <a:t>in</a:t>
            </a:r>
            <a:r>
              <a:rPr dirty="0" sz="1000" spc="-15"/>
              <a:t> </a:t>
            </a:r>
            <a:r>
              <a:rPr dirty="0" sz="1000" spc="-10"/>
              <a:t>inaccuracies.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Nonlinearity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(Distortion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Noise)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spcBef>
                <a:spcPts val="5"/>
              </a:spcBef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30"/>
              <a:t> </a:t>
            </a:r>
            <a:r>
              <a:rPr dirty="0" sz="1000"/>
              <a:t>Imperfections</a:t>
            </a:r>
            <a:r>
              <a:rPr dirty="0" sz="1000" spc="-55"/>
              <a:t> </a:t>
            </a:r>
            <a:r>
              <a:rPr dirty="0" sz="1000"/>
              <a:t>in</a:t>
            </a:r>
            <a:r>
              <a:rPr dirty="0" sz="1000" spc="-25"/>
              <a:t> </a:t>
            </a:r>
            <a:r>
              <a:rPr dirty="0" sz="1000"/>
              <a:t>the</a:t>
            </a:r>
            <a:r>
              <a:rPr dirty="0" sz="1000" spc="-25"/>
              <a:t> </a:t>
            </a:r>
            <a:r>
              <a:rPr dirty="0" sz="1000"/>
              <a:t>ADC's</a:t>
            </a:r>
            <a:r>
              <a:rPr dirty="0" sz="1000" spc="-20"/>
              <a:t> </a:t>
            </a:r>
            <a:r>
              <a:rPr dirty="0" sz="1000"/>
              <a:t>transfer</a:t>
            </a:r>
            <a:r>
              <a:rPr dirty="0" sz="1000" spc="-45"/>
              <a:t> </a:t>
            </a:r>
            <a:r>
              <a:rPr dirty="0" sz="1000" spc="-10"/>
              <a:t>function.</a:t>
            </a:r>
            <a:endParaRPr sz="1000">
              <a:latin typeface="Arial"/>
              <a:cs typeface="Arial"/>
            </a:endParaRPr>
          </a:p>
          <a:p>
            <a:pPr marL="55880" indent="-55244">
              <a:lnSpc>
                <a:spcPts val="12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/>
              <a:t>:</a:t>
            </a:r>
            <a:r>
              <a:rPr dirty="0" sz="1000" spc="-35"/>
              <a:t> </a:t>
            </a:r>
            <a:r>
              <a:rPr dirty="0" sz="1000"/>
              <a:t>Causes</a:t>
            </a:r>
            <a:r>
              <a:rPr dirty="0" sz="1000" spc="-35"/>
              <a:t> </a:t>
            </a:r>
            <a:r>
              <a:rPr dirty="0" sz="1000"/>
              <a:t>harmonic</a:t>
            </a:r>
            <a:r>
              <a:rPr dirty="0" sz="1000" spc="-50"/>
              <a:t> </a:t>
            </a:r>
            <a:r>
              <a:rPr dirty="0" sz="1000"/>
              <a:t>distortion</a:t>
            </a:r>
            <a:r>
              <a:rPr dirty="0" sz="1000" spc="-20"/>
              <a:t> </a:t>
            </a:r>
            <a:r>
              <a:rPr dirty="0" sz="1000"/>
              <a:t>of</a:t>
            </a:r>
            <a:r>
              <a:rPr dirty="0" sz="1000" spc="-40"/>
              <a:t> </a:t>
            </a:r>
            <a:r>
              <a:rPr dirty="0" sz="1000"/>
              <a:t>the</a:t>
            </a:r>
            <a:r>
              <a:rPr dirty="0" sz="1000" spc="-35"/>
              <a:t> </a:t>
            </a:r>
            <a:r>
              <a:rPr dirty="0" sz="1000"/>
              <a:t>signal,</a:t>
            </a:r>
            <a:r>
              <a:rPr dirty="0" sz="1000" spc="-30"/>
              <a:t> </a:t>
            </a:r>
            <a:r>
              <a:rPr dirty="0" sz="1000"/>
              <a:t>seen</a:t>
            </a:r>
            <a:r>
              <a:rPr dirty="0" sz="1000" spc="-50"/>
              <a:t> </a:t>
            </a:r>
            <a:r>
              <a:rPr dirty="0" sz="1000"/>
              <a:t>as</a:t>
            </a:r>
            <a:r>
              <a:rPr dirty="0" sz="1000" spc="-25"/>
              <a:t> </a:t>
            </a:r>
            <a:r>
              <a:rPr dirty="0" sz="1000"/>
              <a:t>additional</a:t>
            </a:r>
            <a:r>
              <a:rPr dirty="0" sz="1000" spc="-30"/>
              <a:t> </a:t>
            </a:r>
            <a:r>
              <a:rPr dirty="0" sz="1000"/>
              <a:t>unwanted</a:t>
            </a:r>
            <a:r>
              <a:rPr dirty="0" sz="1000" spc="-30"/>
              <a:t> </a:t>
            </a:r>
            <a:r>
              <a:rPr dirty="0" sz="1000"/>
              <a:t>frequency</a:t>
            </a:r>
            <a:r>
              <a:rPr dirty="0" sz="1000" spc="-45"/>
              <a:t> </a:t>
            </a:r>
            <a:r>
              <a:rPr dirty="0" sz="1000" spc="-10"/>
              <a:t>components.</a:t>
            </a:r>
            <a:endParaRPr sz="1000">
              <a:latin typeface="Arial"/>
              <a:cs typeface="Arial"/>
            </a:endParaRPr>
          </a:p>
          <a:p>
            <a:pPr marL="60960" indent="-59055">
              <a:lnSpc>
                <a:spcPts val="1320"/>
              </a:lnSpc>
              <a:buSzPct val="86363"/>
              <a:buFont typeface="Arial"/>
              <a:buChar char="•"/>
              <a:tabLst>
                <a:tab pos="60960" algn="l"/>
              </a:tabLst>
            </a:pPr>
            <a:r>
              <a:rPr dirty="0" sz="1100" b="1">
                <a:latin typeface="Arial"/>
                <a:cs typeface="Arial"/>
              </a:rPr>
              <a:t>Flicker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Noise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(1/f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Noise)</a:t>
            </a:r>
            <a:r>
              <a:rPr dirty="0" sz="1100" spc="-10"/>
              <a:t>:</a:t>
            </a:r>
            <a:endParaRPr sz="1100">
              <a:latin typeface="Arial"/>
              <a:cs typeface="Arial"/>
            </a:endParaRPr>
          </a:p>
          <a:p>
            <a:pPr marL="55880" indent="-55244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b="1">
                <a:latin typeface="Arial"/>
                <a:cs typeface="Arial"/>
              </a:rPr>
              <a:t>Cause</a:t>
            </a:r>
            <a:r>
              <a:rPr dirty="0" sz="1000"/>
              <a:t>:</a:t>
            </a:r>
            <a:r>
              <a:rPr dirty="0" sz="1000" spc="-5"/>
              <a:t> </a:t>
            </a:r>
            <a:r>
              <a:rPr dirty="0" sz="1000" spc="-10"/>
              <a:t>Semiconductor</a:t>
            </a:r>
            <a:r>
              <a:rPr dirty="0" sz="1000" spc="-25"/>
              <a:t> </a:t>
            </a:r>
            <a:r>
              <a:rPr dirty="0" sz="1000"/>
              <a:t>imperfections</a:t>
            </a:r>
            <a:r>
              <a:rPr dirty="0" sz="1000" spc="-15"/>
              <a:t> </a:t>
            </a:r>
            <a:r>
              <a:rPr dirty="0" sz="1000"/>
              <a:t>and</a:t>
            </a:r>
            <a:r>
              <a:rPr dirty="0" sz="1000" spc="-20"/>
              <a:t> low-</a:t>
            </a:r>
            <a:r>
              <a:rPr dirty="0" sz="1000"/>
              <a:t>frequency</a:t>
            </a:r>
            <a:r>
              <a:rPr dirty="0" sz="1000" spc="5"/>
              <a:t> </a:t>
            </a:r>
            <a:r>
              <a:rPr dirty="0" sz="1000" spc="-10"/>
              <a:t>irregularities.</a:t>
            </a:r>
            <a:endParaRPr sz="1000">
              <a:latin typeface="Arial"/>
              <a:cs typeface="Arial"/>
            </a:endParaRPr>
          </a:p>
          <a:p>
            <a:pPr marL="12700" marR="405765" indent="-12065">
              <a:lnSpc>
                <a:spcPct val="100000"/>
              </a:lnSpc>
              <a:buSzPct val="85000"/>
              <a:buFont typeface="Arial"/>
              <a:buChar char="•"/>
              <a:tabLst>
                <a:tab pos="55880" algn="l"/>
              </a:tabLst>
            </a:pPr>
            <a:r>
              <a:rPr dirty="0" sz="1000" spc="-10" b="1">
                <a:latin typeface="Arial"/>
                <a:cs typeface="Arial"/>
              </a:rPr>
              <a:t>	</a:t>
            </a:r>
            <a:r>
              <a:rPr dirty="0" sz="1000" spc="-10" b="1">
                <a:latin typeface="Arial"/>
                <a:cs typeface="Arial"/>
              </a:rPr>
              <a:t>Characteristics</a:t>
            </a:r>
            <a:r>
              <a:rPr dirty="0" sz="1000" spc="-10"/>
              <a:t>:</a:t>
            </a:r>
            <a:r>
              <a:rPr dirty="0" sz="1000" spc="-20"/>
              <a:t> </a:t>
            </a:r>
            <a:r>
              <a:rPr dirty="0" sz="1000"/>
              <a:t>Dominates</a:t>
            </a:r>
            <a:r>
              <a:rPr dirty="0" sz="1000" spc="-20"/>
              <a:t> </a:t>
            </a:r>
            <a:r>
              <a:rPr dirty="0" sz="1000"/>
              <a:t>at</a:t>
            </a:r>
            <a:r>
              <a:rPr dirty="0" sz="1000" spc="-30"/>
              <a:t> </a:t>
            </a:r>
            <a:r>
              <a:rPr dirty="0" sz="1000"/>
              <a:t>low frequencies</a:t>
            </a:r>
            <a:r>
              <a:rPr dirty="0" sz="1000" spc="-35"/>
              <a:t> </a:t>
            </a:r>
            <a:r>
              <a:rPr dirty="0" sz="1000"/>
              <a:t>and</a:t>
            </a:r>
            <a:r>
              <a:rPr dirty="0" sz="1000" spc="-15"/>
              <a:t> </a:t>
            </a:r>
            <a:r>
              <a:rPr dirty="0" sz="1000"/>
              <a:t>can</a:t>
            </a:r>
            <a:r>
              <a:rPr dirty="0" sz="1000" spc="-30"/>
              <a:t> </a:t>
            </a:r>
            <a:r>
              <a:rPr dirty="0" sz="1000"/>
              <a:t>degrade</a:t>
            </a:r>
            <a:r>
              <a:rPr dirty="0" sz="1000" spc="-35"/>
              <a:t> </a:t>
            </a:r>
            <a:r>
              <a:rPr dirty="0" sz="1000"/>
              <a:t>signal</a:t>
            </a:r>
            <a:r>
              <a:rPr dirty="0" sz="1000" spc="-10"/>
              <a:t> </a:t>
            </a:r>
            <a:r>
              <a:rPr dirty="0" sz="1000"/>
              <a:t>quality</a:t>
            </a:r>
            <a:r>
              <a:rPr dirty="0" sz="1000" spc="-15"/>
              <a:t> </a:t>
            </a:r>
            <a:r>
              <a:rPr dirty="0" sz="1000"/>
              <a:t>in</a:t>
            </a:r>
            <a:r>
              <a:rPr dirty="0" sz="1000" spc="-5"/>
              <a:t> </a:t>
            </a:r>
            <a:r>
              <a:rPr dirty="0" sz="1000" spc="-20"/>
              <a:t>low-</a:t>
            </a:r>
            <a:r>
              <a:rPr dirty="0" sz="1000" spc="-10"/>
              <a:t>frequency applications.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1063929"/>
            <a:ext cx="939800" cy="939800"/>
            <a:chOff x="444500" y="1063929"/>
            <a:chExt cx="939800" cy="939800"/>
          </a:xfrm>
        </p:grpSpPr>
        <p:sp>
          <p:nvSpPr>
            <p:cNvPr id="5" name="object 5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8130" y="14022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7002" y="1063929"/>
            <a:ext cx="939800" cy="939800"/>
            <a:chOff x="1617002" y="1063929"/>
            <a:chExt cx="939800" cy="939800"/>
          </a:xfrm>
        </p:grpSpPr>
        <p:sp>
          <p:nvSpPr>
            <p:cNvPr id="9" name="object 9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12157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99" y="1063929"/>
            <a:ext cx="939800" cy="939800"/>
            <a:chOff x="2875699" y="1063929"/>
            <a:chExt cx="939800" cy="939800"/>
          </a:xfrm>
        </p:grpSpPr>
        <p:sp>
          <p:nvSpPr>
            <p:cNvPr id="13" name="object 13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98873" y="1188900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25455" y="1063929"/>
            <a:ext cx="939800" cy="939800"/>
            <a:chOff x="4125455" y="1063929"/>
            <a:chExt cx="939800" cy="939800"/>
          </a:xfrm>
        </p:grpSpPr>
        <p:sp>
          <p:nvSpPr>
            <p:cNvPr id="17" name="object 17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46158" y="1402260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4371" y="1063929"/>
            <a:ext cx="939800" cy="939800"/>
            <a:chOff x="7344371" y="1063929"/>
            <a:chExt cx="939800" cy="939800"/>
          </a:xfrm>
        </p:grpSpPr>
        <p:sp>
          <p:nvSpPr>
            <p:cNvPr id="21" name="object 21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00134" y="1402260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12108" y="1063929"/>
            <a:ext cx="939800" cy="939800"/>
            <a:chOff x="9712108" y="1063929"/>
            <a:chExt cx="939800" cy="939800"/>
          </a:xfrm>
        </p:grpSpPr>
        <p:sp>
          <p:nvSpPr>
            <p:cNvPr id="25" name="object 25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807254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9619" y="1069378"/>
            <a:ext cx="939800" cy="939800"/>
            <a:chOff x="8539619" y="1069378"/>
            <a:chExt cx="939800" cy="939800"/>
          </a:xfrm>
        </p:grpSpPr>
        <p:sp>
          <p:nvSpPr>
            <p:cNvPr id="29" name="object 29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662171" y="1407709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829823" y="1073759"/>
            <a:ext cx="939800" cy="939800"/>
            <a:chOff x="10829823" y="1073759"/>
            <a:chExt cx="939800" cy="939800"/>
          </a:xfrm>
        </p:grpSpPr>
        <p:sp>
          <p:nvSpPr>
            <p:cNvPr id="33" name="object 33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923452" y="1412091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4800" y="848029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000" y="83820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245100" y="1444932"/>
            <a:ext cx="1877695" cy="177800"/>
            <a:chOff x="5245100" y="1444932"/>
            <a:chExt cx="1877695" cy="177800"/>
          </a:xfrm>
        </p:grpSpPr>
        <p:sp>
          <p:nvSpPr>
            <p:cNvPr id="39" name="object 39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6321" y="2877516"/>
            <a:ext cx="5691419" cy="32117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dirty="0" spc="-40"/>
              <a:t> </a:t>
            </a:r>
            <a:r>
              <a:rPr dirty="0"/>
              <a:t>talk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real</a:t>
            </a:r>
            <a:r>
              <a:rPr dirty="0" spc="-45"/>
              <a:t> </a:t>
            </a:r>
            <a:r>
              <a:rPr dirty="0"/>
              <a:t>world</a:t>
            </a:r>
            <a:r>
              <a:rPr dirty="0" spc="-40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4500" y="1063929"/>
            <a:ext cx="939800" cy="939800"/>
            <a:chOff x="444500" y="1063929"/>
            <a:chExt cx="939800" cy="939800"/>
          </a:xfrm>
        </p:grpSpPr>
        <p:sp>
          <p:nvSpPr>
            <p:cNvPr id="4" name="object 4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8130" y="1402260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7002" y="1063929"/>
            <a:ext cx="939800" cy="939800"/>
            <a:chOff x="1617002" y="1063929"/>
            <a:chExt cx="939800" cy="939800"/>
          </a:xfrm>
        </p:grpSpPr>
        <p:sp>
          <p:nvSpPr>
            <p:cNvPr id="8" name="object 8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9702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12157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Analog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5699" y="1063929"/>
            <a:ext cx="939800" cy="939800"/>
            <a:chOff x="2875699" y="1063929"/>
            <a:chExt cx="939800" cy="939800"/>
          </a:xfrm>
        </p:grpSpPr>
        <p:sp>
          <p:nvSpPr>
            <p:cNvPr id="12" name="object 12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8399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098873" y="1188900"/>
            <a:ext cx="4921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Driver Circuit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25455" y="1063929"/>
            <a:ext cx="939800" cy="939800"/>
            <a:chOff x="4125455" y="1063929"/>
            <a:chExt cx="939800" cy="939800"/>
          </a:xfrm>
        </p:grpSpPr>
        <p:sp>
          <p:nvSpPr>
            <p:cNvPr id="16" name="object 16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38155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446158" y="1402260"/>
            <a:ext cx="297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44371" y="1063929"/>
            <a:ext cx="939800" cy="939800"/>
            <a:chOff x="7344371" y="1063929"/>
            <a:chExt cx="939800" cy="939800"/>
          </a:xfrm>
        </p:grpSpPr>
        <p:sp>
          <p:nvSpPr>
            <p:cNvPr id="20" name="object 20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57071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700134" y="1402260"/>
            <a:ext cx="226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12108" y="1063929"/>
            <a:ext cx="939800" cy="939800"/>
            <a:chOff x="9712108" y="1063929"/>
            <a:chExt cx="939800" cy="939800"/>
          </a:xfrm>
        </p:grpSpPr>
        <p:sp>
          <p:nvSpPr>
            <p:cNvPr id="24" name="object 24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24808" y="107662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807254" y="1188900"/>
            <a:ext cx="7493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Analog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Digital Converter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39619" y="1069378"/>
            <a:ext cx="939800" cy="939800"/>
            <a:chOff x="8539619" y="1069378"/>
            <a:chExt cx="939800" cy="939800"/>
          </a:xfrm>
        </p:grpSpPr>
        <p:sp>
          <p:nvSpPr>
            <p:cNvPr id="28" name="object 28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552319" y="108207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662171" y="1407709"/>
            <a:ext cx="692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Amplifier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29823" y="1073759"/>
            <a:ext cx="939800" cy="939800"/>
            <a:chOff x="10829823" y="1073759"/>
            <a:chExt cx="939800" cy="939800"/>
          </a:xfrm>
        </p:grpSpPr>
        <p:sp>
          <p:nvSpPr>
            <p:cNvPr id="32" name="object 32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842523" y="10864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923452" y="1412091"/>
            <a:ext cx="7524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4800" y="848029"/>
            <a:ext cx="4876800" cy="1371600"/>
          </a:xfrm>
          <a:custGeom>
            <a:avLst/>
            <a:gdLst/>
            <a:ahLst/>
            <a:cxnLst/>
            <a:rect l="l" t="t" r="r" b="b"/>
            <a:pathLst>
              <a:path w="4876800" h="1371600">
                <a:moveTo>
                  <a:pt x="0" y="0"/>
                </a:moveTo>
                <a:lnTo>
                  <a:pt x="4876800" y="0"/>
                </a:lnTo>
                <a:lnTo>
                  <a:pt x="48768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39000" y="83820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4800600" h="1371600">
                <a:moveTo>
                  <a:pt x="0" y="0"/>
                </a:moveTo>
                <a:lnTo>
                  <a:pt x="4800600" y="0"/>
                </a:lnTo>
                <a:lnTo>
                  <a:pt x="4800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C334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5245100" y="1444932"/>
            <a:ext cx="1877695" cy="177800"/>
            <a:chOff x="5245100" y="1444932"/>
            <a:chExt cx="1877695" cy="177800"/>
          </a:xfrm>
        </p:grpSpPr>
        <p:sp>
          <p:nvSpPr>
            <p:cNvPr id="38" name="object 38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1775955" y="0"/>
                  </a:moveTo>
                  <a:lnTo>
                    <a:pt x="1775955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775955" y="114300"/>
                  </a:lnTo>
                  <a:lnTo>
                    <a:pt x="1775955" y="152400"/>
                  </a:lnTo>
                  <a:lnTo>
                    <a:pt x="1852155" y="76200"/>
                  </a:lnTo>
                  <a:lnTo>
                    <a:pt x="17759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57800" y="1457632"/>
              <a:ext cx="1852295" cy="152400"/>
            </a:xfrm>
            <a:custGeom>
              <a:avLst/>
              <a:gdLst/>
              <a:ahLst/>
              <a:cxnLst/>
              <a:rect l="l" t="t" r="r" b="b"/>
              <a:pathLst>
                <a:path w="1852295" h="152400">
                  <a:moveTo>
                    <a:pt x="0" y="38100"/>
                  </a:moveTo>
                  <a:lnTo>
                    <a:pt x="1775955" y="38100"/>
                  </a:lnTo>
                  <a:lnTo>
                    <a:pt x="1775955" y="0"/>
                  </a:lnTo>
                  <a:lnTo>
                    <a:pt x="1852155" y="76200"/>
                  </a:lnTo>
                  <a:lnTo>
                    <a:pt x="1775955" y="152400"/>
                  </a:lnTo>
                  <a:lnTo>
                    <a:pt x="1775955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6321" y="2877516"/>
            <a:ext cx="5691419" cy="321177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377" y="2998048"/>
            <a:ext cx="5806932" cy="3033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Yasser Khan</dc:creator>
  <dc:title>PowerPoint Presentation</dc:title>
  <dcterms:created xsi:type="dcterms:W3CDTF">2025-11-03T16:25:57Z</dcterms:created>
  <dcterms:modified xsi:type="dcterms:W3CDTF">2025-11-03T16:25:57Z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2025-11-03T00:00:00Z</vt:filetime>
  </property>
  <property fmtid="{D5CDD505-2E9C-101B-9397-08002B2CF9AE}" pid="5" name="Producer">
    <vt:lpwstr>Microsoft® PowerPoint® for Microsoft 365</vt:lpwstr>
  </property>
</Properties>
</file>