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794" r:id="rId2"/>
    <p:sldId id="415" r:id="rId3"/>
    <p:sldId id="796" r:id="rId4"/>
    <p:sldId id="416" r:id="rId5"/>
    <p:sldId id="337" r:id="rId6"/>
    <p:sldId id="343" r:id="rId7"/>
    <p:sldId id="334" r:id="rId8"/>
    <p:sldId id="335" r:id="rId9"/>
    <p:sldId id="344" r:id="rId10"/>
    <p:sldId id="339" r:id="rId11"/>
    <p:sldId id="361" r:id="rId12"/>
    <p:sldId id="797" r:id="rId13"/>
    <p:sldId id="798" r:id="rId14"/>
    <p:sldId id="799" r:id="rId15"/>
    <p:sldId id="340" r:id="rId16"/>
    <p:sldId id="359" r:id="rId17"/>
    <p:sldId id="366" r:id="rId18"/>
    <p:sldId id="362" r:id="rId19"/>
    <p:sldId id="367" r:id="rId20"/>
    <p:sldId id="377" r:id="rId21"/>
    <p:sldId id="3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5" autoAdjust="0"/>
    <p:restoredTop sz="81719" autoAdjust="0"/>
  </p:normalViewPr>
  <p:slideViewPr>
    <p:cSldViewPr snapToGrid="0">
      <p:cViewPr varScale="1">
        <p:scale>
          <a:sx n="113" d="100"/>
          <a:sy n="113" d="100"/>
        </p:scale>
        <p:origin x="859" y="115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8.wmf"/><Relationship Id="rId7" Type="http://schemas.openxmlformats.org/officeDocument/2006/relationships/image" Target="../media/image2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9.wmf"/><Relationship Id="rId10" Type="http://schemas.openxmlformats.org/officeDocument/2006/relationships/image" Target="../media/image11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21.w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F3CF9C05-2D78-1D6A-D3E6-1EEB48317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70245"/>
            <a:ext cx="7772400" cy="1143000"/>
          </a:xfrm>
        </p:spPr>
        <p:txBody>
          <a:bodyPr/>
          <a:lstStyle/>
          <a:p>
            <a:r>
              <a:rPr lang="en-US" altLang="en-US" dirty="0"/>
              <a:t>The First Transistor</a:t>
            </a:r>
          </a:p>
        </p:txBody>
      </p:sp>
      <p:pic>
        <p:nvPicPr>
          <p:cNvPr id="18435" name="Picture 4" descr="1947 First point contact transistor-1">
            <a:extLst>
              <a:ext uri="{FF2B5EF4-FFF2-40B4-BE49-F238E27FC236}">
                <a16:creationId xmlns:a16="http://schemas.microsoft.com/office/drawing/2014/main" id="{37497411-10C9-F0E1-F10B-A626BF317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064" y="1177926"/>
            <a:ext cx="3157537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AFFDD9-1CE8-1395-1FE6-1C7BCBCBB4A4}"/>
              </a:ext>
            </a:extLst>
          </p:cNvPr>
          <p:cNvSpPr txBox="1"/>
          <p:nvPr/>
        </p:nvSpPr>
        <p:spPr>
          <a:xfrm>
            <a:off x="8148319" y="1177926"/>
            <a:ext cx="39166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PT Sans" panose="020B0503020203020204" pitchFamily="34" charset="0"/>
              </a:rPr>
              <a:t>December 16, 1947</a:t>
            </a:r>
            <a:r>
              <a:rPr lang="en-US" dirty="0">
                <a:latin typeface="PT Sans" panose="020B0503020203020204" pitchFamily="34" charset="0"/>
              </a:rPr>
              <a:t>: John Bardeen and Walter Brattain successfully demonstrated the </a:t>
            </a:r>
            <a:r>
              <a:rPr lang="en-US" b="1" dirty="0">
                <a:latin typeface="PT Sans" panose="020B0503020203020204" pitchFamily="34" charset="0"/>
              </a:rPr>
              <a:t>first working transistor</a:t>
            </a:r>
            <a:r>
              <a:rPr lang="en-US" dirty="0">
                <a:latin typeface="PT Sans" panose="020B0503020203020204" pitchFamily="34" charset="0"/>
              </a:rPr>
              <a:t> at Bell Labs.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It was a </a:t>
            </a:r>
            <a:r>
              <a:rPr lang="en-US" b="1" dirty="0">
                <a:latin typeface="PT Sans" panose="020B0503020203020204" pitchFamily="34" charset="0"/>
              </a:rPr>
              <a:t>point-contact transistor</a:t>
            </a:r>
            <a:r>
              <a:rPr lang="en-US" dirty="0">
                <a:latin typeface="PT Sans" panose="020B0503020203020204" pitchFamily="34" charset="0"/>
              </a:rPr>
              <a:t> made of a small slab of germanium with two closely spaced gold contacts.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When input current was applied to one contact, it modulated the conductivity of the germanium, amplifying the signal seen at the other contact.</a:t>
            </a:r>
          </a:p>
          <a:p>
            <a:pPr>
              <a:buNone/>
            </a:pPr>
            <a:r>
              <a:rPr lang="en-US" b="1" dirty="0">
                <a:latin typeface="PT Sans" panose="020B0503020203020204" pitchFamily="34" charset="0"/>
              </a:rPr>
              <a:t>Key outcome:</a:t>
            </a:r>
            <a:r>
              <a:rPr lang="en-US" dirty="0">
                <a:latin typeface="PT Sans" panose="020B0503020203020204" pitchFamily="34" charset="0"/>
              </a:rPr>
              <a:t> It could amplify electrical signals like a vacuum tube, but in a device only a few millimeters wide.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E58B8EE-A986-DF2A-F963-194AEB13E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" y="1528862"/>
            <a:ext cx="348488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Bell Telephone Laboratories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, research was focused on finding a solid-state amplifier for telephone signal processing.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The three key scientists were: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John Bardeen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(theorist)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Walter Brattain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(experimentalist)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William Shockley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(team leader, physicist)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ECEDE-3CAE-335B-7A50-1E821AE0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Transistor amplification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F0D0F-86F7-A8CE-89D0-D396DBB914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556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E43EECE2-2EBA-E4B9-6F2F-75A018435A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98893"/>
            <a:ext cx="7772400" cy="1143000"/>
          </a:xfrm>
        </p:spPr>
        <p:txBody>
          <a:bodyPr/>
          <a:lstStyle/>
          <a:p>
            <a:r>
              <a:rPr lang="en-US" altLang="en-US" dirty="0"/>
              <a:t>1956 Physics Nobel Prize</a:t>
            </a: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C8DD5538-76D2-FC1E-8C10-81BF2EE4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t="11806" r="42578" b="23958"/>
          <a:stretch>
            <a:fillRect/>
          </a:stretch>
        </p:blipFill>
        <p:spPr bwMode="auto">
          <a:xfrm>
            <a:off x="3644900" y="1244600"/>
            <a:ext cx="5156200" cy="469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Text Box 3">
            <a:extLst>
              <a:ext uri="{FF2B5EF4-FFF2-40B4-BE49-F238E27FC236}">
                <a16:creationId xmlns:a16="http://schemas.microsoft.com/office/drawing/2014/main" id="{1BA4A615-D947-DC3D-C951-71ADBBBD10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691715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Invention of the Field-Effect Transistor</a:t>
            </a: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id="{DA5A3157-6C38-FDCB-2DDC-34ACFF5EF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4943" y="5491717"/>
            <a:ext cx="694760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In 1935, a British patent was issued to Oskar Heil.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A working MOSFET was not demonstrated until 1955.</a:t>
            </a:r>
          </a:p>
        </p:txBody>
      </p:sp>
      <p:pic>
        <p:nvPicPr>
          <p:cNvPr id="20485" name="Picture 5">
            <a:extLst>
              <a:ext uri="{FF2B5EF4-FFF2-40B4-BE49-F238E27FC236}">
                <a16:creationId xmlns:a16="http://schemas.microsoft.com/office/drawing/2014/main" id="{F7E4066F-8503-1554-E4DB-AF9AE9AF7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160463"/>
            <a:ext cx="5667375" cy="3871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31D76BB7-4D15-A550-83C1-4C341AE1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0"/>
          <a:stretch>
            <a:fillRect/>
          </a:stretch>
        </p:blipFill>
        <p:spPr bwMode="auto">
          <a:xfrm>
            <a:off x="502919" y="300990"/>
            <a:ext cx="9517897" cy="6256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Text Box 3">
            <a:extLst>
              <a:ext uri="{FF2B5EF4-FFF2-40B4-BE49-F238E27FC236}">
                <a16:creationId xmlns:a16="http://schemas.microsoft.com/office/drawing/2014/main" id="{DC8AD9EB-4D16-F2D8-DB3F-E5A8846C2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74EDF4A-9065-C7BA-2217-E57281048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5926" y="1585913"/>
            <a:ext cx="473075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1600" b="1" i="1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3EC43C70-5ED6-9F50-A524-283C93951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25" y="1233489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sp>
        <p:nvSpPr>
          <p:cNvPr id="23558" name="Text Box 6">
            <a:extLst>
              <a:ext uri="{FF2B5EF4-FFF2-40B4-BE49-F238E27FC236}">
                <a16:creationId xmlns:a16="http://schemas.microsoft.com/office/drawing/2014/main" id="{079F5BF2-25BD-8CCC-5138-F7AA78DCB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219201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graphicFrame>
        <p:nvGraphicFramePr>
          <p:cNvPr id="23559" name="Object 7">
            <a:extLst>
              <a:ext uri="{FF2B5EF4-FFF2-40B4-BE49-F238E27FC236}">
                <a16:creationId xmlns:a16="http://schemas.microsoft.com/office/drawing/2014/main" id="{0E8791F0-FDAC-FA8B-C5CC-C595625224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67001" y="2057401"/>
          <a:ext cx="6881813" cy="355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6881456" imgH="3558848" progId="Paint.Picture">
                  <p:embed/>
                </p:oleObj>
              </mc:Choice>
              <mc:Fallback>
                <p:oleObj name="Bitmap Image" r:id="rId2" imgW="6881456" imgH="3558848" progId="Paint.Picture">
                  <p:embed/>
                  <p:pic>
                    <p:nvPicPr>
                      <p:cNvPr id="23559" name="Object 7">
                        <a:extLst>
                          <a:ext uri="{FF2B5EF4-FFF2-40B4-BE49-F238E27FC236}">
                            <a16:creationId xmlns:a16="http://schemas.microsoft.com/office/drawing/2014/main" id="{0E8791F0-FDAC-FA8B-C5CC-C595625224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2057401"/>
                        <a:ext cx="6881813" cy="355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0" name="Text Box 8">
            <a:extLst>
              <a:ext uri="{FF2B5EF4-FFF2-40B4-BE49-F238E27FC236}">
                <a16:creationId xmlns:a16="http://schemas.microsoft.com/office/drawing/2014/main" id="{D774AE73-944C-9541-8B9F-841DC6E2C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Basic MOSFET structure and IV characteristics</a:t>
            </a:r>
            <a:endParaRPr lang="en-US" altLang="en-US" sz="2400" i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Text Box 3">
            <a:extLst>
              <a:ext uri="{FF2B5EF4-FFF2-40B4-BE49-F238E27FC236}">
                <a16:creationId xmlns:a16="http://schemas.microsoft.com/office/drawing/2014/main" id="{88FB30F5-A417-A902-6007-9FC26C9FE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57200"/>
            <a:ext cx="6858000" cy="294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50000"/>
              </a:spcBef>
              <a:buFontTx/>
              <a:buNone/>
            </a:pPr>
            <a:endParaRPr lang="en-US" altLang="en-US" sz="1200"/>
          </a:p>
        </p:txBody>
      </p:sp>
      <p:graphicFrame>
        <p:nvGraphicFramePr>
          <p:cNvPr id="24580" name="Object 4">
            <a:extLst>
              <a:ext uri="{FF2B5EF4-FFF2-40B4-BE49-F238E27FC236}">
                <a16:creationId xmlns:a16="http://schemas.microsoft.com/office/drawing/2014/main" id="{1409F64A-D6F9-800A-F2AB-FCF6B8695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1" y="2057401"/>
          <a:ext cx="4945063" cy="326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4945809" imgH="3269263" progId="Paint.Picture">
                  <p:embed/>
                </p:oleObj>
              </mc:Choice>
              <mc:Fallback>
                <p:oleObj name="Bitmap Image" r:id="rId2" imgW="4945809" imgH="3269263" progId="Paint.Picture">
                  <p:embed/>
                  <p:pic>
                    <p:nvPicPr>
                      <p:cNvPr id="24580" name="Object 4">
                        <a:extLst>
                          <a:ext uri="{FF2B5EF4-FFF2-40B4-BE49-F238E27FC236}">
                            <a16:creationId xmlns:a16="http://schemas.microsoft.com/office/drawing/2014/main" id="{1409F64A-D6F9-800A-F2AB-FCF6B86952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1" y="2057401"/>
                        <a:ext cx="4945063" cy="326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5">
            <a:extLst>
              <a:ext uri="{FF2B5EF4-FFF2-40B4-BE49-F238E27FC236}">
                <a16:creationId xmlns:a16="http://schemas.microsoft.com/office/drawing/2014/main" id="{443512B4-D599-35EA-B29B-B9080A0F9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678836" y="-63789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95C0E4D3-9900-C677-5784-9BC374397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Two ways of representing a MOSFET:</a:t>
            </a:r>
            <a:endParaRPr lang="en-US" altLang="en-US" sz="2400" i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>
            <a:extLst>
              <a:ext uri="{FF2B5EF4-FFF2-40B4-BE49-F238E27FC236}">
                <a16:creationId xmlns:a16="http://schemas.microsoft.com/office/drawing/2014/main" id="{28F4B405-F310-2D1E-6532-295A36A644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27"/>
          <a:stretch>
            <a:fillRect/>
          </a:stretch>
        </p:blipFill>
        <p:spPr bwMode="auto">
          <a:xfrm>
            <a:off x="2192338" y="628650"/>
            <a:ext cx="7766050" cy="4217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55AE5536-7E3E-C0FA-79E4-99D79BC76D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506" y="-1586"/>
            <a:ext cx="6324600" cy="914400"/>
          </a:xfrm>
        </p:spPr>
        <p:txBody>
          <a:bodyPr/>
          <a:lstStyle/>
          <a:p>
            <a:pPr eaLnBrk="1" hangingPunct="1"/>
            <a:r>
              <a:rPr lang="en-US" altLang="en-US" dirty="0"/>
              <a:t>Complementary MOSFETs (CMOS)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784E76F-9C8C-12C3-36FC-52787EE20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325" y="2657476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b="1" i="1"/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014C2436-7858-5588-02B4-7E5F95BF8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1" y="5029201"/>
            <a:ext cx="69710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 </a:t>
            </a:r>
            <a:r>
              <a:rPr lang="en-US" altLang="en-US" sz="2400" b="1" i="1"/>
              <a:t>= V</a:t>
            </a:r>
            <a:r>
              <a:rPr lang="en-US" altLang="en-US" sz="2400" b="1" i="1" baseline="-25000"/>
              <a:t>dd </a:t>
            </a:r>
            <a:r>
              <a:rPr lang="en-US" altLang="en-US" sz="2400" b="1" i="1"/>
              <a:t>, the NFET is on and the PFET is off.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</a:t>
            </a:r>
            <a:r>
              <a:rPr lang="en-US" altLang="en-US" sz="2400" b="1" i="1"/>
              <a:t> = 0, the PFET is on and the NFET is off.</a:t>
            </a:r>
          </a:p>
        </p:txBody>
      </p:sp>
      <p:graphicFrame>
        <p:nvGraphicFramePr>
          <p:cNvPr id="26629" name="Object 5">
            <a:extLst>
              <a:ext uri="{FF2B5EF4-FFF2-40B4-BE49-F238E27FC236}">
                <a16:creationId xmlns:a16="http://schemas.microsoft.com/office/drawing/2014/main" id="{A99480F4-1187-040A-CC21-0575AABACF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47950" y="1838326"/>
          <a:ext cx="7277100" cy="317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097645" imgH="3971429" progId="Paint.Picture">
                  <p:embed/>
                </p:oleObj>
              </mc:Choice>
              <mc:Fallback>
                <p:oleObj name="Bitmap Image" r:id="rId2" imgW="9097645" imgH="3971429" progId="Paint.Picture">
                  <p:embed/>
                  <p:pic>
                    <p:nvPicPr>
                      <p:cNvPr id="26629" name="Object 5">
                        <a:extLst>
                          <a:ext uri="{FF2B5EF4-FFF2-40B4-BE49-F238E27FC236}">
                            <a16:creationId xmlns:a16="http://schemas.microsoft.com/office/drawing/2014/main" id="{A99480F4-1187-040A-CC21-0575AABACF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7950" y="1838326"/>
                        <a:ext cx="7277100" cy="317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>
            <a:extLst>
              <a:ext uri="{FF2B5EF4-FFF2-40B4-BE49-F238E27FC236}">
                <a16:creationId xmlns:a16="http://schemas.microsoft.com/office/drawing/2014/main" id="{C0BDA0CB-637C-7293-665C-3B65CB2F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1" y="1219201"/>
            <a:ext cx="4276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/>
              <a:t>NFET			           PFET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6065F3E-ACBB-D3DA-3158-782AC1854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448675" cy="757130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2400" i="1" dirty="0"/>
              <a:t>I</a:t>
            </a:r>
            <a:r>
              <a:rPr lang="en-US" altLang="en-US" sz="2400" baseline="-25000" dirty="0"/>
              <a:t>D</a:t>
            </a:r>
            <a:r>
              <a:rPr lang="en-US" altLang="en-US" sz="2400" dirty="0"/>
              <a:t>-</a:t>
            </a:r>
            <a:r>
              <a:rPr lang="en-US" altLang="en-US" sz="2400" i="1" dirty="0"/>
              <a:t>V</a:t>
            </a:r>
            <a:r>
              <a:rPr lang="en-US" altLang="en-US" sz="2400" baseline="-25000" dirty="0"/>
              <a:t>DS</a:t>
            </a:r>
            <a:r>
              <a:rPr lang="en-US" altLang="en-US" sz="2400" dirty="0"/>
              <a:t>  characteristics expected from a long channel </a:t>
            </a:r>
            <a:br>
              <a:rPr lang="en-US" altLang="en-US" sz="2400" dirty="0"/>
            </a:br>
            <a:r>
              <a:rPr lang="en-US" altLang="en-US" sz="2400" dirty="0"/>
              <a:t>(</a:t>
            </a:r>
            <a:r>
              <a:rPr lang="en-US" altLang="en-US" sz="2400" dirty="0">
                <a:sym typeface="Symbol" panose="05050102010706020507" pitchFamily="18" charset="2"/>
              </a:rPr>
              <a:t></a:t>
            </a:r>
            <a:r>
              <a:rPr lang="en-US" altLang="en-US" sz="2400" i="1" dirty="0">
                <a:sym typeface="Symbol" panose="05050102010706020507" pitchFamily="18" charset="2"/>
              </a:rPr>
              <a:t>L </a:t>
            </a:r>
            <a:r>
              <a:rPr lang="en-US" altLang="en-US" sz="2400" dirty="0">
                <a:sym typeface="Symbol" panose="05050102010706020507" pitchFamily="18" charset="2"/>
              </a:rPr>
              <a:t>&lt;&lt; </a:t>
            </a:r>
            <a:r>
              <a:rPr lang="en-US" altLang="en-US" sz="2400" i="1" dirty="0">
                <a:sym typeface="Symbol" panose="05050102010706020507" pitchFamily="18" charset="2"/>
              </a:rPr>
              <a:t>L</a:t>
            </a:r>
            <a:r>
              <a:rPr lang="en-US" altLang="en-US" sz="2400" dirty="0">
                <a:sym typeface="Symbol" panose="05050102010706020507" pitchFamily="18" charset="2"/>
              </a:rPr>
              <a:t>) MOSFET (n-channel), for various values of </a:t>
            </a:r>
            <a:r>
              <a:rPr lang="en-US" altLang="en-US" sz="2400" i="1" dirty="0">
                <a:sym typeface="Symbol" panose="05050102010706020507" pitchFamily="18" charset="2"/>
              </a:rPr>
              <a:t>V</a:t>
            </a:r>
            <a:r>
              <a:rPr lang="en-US" altLang="en-US" sz="2400" baseline="-25000" dirty="0">
                <a:sym typeface="Symbol" panose="05050102010706020507" pitchFamily="18" charset="2"/>
              </a:rPr>
              <a:t>G</a:t>
            </a:r>
            <a:endParaRPr lang="en-US" altLang="en-US" sz="2400" dirty="0"/>
          </a:p>
        </p:txBody>
      </p:sp>
      <p:pic>
        <p:nvPicPr>
          <p:cNvPr id="30723" name="Picture 3">
            <a:extLst>
              <a:ext uri="{FF2B5EF4-FFF2-40B4-BE49-F238E27FC236}">
                <a16:creationId xmlns:a16="http://schemas.microsoft.com/office/drawing/2014/main" id="{9254F993-7AB3-35C8-445C-3A5D6490E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5" t="3432" r="5299" b="13965"/>
          <a:stretch>
            <a:fillRect/>
          </a:stretch>
        </p:blipFill>
        <p:spPr bwMode="auto">
          <a:xfrm>
            <a:off x="3009900" y="1433513"/>
            <a:ext cx="6248400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B7E27-D041-0C73-30C0-59F74DD69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CBB3A-BB87-89BD-7522-55C1814258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12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88B42E5-BD7C-D668-FCB4-B1C5ED635C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39155"/>
            <a:ext cx="8374591" cy="3660223"/>
          </a:xfrm>
          <a:prstGeom prst="rect">
            <a:avLst/>
          </a:prstGeom>
        </p:spPr>
      </p:pic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144A797-898F-61E8-6212-0E58AFD602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431" y="1395687"/>
            <a:ext cx="5017098" cy="3856487"/>
          </a:xfrm>
          <a:prstGeom prst="rect">
            <a:avLst/>
          </a:prstGeom>
        </p:spPr>
      </p:pic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8BD74FF7-FBF0-06A0-CC62-AC810582D4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6" y="4623120"/>
            <a:ext cx="5598330" cy="1869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356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5AFF-FD18-4989-4C6C-5732EA2C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F0AA-5621-01D3-11FC-B28CBFC2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7BE9F184-887C-D970-8555-2AD51819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B8FDF083-4658-8DB8-2483-B7858A28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11" name="Picture 10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8B0D85BF-D381-5C1E-0D6B-3AD012D06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553" y="2478984"/>
            <a:ext cx="5565974" cy="190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07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D5C00-1371-FD38-97E6-65E9A0A1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AAF45-BAEB-0A6A-CA4E-6163E5817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E32A7A9-6E26-96A5-86F7-35121DEF7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D44B29C7-16DB-3E23-8761-B3790DDF6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5" name="Picture 4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DAB6109F-8963-AFF6-940F-435446B9C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717" y="2295504"/>
            <a:ext cx="6145512" cy="207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42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438400" y="812800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 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endParaRPr lang="en-US" altLang="en-US" sz="200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3">
                  <p:embed/>
                </p:oleObj>
              </mc:Choice>
              <mc:Fallback>
                <p:oleObj name="Equation" r:id="rId2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228501" progId="Equation.3">
                  <p:embed/>
                </p:oleObj>
              </mc:Choice>
              <mc:Fallback>
                <p:oleObj name="Equation" r:id="rId4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753" imgH="241195" progId="Equation.3">
                  <p:embed/>
                </p:oleObj>
              </mc:Choice>
              <mc:Fallback>
                <p:oleObj name="Equation" r:id="rId6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3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45863" imgH="228501" progId="Equation.3">
                  <p:embed/>
                </p:oleObj>
              </mc:Choice>
              <mc:Fallback>
                <p:oleObj name="Equation" r:id="rId8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3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  <p:pic>
        <p:nvPicPr>
          <p:cNvPr id="2" name="Picture 1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1B1F43D-AE23-D849-0BEA-508DEEE10A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4" t="60496" r="29705" b="16430"/>
          <a:stretch>
            <a:fillRect/>
          </a:stretch>
        </p:blipFill>
        <p:spPr>
          <a:xfrm>
            <a:off x="2570530" y="4272325"/>
            <a:ext cx="3679091" cy="983887"/>
          </a:xfrm>
          <a:prstGeom prst="rect">
            <a:avLst/>
          </a:prstGeom>
        </p:spPr>
      </p:pic>
      <p:pic>
        <p:nvPicPr>
          <p:cNvPr id="3" name="Picture 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2D7BE50-5440-88C1-6061-68CD44B1C6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1" t="22716" r="24669" b="58675"/>
          <a:stretch>
            <a:fillRect/>
          </a:stretch>
        </p:blipFill>
        <p:spPr>
          <a:xfrm>
            <a:off x="2408556" y="1539028"/>
            <a:ext cx="4003040" cy="6811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22941</TotalTime>
  <Words>576</Words>
  <Application>Microsoft Office PowerPoint</Application>
  <PresentationFormat>Widescreen</PresentationFormat>
  <Paragraphs>75</Paragraphs>
  <Slides>21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PMingLiU</vt:lpstr>
      <vt:lpstr>Arial</vt:lpstr>
      <vt:lpstr>Calibri</vt:lpstr>
      <vt:lpstr>PT Sans</vt:lpstr>
      <vt:lpstr>Symbol</vt:lpstr>
      <vt:lpstr>Times New Roman</vt:lpstr>
      <vt:lpstr>Office Theme</vt:lpstr>
      <vt:lpstr>Bitmap Image</vt:lpstr>
      <vt:lpstr>Equation</vt:lpstr>
      <vt:lpstr>ECE 105: Introduction to Electrical Engineering</vt:lpstr>
      <vt:lpstr>The First Transistor</vt:lpstr>
      <vt:lpstr>Transistor amplification</vt:lpstr>
      <vt:lpstr>1956 Physics Nobel Prize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Complementary MOSFETs (CMOS)</vt:lpstr>
      <vt:lpstr>ID-VDS  characteristics expected from a long channel  (L &lt;&lt; L) MOSFET (n-channel), for various values of VG</vt:lpstr>
      <vt:lpstr>MOSFET current equations </vt:lpstr>
      <vt:lpstr>MOSFET current equations </vt:lpstr>
      <vt:lpstr>MOSFET current equations </vt:lpstr>
      <vt:lpstr>PowerPoint Presentation</vt:lpstr>
      <vt:lpstr>Qualitative discussion: n-MOSFET</vt:lpstr>
      <vt:lpstr>Quantitative ID-VDS Relationships – 1st attempt “Square Law”</vt:lpstr>
      <vt:lpstr>ID-VDS  characteristics for n-MOSFET</vt:lpstr>
      <vt:lpstr>P-MOSFET N-MOSFET IV Characteristics</vt:lpstr>
      <vt:lpstr>Threshold and Subthreshold</vt:lpstr>
      <vt:lpstr>Subthreshold Current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928</cp:revision>
  <cp:lastPrinted>2017-03-30T23:40:26Z</cp:lastPrinted>
  <dcterms:created xsi:type="dcterms:W3CDTF">2014-02-24T21:19:39Z</dcterms:created>
  <dcterms:modified xsi:type="dcterms:W3CDTF">2025-09-24T20:08:46Z</dcterms:modified>
</cp:coreProperties>
</file>